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5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1" r:id="rId1"/>
  </p:sldMasterIdLst>
  <p:notesMasterIdLst>
    <p:notesMasterId r:id="rId32"/>
  </p:notesMasterIdLst>
  <p:handoutMasterIdLst>
    <p:handoutMasterId r:id="rId33"/>
  </p:handoutMasterIdLst>
  <p:sldIdLst>
    <p:sldId id="343" r:id="rId2"/>
    <p:sldId id="345" r:id="rId3"/>
    <p:sldId id="347" r:id="rId4"/>
    <p:sldId id="342" r:id="rId5"/>
    <p:sldId id="349" r:id="rId6"/>
    <p:sldId id="348" r:id="rId7"/>
    <p:sldId id="337" r:id="rId8"/>
    <p:sldId id="336" r:id="rId9"/>
    <p:sldId id="338" r:id="rId10"/>
    <p:sldId id="350" r:id="rId11"/>
    <p:sldId id="353" r:id="rId12"/>
    <p:sldId id="351" r:id="rId13"/>
    <p:sldId id="339" r:id="rId14"/>
    <p:sldId id="344" r:id="rId15"/>
    <p:sldId id="284" r:id="rId16"/>
    <p:sldId id="285" r:id="rId17"/>
    <p:sldId id="286" r:id="rId18"/>
    <p:sldId id="346" r:id="rId19"/>
    <p:sldId id="287" r:id="rId20"/>
    <p:sldId id="327" r:id="rId21"/>
    <p:sldId id="324" r:id="rId22"/>
    <p:sldId id="325" r:id="rId23"/>
    <p:sldId id="326" r:id="rId24"/>
    <p:sldId id="354" r:id="rId25"/>
    <p:sldId id="279" r:id="rId26"/>
    <p:sldId id="280" r:id="rId27"/>
    <p:sldId id="281" r:id="rId28"/>
    <p:sldId id="283" r:id="rId29"/>
    <p:sldId id="323" r:id="rId30"/>
    <p:sldId id="352" r:id="rId3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FF0000"/>
    <a:srgbClr val="000000"/>
    <a:srgbClr val="003300"/>
    <a:srgbClr val="D9D8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0" autoAdjust="0"/>
    <p:restoredTop sz="94719" autoAdjust="0"/>
  </p:normalViewPr>
  <p:slideViewPr>
    <p:cSldViewPr>
      <p:cViewPr varScale="1">
        <p:scale>
          <a:sx n="108" d="100"/>
          <a:sy n="108" d="100"/>
        </p:scale>
        <p:origin x="102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4" Type="http://schemas.openxmlformats.org/officeDocument/2006/relationships/image" Target="../media/image5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33" tIns="47866" rIns="95733" bIns="47866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1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33" tIns="47866" rIns="95733" bIns="4786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18601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33" tIns="47866" rIns="95733" bIns="47866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1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33" tIns="47866" rIns="95733" bIns="4786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/>
            </a:lvl1pPr>
          </a:lstStyle>
          <a:p>
            <a:pPr>
              <a:defRPr/>
            </a:pPr>
            <a:fld id="{4B9D0125-6672-4D0B-AA02-F630B1CBA4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0265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70238" cy="481013"/>
          </a:xfrm>
          <a:prstGeom prst="rect">
            <a:avLst/>
          </a:prstGeom>
        </p:spPr>
        <p:txBody>
          <a:bodyPr vert="horz" lIns="95733" tIns="47866" rIns="95733" bIns="47866" rtlCol="0"/>
          <a:lstStyle>
            <a:lvl1pPr algn="l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1"/>
            <a:ext cx="3170238" cy="481013"/>
          </a:xfrm>
          <a:prstGeom prst="rect">
            <a:avLst/>
          </a:prstGeom>
        </p:spPr>
        <p:txBody>
          <a:bodyPr vert="horz" lIns="95733" tIns="47866" rIns="95733" bIns="47866" rtlCol="0"/>
          <a:lstStyle>
            <a:lvl1pPr algn="r">
              <a:defRPr sz="1300"/>
            </a:lvl1pPr>
          </a:lstStyle>
          <a:p>
            <a:pPr>
              <a:defRPr/>
            </a:pPr>
            <a:fld id="{45955BC6-A35E-451C-AC47-A8E373B7968D}" type="datetimeFigureOut">
              <a:rPr lang="en-US"/>
              <a:pPr>
                <a:defRPr/>
              </a:pPr>
              <a:t>2/19/2016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733" tIns="47866" rIns="95733" bIns="47866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9" y="4560889"/>
            <a:ext cx="5851525" cy="4321175"/>
          </a:xfrm>
          <a:prstGeom prst="rect">
            <a:avLst/>
          </a:prstGeom>
        </p:spPr>
        <p:txBody>
          <a:bodyPr vert="horz" lIns="95733" tIns="47866" rIns="95733" bIns="47866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118601"/>
            <a:ext cx="3170238" cy="481013"/>
          </a:xfrm>
          <a:prstGeom prst="rect">
            <a:avLst/>
          </a:prstGeom>
        </p:spPr>
        <p:txBody>
          <a:bodyPr vert="horz" lIns="95733" tIns="47866" rIns="95733" bIns="47866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18601"/>
            <a:ext cx="3170238" cy="481013"/>
          </a:xfrm>
          <a:prstGeom prst="rect">
            <a:avLst/>
          </a:prstGeom>
        </p:spPr>
        <p:txBody>
          <a:bodyPr vert="horz" lIns="95733" tIns="47866" rIns="95733" bIns="47866" rtlCol="0" anchor="b"/>
          <a:lstStyle>
            <a:lvl1pPr algn="r">
              <a:defRPr sz="1300"/>
            </a:lvl1pPr>
          </a:lstStyle>
          <a:p>
            <a:pPr>
              <a:defRPr/>
            </a:pPr>
            <a:fld id="{B6AAE12F-1020-4DF1-AEA4-FFAA573BE7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640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10C206E-25DE-4437-848E-600E1AE66754}" type="slidenum">
              <a:rPr lang="en-US" sz="1300"/>
              <a:pPr eaLnBrk="1" hangingPunct="1"/>
              <a:t>0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352606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DD85DC8-D57E-40BF-AF37-435269C06183}" type="slidenum">
              <a:rPr lang="en-US" sz="1300"/>
              <a:pPr eaLnBrk="1" hangingPunct="1"/>
              <a:t>3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684655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DD85DC8-D57E-40BF-AF37-435269C06183}" type="slidenum">
              <a:rPr lang="en-US" sz="1300"/>
              <a:pPr eaLnBrk="1" hangingPunct="1"/>
              <a:t>4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199572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DD85DC8-D57E-40BF-AF37-435269C06183}" type="slidenum">
              <a:rPr lang="en-US" sz="1300"/>
              <a:pPr eaLnBrk="1" hangingPunct="1"/>
              <a:t>5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009099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A4DA29F-5BA0-48D9-B0E8-E53E4C5B619E}" type="slidenum">
              <a:rPr lang="en-US" sz="1300"/>
              <a:pPr eaLnBrk="1" hangingPunct="1"/>
              <a:t>6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406812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F7A064D-254E-47DE-81FF-0449FE8E10D2}" type="slidenum">
              <a:rPr lang="en-US" sz="1300"/>
              <a:pPr eaLnBrk="1" hangingPunct="1"/>
              <a:t>7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848299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A0DC5A4-9D9B-47E6-8C4B-17873DCD440E}" type="slidenum">
              <a:rPr lang="en-US" sz="1300"/>
              <a:pPr eaLnBrk="1" hangingPunct="1"/>
              <a:t>8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931778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34BD99F-6468-4903-9EEB-BEB7BCF2EF1D}" type="slidenum">
              <a:rPr lang="en-US" sz="1300"/>
              <a:pPr eaLnBrk="1" hangingPunct="1"/>
              <a:t>12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721390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5B67709-D4E3-46FE-B35D-064D953431BC}" type="slidenum">
              <a:rPr lang="en-US" sz="1300"/>
              <a:pPr eaLnBrk="1" hangingPunct="1"/>
              <a:t>13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3733180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72461C-B469-49E7-B327-066CE88C43A0}" type="slidenum">
              <a:rPr lang="en-US" sz="1300"/>
              <a:pPr eaLnBrk="1" hangingPunct="1"/>
              <a:t>14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3298689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10842AF-0D7B-4465-B0CB-CE426C7FF2F4}" type="slidenum">
              <a:rPr lang="en-US" sz="1300"/>
              <a:pPr eaLnBrk="1" hangingPunct="1"/>
              <a:t>15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9601434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BF76A1D-981D-42F5-B8C4-0A99D2CD72BF}" type="slidenum">
              <a:rPr lang="en-US" sz="1300"/>
              <a:pPr eaLnBrk="1" hangingPunct="1"/>
              <a:t>16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41580588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8AFB137A-2159-4B37-AE2A-33E2662D63D0}" type="slidenum">
              <a:rPr lang="en-US" sz="1300"/>
              <a:pPr eaLnBrk="1" hangingPunct="1"/>
              <a:t>18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131032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D286EA5-94DF-4FBE-9AC8-A13DACB889FF}" type="slidenum">
              <a:rPr lang="en-US" sz="1300"/>
              <a:pPr eaLnBrk="1" hangingPunct="1"/>
              <a:t>19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5656808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0F9114E-1144-4F1E-833C-5C9524505FD3}" type="slidenum">
              <a:rPr lang="en-US" sz="1300"/>
              <a:pPr eaLnBrk="1" hangingPunct="1"/>
              <a:t>20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8795763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AD1D750E-8775-4213-BED5-5C32120FDD7C}" type="slidenum">
              <a:rPr lang="en-US" sz="1300"/>
              <a:pPr eaLnBrk="1" hangingPunct="1"/>
              <a:t>21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42258357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472ECD3-EEFB-4217-AE10-3215D3802680}" type="slidenum">
              <a:rPr lang="en-US" sz="1300"/>
              <a:pPr eaLnBrk="1" hangingPunct="1"/>
              <a:t>22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8230698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9B5E138-E6EA-49D3-91F9-D456D9A19078}" type="slidenum">
              <a:rPr lang="en-US" sz="1300"/>
              <a:pPr eaLnBrk="1" hangingPunct="1"/>
              <a:t>24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1373909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623BD4D-CFA4-43D2-A5BF-8DC6426A5C8D}" type="slidenum">
              <a:rPr lang="en-US" sz="1300"/>
              <a:pPr eaLnBrk="1" hangingPunct="1"/>
              <a:t>25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301795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0335828-5B94-4BDA-B424-EF31BBE645EA}" type="slidenum">
              <a:rPr lang="en-US" sz="1300"/>
              <a:pPr eaLnBrk="1" hangingPunct="1"/>
              <a:t>26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1062860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6C2E563-B2D5-404B-98FD-FD24E2F47437}" type="slidenum">
              <a:rPr lang="en-US" sz="1300"/>
              <a:pPr eaLnBrk="1" hangingPunct="1"/>
              <a:t>27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9224043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842" indent="-28570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833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99966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099" indent="-22856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232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365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497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630" indent="-22856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74C78F6-16DC-4CDE-87CB-76B214257646}" type="slidenum">
              <a:rPr lang="en-US" sz="1300"/>
              <a:pPr eaLnBrk="1" hangingPunct="1"/>
              <a:t>28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969580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961D50-7A48-40EE-8F8E-153AAA8EE2F9}" type="datetimeFigureOut">
              <a:rPr lang="en-US"/>
              <a:pPr>
                <a:defRPr/>
              </a:pPr>
              <a:t>2/19/2016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7364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5677E-EC86-494B-AF46-B32942D062E5}" type="datetimeFigureOut">
              <a:rPr lang="en-US"/>
              <a:pPr>
                <a:defRPr/>
              </a:pPr>
              <a:t>2/19/2016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CA735-93CC-4E80-BAD2-5071AA1629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6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674CF9-D8A5-43FB-B4E6-EEF659DE912C}" type="datetimeFigureOut">
              <a:rPr lang="en-US"/>
              <a:pPr>
                <a:defRPr/>
              </a:pPr>
              <a:t>2/19/2016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1AC967-D50D-429F-AF97-6AB0A01C9B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22D8E8-A784-4D33-851E-A33BDD866DE6}" type="datetimeFigureOut">
              <a:rPr lang="en-US"/>
              <a:pPr>
                <a:defRPr/>
              </a:pPr>
              <a:t>2/19/2016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9F594D-7F8C-4F85-A242-24D8632767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06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696DAB-A231-478F-8847-B5ED71DF17BB}" type="datetimeFigureOut">
              <a:rPr lang="en-US"/>
              <a:pPr>
                <a:defRPr/>
              </a:pPr>
              <a:t>2/19/2016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F31C2-0A84-4848-9E34-866889B530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84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4E829-31AB-4944-A703-FBA89F14EA85}" type="datetimeFigureOut">
              <a:rPr lang="en-US"/>
              <a:pPr>
                <a:defRPr/>
              </a:pPr>
              <a:t>2/19/2016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1E1BF-9C00-4EFE-953D-DD56940074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579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4BE43-8690-4808-A31A-5614D4B9DD8F}" type="datetimeFigureOut">
              <a:rPr lang="en-US"/>
              <a:pPr>
                <a:defRPr/>
              </a:pPr>
              <a:t>2/19/2016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498472-2B00-4080-A99C-ABFDF6F32E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635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A01505-0F80-464C-9B5A-E255D5FE0C9E}" type="datetimeFigureOut">
              <a:rPr lang="en-US"/>
              <a:pPr>
                <a:defRPr/>
              </a:pPr>
              <a:t>2/19/2016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A3241-0C3C-47F1-AC3F-409D9A9A74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20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661CB-1035-48DE-9980-92DA32E7BEB5}" type="datetimeFigureOut">
              <a:rPr lang="en-US"/>
              <a:pPr>
                <a:defRPr/>
              </a:pPr>
              <a:t>2/19/2016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95E921-673E-4454-A446-2A8E0A9E90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96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76EFF2-BB68-47EC-B7AF-2BBA535D156B}" type="datetimeFigureOut">
              <a:rPr lang="en-US"/>
              <a:pPr>
                <a:defRPr/>
              </a:pPr>
              <a:t>2/19/2016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A0899A-5B9B-4C33-8078-F9EFE97297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898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7FC287-68FB-469F-9A09-3D5F3C7EC921}" type="datetimeFigureOut">
              <a:rPr lang="en-US"/>
              <a:pPr>
                <a:defRPr/>
              </a:pPr>
              <a:t>2/19/2016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3A7CF6-389D-456F-8D2A-383B00AC44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8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53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7" name="Text Box 112"/>
          <p:cNvSpPr txBox="1">
            <a:spLocks noChangeArrowheads="1"/>
          </p:cNvSpPr>
          <p:nvPr userDrawn="1"/>
        </p:nvSpPr>
        <p:spPr bwMode="auto">
          <a:xfrm>
            <a:off x="685800" y="6427788"/>
            <a:ext cx="190468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000" dirty="0"/>
              <a:t>Automotive Vehicle Dynamics</a:t>
            </a:r>
          </a:p>
          <a:p>
            <a:pPr>
              <a:defRPr/>
            </a:pPr>
            <a:r>
              <a:rPr lang="en-US" sz="1000" dirty="0"/>
              <a:t>Copyright </a:t>
            </a:r>
            <a:r>
              <a:rPr lang="en-US" sz="1000" dirty="0">
                <a:cs typeface="Times New Roman" pitchFamily="18" charset="0"/>
              </a:rPr>
              <a:t>© </a:t>
            </a:r>
            <a:r>
              <a:rPr lang="en-US" sz="1000" dirty="0" smtClean="0">
                <a:cs typeface="Times New Roman" pitchFamily="18" charset="0"/>
              </a:rPr>
              <a:t>2016, </a:t>
            </a:r>
            <a:r>
              <a:rPr lang="en-US" sz="1000" dirty="0">
                <a:cs typeface="Times New Roman" pitchFamily="18" charset="0"/>
              </a:rPr>
              <a:t>Sean Brennan</a:t>
            </a:r>
            <a:endParaRPr lang="en-US" sz="1000" dirty="0"/>
          </a:p>
        </p:txBody>
      </p:sp>
      <p:sp>
        <p:nvSpPr>
          <p:cNvPr id="8" name="Text Box 113"/>
          <p:cNvSpPr txBox="1">
            <a:spLocks noChangeArrowheads="1"/>
          </p:cNvSpPr>
          <p:nvPr userDrawn="1"/>
        </p:nvSpPr>
        <p:spPr bwMode="auto">
          <a:xfrm>
            <a:off x="7050756" y="6427788"/>
            <a:ext cx="186781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000" dirty="0"/>
              <a:t>ME 452  – </a:t>
            </a:r>
            <a:r>
              <a:rPr lang="en-US" sz="1000" dirty="0" smtClean="0"/>
              <a:t>Transient</a:t>
            </a:r>
            <a:r>
              <a:rPr lang="en-US" sz="1000" baseline="0" dirty="0" smtClean="0"/>
              <a:t> Response 2</a:t>
            </a:r>
            <a:endParaRPr lang="en-US" sz="1000" dirty="0"/>
          </a:p>
          <a:p>
            <a:pPr algn="r">
              <a:defRPr/>
            </a:pPr>
            <a:r>
              <a:rPr lang="en-US" sz="1000" dirty="0"/>
              <a:t>Slide </a:t>
            </a:r>
            <a:fld id="{B0F9A925-3425-49C2-B0E8-03D7DD2E26ED}" type="slidenum">
              <a:rPr lang="en-US" sz="1000" smtClean="0"/>
              <a:pPr algn="r">
                <a:defRPr/>
              </a:pPr>
              <a:t>‹#›</a:t>
            </a:fld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9" name="Line 114"/>
          <p:cNvSpPr>
            <a:spLocks noChangeShapeType="1"/>
          </p:cNvSpPr>
          <p:nvPr userDrawn="1"/>
        </p:nvSpPr>
        <p:spPr bwMode="auto">
          <a:xfrm>
            <a:off x="685800" y="6410325"/>
            <a:ext cx="8153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0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jpeg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hyperlink" Target="http://consumerguideauto.howstuffworks.com/2008-mercedes-benz-slk-class-4.htm?photo=1158795&amp;perspective=exterior" TargetMode="External"/><Relationship Id="rId11" Type="http://schemas.openxmlformats.org/officeDocument/2006/relationships/image" Target="../media/image6.png"/><Relationship Id="rId5" Type="http://schemas.openxmlformats.org/officeDocument/2006/relationships/image" Target="../media/image5.wmf"/><Relationship Id="rId1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31.png"/><Relationship Id="rId1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1.png"/><Relationship Id="rId18" Type="http://schemas.openxmlformats.org/officeDocument/2006/relationships/oleObject" Target="../embeddings/oleObject3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3.png"/><Relationship Id="rId12" Type="http://schemas.openxmlformats.org/officeDocument/2006/relationships/image" Target="../media/image10.png"/><Relationship Id="rId1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png"/><Relationship Id="rId5" Type="http://schemas.openxmlformats.org/officeDocument/2006/relationships/image" Target="../media/image6.jpeg"/><Relationship Id="rId15" Type="http://schemas.openxmlformats.org/officeDocument/2006/relationships/image" Target="../media/image15.png"/><Relationship Id="rId19" Type="http://schemas.openxmlformats.org/officeDocument/2006/relationships/image" Target="../media/image10.wmf"/><Relationship Id="rId4" Type="http://schemas.openxmlformats.org/officeDocument/2006/relationships/hyperlink" Target="http://consumerguideauto.howstuffworks.com/2008-mercedes-benz-slk-class-4.htm?photo=1158795&amp;perspective=exterior" TargetMode="External"/><Relationship Id="rId1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gi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0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8.wmf"/><Relationship Id="rId10" Type="http://schemas.openxmlformats.org/officeDocument/2006/relationships/image" Target="../media/image35.png"/><Relationship Id="rId4" Type="http://schemas.openxmlformats.org/officeDocument/2006/relationships/oleObject" Target="../embeddings/oleObject15.bin"/><Relationship Id="rId9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34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38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26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notesSlide" Target="../notesSlides/notesSlide18.xml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49.png"/><Relationship Id="rId9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4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29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4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50.wmf"/><Relationship Id="rId5" Type="http://schemas.openxmlformats.org/officeDocument/2006/relationships/image" Target="../media/image47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49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Automotive Vehicle Dynamics</a:t>
            </a: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600" b="1" dirty="0" smtClean="0">
                <a:solidFill>
                  <a:schemeClr val="tx1"/>
                </a:solidFill>
              </a:rPr>
              <a:t>Transient Response 2 – Equations of Motion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 smtClean="0"/>
              <a:t>Sean Brennan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 smtClean="0"/>
              <a:t>Department of Mechanical and Nuclear Engineering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 smtClean="0"/>
              <a:t>Penn State University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dirty="0" smtClean="0"/>
              <a:t>sbrennan@psu.edu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228600"/>
            <a:ext cx="1212056" cy="16160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28600"/>
            <a:ext cx="3009524" cy="20857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Today we’ll discuss a variety of strange beasts!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bicycle model that doesn’t work for bicycles</a:t>
            </a:r>
          </a:p>
          <a:p>
            <a:r>
              <a:rPr lang="en-US" dirty="0" smtClean="0"/>
              <a:t>State space that has nothing to do with outer space, and</a:t>
            </a:r>
          </a:p>
          <a:p>
            <a:r>
              <a:rPr lang="en-US" dirty="0" smtClean="0"/>
              <a:t>How complex numbers bring simplicity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038600"/>
            <a:ext cx="5257371" cy="186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69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start with our friend Newton</a:t>
            </a:r>
            <a:endParaRPr lang="en-US" dirty="0"/>
          </a:p>
        </p:txBody>
      </p:sp>
      <p:pic>
        <p:nvPicPr>
          <p:cNvPr id="7" name="Picture 2" descr="http://anglotopia.wpengine.netdna-cdn.com/wp-content/uploads/2014/08/Sir-Isaac-Newton-HD-Wallpap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447800"/>
            <a:ext cx="6865813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77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 smtClean="0"/>
              <a:t>The equations of motion for the planar bicycle model follow from the acceleration components derived previously:</a:t>
            </a:r>
          </a:p>
        </p:txBody>
      </p:sp>
      <p:graphicFrame>
        <p:nvGraphicFramePr>
          <p:cNvPr id="102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748776"/>
              </p:ext>
            </p:extLst>
          </p:nvPr>
        </p:nvGraphicFramePr>
        <p:xfrm>
          <a:off x="685800" y="2286000"/>
          <a:ext cx="5408613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Equation" r:id="rId4" imgW="1828800" imgH="558720" progId="Equation.DSMT4">
                  <p:embed/>
                </p:oleObj>
              </mc:Choice>
              <mc:Fallback>
                <p:oleObj name="Equation" r:id="rId4" imgW="1828800" imgH="5587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86000"/>
                        <a:ext cx="5408613" cy="165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6094413" y="1905000"/>
            <a:ext cx="2821644" cy="4294166"/>
            <a:chOff x="2586697" y="883166"/>
            <a:chExt cx="2821644" cy="4294166"/>
          </a:xfrm>
        </p:grpSpPr>
        <p:pic>
          <p:nvPicPr>
            <p:cNvPr id="9" name="Picture 6" descr="Convertible Overhead View">
              <a:hlinkClick r:id="rId6"/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b="6575"/>
            <a:stretch/>
          </p:blipFill>
          <p:spPr bwMode="auto">
            <a:xfrm rot="16200000">
              <a:off x="2211722" y="1980712"/>
              <a:ext cx="3759200" cy="2634039"/>
            </a:xfrm>
            <a:prstGeom prst="rect">
              <a:avLst/>
            </a:prstGeom>
            <a:noFill/>
          </p:spPr>
        </p:pic>
        <p:cxnSp>
          <p:nvCxnSpPr>
            <p:cNvPr id="10" name="Straight Arrow Connector 9"/>
            <p:cNvCxnSpPr/>
            <p:nvPr/>
          </p:nvCxnSpPr>
          <p:spPr>
            <a:xfrm flipV="1">
              <a:off x="4416339" y="883166"/>
              <a:ext cx="673725" cy="1143812"/>
            </a:xfrm>
            <a:prstGeom prst="straightConnector1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ounded Rectangle 10"/>
            <p:cNvSpPr/>
            <p:nvPr/>
          </p:nvSpPr>
          <p:spPr>
            <a:xfrm rot="1800000">
              <a:off x="4069702" y="2134156"/>
              <a:ext cx="228600" cy="5334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069702" y="4038600"/>
              <a:ext cx="228600" cy="5334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4184002" y="981307"/>
              <a:ext cx="1" cy="3397078"/>
            </a:xfrm>
            <a:prstGeom prst="line">
              <a:avLst/>
            </a:prstGeom>
            <a:ln>
              <a:head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Arc 13"/>
            <p:cNvSpPr/>
            <p:nvPr/>
          </p:nvSpPr>
          <p:spPr>
            <a:xfrm>
              <a:off x="3468030" y="1240892"/>
              <a:ext cx="1392064" cy="354480"/>
            </a:xfrm>
            <a:prstGeom prst="arc">
              <a:avLst>
                <a:gd name="adj1" fmla="val 16200000"/>
                <a:gd name="adj2" fmla="val 21175327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4416339" y="933148"/>
                  <a:ext cx="270715" cy="2992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6339" y="933148"/>
                  <a:ext cx="270715" cy="299249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22222" r="-13333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Connector 15"/>
            <p:cNvCxnSpPr/>
            <p:nvPr/>
          </p:nvCxnSpPr>
          <p:spPr>
            <a:xfrm flipV="1">
              <a:off x="4181635" y="1423217"/>
              <a:ext cx="182972" cy="9685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Arc 16"/>
            <p:cNvSpPr/>
            <p:nvPr/>
          </p:nvSpPr>
          <p:spPr>
            <a:xfrm rot="2455096" flipH="1">
              <a:off x="4161448" y="1580643"/>
              <a:ext cx="766238" cy="354480"/>
            </a:xfrm>
            <a:prstGeom prst="arc">
              <a:avLst>
                <a:gd name="adj1" fmla="val 16200000"/>
                <a:gd name="adj2" fmla="val 20458203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4730484" y="1490956"/>
                  <a:ext cx="291875" cy="2992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0484" y="1490956"/>
                  <a:ext cx="291875" cy="299249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l="-12500" r="-14583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/>
            <p:cNvCxnSpPr/>
            <p:nvPr/>
          </p:nvCxnSpPr>
          <p:spPr>
            <a:xfrm flipV="1">
              <a:off x="3130943" y="2436313"/>
              <a:ext cx="993595" cy="222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2696424" y="2242137"/>
                  <a:ext cx="391133" cy="2992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𝑦𝑓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6424" y="2242137"/>
                  <a:ext cx="391133" cy="299249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l="-12500" r="-10938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/>
            <p:cNvCxnSpPr/>
            <p:nvPr/>
          </p:nvCxnSpPr>
          <p:spPr>
            <a:xfrm>
              <a:off x="3091420" y="4378385"/>
              <a:ext cx="1072642" cy="51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2586697" y="4228760"/>
                  <a:ext cx="360932" cy="2989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𝑦𝑟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6697" y="4228760"/>
                  <a:ext cx="360932" cy="298928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 l="-13333" r="-5000" b="-20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/>
            <p:cNvCxnSpPr/>
            <p:nvPr/>
          </p:nvCxnSpPr>
          <p:spPr>
            <a:xfrm flipH="1" flipV="1">
              <a:off x="3951665" y="3555999"/>
              <a:ext cx="223647" cy="8222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Arc 23"/>
            <p:cNvSpPr/>
            <p:nvPr/>
          </p:nvSpPr>
          <p:spPr>
            <a:xfrm flipH="1">
              <a:off x="3890002" y="3561789"/>
              <a:ext cx="766238" cy="354480"/>
            </a:xfrm>
            <a:prstGeom prst="arc">
              <a:avLst>
                <a:gd name="adj1" fmla="val 17894473"/>
                <a:gd name="adj2" fmla="val 20458203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3793140" y="3219358"/>
                  <a:ext cx="2954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3140" y="3219358"/>
                  <a:ext cx="295401" cy="276999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l="-10204" r="-4082" b="-108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227282" y="2753249"/>
                  <a:ext cx="18678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7282" y="2753249"/>
                  <a:ext cx="186781" cy="276999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l="-19355" r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4212236" y="3633794"/>
                  <a:ext cx="18299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2236" y="3633794"/>
                  <a:ext cx="182999" cy="276999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 l="-33333" r="-2666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8" name="Picture 4" descr="http://www.buildingspeed.org/blog/wp-content/uploads/2014/09/CGIcon.png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5901" y="3159750"/>
              <a:ext cx="322133" cy="3135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5446056" y="846138"/>
            <a:ext cx="3154794" cy="3759200"/>
            <a:chOff x="2586697" y="1418132"/>
            <a:chExt cx="3154794" cy="3759200"/>
          </a:xfrm>
        </p:grpSpPr>
        <p:pic>
          <p:nvPicPr>
            <p:cNvPr id="8" name="Picture 6" descr="Convertible Overhead View">
              <a:hlinkClick r:id="rId4"/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b="6575"/>
            <a:stretch/>
          </p:blipFill>
          <p:spPr bwMode="auto">
            <a:xfrm rot="16200000">
              <a:off x="2211722" y="1980712"/>
              <a:ext cx="3759200" cy="2634039"/>
            </a:xfrm>
            <a:prstGeom prst="rect">
              <a:avLst/>
            </a:prstGeom>
            <a:noFill/>
          </p:spPr>
        </p:pic>
        <p:sp>
          <p:nvSpPr>
            <p:cNvPr id="10" name="Rounded Rectangle 9"/>
            <p:cNvSpPr/>
            <p:nvPr/>
          </p:nvSpPr>
          <p:spPr>
            <a:xfrm rot="1800000">
              <a:off x="4069702" y="2134156"/>
              <a:ext cx="228600" cy="5334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069702" y="4038600"/>
              <a:ext cx="228600" cy="5334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4184002" y="2407166"/>
              <a:ext cx="1" cy="2011680"/>
            </a:xfrm>
            <a:prstGeom prst="line">
              <a:avLst/>
            </a:prstGeom>
            <a:ln>
              <a:head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Arc 12"/>
            <p:cNvSpPr/>
            <p:nvPr/>
          </p:nvSpPr>
          <p:spPr>
            <a:xfrm>
              <a:off x="3458238" y="2751345"/>
              <a:ext cx="1392064" cy="354480"/>
            </a:xfrm>
            <a:prstGeom prst="arc">
              <a:avLst>
                <a:gd name="adj1" fmla="val 16200000"/>
                <a:gd name="adj2" fmla="val 21175327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4406547" y="2443601"/>
                  <a:ext cx="22955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6547" y="2443601"/>
                  <a:ext cx="229550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18421" r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/>
            <p:cNvCxnSpPr/>
            <p:nvPr/>
          </p:nvCxnSpPr>
          <p:spPr>
            <a:xfrm flipV="1">
              <a:off x="4186327" y="2371249"/>
              <a:ext cx="993595" cy="222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5216924" y="2171771"/>
                  <a:ext cx="524567" cy="398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𝑦𝑓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6924" y="2171771"/>
                  <a:ext cx="524567" cy="39895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12791" r="-8140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/>
            <p:cNvCxnSpPr/>
            <p:nvPr/>
          </p:nvCxnSpPr>
          <p:spPr>
            <a:xfrm flipH="1">
              <a:off x="3110082" y="4397047"/>
              <a:ext cx="1072642" cy="51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2586697" y="4228760"/>
                  <a:ext cx="478336" cy="3985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𝑦𝑟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6697" y="4228760"/>
                  <a:ext cx="478336" cy="398507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12658" r="-3797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4227282" y="2753249"/>
                  <a:ext cx="18678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7282" y="2753249"/>
                  <a:ext cx="186781" cy="276999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l="-19355" r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212236" y="3633794"/>
                  <a:ext cx="18299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2236" y="3633794"/>
                  <a:ext cx="182999" cy="276999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l="-33333" r="-2666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7" name="Picture 4" descr="http://www.buildingspeed.org/blog/wp-content/uploads/2014/09/CGIcon.png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5901" y="3159750"/>
              <a:ext cx="322133" cy="3135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 smtClean="0"/>
              <a:t>Rotation causes each tire to experience different velocities. The front/rear rotation-induced side velocities are large.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100264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 smtClean="0"/>
                  <a:t>For steady-state turns, the yaw rate producing 1 g of lateral velocity is: </a:t>
                </a: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:r>
                  <a:rPr lang="en-US" sz="2400" dirty="0" smtClean="0"/>
                  <a:t>At 10  m/s, the yaw rate is about 1 rad/sec. The lateral velocity due to spin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𝑟𝐿</m:t>
                    </m:r>
                  </m:oMath>
                </a14:m>
                <a:r>
                  <a:rPr lang="en-US" sz="2400" dirty="0" smtClean="0"/>
                  <a:t>, or for a distance of 1.5 meters, the tires are sliding sideways at 1.5 m/s!</a:t>
                </a: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100264" cy="4525963"/>
              </a:xfrm>
              <a:blipFill rotWithShape="0">
                <a:blip r:embed="rId15"/>
                <a:stretch>
                  <a:fillRect l="-2229" t="-1078" r="-20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389756"/>
              </p:ext>
            </p:extLst>
          </p:nvPr>
        </p:nvGraphicFramePr>
        <p:xfrm>
          <a:off x="4988856" y="4317713"/>
          <a:ext cx="2590800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" name="Equation" r:id="rId16" imgW="876240" imgH="355320" progId="Equation.3">
                  <p:embed/>
                </p:oleObj>
              </mc:Choice>
              <mc:Fallback>
                <p:oleObj name="Equation" r:id="rId16" imgW="87624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8856" y="4317713"/>
                        <a:ext cx="2590800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4171153"/>
              </p:ext>
            </p:extLst>
          </p:nvPr>
        </p:nvGraphicFramePr>
        <p:xfrm>
          <a:off x="4988856" y="5367051"/>
          <a:ext cx="25908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7" name="Equation" r:id="rId18" imgW="876240" imgH="355320" progId="Equation.3">
                  <p:embed/>
                </p:oleObj>
              </mc:Choice>
              <mc:Fallback>
                <p:oleObj name="Equation" r:id="rId18" imgW="87624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8856" y="5367051"/>
                        <a:ext cx="25908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2653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 smtClean="0"/>
              <a:t>We can simplify these equations assuming the linear tire model, as we did earlier</a:t>
            </a:r>
          </a:p>
        </p:txBody>
      </p:sp>
      <p:graphicFrame>
        <p:nvGraphicFramePr>
          <p:cNvPr id="102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490580"/>
              </p:ext>
            </p:extLst>
          </p:nvPr>
        </p:nvGraphicFramePr>
        <p:xfrm>
          <a:off x="1295400" y="2133600"/>
          <a:ext cx="2290763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5" name="Equation" r:id="rId4" imgW="774360" imgH="241200" progId="Equation.DSMT4">
                  <p:embed/>
                </p:oleObj>
              </mc:Choice>
              <mc:Fallback>
                <p:oleObj name="Equation" r:id="rId4" imgW="7743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133600"/>
                        <a:ext cx="2290763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9399968"/>
              </p:ext>
            </p:extLst>
          </p:nvPr>
        </p:nvGraphicFramePr>
        <p:xfrm>
          <a:off x="1354138" y="3184525"/>
          <a:ext cx="2065337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6" name="Equation" r:id="rId6" imgW="698400" imgH="228600" progId="Equation.DSMT4">
                  <p:embed/>
                </p:oleObj>
              </mc:Choice>
              <mc:Fallback>
                <p:oleObj name="Equation" r:id="rId6" imgW="698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4138" y="3184525"/>
                        <a:ext cx="2065337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64" name="Picture 8" descr="http://link.springer.com/static-content/images/77/chp%253A10.1007%252F978-0-85729-085-4_10/MediaObjects/978-0-85729-085-4_10_Fig5_HTML.gif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2252662"/>
            <a:ext cx="4000500" cy="3209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284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277910"/>
            <a:ext cx="8229600" cy="1143000"/>
          </a:xfrm>
        </p:spPr>
        <p:txBody>
          <a:bodyPr/>
          <a:lstStyle/>
          <a:p>
            <a:pPr algn="l"/>
            <a:r>
              <a:rPr lang="en-US" dirty="0" smtClean="0"/>
              <a:t>We </a:t>
            </a:r>
            <a:r>
              <a:rPr lang="en-US" dirty="0"/>
              <a:t>can rearrange to obtain an equation for </a:t>
            </a:r>
            <a:r>
              <a:rPr lang="en-US" dirty="0" smtClean="0"/>
              <a:t>lateral velocity:</a:t>
            </a:r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1320800" y="2035175"/>
          <a:ext cx="48514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Equation" r:id="rId4" imgW="1854000" imgH="241200" progId="Equation.3">
                  <p:embed/>
                </p:oleObj>
              </mc:Choice>
              <mc:Fallback>
                <p:oleObj name="Equation" r:id="rId4" imgW="1854000" imgH="24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2035175"/>
                        <a:ext cx="485140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4"/>
          <p:cNvGraphicFramePr>
            <a:graphicFrameLocks noChangeAspect="1"/>
          </p:cNvGraphicFramePr>
          <p:nvPr/>
        </p:nvGraphicFramePr>
        <p:xfrm>
          <a:off x="2133600" y="2743200"/>
          <a:ext cx="65532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Equation" r:id="rId6" imgW="2438280" imgH="355320" progId="Equation.3">
                  <p:embed/>
                </p:oleObj>
              </mc:Choice>
              <mc:Fallback>
                <p:oleObj name="Equation" r:id="rId6" imgW="2438280" imgH="3553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743200"/>
                        <a:ext cx="655320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5"/>
          <p:cNvGraphicFramePr>
            <a:graphicFrameLocks noChangeAspect="1"/>
          </p:cNvGraphicFramePr>
          <p:nvPr/>
        </p:nvGraphicFramePr>
        <p:xfrm>
          <a:off x="914400" y="3998913"/>
          <a:ext cx="586740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Equation" r:id="rId8" imgW="2374560" imgH="419040" progId="Equation.3">
                  <p:embed/>
                </p:oleObj>
              </mc:Choice>
              <mc:Fallback>
                <p:oleObj name="Equation" r:id="rId8" imgW="2374560" imgH="419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998913"/>
                        <a:ext cx="5867400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6"/>
          <p:cNvGraphicFramePr>
            <a:graphicFrameLocks noChangeAspect="1"/>
          </p:cNvGraphicFramePr>
          <p:nvPr/>
        </p:nvGraphicFramePr>
        <p:xfrm>
          <a:off x="2819400" y="5192713"/>
          <a:ext cx="342900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Equation" r:id="rId10" imgW="1346040" imgH="215640" progId="Equation.3">
                  <p:embed/>
                </p:oleObj>
              </mc:Choice>
              <mc:Fallback>
                <p:oleObj name="Equation" r:id="rId10" imgW="134604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192713"/>
                        <a:ext cx="3429000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And another for </a:t>
            </a:r>
            <a:r>
              <a:rPr lang="en-US" dirty="0" smtClean="0"/>
              <a:t>yaw:</a:t>
            </a:r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1981200" y="1803400"/>
          <a:ext cx="43434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4" name="Equation" r:id="rId4" imgW="1701720" imgH="355320" progId="Equation.3">
                  <p:embed/>
                </p:oleObj>
              </mc:Choice>
              <mc:Fallback>
                <p:oleObj name="Equation" r:id="rId4" imgW="1701720" imgH="3553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803400"/>
                        <a:ext cx="43434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4"/>
          <p:cNvGraphicFramePr>
            <a:graphicFrameLocks noChangeAspect="1"/>
          </p:cNvGraphicFramePr>
          <p:nvPr/>
        </p:nvGraphicFramePr>
        <p:xfrm>
          <a:off x="3200400" y="2778125"/>
          <a:ext cx="35052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5" name="Equation" r:id="rId6" imgW="1371600" imgH="355320" progId="Equation.3">
                  <p:embed/>
                </p:oleObj>
              </mc:Choice>
              <mc:Fallback>
                <p:oleObj name="Equation" r:id="rId6" imgW="1371600" imgH="3553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778125"/>
                        <a:ext cx="35052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5"/>
          <p:cNvGraphicFramePr>
            <a:graphicFrameLocks noChangeAspect="1"/>
          </p:cNvGraphicFramePr>
          <p:nvPr/>
        </p:nvGraphicFramePr>
        <p:xfrm>
          <a:off x="2819400" y="3927475"/>
          <a:ext cx="495300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6" name="Equation" r:id="rId8" imgW="2095200" imgH="393480" progId="Equation.3">
                  <p:embed/>
                </p:oleObj>
              </mc:Choice>
              <mc:Fallback>
                <p:oleObj name="Equation" r:id="rId8" imgW="2095200" imgH="393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927475"/>
                        <a:ext cx="4953000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6"/>
          <p:cNvGraphicFramePr>
            <a:graphicFrameLocks noChangeAspect="1"/>
          </p:cNvGraphicFramePr>
          <p:nvPr/>
        </p:nvGraphicFramePr>
        <p:xfrm>
          <a:off x="3200400" y="5029200"/>
          <a:ext cx="26289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7" name="Equation" r:id="rId10" imgW="990360" imgH="215640" progId="Equation.3">
                  <p:embed/>
                </p:oleObj>
              </mc:Choice>
              <mc:Fallback>
                <p:oleObj name="Equation" r:id="rId10" imgW="99036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029200"/>
                        <a:ext cx="26289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Text Box 7"/>
          <p:cNvSpPr txBox="1">
            <a:spLocks noChangeArrowheads="1"/>
          </p:cNvSpPr>
          <p:nvPr/>
        </p:nvSpPr>
        <p:spPr bwMode="auto">
          <a:xfrm>
            <a:off x="1127125" y="1641475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Yaw: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The so-called bicycle model can now be defined in “state space”!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We choose r and V as the system states</a:t>
            </a:r>
            <a:r>
              <a:rPr lang="en-US" dirty="0"/>
              <a:t>. This is the standard, linear 2-DOF transient bicycle model given in matrix differential equation form</a:t>
            </a:r>
            <a:endParaRPr lang="en-US" dirty="0" smtClean="0"/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511820"/>
              </p:ext>
            </p:extLst>
          </p:nvPr>
        </p:nvGraphicFramePr>
        <p:xfrm>
          <a:off x="609600" y="3771900"/>
          <a:ext cx="8305800" cy="199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Equation" r:id="rId4" imgW="3797280" imgH="927000" progId="Equation.3">
                  <p:embed/>
                </p:oleObj>
              </mc:Choice>
              <mc:Fallback>
                <p:oleObj name="Equation" r:id="rId4" imgW="3797280" imgH="927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771900"/>
                        <a:ext cx="8305800" cy="199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8229600" cy="1143000"/>
          </a:xfrm>
        </p:spPr>
        <p:txBody>
          <a:bodyPr/>
          <a:lstStyle/>
          <a:p>
            <a:r>
              <a:rPr lang="en-US" dirty="0" smtClean="0"/>
              <a:t>Just a reminder… state-space has nothing really to do with </a:t>
            </a:r>
            <a:r>
              <a:rPr lang="en-US" dirty="0" smtClean="0"/>
              <a:t>space, or states in the US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67000"/>
            <a:ext cx="3863997" cy="25713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2667000"/>
            <a:ext cx="4160854" cy="257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9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States refer to measurements that convey how energy is transferred, and space refers to the fact that we order the states into vectors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89" y="1905000"/>
            <a:ext cx="4081511" cy="27231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724400"/>
            <a:ext cx="35269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https://en.wikipedia.org/wiki/File:Lightning_strike_jan_2007.jpg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715" y="1769966"/>
            <a:ext cx="3705085" cy="32067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57800" y="4998053"/>
            <a:ext cx="33297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en-US" dirty="0"/>
              <a:t>https://commons.wikimedia.org/wiki/File:Vector_1-form.svg</a:t>
            </a:r>
          </a:p>
        </p:txBody>
      </p:sp>
    </p:spTree>
    <p:extLst>
      <p:ext uri="{BB962C8B-B14F-4D97-AF65-F5344CB8AC3E}">
        <p14:creationId xmlns:p14="http://schemas.microsoft.com/office/powerpoint/2010/main" val="2989992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229600" cy="1143000"/>
          </a:xfrm>
        </p:spPr>
        <p:txBody>
          <a:bodyPr/>
          <a:lstStyle/>
          <a:p>
            <a:pPr algn="l"/>
            <a:r>
              <a:rPr lang="en-US" dirty="0" smtClean="0"/>
              <a:t>State space is </a:t>
            </a:r>
            <a:r>
              <a:rPr lang="en-US" dirty="0" smtClean="0"/>
              <a:t>really just a template for writing differential equations…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 smtClean="0"/>
                  <a:t>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1524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State-space equations are very handy for feedback control…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85344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00B050"/>
                </a:solidFill>
              </a:rPr>
              <a:t>Easy</a:t>
            </a:r>
            <a:r>
              <a:rPr lang="en-US" dirty="0" smtClean="0"/>
              <a:t> to implement on a computer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Easy</a:t>
            </a:r>
            <a:r>
              <a:rPr lang="en-US" dirty="0" smtClean="0"/>
              <a:t> to expand to </a:t>
            </a:r>
            <a:r>
              <a:rPr lang="en-US" dirty="0" smtClean="0"/>
              <a:t>use on</a:t>
            </a:r>
            <a:r>
              <a:rPr lang="en-US" dirty="0" smtClean="0"/>
              <a:t> high-dimensional systems </a:t>
            </a:r>
            <a:endParaRPr lang="en-US" dirty="0" smtClean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Easy</a:t>
            </a:r>
            <a:r>
              <a:rPr lang="en-US" dirty="0" smtClean="0"/>
              <a:t> to transform between coordinate systems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Easy</a:t>
            </a:r>
            <a:r>
              <a:rPr lang="en-US" dirty="0" smtClean="0"/>
              <a:t> to analyze for stability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(but.. </a:t>
            </a:r>
            <a:r>
              <a:rPr lang="en-US" dirty="0" smtClean="0">
                <a:solidFill>
                  <a:srgbClr val="FF0000"/>
                </a:solidFill>
              </a:rPr>
              <a:t>HARD</a:t>
            </a:r>
            <a:r>
              <a:rPr lang="en-US" dirty="0" smtClean="0"/>
              <a:t> </a:t>
            </a:r>
            <a:r>
              <a:rPr lang="en-US" dirty="0" smtClean="0"/>
              <a:t>for human understanding, sadly!)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resulting simulation is now very compact…</a:t>
            </a:r>
          </a:p>
        </p:txBody>
      </p:sp>
      <p:pic>
        <p:nvPicPr>
          <p:cNvPr id="1945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912" y="1981200"/>
            <a:ext cx="6734175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 smtClean="0"/>
              <a:t>How does state-space compare to other methods, for example Milliken’s Derivative Notation?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Milliken writes:</a:t>
            </a:r>
            <a:br>
              <a:rPr lang="en-US" dirty="0" smtClean="0"/>
            </a:br>
            <a:r>
              <a:rPr lang="en-US" dirty="0" smtClean="0"/>
              <a:t>		</a:t>
            </a:r>
          </a:p>
          <a:p>
            <a:pPr marL="0" indent="0">
              <a:buNone/>
            </a:pPr>
            <a:r>
              <a:rPr lang="en-US" dirty="0" smtClean="0">
                <a:sym typeface="Symbol" pitchFamily="18" charset="2"/>
              </a:rPr>
              <a:t>Since </a:t>
            </a:r>
            <a:br>
              <a:rPr lang="en-US" dirty="0" smtClean="0">
                <a:sym typeface="Symbol" pitchFamily="18" charset="2"/>
              </a:rPr>
            </a:br>
            <a:r>
              <a:rPr lang="en-US" dirty="0" smtClean="0">
                <a:sym typeface="Symbol" pitchFamily="18" charset="2"/>
              </a:rPr>
              <a:t>		</a:t>
            </a:r>
            <a:br>
              <a:rPr lang="en-US" dirty="0" smtClean="0">
                <a:sym typeface="Symbol" pitchFamily="18" charset="2"/>
              </a:rPr>
            </a:br>
            <a:r>
              <a:rPr lang="en-US" dirty="0" smtClean="0">
                <a:sym typeface="Symbol" pitchFamily="18" charset="2"/>
              </a:rPr>
              <a:t>	</a:t>
            </a:r>
          </a:p>
          <a:p>
            <a:pPr>
              <a:buFont typeface="Arial" charset="0"/>
              <a:buNone/>
            </a:pPr>
            <a:endParaRPr lang="en-US" dirty="0" smtClean="0"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since U = constant. 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This is the same as our derivation!</a:t>
            </a:r>
            <a:r>
              <a:rPr lang="en-US" i="1" dirty="0" smtClean="0">
                <a:solidFill>
                  <a:srgbClr val="000000"/>
                </a:solidFill>
                <a:sym typeface="Symbol" pitchFamily="18" charset="2"/>
              </a:rPr>
              <a:t/>
            </a:r>
            <a:br>
              <a:rPr lang="en-US" i="1" dirty="0" smtClean="0">
                <a:solidFill>
                  <a:srgbClr val="000000"/>
                </a:solidFill>
                <a:sym typeface="Symbol" pitchFamily="18" charset="2"/>
              </a:rPr>
            </a:br>
            <a:r>
              <a:rPr lang="en-US" i="1" dirty="0" smtClean="0">
                <a:solidFill>
                  <a:srgbClr val="000000"/>
                </a:solidFill>
                <a:sym typeface="Symbol" pitchFamily="18" charset="2"/>
              </a:rPr>
              <a:t>		</a:t>
            </a:r>
            <a:endParaRPr lang="en-US" dirty="0" smtClean="0"/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3130266"/>
              </p:ext>
            </p:extLst>
          </p:nvPr>
        </p:nvGraphicFramePr>
        <p:xfrm>
          <a:off x="1934368" y="2794502"/>
          <a:ext cx="952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" name="Equation" r:id="rId4" imgW="952200" imgH="825480" progId="Equation.3">
                  <p:embed/>
                </p:oleObj>
              </mc:Choice>
              <mc:Fallback>
                <p:oleObj name="Equation" r:id="rId4" imgW="952200" imgH="825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4368" y="2794502"/>
                        <a:ext cx="952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Text Box 6"/>
          <p:cNvSpPr txBox="1">
            <a:spLocks noChangeArrowheads="1"/>
          </p:cNvSpPr>
          <p:nvPr/>
        </p:nvSpPr>
        <p:spPr bwMode="auto">
          <a:xfrm>
            <a:off x="5919787" y="2491662"/>
            <a:ext cx="260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>
                <a:solidFill>
                  <a:srgbClr val="000000"/>
                </a:solidFill>
                <a:sym typeface="Symbol" pitchFamily="18" charset="2"/>
              </a:rPr>
              <a:t>.</a:t>
            </a:r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71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275049"/>
              </p:ext>
            </p:extLst>
          </p:nvPr>
        </p:nvGraphicFramePr>
        <p:xfrm>
          <a:off x="3359943" y="2519362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" name="Equation" r:id="rId6" imgW="190440" imgH="419040" progId="Equation.3">
                  <p:embed/>
                </p:oleObj>
              </mc:Choice>
              <mc:Fallback>
                <p:oleObj name="Equation" r:id="rId6" imgW="190440" imgH="419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943" y="2519362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3134518" y="2867025"/>
            <a:ext cx="10461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000000"/>
                </a:solidFill>
              </a:rPr>
              <a:t>lateral vel.</a:t>
            </a: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3131343" y="3306762"/>
            <a:ext cx="9921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000000"/>
                </a:solidFill>
              </a:rPr>
              <a:t>long. Vel.</a:t>
            </a:r>
          </a:p>
        </p:txBody>
      </p:sp>
      <p:sp>
        <p:nvSpPr>
          <p:cNvPr id="7182" name="Line 14"/>
          <p:cNvSpPr>
            <a:spLocks noChangeShapeType="1"/>
          </p:cNvSpPr>
          <p:nvPr/>
        </p:nvSpPr>
        <p:spPr bwMode="auto">
          <a:xfrm flipH="1">
            <a:off x="2845593" y="3033712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83" name="Line 15"/>
          <p:cNvSpPr>
            <a:spLocks noChangeShapeType="1"/>
          </p:cNvSpPr>
          <p:nvPr/>
        </p:nvSpPr>
        <p:spPr bwMode="auto">
          <a:xfrm flipH="1">
            <a:off x="2845593" y="3490912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476750" y="1488378"/>
                <a:ext cx="3656578" cy="1812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𝑑𝑟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750" y="1488378"/>
                <a:ext cx="3656578" cy="181203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04658" y="3862325"/>
                <a:ext cx="4248342" cy="1226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𝑈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58" y="3862325"/>
                <a:ext cx="4248342" cy="122674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988767" y="4019099"/>
                <a:ext cx="2755946" cy="922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8767" y="4019099"/>
                <a:ext cx="2755946" cy="922176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Milliken’s Derivative Notation is based on sensitivity functions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Using Milliken &amp; Milliken’s notation</a:t>
            </a:r>
          </a:p>
        </p:txBody>
      </p:sp>
      <p:graphicFrame>
        <p:nvGraphicFramePr>
          <p:cNvPr id="819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606997"/>
              </p:ext>
            </p:extLst>
          </p:nvPr>
        </p:nvGraphicFramePr>
        <p:xfrm>
          <a:off x="489743" y="2665122"/>
          <a:ext cx="8332787" cy="101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Equation" r:id="rId4" imgW="3225600" imgH="393480" progId="Equation.3">
                  <p:embed/>
                </p:oleObj>
              </mc:Choice>
              <mc:Fallback>
                <p:oleObj name="Equation" r:id="rId4" imgW="322560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43" y="2665122"/>
                        <a:ext cx="8332787" cy="101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AutoShape 5"/>
          <p:cNvSpPr>
            <a:spLocks/>
          </p:cNvSpPr>
          <p:nvPr/>
        </p:nvSpPr>
        <p:spPr bwMode="auto">
          <a:xfrm rot="16200000">
            <a:off x="3785442" y="2803849"/>
            <a:ext cx="76200" cy="1371600"/>
          </a:xfrm>
          <a:prstGeom prst="leftBrace">
            <a:avLst>
              <a:gd name="adj1" fmla="val 150000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9" name="AutoShape 6"/>
          <p:cNvSpPr>
            <a:spLocks/>
          </p:cNvSpPr>
          <p:nvPr/>
        </p:nvSpPr>
        <p:spPr bwMode="auto">
          <a:xfrm rot="-5400000">
            <a:off x="6362700" y="2701925"/>
            <a:ext cx="76200" cy="2133600"/>
          </a:xfrm>
          <a:prstGeom prst="leftBrace">
            <a:avLst>
              <a:gd name="adj1" fmla="val 233333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0" name="AutoShape 7"/>
          <p:cNvSpPr>
            <a:spLocks/>
          </p:cNvSpPr>
          <p:nvPr/>
        </p:nvSpPr>
        <p:spPr bwMode="auto">
          <a:xfrm rot="-5400000">
            <a:off x="8278812" y="3455988"/>
            <a:ext cx="130175" cy="381000"/>
          </a:xfrm>
          <a:prstGeom prst="leftBrace">
            <a:avLst>
              <a:gd name="adj1" fmla="val 24390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1" name="Text Box 8"/>
          <p:cNvSpPr txBox="1">
            <a:spLocks noChangeArrowheads="1"/>
          </p:cNvSpPr>
          <p:nvPr/>
        </p:nvSpPr>
        <p:spPr bwMode="auto">
          <a:xfrm>
            <a:off x="3540967" y="3511874"/>
            <a:ext cx="465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i="1">
                <a:solidFill>
                  <a:srgbClr val="000000"/>
                </a:solidFill>
              </a:rPr>
              <a:t>Y</a:t>
            </a:r>
            <a:r>
              <a:rPr lang="en-US" baseline="-25000">
                <a:solidFill>
                  <a:srgbClr val="000000"/>
                </a:solidFill>
                <a:sym typeface="Symbol" pitchFamily="18" charset="2"/>
              </a:rPr>
              <a:t></a:t>
            </a:r>
            <a:endParaRPr lang="en-US" baseline="-25000">
              <a:solidFill>
                <a:srgbClr val="000000"/>
              </a:solidFill>
            </a:endParaRPr>
          </a:p>
        </p:txBody>
      </p:sp>
      <p:sp>
        <p:nvSpPr>
          <p:cNvPr id="8202" name="Text Box 9"/>
          <p:cNvSpPr txBox="1">
            <a:spLocks noChangeArrowheads="1"/>
          </p:cNvSpPr>
          <p:nvPr/>
        </p:nvSpPr>
        <p:spPr bwMode="auto">
          <a:xfrm>
            <a:off x="6184900" y="3810000"/>
            <a:ext cx="422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i="1">
                <a:solidFill>
                  <a:srgbClr val="000000"/>
                </a:solidFill>
              </a:rPr>
              <a:t>Y</a:t>
            </a:r>
            <a:r>
              <a:rPr lang="en-US" baseline="-25000">
                <a:solidFill>
                  <a:srgbClr val="000000"/>
                </a:solidFill>
                <a:sym typeface="Symbol" pitchFamily="18" charset="2"/>
              </a:rPr>
              <a:t>r</a:t>
            </a:r>
            <a:endParaRPr lang="en-US" baseline="-25000">
              <a:solidFill>
                <a:srgbClr val="000000"/>
              </a:solidFill>
            </a:endParaRPr>
          </a:p>
        </p:txBody>
      </p:sp>
      <p:sp>
        <p:nvSpPr>
          <p:cNvPr id="8203" name="Text Box 10"/>
          <p:cNvSpPr txBox="1">
            <a:spLocks noChangeArrowheads="1"/>
          </p:cNvSpPr>
          <p:nvPr/>
        </p:nvSpPr>
        <p:spPr bwMode="auto">
          <a:xfrm>
            <a:off x="8156575" y="3641725"/>
            <a:ext cx="454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i="1">
                <a:solidFill>
                  <a:srgbClr val="000000"/>
                </a:solidFill>
              </a:rPr>
              <a:t>Y</a:t>
            </a:r>
            <a:r>
              <a:rPr lang="en-US" baseline="-25000">
                <a:solidFill>
                  <a:srgbClr val="000000"/>
                </a:solidFill>
                <a:sym typeface="Symbol" pitchFamily="18" charset="2"/>
              </a:rPr>
              <a:t></a:t>
            </a:r>
            <a:endParaRPr lang="en-US" baseline="-25000">
              <a:solidFill>
                <a:srgbClr val="000000"/>
              </a:solidFill>
            </a:endParaRPr>
          </a:p>
        </p:txBody>
      </p:sp>
      <p:graphicFrame>
        <p:nvGraphicFramePr>
          <p:cNvPr id="8195" name="Object 11"/>
          <p:cNvGraphicFramePr>
            <a:graphicFrameLocks noChangeAspect="1"/>
          </p:cNvGraphicFramePr>
          <p:nvPr/>
        </p:nvGraphicFramePr>
        <p:xfrm>
          <a:off x="3194050" y="4711700"/>
          <a:ext cx="3111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Equation" r:id="rId6" imgW="3111480" imgH="469800" progId="Equation.3">
                  <p:embed/>
                </p:oleObj>
              </mc:Choice>
              <mc:Fallback>
                <p:oleObj name="Equation" r:id="rId6" imgW="3111480" imgH="469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050" y="4711700"/>
                        <a:ext cx="3111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4" name="Line 12"/>
          <p:cNvSpPr>
            <a:spLocks noChangeShapeType="1"/>
          </p:cNvSpPr>
          <p:nvPr/>
        </p:nvSpPr>
        <p:spPr bwMode="auto">
          <a:xfrm flipH="1" flipV="1">
            <a:off x="3657600" y="5181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5" name="Line 13"/>
          <p:cNvSpPr>
            <a:spLocks noChangeShapeType="1"/>
          </p:cNvSpPr>
          <p:nvPr/>
        </p:nvSpPr>
        <p:spPr bwMode="auto">
          <a:xfrm flipH="1" flipV="1">
            <a:off x="4648200" y="5105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6" name="Line 14"/>
          <p:cNvSpPr>
            <a:spLocks noChangeShapeType="1"/>
          </p:cNvSpPr>
          <p:nvPr/>
        </p:nvSpPr>
        <p:spPr bwMode="auto">
          <a:xfrm flipV="1">
            <a:off x="5257800" y="5181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7" name="Text Box 15"/>
          <p:cNvSpPr txBox="1">
            <a:spLocks noChangeArrowheads="1"/>
          </p:cNvSpPr>
          <p:nvPr/>
        </p:nvSpPr>
        <p:spPr bwMode="auto">
          <a:xfrm>
            <a:off x="2743200" y="5527675"/>
            <a:ext cx="3825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stability &amp; control derivatives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 the sensitivity functions give us the same result as state-space</a:t>
            </a:r>
          </a:p>
        </p:txBody>
      </p:sp>
      <p:sp>
        <p:nvSpPr>
          <p:cNvPr id="9223" name="Rectangle 3"/>
          <p:cNvSpPr>
            <a:spLocks noGrp="1" noChangeArrowheads="1"/>
          </p:cNvSpPr>
          <p:nvPr>
            <p:ph idx="1"/>
          </p:nvPr>
        </p:nvSpPr>
        <p:spPr>
          <a:xfrm>
            <a:off x="957263" y="1909763"/>
            <a:ext cx="8186737" cy="441483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dirty="0" smtClean="0"/>
              <a:t>                                       damping-in-sideslip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	                       lateral force/yaw</a:t>
            </a:r>
            <a:br>
              <a:rPr lang="en-US" dirty="0" smtClean="0"/>
            </a:br>
            <a:r>
              <a:rPr lang="en-US" dirty="0" smtClean="0"/>
              <a:t>                                                  coupling</a:t>
            </a:r>
            <a:br>
              <a:rPr lang="en-US" dirty="0" smtClean="0"/>
            </a:br>
            <a:r>
              <a:rPr lang="en-US" dirty="0" smtClean="0"/>
              <a:t>			   control force derivative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  <p:graphicFrame>
        <p:nvGraphicFramePr>
          <p:cNvPr id="9218" name="Object 4"/>
          <p:cNvGraphicFramePr>
            <a:graphicFrameLocks noChangeAspect="1"/>
          </p:cNvGraphicFramePr>
          <p:nvPr/>
        </p:nvGraphicFramePr>
        <p:xfrm>
          <a:off x="1409700" y="1828800"/>
          <a:ext cx="3035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3" name="Equation" r:id="rId4" imgW="3035160" imgH="939600" progId="Equation.3">
                  <p:embed/>
                </p:oleObj>
              </mc:Choice>
              <mc:Fallback>
                <p:oleObj name="Equation" r:id="rId4" imgW="3035160" imgH="939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1828800"/>
                        <a:ext cx="30353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5"/>
          <p:cNvGraphicFramePr>
            <a:graphicFrameLocks noChangeAspect="1"/>
          </p:cNvGraphicFramePr>
          <p:nvPr/>
        </p:nvGraphicFramePr>
        <p:xfrm>
          <a:off x="1354138" y="2752725"/>
          <a:ext cx="4303712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4" name="Equation" r:id="rId6" imgW="1498320" imgH="368280" progId="Equation.3">
                  <p:embed/>
                </p:oleObj>
              </mc:Choice>
              <mc:Fallback>
                <p:oleObj name="Equation" r:id="rId6" imgW="1498320" imgH="3682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4138" y="2752725"/>
                        <a:ext cx="4303712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049380"/>
              </p:ext>
            </p:extLst>
          </p:nvPr>
        </p:nvGraphicFramePr>
        <p:xfrm>
          <a:off x="1404516" y="3724275"/>
          <a:ext cx="2527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" name="Equation" r:id="rId8" imgW="2527200" imgH="863280" progId="Equation.3">
                  <p:embed/>
                </p:oleObj>
              </mc:Choice>
              <mc:Fallback>
                <p:oleObj name="Equation" r:id="rId8" imgW="2527200" imgH="8632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516" y="3724275"/>
                        <a:ext cx="25273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One can do the same analysis in yaw moments</a:t>
            </a:r>
            <a:endParaRPr lang="en-US" dirty="0"/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489046"/>
              </p:ext>
            </p:extLst>
          </p:nvPr>
        </p:nvGraphicFramePr>
        <p:xfrm>
          <a:off x="1219200" y="2667000"/>
          <a:ext cx="6858000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3" imgW="2323800" imgH="317160" progId="Equation.3">
                  <p:embed/>
                </p:oleObj>
              </mc:Choice>
              <mc:Fallback>
                <p:oleObj name="Equation" r:id="rId3" imgW="232380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667000"/>
                        <a:ext cx="6858000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utoShape 8"/>
          <p:cNvSpPr>
            <a:spLocks/>
          </p:cNvSpPr>
          <p:nvPr/>
        </p:nvSpPr>
        <p:spPr bwMode="auto">
          <a:xfrm rot="16200000">
            <a:off x="2838450" y="2565400"/>
            <a:ext cx="152400" cy="1790700"/>
          </a:xfrm>
          <a:prstGeom prst="leftBrace">
            <a:avLst>
              <a:gd name="adj1" fmla="val 97917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AutoShape 9"/>
          <p:cNvSpPr>
            <a:spLocks/>
          </p:cNvSpPr>
          <p:nvPr/>
        </p:nvSpPr>
        <p:spPr bwMode="auto">
          <a:xfrm rot="16200000">
            <a:off x="5419725" y="2327275"/>
            <a:ext cx="133350" cy="2438400"/>
          </a:xfrm>
          <a:prstGeom prst="leftBrace">
            <a:avLst>
              <a:gd name="adj1" fmla="val 152381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AutoShape 10"/>
          <p:cNvSpPr>
            <a:spLocks/>
          </p:cNvSpPr>
          <p:nvPr/>
        </p:nvSpPr>
        <p:spPr bwMode="auto">
          <a:xfrm rot="16200000">
            <a:off x="7403306" y="3091656"/>
            <a:ext cx="166688" cy="723900"/>
          </a:xfrm>
          <a:prstGeom prst="leftBrace">
            <a:avLst>
              <a:gd name="adj1" fmla="val 36190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2574925" y="3470275"/>
            <a:ext cx="631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800">
                <a:solidFill>
                  <a:srgbClr val="000000"/>
                </a:solidFill>
              </a:rPr>
              <a:t>M</a:t>
            </a:r>
            <a:r>
              <a:rPr lang="en-US" sz="2800" baseline="-25000">
                <a:solidFill>
                  <a:srgbClr val="000000"/>
                </a:solidFill>
                <a:sym typeface="Symbol" pitchFamily="18" charset="2"/>
              </a:rPr>
              <a:t></a:t>
            </a:r>
            <a:endParaRPr lang="en-US" sz="2800" baseline="-25000">
              <a:solidFill>
                <a:srgbClr val="000000"/>
              </a:solidFill>
            </a:endParaRP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5159375" y="3536950"/>
            <a:ext cx="631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800">
                <a:solidFill>
                  <a:srgbClr val="000000"/>
                </a:solidFill>
              </a:rPr>
              <a:t>M</a:t>
            </a:r>
            <a:r>
              <a:rPr lang="en-US" sz="2800" baseline="-25000">
                <a:solidFill>
                  <a:srgbClr val="000000"/>
                </a:solidFill>
                <a:sym typeface="Symbol" pitchFamily="18" charset="2"/>
              </a:rPr>
              <a:t>r </a:t>
            </a:r>
            <a:endParaRPr lang="en-US" sz="2800" baseline="-25000">
              <a:solidFill>
                <a:srgbClr val="000000"/>
              </a:solidFill>
            </a:endParaRP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7216775" y="3460750"/>
            <a:ext cx="631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800">
                <a:solidFill>
                  <a:srgbClr val="000000"/>
                </a:solidFill>
              </a:rPr>
              <a:t>M</a:t>
            </a:r>
            <a:r>
              <a:rPr lang="en-US" sz="2800" baseline="-25000">
                <a:solidFill>
                  <a:srgbClr val="000000"/>
                </a:solidFill>
                <a:sym typeface="Symbol" pitchFamily="18" charset="2"/>
              </a:rPr>
              <a:t></a:t>
            </a:r>
            <a:endParaRPr lang="en-US" sz="2800" baseline="-25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19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 smtClean="0"/>
              <a:t>Many of these terms were named through the years prior to state-space</a:t>
            </a:r>
            <a:r>
              <a:rPr lang="en-US" sz="3600" dirty="0" smtClean="0"/>
              <a:t>… 1960’s</a:t>
            </a:r>
            <a:endParaRPr lang="en-US" sz="3600" dirty="0" smtClean="0"/>
          </a:p>
        </p:txBody>
      </p:sp>
      <p:graphicFrame>
        <p:nvGraphicFramePr>
          <p:cNvPr id="10242" name="Object 4"/>
          <p:cNvGraphicFramePr>
            <a:graphicFrameLocks noChangeAspect="1"/>
          </p:cNvGraphicFramePr>
          <p:nvPr/>
        </p:nvGraphicFramePr>
        <p:xfrm>
          <a:off x="1219200" y="1841500"/>
          <a:ext cx="3581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6" name="Equation" r:id="rId4" imgW="3581280" imgH="901440" progId="Equation.3">
                  <p:embed/>
                </p:oleObj>
              </mc:Choice>
              <mc:Fallback>
                <p:oleObj name="Equation" r:id="rId4" imgW="3581280" imgH="9014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841500"/>
                        <a:ext cx="35814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5"/>
          <p:cNvGraphicFramePr>
            <a:graphicFrameLocks noChangeAspect="1"/>
          </p:cNvGraphicFramePr>
          <p:nvPr/>
        </p:nvGraphicFramePr>
        <p:xfrm>
          <a:off x="1219200" y="2895600"/>
          <a:ext cx="29718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7" name="Equation" r:id="rId6" imgW="1295280" imgH="431640" progId="Equation.3">
                  <p:embed/>
                </p:oleObj>
              </mc:Choice>
              <mc:Fallback>
                <p:oleObj name="Equation" r:id="rId6" imgW="129528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895600"/>
                        <a:ext cx="29718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6"/>
          <p:cNvGraphicFramePr>
            <a:graphicFrameLocks noChangeAspect="1"/>
          </p:cNvGraphicFramePr>
          <p:nvPr/>
        </p:nvGraphicFramePr>
        <p:xfrm>
          <a:off x="1219200" y="4254500"/>
          <a:ext cx="1993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8" name="Equation" r:id="rId8" imgW="1993680" imgH="469800" progId="Equation.3">
                  <p:embed/>
                </p:oleObj>
              </mc:Choice>
              <mc:Fallback>
                <p:oleObj name="Equation" r:id="rId8" imgW="1993680" imgH="469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254500"/>
                        <a:ext cx="1993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Rectangle 7"/>
          <p:cNvSpPr>
            <a:spLocks noChangeArrowheads="1"/>
          </p:cNvSpPr>
          <p:nvPr/>
        </p:nvSpPr>
        <p:spPr bwMode="auto">
          <a:xfrm>
            <a:off x="990600" y="5029200"/>
            <a:ext cx="7848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>
                <a:sym typeface="Symbol" pitchFamily="18" charset="2"/>
              </a:rPr>
              <a:t>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smtClean="0">
                <a:sym typeface="Symbol" pitchFamily="18" charset="2"/>
              </a:rPr>
              <a:t>=  </a:t>
            </a:r>
            <a:r>
              <a:rPr lang="en-US" dirty="0">
                <a:sym typeface="Symbol" pitchFamily="18" charset="2"/>
              </a:rPr>
              <a:t>the directional stability or under/oversteer gradient.  If M</a:t>
            </a:r>
            <a:r>
              <a:rPr lang="en-US" baseline="-25000" dirty="0">
                <a:sym typeface="Symbol" pitchFamily="18" charset="2"/>
              </a:rPr>
              <a:t></a:t>
            </a:r>
            <a:r>
              <a:rPr lang="en-US" dirty="0">
                <a:sym typeface="Symbol" pitchFamily="18" charset="2"/>
              </a:rPr>
              <a:t> &gt; O then the vehicle tends to want to align with the relative velocity vector.</a:t>
            </a:r>
            <a:endParaRPr lang="en-US" dirty="0"/>
          </a:p>
        </p:txBody>
      </p:sp>
      <p:sp>
        <p:nvSpPr>
          <p:cNvPr id="10247" name="Rectangle 8"/>
          <p:cNvSpPr>
            <a:spLocks noChangeArrowheads="1"/>
          </p:cNvSpPr>
          <p:nvPr/>
        </p:nvSpPr>
        <p:spPr bwMode="auto">
          <a:xfrm>
            <a:off x="3262313" y="4186238"/>
            <a:ext cx="3443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/>
              <a:t>control moment derivative</a:t>
            </a:r>
          </a:p>
        </p:txBody>
      </p:sp>
      <p:sp>
        <p:nvSpPr>
          <p:cNvPr id="10248" name="Rectangle 9"/>
          <p:cNvSpPr>
            <a:spLocks noChangeArrowheads="1"/>
          </p:cNvSpPr>
          <p:nvPr/>
        </p:nvSpPr>
        <p:spPr bwMode="auto">
          <a:xfrm>
            <a:off x="4267200" y="3195638"/>
            <a:ext cx="457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/>
              <a:t>yaw damping derivative</a:t>
            </a:r>
          </a:p>
        </p:txBody>
      </p:sp>
      <p:sp>
        <p:nvSpPr>
          <p:cNvPr id="10249" name="Rectangle 10"/>
          <p:cNvSpPr>
            <a:spLocks noChangeArrowheads="1"/>
          </p:cNvSpPr>
          <p:nvPr/>
        </p:nvSpPr>
        <p:spPr bwMode="auto">
          <a:xfrm>
            <a:off x="4876800" y="1905000"/>
            <a:ext cx="4191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/>
              <a:t>over/understeer derivative or static directional stability slope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Milliken’s Derivative Notation does give some insight …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r>
              <a:rPr lang="en-US" dirty="0" smtClean="0"/>
              <a:t>M</a:t>
            </a:r>
            <a:r>
              <a:rPr lang="en-US" baseline="-25000" dirty="0" smtClean="0">
                <a:sym typeface="Symbol" pitchFamily="18" charset="2"/>
              </a:rPr>
              <a:t></a:t>
            </a:r>
            <a:r>
              <a:rPr lang="en-US" dirty="0" smtClean="0">
                <a:sym typeface="Symbol" pitchFamily="18" charset="2"/>
              </a:rPr>
              <a:t> is the difference between the moment around the vehicle C.G. produced per unit  (sideslip angle)  by the front and rear wheels.</a:t>
            </a:r>
          </a:p>
          <a:p>
            <a:r>
              <a:rPr lang="en-US" dirty="0" smtClean="0">
                <a:sym typeface="Symbol" pitchFamily="18" charset="2"/>
              </a:rPr>
              <a:t>E.g. for a given sideslip angle, if the rear wheels produce a greater moment than the front wheels then the vehicle is stable and wants to reduce the sideslip angle .  </a:t>
            </a:r>
            <a:r>
              <a:rPr lang="en-US" dirty="0" smtClean="0"/>
              <a:t>M</a:t>
            </a:r>
            <a:r>
              <a:rPr lang="en-US" baseline="-25000" dirty="0" smtClean="0">
                <a:sym typeface="Symbol" pitchFamily="18" charset="2"/>
              </a:rPr>
              <a:t></a:t>
            </a:r>
            <a:r>
              <a:rPr lang="en-US" dirty="0" smtClean="0">
                <a:sym typeface="Symbol" pitchFamily="18" charset="2"/>
              </a:rPr>
              <a:t> &gt; 0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7205031"/>
              </p:ext>
            </p:extLst>
          </p:nvPr>
        </p:nvGraphicFramePr>
        <p:xfrm>
          <a:off x="2667000" y="1981200"/>
          <a:ext cx="3597564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4" imgW="1447560" imgH="419040" progId="Equation.3">
                  <p:embed/>
                </p:oleObj>
              </mc:Choice>
              <mc:Fallback>
                <p:oleObj name="Equation" r:id="rId4" imgW="14475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981200"/>
                        <a:ext cx="3597564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 smtClean="0"/>
              <a:t>As an analogy, this is like a spring connected to a velocity vector pulling the vehicle along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1676400" y="3322638"/>
            <a:ext cx="1219200" cy="152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8" name="Line 4"/>
          <p:cNvSpPr>
            <a:spLocks noChangeShapeType="1"/>
          </p:cNvSpPr>
          <p:nvPr/>
        </p:nvSpPr>
        <p:spPr bwMode="auto">
          <a:xfrm>
            <a:off x="2895600" y="3398838"/>
            <a:ext cx="2362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5257800" y="3322638"/>
            <a:ext cx="1219200" cy="152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AutoShape 6"/>
          <p:cNvSpPr>
            <a:spLocks noChangeArrowheads="1"/>
          </p:cNvSpPr>
          <p:nvPr/>
        </p:nvSpPr>
        <p:spPr bwMode="auto">
          <a:xfrm>
            <a:off x="3886200" y="3322638"/>
            <a:ext cx="228600" cy="152400"/>
          </a:xfrm>
          <a:prstGeom prst="flowChartOr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Freeform 7"/>
          <p:cNvSpPr>
            <a:spLocks/>
          </p:cNvSpPr>
          <p:nvPr/>
        </p:nvSpPr>
        <p:spPr bwMode="auto">
          <a:xfrm>
            <a:off x="3924300" y="3341688"/>
            <a:ext cx="98425" cy="69850"/>
          </a:xfrm>
          <a:custGeom>
            <a:avLst/>
            <a:gdLst>
              <a:gd name="T0" fmla="*/ 0 w 62"/>
              <a:gd name="T1" fmla="*/ 2147483647 h 44"/>
              <a:gd name="T2" fmla="*/ 2147483647 w 62"/>
              <a:gd name="T3" fmla="*/ 0 h 44"/>
              <a:gd name="T4" fmla="*/ 0 w 62"/>
              <a:gd name="T5" fmla="*/ 2147483647 h 44"/>
              <a:gd name="T6" fmla="*/ 0 60000 65536"/>
              <a:gd name="T7" fmla="*/ 0 60000 65536"/>
              <a:gd name="T8" fmla="*/ 0 60000 65536"/>
              <a:gd name="T9" fmla="*/ 0 w 62"/>
              <a:gd name="T10" fmla="*/ 0 h 44"/>
              <a:gd name="T11" fmla="*/ 62 w 62"/>
              <a:gd name="T12" fmla="*/ 44 h 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2" h="44">
                <a:moveTo>
                  <a:pt x="0" y="36"/>
                </a:moveTo>
                <a:cubicBezTo>
                  <a:pt x="62" y="21"/>
                  <a:pt x="62" y="33"/>
                  <a:pt x="12" y="0"/>
                </a:cubicBezTo>
                <a:cubicBezTo>
                  <a:pt x="27" y="44"/>
                  <a:pt x="37" y="36"/>
                  <a:pt x="0" y="36"/>
                </a:cubicBez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1512" name="Freeform 8"/>
          <p:cNvSpPr>
            <a:spLocks/>
          </p:cNvSpPr>
          <p:nvPr/>
        </p:nvSpPr>
        <p:spPr bwMode="auto">
          <a:xfrm>
            <a:off x="3886200" y="3335338"/>
            <a:ext cx="133350" cy="63500"/>
          </a:xfrm>
          <a:custGeom>
            <a:avLst/>
            <a:gdLst>
              <a:gd name="T0" fmla="*/ 0 w 84"/>
              <a:gd name="T1" fmla="*/ 2147483647 h 40"/>
              <a:gd name="T2" fmla="*/ 2147483647 w 84"/>
              <a:gd name="T3" fmla="*/ 2147483647 h 40"/>
              <a:gd name="T4" fmla="*/ 2147483647 w 84"/>
              <a:gd name="T5" fmla="*/ 2147483647 h 40"/>
              <a:gd name="T6" fmla="*/ 0 w 84"/>
              <a:gd name="T7" fmla="*/ 2147483647 h 40"/>
              <a:gd name="T8" fmla="*/ 0 60000 65536"/>
              <a:gd name="T9" fmla="*/ 0 60000 65536"/>
              <a:gd name="T10" fmla="*/ 0 60000 65536"/>
              <a:gd name="T11" fmla="*/ 0 60000 65536"/>
              <a:gd name="T12" fmla="*/ 0 w 84"/>
              <a:gd name="T13" fmla="*/ 0 h 40"/>
              <a:gd name="T14" fmla="*/ 84 w 84"/>
              <a:gd name="T15" fmla="*/ 40 h 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" h="40">
                <a:moveTo>
                  <a:pt x="0" y="40"/>
                </a:moveTo>
                <a:cubicBezTo>
                  <a:pt x="24" y="32"/>
                  <a:pt x="48" y="24"/>
                  <a:pt x="72" y="16"/>
                </a:cubicBezTo>
                <a:cubicBezTo>
                  <a:pt x="84" y="12"/>
                  <a:pt x="48" y="0"/>
                  <a:pt x="36" y="4"/>
                </a:cubicBezTo>
                <a:cubicBezTo>
                  <a:pt x="20" y="9"/>
                  <a:pt x="12" y="28"/>
                  <a:pt x="0" y="40"/>
                </a:cubicBez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 flipV="1">
            <a:off x="3962400" y="2408238"/>
            <a:ext cx="2514600" cy="1009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4" name="Line 10"/>
          <p:cNvSpPr>
            <a:spLocks noChangeShapeType="1"/>
          </p:cNvSpPr>
          <p:nvPr/>
        </p:nvSpPr>
        <p:spPr bwMode="auto">
          <a:xfrm>
            <a:off x="6477000" y="3398838"/>
            <a:ext cx="457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5" name="Line 11"/>
          <p:cNvSpPr>
            <a:spLocks noChangeShapeType="1"/>
          </p:cNvSpPr>
          <p:nvPr/>
        </p:nvSpPr>
        <p:spPr bwMode="auto">
          <a:xfrm flipV="1">
            <a:off x="5048250" y="3246438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6" name="Line 12"/>
          <p:cNvSpPr>
            <a:spLocks noChangeShapeType="1"/>
          </p:cNvSpPr>
          <p:nvPr/>
        </p:nvSpPr>
        <p:spPr bwMode="auto">
          <a:xfrm>
            <a:off x="5048250" y="3246438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7" name="Line 13"/>
          <p:cNvSpPr>
            <a:spLocks noChangeShapeType="1"/>
          </p:cNvSpPr>
          <p:nvPr/>
        </p:nvSpPr>
        <p:spPr bwMode="auto">
          <a:xfrm flipV="1">
            <a:off x="5200650" y="3094038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8" name="Line 14"/>
          <p:cNvSpPr>
            <a:spLocks noChangeShapeType="1"/>
          </p:cNvSpPr>
          <p:nvPr/>
        </p:nvSpPr>
        <p:spPr bwMode="auto">
          <a:xfrm>
            <a:off x="5200650" y="3094038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 flipV="1">
            <a:off x="5353050" y="2941638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>
            <a:off x="5353050" y="2941638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1" name="Line 17"/>
          <p:cNvSpPr>
            <a:spLocks noChangeShapeType="1"/>
          </p:cNvSpPr>
          <p:nvPr/>
        </p:nvSpPr>
        <p:spPr bwMode="auto">
          <a:xfrm flipV="1">
            <a:off x="5505450" y="2789238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2" name="Line 18"/>
          <p:cNvSpPr>
            <a:spLocks noChangeShapeType="1"/>
          </p:cNvSpPr>
          <p:nvPr/>
        </p:nvSpPr>
        <p:spPr bwMode="auto">
          <a:xfrm>
            <a:off x="5505450" y="2789238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3" name="Text Box 19"/>
          <p:cNvSpPr txBox="1">
            <a:spLocks noChangeArrowheads="1"/>
          </p:cNvSpPr>
          <p:nvPr/>
        </p:nvSpPr>
        <p:spPr bwMode="auto">
          <a:xfrm>
            <a:off x="4191000" y="3352800"/>
            <a:ext cx="1014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000"/>
                </a:solidFill>
              </a:rPr>
              <a:t>moment</a:t>
            </a:r>
          </a:p>
        </p:txBody>
      </p:sp>
      <p:sp>
        <p:nvSpPr>
          <p:cNvPr id="21524" name="Text Box 20"/>
          <p:cNvSpPr txBox="1">
            <a:spLocks noChangeArrowheads="1"/>
          </p:cNvSpPr>
          <p:nvPr/>
        </p:nvSpPr>
        <p:spPr bwMode="auto">
          <a:xfrm>
            <a:off x="6461125" y="227012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000"/>
                </a:solidFill>
              </a:rPr>
              <a:t>V</a:t>
            </a:r>
          </a:p>
        </p:txBody>
      </p:sp>
      <p:sp>
        <p:nvSpPr>
          <p:cNvPr id="21525" name="Rectangle 21"/>
          <p:cNvSpPr>
            <a:spLocks noChangeArrowheads="1"/>
          </p:cNvSpPr>
          <p:nvPr/>
        </p:nvSpPr>
        <p:spPr bwMode="auto">
          <a:xfrm>
            <a:off x="1676400" y="5151438"/>
            <a:ext cx="1219200" cy="152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6" name="Line 22"/>
          <p:cNvSpPr>
            <a:spLocks noChangeShapeType="1"/>
          </p:cNvSpPr>
          <p:nvPr/>
        </p:nvSpPr>
        <p:spPr bwMode="auto">
          <a:xfrm>
            <a:off x="2895600" y="5227638"/>
            <a:ext cx="2362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27" name="Rectangle 23"/>
          <p:cNvSpPr>
            <a:spLocks noChangeArrowheads="1"/>
          </p:cNvSpPr>
          <p:nvPr/>
        </p:nvSpPr>
        <p:spPr bwMode="auto">
          <a:xfrm>
            <a:off x="5257800" y="5151438"/>
            <a:ext cx="1219200" cy="152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8" name="AutoShape 24"/>
          <p:cNvSpPr>
            <a:spLocks noChangeArrowheads="1"/>
          </p:cNvSpPr>
          <p:nvPr/>
        </p:nvSpPr>
        <p:spPr bwMode="auto">
          <a:xfrm>
            <a:off x="3943350" y="5151438"/>
            <a:ext cx="228600" cy="152400"/>
          </a:xfrm>
          <a:prstGeom prst="flowChartOr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9" name="Line 25"/>
          <p:cNvSpPr>
            <a:spLocks noChangeShapeType="1"/>
          </p:cNvSpPr>
          <p:nvPr/>
        </p:nvSpPr>
        <p:spPr bwMode="auto">
          <a:xfrm flipV="1">
            <a:off x="4038600" y="3962400"/>
            <a:ext cx="2438400" cy="1238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30" name="Line 26"/>
          <p:cNvSpPr>
            <a:spLocks noChangeShapeType="1"/>
          </p:cNvSpPr>
          <p:nvPr/>
        </p:nvSpPr>
        <p:spPr bwMode="auto">
          <a:xfrm>
            <a:off x="6477000" y="5227638"/>
            <a:ext cx="457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31" name="Text Box 27"/>
          <p:cNvSpPr txBox="1">
            <a:spLocks noChangeArrowheads="1"/>
          </p:cNvSpPr>
          <p:nvPr/>
        </p:nvSpPr>
        <p:spPr bwMode="auto">
          <a:xfrm>
            <a:off x="4191000" y="5181600"/>
            <a:ext cx="1014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000"/>
                </a:solidFill>
              </a:rPr>
              <a:t>moment</a:t>
            </a:r>
          </a:p>
        </p:txBody>
      </p:sp>
      <p:sp>
        <p:nvSpPr>
          <p:cNvPr id="21532" name="Text Box 28"/>
          <p:cNvSpPr txBox="1">
            <a:spLocks noChangeArrowheads="1"/>
          </p:cNvSpPr>
          <p:nvPr/>
        </p:nvSpPr>
        <p:spPr bwMode="auto">
          <a:xfrm>
            <a:off x="6461125" y="3810000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000"/>
                </a:solidFill>
              </a:rPr>
              <a:t>V</a:t>
            </a:r>
          </a:p>
        </p:txBody>
      </p:sp>
      <p:sp>
        <p:nvSpPr>
          <p:cNvPr id="21533" name="Line 29"/>
          <p:cNvSpPr>
            <a:spLocks noChangeShapeType="1"/>
          </p:cNvSpPr>
          <p:nvPr/>
        </p:nvSpPr>
        <p:spPr bwMode="auto">
          <a:xfrm rot="19778679" flipV="1">
            <a:off x="3676650" y="5105400"/>
            <a:ext cx="1524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34" name="Line 30"/>
          <p:cNvSpPr>
            <a:spLocks noChangeShapeType="1"/>
          </p:cNvSpPr>
          <p:nvPr/>
        </p:nvSpPr>
        <p:spPr bwMode="auto">
          <a:xfrm rot="3578679" flipV="1">
            <a:off x="3810000" y="5048250"/>
            <a:ext cx="1524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35" name="Line 31"/>
          <p:cNvSpPr>
            <a:spLocks noChangeShapeType="1"/>
          </p:cNvSpPr>
          <p:nvPr/>
        </p:nvSpPr>
        <p:spPr bwMode="auto">
          <a:xfrm rot="3578679">
            <a:off x="3924300" y="5010150"/>
            <a:ext cx="1524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36" name="Line 32"/>
          <p:cNvSpPr>
            <a:spLocks noChangeShapeType="1"/>
          </p:cNvSpPr>
          <p:nvPr/>
        </p:nvSpPr>
        <p:spPr bwMode="auto">
          <a:xfrm rot="3578679" flipV="1">
            <a:off x="4057650" y="4933950"/>
            <a:ext cx="1524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37" name="Line 33"/>
          <p:cNvSpPr>
            <a:spLocks noChangeShapeType="1"/>
          </p:cNvSpPr>
          <p:nvPr/>
        </p:nvSpPr>
        <p:spPr bwMode="auto">
          <a:xfrm rot="3578679">
            <a:off x="4171950" y="4876800"/>
            <a:ext cx="1524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38" name="Line 34"/>
          <p:cNvSpPr>
            <a:spLocks noChangeShapeType="1"/>
          </p:cNvSpPr>
          <p:nvPr/>
        </p:nvSpPr>
        <p:spPr bwMode="auto">
          <a:xfrm rot="3578679" flipV="1">
            <a:off x="4324350" y="4819650"/>
            <a:ext cx="1524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39" name="Line 35"/>
          <p:cNvSpPr>
            <a:spLocks noChangeShapeType="1"/>
          </p:cNvSpPr>
          <p:nvPr/>
        </p:nvSpPr>
        <p:spPr bwMode="auto">
          <a:xfrm rot="3578679">
            <a:off x="4457700" y="4743450"/>
            <a:ext cx="1524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40" name="Line 36"/>
          <p:cNvSpPr>
            <a:spLocks noChangeShapeType="1"/>
          </p:cNvSpPr>
          <p:nvPr/>
        </p:nvSpPr>
        <p:spPr bwMode="auto">
          <a:xfrm rot="3578679" flipV="1">
            <a:off x="4591050" y="4667250"/>
            <a:ext cx="1524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41" name="Line 37"/>
          <p:cNvSpPr>
            <a:spLocks noChangeShapeType="1"/>
          </p:cNvSpPr>
          <p:nvPr/>
        </p:nvSpPr>
        <p:spPr bwMode="auto">
          <a:xfrm rot="3578679">
            <a:off x="4705350" y="4610100"/>
            <a:ext cx="1524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42" name="Line 38"/>
          <p:cNvSpPr>
            <a:spLocks noChangeShapeType="1"/>
          </p:cNvSpPr>
          <p:nvPr/>
        </p:nvSpPr>
        <p:spPr bwMode="auto">
          <a:xfrm rot="3578679" flipV="1">
            <a:off x="4838700" y="4552950"/>
            <a:ext cx="1524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43" name="Line 39"/>
          <p:cNvSpPr>
            <a:spLocks noChangeShapeType="1"/>
          </p:cNvSpPr>
          <p:nvPr/>
        </p:nvSpPr>
        <p:spPr bwMode="auto">
          <a:xfrm rot="3578679">
            <a:off x="4953000" y="4476750"/>
            <a:ext cx="1524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44" name="Line 40"/>
          <p:cNvSpPr>
            <a:spLocks noChangeShapeType="1"/>
          </p:cNvSpPr>
          <p:nvPr/>
        </p:nvSpPr>
        <p:spPr bwMode="auto">
          <a:xfrm rot="3578679" flipV="1">
            <a:off x="5086350" y="4400550"/>
            <a:ext cx="1524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45" name="Line 41"/>
          <p:cNvSpPr>
            <a:spLocks noChangeShapeType="1"/>
          </p:cNvSpPr>
          <p:nvPr/>
        </p:nvSpPr>
        <p:spPr bwMode="auto">
          <a:xfrm rot="3578679">
            <a:off x="5200650" y="4343400"/>
            <a:ext cx="1524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46" name="Line 42"/>
          <p:cNvSpPr>
            <a:spLocks noChangeShapeType="1"/>
          </p:cNvSpPr>
          <p:nvPr/>
        </p:nvSpPr>
        <p:spPr bwMode="auto">
          <a:xfrm rot="3578679" flipV="1">
            <a:off x="5319713" y="4310063"/>
            <a:ext cx="20955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47" name="Freeform 43"/>
          <p:cNvSpPr>
            <a:spLocks/>
          </p:cNvSpPr>
          <p:nvPr/>
        </p:nvSpPr>
        <p:spPr bwMode="auto">
          <a:xfrm rot="-4188306">
            <a:off x="3943350" y="5124450"/>
            <a:ext cx="381000" cy="254000"/>
          </a:xfrm>
          <a:custGeom>
            <a:avLst/>
            <a:gdLst>
              <a:gd name="T0" fmla="*/ 0 w 240"/>
              <a:gd name="T1" fmla="*/ 0 h 112"/>
              <a:gd name="T2" fmla="*/ 2147483647 w 240"/>
              <a:gd name="T3" fmla="*/ 2147483647 h 112"/>
              <a:gd name="T4" fmla="*/ 2147483647 w 240"/>
              <a:gd name="T5" fmla="*/ 2147483647 h 112"/>
              <a:gd name="T6" fmla="*/ 0 60000 65536"/>
              <a:gd name="T7" fmla="*/ 0 60000 65536"/>
              <a:gd name="T8" fmla="*/ 0 60000 65536"/>
              <a:gd name="T9" fmla="*/ 0 w 240"/>
              <a:gd name="T10" fmla="*/ 0 h 112"/>
              <a:gd name="T11" fmla="*/ 240 w 240"/>
              <a:gd name="T12" fmla="*/ 112 h 1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112">
                <a:moveTo>
                  <a:pt x="0" y="0"/>
                </a:moveTo>
                <a:cubicBezTo>
                  <a:pt x="4" y="40"/>
                  <a:pt x="8" y="80"/>
                  <a:pt x="48" y="96"/>
                </a:cubicBezTo>
                <a:cubicBezTo>
                  <a:pt x="88" y="112"/>
                  <a:pt x="208" y="104"/>
                  <a:pt x="240" y="96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48" name="Freeform 44"/>
          <p:cNvSpPr>
            <a:spLocks/>
          </p:cNvSpPr>
          <p:nvPr/>
        </p:nvSpPr>
        <p:spPr bwMode="auto">
          <a:xfrm>
            <a:off x="3810000" y="3175000"/>
            <a:ext cx="419100" cy="330200"/>
          </a:xfrm>
          <a:custGeom>
            <a:avLst/>
            <a:gdLst>
              <a:gd name="T0" fmla="*/ 0 w 264"/>
              <a:gd name="T1" fmla="*/ 2147483647 h 208"/>
              <a:gd name="T2" fmla="*/ 2147483647 w 264"/>
              <a:gd name="T3" fmla="*/ 2147483647 h 208"/>
              <a:gd name="T4" fmla="*/ 2147483647 w 264"/>
              <a:gd name="T5" fmla="*/ 2147483647 h 208"/>
              <a:gd name="T6" fmla="*/ 2147483647 w 264"/>
              <a:gd name="T7" fmla="*/ 2147483647 h 208"/>
              <a:gd name="T8" fmla="*/ 0 60000 65536"/>
              <a:gd name="T9" fmla="*/ 0 60000 65536"/>
              <a:gd name="T10" fmla="*/ 0 60000 65536"/>
              <a:gd name="T11" fmla="*/ 0 60000 65536"/>
              <a:gd name="T12" fmla="*/ 0 w 264"/>
              <a:gd name="T13" fmla="*/ 0 h 208"/>
              <a:gd name="T14" fmla="*/ 264 w 264"/>
              <a:gd name="T15" fmla="*/ 208 h 2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4" h="208">
                <a:moveTo>
                  <a:pt x="0" y="16"/>
                </a:moveTo>
                <a:cubicBezTo>
                  <a:pt x="28" y="8"/>
                  <a:pt x="56" y="0"/>
                  <a:pt x="96" y="16"/>
                </a:cubicBezTo>
                <a:cubicBezTo>
                  <a:pt x="136" y="32"/>
                  <a:pt x="216" y="80"/>
                  <a:pt x="240" y="112"/>
                </a:cubicBezTo>
                <a:cubicBezTo>
                  <a:pt x="264" y="144"/>
                  <a:pt x="240" y="192"/>
                  <a:pt x="240" y="208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49" name="Text Box 45"/>
          <p:cNvSpPr txBox="1">
            <a:spLocks noChangeArrowheads="1"/>
          </p:cNvSpPr>
          <p:nvPr/>
        </p:nvSpPr>
        <p:spPr bwMode="auto">
          <a:xfrm>
            <a:off x="7070725" y="2300288"/>
            <a:ext cx="954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000"/>
                </a:solidFill>
              </a:rPr>
              <a:t>M</a:t>
            </a:r>
            <a:r>
              <a:rPr lang="en-US" sz="2000" baseline="-25000">
                <a:solidFill>
                  <a:srgbClr val="000000"/>
                </a:solidFill>
                <a:sym typeface="Symbol" pitchFamily="18" charset="2"/>
              </a:rPr>
              <a:t></a:t>
            </a:r>
            <a:r>
              <a:rPr lang="en-US" sz="2000">
                <a:solidFill>
                  <a:srgbClr val="000000"/>
                </a:solidFill>
                <a:sym typeface="Symbol" pitchFamily="18" charset="2"/>
              </a:rPr>
              <a:t> &gt; O</a:t>
            </a: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21550" name="Text Box 47"/>
          <p:cNvSpPr txBox="1">
            <a:spLocks noChangeArrowheads="1"/>
          </p:cNvSpPr>
          <p:nvPr/>
        </p:nvSpPr>
        <p:spPr bwMode="auto">
          <a:xfrm>
            <a:off x="7223125" y="3946525"/>
            <a:ext cx="954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000"/>
                </a:solidFill>
              </a:rPr>
              <a:t>M</a:t>
            </a:r>
            <a:r>
              <a:rPr lang="en-US" sz="2000" baseline="-25000">
                <a:solidFill>
                  <a:srgbClr val="000000"/>
                </a:solidFill>
                <a:sym typeface="Symbol" pitchFamily="18" charset="2"/>
              </a:rPr>
              <a:t></a:t>
            </a:r>
            <a:r>
              <a:rPr lang="en-US" sz="2000">
                <a:solidFill>
                  <a:srgbClr val="000000"/>
                </a:solidFill>
                <a:sym typeface="Symbol" pitchFamily="18" charset="2"/>
              </a:rPr>
              <a:t> &lt; O</a:t>
            </a: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21551" name="Freeform 49"/>
          <p:cNvSpPr>
            <a:spLocks/>
          </p:cNvSpPr>
          <p:nvPr/>
        </p:nvSpPr>
        <p:spPr bwMode="auto">
          <a:xfrm>
            <a:off x="3987800" y="5202238"/>
            <a:ext cx="50800" cy="12700"/>
          </a:xfrm>
          <a:custGeom>
            <a:avLst/>
            <a:gdLst>
              <a:gd name="T0" fmla="*/ 2147483647 w 32"/>
              <a:gd name="T1" fmla="*/ 2147483647 h 8"/>
              <a:gd name="T2" fmla="*/ 2147483647 w 32"/>
              <a:gd name="T3" fmla="*/ 2147483647 h 8"/>
              <a:gd name="T4" fmla="*/ 2147483647 w 32"/>
              <a:gd name="T5" fmla="*/ 2147483647 h 8"/>
              <a:gd name="T6" fmla="*/ 2147483647 w 32"/>
              <a:gd name="T7" fmla="*/ 2147483647 h 8"/>
              <a:gd name="T8" fmla="*/ 0 60000 65536"/>
              <a:gd name="T9" fmla="*/ 0 60000 65536"/>
              <a:gd name="T10" fmla="*/ 0 60000 65536"/>
              <a:gd name="T11" fmla="*/ 0 60000 65536"/>
              <a:gd name="T12" fmla="*/ 0 w 32"/>
              <a:gd name="T13" fmla="*/ 0 h 8"/>
              <a:gd name="T14" fmla="*/ 32 w 32"/>
              <a:gd name="T15" fmla="*/ 8 h 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2" h="8">
                <a:moveTo>
                  <a:pt x="19" y="8"/>
                </a:moveTo>
                <a:cubicBezTo>
                  <a:pt x="22" y="6"/>
                  <a:pt x="32" y="3"/>
                  <a:pt x="28" y="2"/>
                </a:cubicBezTo>
                <a:cubicBezTo>
                  <a:pt x="20" y="0"/>
                  <a:pt x="11" y="1"/>
                  <a:pt x="4" y="5"/>
                </a:cubicBezTo>
                <a:cubicBezTo>
                  <a:pt x="0" y="8"/>
                  <a:pt x="14" y="7"/>
                  <a:pt x="19" y="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1552" name="Freeform 50"/>
          <p:cNvSpPr>
            <a:spLocks/>
          </p:cNvSpPr>
          <p:nvPr/>
        </p:nvSpPr>
        <p:spPr bwMode="auto">
          <a:xfrm>
            <a:off x="3943350" y="5160963"/>
            <a:ext cx="139700" cy="85725"/>
          </a:xfrm>
          <a:custGeom>
            <a:avLst/>
            <a:gdLst>
              <a:gd name="T0" fmla="*/ 2147483647 w 88"/>
              <a:gd name="T1" fmla="*/ 2147483647 h 54"/>
              <a:gd name="T2" fmla="*/ 2147483647 w 88"/>
              <a:gd name="T3" fmla="*/ 2147483647 h 54"/>
              <a:gd name="T4" fmla="*/ 2147483647 w 88"/>
              <a:gd name="T5" fmla="*/ 2147483647 h 54"/>
              <a:gd name="T6" fmla="*/ 2147483647 w 88"/>
              <a:gd name="T7" fmla="*/ 2147483647 h 54"/>
              <a:gd name="T8" fmla="*/ 2147483647 w 88"/>
              <a:gd name="T9" fmla="*/ 2147483647 h 54"/>
              <a:gd name="T10" fmla="*/ 2147483647 w 88"/>
              <a:gd name="T11" fmla="*/ 2147483647 h 54"/>
              <a:gd name="T12" fmla="*/ 2147483647 w 88"/>
              <a:gd name="T13" fmla="*/ 2147483647 h 54"/>
              <a:gd name="T14" fmla="*/ 2147483647 w 88"/>
              <a:gd name="T15" fmla="*/ 2147483647 h 54"/>
              <a:gd name="T16" fmla="*/ 2147483647 w 88"/>
              <a:gd name="T17" fmla="*/ 2147483647 h 54"/>
              <a:gd name="T18" fmla="*/ 2147483647 w 88"/>
              <a:gd name="T19" fmla="*/ 2147483647 h 54"/>
              <a:gd name="T20" fmla="*/ 2147483647 w 88"/>
              <a:gd name="T21" fmla="*/ 2147483647 h 54"/>
              <a:gd name="T22" fmla="*/ 2147483647 w 88"/>
              <a:gd name="T23" fmla="*/ 2147483647 h 54"/>
              <a:gd name="T24" fmla="*/ 2147483647 w 88"/>
              <a:gd name="T25" fmla="*/ 2147483647 h 54"/>
              <a:gd name="T26" fmla="*/ 2147483647 w 88"/>
              <a:gd name="T27" fmla="*/ 2147483647 h 54"/>
              <a:gd name="T28" fmla="*/ 2147483647 w 88"/>
              <a:gd name="T29" fmla="*/ 2147483647 h 54"/>
              <a:gd name="T30" fmla="*/ 2147483647 w 88"/>
              <a:gd name="T31" fmla="*/ 2147483647 h 54"/>
              <a:gd name="T32" fmla="*/ 2147483647 w 88"/>
              <a:gd name="T33" fmla="*/ 2147483647 h 54"/>
              <a:gd name="T34" fmla="*/ 2147483647 w 88"/>
              <a:gd name="T35" fmla="*/ 2147483647 h 54"/>
              <a:gd name="T36" fmla="*/ 2147483647 w 88"/>
              <a:gd name="T37" fmla="*/ 2147483647 h 54"/>
              <a:gd name="T38" fmla="*/ 2147483647 w 88"/>
              <a:gd name="T39" fmla="*/ 2147483647 h 54"/>
              <a:gd name="T40" fmla="*/ 2147483647 w 88"/>
              <a:gd name="T41" fmla="*/ 2147483647 h 54"/>
              <a:gd name="T42" fmla="*/ 2147483647 w 88"/>
              <a:gd name="T43" fmla="*/ 2147483647 h 54"/>
              <a:gd name="T44" fmla="*/ 2147483647 w 88"/>
              <a:gd name="T45" fmla="*/ 2147483647 h 54"/>
              <a:gd name="T46" fmla="*/ 2147483647 w 88"/>
              <a:gd name="T47" fmla="*/ 2147483647 h 54"/>
              <a:gd name="T48" fmla="*/ 2147483647 w 88"/>
              <a:gd name="T49" fmla="*/ 2147483647 h 54"/>
              <a:gd name="T50" fmla="*/ 2147483647 w 88"/>
              <a:gd name="T51" fmla="*/ 2147483647 h 54"/>
              <a:gd name="T52" fmla="*/ 2147483647 w 88"/>
              <a:gd name="T53" fmla="*/ 2147483647 h 54"/>
              <a:gd name="T54" fmla="*/ 2147483647 w 88"/>
              <a:gd name="T55" fmla="*/ 2147483647 h 54"/>
              <a:gd name="T56" fmla="*/ 2147483647 w 88"/>
              <a:gd name="T57" fmla="*/ 2147483647 h 54"/>
              <a:gd name="T58" fmla="*/ 2147483647 w 88"/>
              <a:gd name="T59" fmla="*/ 2147483647 h 54"/>
              <a:gd name="T60" fmla="*/ 2147483647 w 88"/>
              <a:gd name="T61" fmla="*/ 2147483647 h 54"/>
              <a:gd name="T62" fmla="*/ 2147483647 w 88"/>
              <a:gd name="T63" fmla="*/ 2147483647 h 54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88"/>
              <a:gd name="T97" fmla="*/ 0 h 54"/>
              <a:gd name="T98" fmla="*/ 88 w 88"/>
              <a:gd name="T99" fmla="*/ 54 h 54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88" h="54">
                <a:moveTo>
                  <a:pt x="9" y="34"/>
                </a:moveTo>
                <a:cubicBezTo>
                  <a:pt x="14" y="31"/>
                  <a:pt x="29" y="21"/>
                  <a:pt x="36" y="16"/>
                </a:cubicBezTo>
                <a:cubicBezTo>
                  <a:pt x="41" y="12"/>
                  <a:pt x="54" y="10"/>
                  <a:pt x="54" y="10"/>
                </a:cubicBezTo>
                <a:cubicBezTo>
                  <a:pt x="46" y="23"/>
                  <a:pt x="35" y="29"/>
                  <a:pt x="21" y="34"/>
                </a:cubicBezTo>
                <a:cubicBezTo>
                  <a:pt x="0" y="27"/>
                  <a:pt x="29" y="14"/>
                  <a:pt x="39" y="10"/>
                </a:cubicBezTo>
                <a:cubicBezTo>
                  <a:pt x="45" y="7"/>
                  <a:pt x="57" y="4"/>
                  <a:pt x="57" y="4"/>
                </a:cubicBezTo>
                <a:cubicBezTo>
                  <a:pt x="60" y="5"/>
                  <a:pt x="66" y="4"/>
                  <a:pt x="66" y="7"/>
                </a:cubicBezTo>
                <a:cubicBezTo>
                  <a:pt x="67" y="13"/>
                  <a:pt x="60" y="25"/>
                  <a:pt x="60" y="25"/>
                </a:cubicBezTo>
                <a:cubicBezTo>
                  <a:pt x="79" y="54"/>
                  <a:pt x="26" y="41"/>
                  <a:pt x="6" y="34"/>
                </a:cubicBezTo>
                <a:cubicBezTo>
                  <a:pt x="16" y="27"/>
                  <a:pt x="20" y="22"/>
                  <a:pt x="30" y="16"/>
                </a:cubicBezTo>
                <a:cubicBezTo>
                  <a:pt x="36" y="12"/>
                  <a:pt x="48" y="4"/>
                  <a:pt x="48" y="4"/>
                </a:cubicBezTo>
                <a:cubicBezTo>
                  <a:pt x="84" y="10"/>
                  <a:pt x="57" y="4"/>
                  <a:pt x="45" y="7"/>
                </a:cubicBezTo>
                <a:cubicBezTo>
                  <a:pt x="43" y="10"/>
                  <a:pt x="36" y="15"/>
                  <a:pt x="39" y="16"/>
                </a:cubicBezTo>
                <a:cubicBezTo>
                  <a:pt x="46" y="19"/>
                  <a:pt x="53" y="14"/>
                  <a:pt x="60" y="13"/>
                </a:cubicBezTo>
                <a:cubicBezTo>
                  <a:pt x="63" y="12"/>
                  <a:pt x="69" y="7"/>
                  <a:pt x="69" y="10"/>
                </a:cubicBezTo>
                <a:cubicBezTo>
                  <a:pt x="69" y="13"/>
                  <a:pt x="45" y="23"/>
                  <a:pt x="42" y="25"/>
                </a:cubicBezTo>
                <a:cubicBezTo>
                  <a:pt x="45" y="27"/>
                  <a:pt x="55" y="30"/>
                  <a:pt x="51" y="31"/>
                </a:cubicBezTo>
                <a:cubicBezTo>
                  <a:pt x="42" y="32"/>
                  <a:pt x="26" y="37"/>
                  <a:pt x="24" y="28"/>
                </a:cubicBezTo>
                <a:cubicBezTo>
                  <a:pt x="22" y="20"/>
                  <a:pt x="40" y="22"/>
                  <a:pt x="48" y="19"/>
                </a:cubicBezTo>
                <a:cubicBezTo>
                  <a:pt x="88" y="26"/>
                  <a:pt x="48" y="29"/>
                  <a:pt x="36" y="31"/>
                </a:cubicBezTo>
                <a:cubicBezTo>
                  <a:pt x="33" y="32"/>
                  <a:pt x="18" y="40"/>
                  <a:pt x="21" y="25"/>
                </a:cubicBezTo>
                <a:cubicBezTo>
                  <a:pt x="23" y="18"/>
                  <a:pt x="26" y="9"/>
                  <a:pt x="33" y="7"/>
                </a:cubicBezTo>
                <a:cubicBezTo>
                  <a:pt x="39" y="5"/>
                  <a:pt x="51" y="1"/>
                  <a:pt x="51" y="1"/>
                </a:cubicBezTo>
                <a:cubicBezTo>
                  <a:pt x="56" y="2"/>
                  <a:pt x="63" y="0"/>
                  <a:pt x="66" y="4"/>
                </a:cubicBezTo>
                <a:cubicBezTo>
                  <a:pt x="68" y="7"/>
                  <a:pt x="61" y="10"/>
                  <a:pt x="60" y="13"/>
                </a:cubicBezTo>
                <a:cubicBezTo>
                  <a:pt x="52" y="34"/>
                  <a:pt x="64" y="23"/>
                  <a:pt x="48" y="34"/>
                </a:cubicBezTo>
                <a:cubicBezTo>
                  <a:pt x="44" y="33"/>
                  <a:pt x="38" y="35"/>
                  <a:pt x="36" y="31"/>
                </a:cubicBezTo>
                <a:cubicBezTo>
                  <a:pt x="35" y="28"/>
                  <a:pt x="45" y="25"/>
                  <a:pt x="45" y="28"/>
                </a:cubicBezTo>
                <a:cubicBezTo>
                  <a:pt x="45" y="32"/>
                  <a:pt x="39" y="32"/>
                  <a:pt x="36" y="34"/>
                </a:cubicBezTo>
                <a:cubicBezTo>
                  <a:pt x="5" y="26"/>
                  <a:pt x="39" y="35"/>
                  <a:pt x="42" y="34"/>
                </a:cubicBezTo>
                <a:cubicBezTo>
                  <a:pt x="45" y="33"/>
                  <a:pt x="40" y="28"/>
                  <a:pt x="39" y="25"/>
                </a:cubicBezTo>
                <a:cubicBezTo>
                  <a:pt x="53" y="18"/>
                  <a:pt x="51" y="23"/>
                  <a:pt x="51" y="13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53" name="Freeform 51"/>
          <p:cNvSpPr>
            <a:spLocks/>
          </p:cNvSpPr>
          <p:nvPr/>
        </p:nvSpPr>
        <p:spPr bwMode="auto">
          <a:xfrm>
            <a:off x="3962400" y="5189538"/>
            <a:ext cx="90488" cy="34925"/>
          </a:xfrm>
          <a:custGeom>
            <a:avLst/>
            <a:gdLst>
              <a:gd name="T0" fmla="*/ 0 w 57"/>
              <a:gd name="T1" fmla="*/ 2147483647 h 22"/>
              <a:gd name="T2" fmla="*/ 2147483647 w 57"/>
              <a:gd name="T3" fmla="*/ 2147483647 h 22"/>
              <a:gd name="T4" fmla="*/ 2147483647 w 57"/>
              <a:gd name="T5" fmla="*/ 2147483647 h 22"/>
              <a:gd name="T6" fmla="*/ 2147483647 w 57"/>
              <a:gd name="T7" fmla="*/ 2147483647 h 22"/>
              <a:gd name="T8" fmla="*/ 2147483647 w 57"/>
              <a:gd name="T9" fmla="*/ 2147483647 h 22"/>
              <a:gd name="T10" fmla="*/ 2147483647 w 57"/>
              <a:gd name="T11" fmla="*/ 2147483647 h 2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7"/>
              <a:gd name="T19" fmla="*/ 0 h 22"/>
              <a:gd name="T20" fmla="*/ 57 w 57"/>
              <a:gd name="T21" fmla="*/ 22 h 2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7" h="22">
                <a:moveTo>
                  <a:pt x="0" y="10"/>
                </a:moveTo>
                <a:cubicBezTo>
                  <a:pt x="2" y="7"/>
                  <a:pt x="2" y="1"/>
                  <a:pt x="6" y="1"/>
                </a:cubicBezTo>
                <a:cubicBezTo>
                  <a:pt x="12" y="0"/>
                  <a:pt x="18" y="5"/>
                  <a:pt x="24" y="7"/>
                </a:cubicBezTo>
                <a:cubicBezTo>
                  <a:pt x="27" y="8"/>
                  <a:pt x="33" y="10"/>
                  <a:pt x="33" y="10"/>
                </a:cubicBezTo>
                <a:cubicBezTo>
                  <a:pt x="22" y="17"/>
                  <a:pt x="5" y="17"/>
                  <a:pt x="27" y="22"/>
                </a:cubicBezTo>
                <a:cubicBezTo>
                  <a:pt x="38" y="19"/>
                  <a:pt x="57" y="20"/>
                  <a:pt x="57" y="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54" name="Freeform 52"/>
          <p:cNvSpPr>
            <a:spLocks/>
          </p:cNvSpPr>
          <p:nvPr/>
        </p:nvSpPr>
        <p:spPr bwMode="auto">
          <a:xfrm>
            <a:off x="4052888" y="5216525"/>
            <a:ext cx="119062" cy="119063"/>
          </a:xfrm>
          <a:custGeom>
            <a:avLst/>
            <a:gdLst>
              <a:gd name="T0" fmla="*/ 2147483647 w 75"/>
              <a:gd name="T1" fmla="*/ 2147483647 h 75"/>
              <a:gd name="T2" fmla="*/ 0 w 75"/>
              <a:gd name="T3" fmla="*/ 2147483647 h 75"/>
              <a:gd name="T4" fmla="*/ 2147483647 w 75"/>
              <a:gd name="T5" fmla="*/ 2147483647 h 75"/>
              <a:gd name="T6" fmla="*/ 2147483647 w 75"/>
              <a:gd name="T7" fmla="*/ 2147483647 h 75"/>
              <a:gd name="T8" fmla="*/ 2147483647 w 75"/>
              <a:gd name="T9" fmla="*/ 2147483647 h 75"/>
              <a:gd name="T10" fmla="*/ 2147483647 w 75"/>
              <a:gd name="T11" fmla="*/ 2147483647 h 75"/>
              <a:gd name="T12" fmla="*/ 2147483647 w 75"/>
              <a:gd name="T13" fmla="*/ 2147483647 h 75"/>
              <a:gd name="T14" fmla="*/ 2147483647 w 75"/>
              <a:gd name="T15" fmla="*/ 2147483647 h 75"/>
              <a:gd name="T16" fmla="*/ 2147483647 w 75"/>
              <a:gd name="T17" fmla="*/ 2147483647 h 75"/>
              <a:gd name="T18" fmla="*/ 2147483647 w 75"/>
              <a:gd name="T19" fmla="*/ 2147483647 h 75"/>
              <a:gd name="T20" fmla="*/ 2147483647 w 75"/>
              <a:gd name="T21" fmla="*/ 2147483647 h 75"/>
              <a:gd name="T22" fmla="*/ 2147483647 w 75"/>
              <a:gd name="T23" fmla="*/ 2147483647 h 75"/>
              <a:gd name="T24" fmla="*/ 2147483647 w 75"/>
              <a:gd name="T25" fmla="*/ 2147483647 h 75"/>
              <a:gd name="T26" fmla="*/ 2147483647 w 75"/>
              <a:gd name="T27" fmla="*/ 2147483647 h 75"/>
              <a:gd name="T28" fmla="*/ 2147483647 w 75"/>
              <a:gd name="T29" fmla="*/ 2147483647 h 75"/>
              <a:gd name="T30" fmla="*/ 2147483647 w 75"/>
              <a:gd name="T31" fmla="*/ 2147483647 h 75"/>
              <a:gd name="T32" fmla="*/ 2147483647 w 75"/>
              <a:gd name="T33" fmla="*/ 2147483647 h 75"/>
              <a:gd name="T34" fmla="*/ 2147483647 w 75"/>
              <a:gd name="T35" fmla="*/ 2147483647 h 75"/>
              <a:gd name="T36" fmla="*/ 2147483647 w 75"/>
              <a:gd name="T37" fmla="*/ 2147483647 h 75"/>
              <a:gd name="T38" fmla="*/ 2147483647 w 75"/>
              <a:gd name="T39" fmla="*/ 2147483647 h 75"/>
              <a:gd name="T40" fmla="*/ 2147483647 w 75"/>
              <a:gd name="T41" fmla="*/ 2147483647 h 75"/>
              <a:gd name="T42" fmla="*/ 2147483647 w 75"/>
              <a:gd name="T43" fmla="*/ 2147483647 h 75"/>
              <a:gd name="T44" fmla="*/ 2147483647 w 75"/>
              <a:gd name="T45" fmla="*/ 2147483647 h 75"/>
              <a:gd name="T46" fmla="*/ 2147483647 w 75"/>
              <a:gd name="T47" fmla="*/ 2147483647 h 75"/>
              <a:gd name="T48" fmla="*/ 2147483647 w 75"/>
              <a:gd name="T49" fmla="*/ 2147483647 h 75"/>
              <a:gd name="T50" fmla="*/ 2147483647 w 75"/>
              <a:gd name="T51" fmla="*/ 2147483647 h 75"/>
              <a:gd name="T52" fmla="*/ 2147483647 w 75"/>
              <a:gd name="T53" fmla="*/ 2147483647 h 75"/>
              <a:gd name="T54" fmla="*/ 2147483647 w 75"/>
              <a:gd name="T55" fmla="*/ 2147483647 h 75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75"/>
              <a:gd name="T85" fmla="*/ 0 h 75"/>
              <a:gd name="T86" fmla="*/ 75 w 75"/>
              <a:gd name="T87" fmla="*/ 75 h 75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75" h="75">
                <a:moveTo>
                  <a:pt x="3" y="11"/>
                </a:moveTo>
                <a:cubicBezTo>
                  <a:pt x="7" y="23"/>
                  <a:pt x="4" y="30"/>
                  <a:pt x="0" y="41"/>
                </a:cubicBezTo>
                <a:cubicBezTo>
                  <a:pt x="4" y="52"/>
                  <a:pt x="10" y="59"/>
                  <a:pt x="15" y="44"/>
                </a:cubicBezTo>
                <a:cubicBezTo>
                  <a:pt x="13" y="41"/>
                  <a:pt x="9" y="35"/>
                  <a:pt x="9" y="35"/>
                </a:cubicBezTo>
                <a:cubicBezTo>
                  <a:pt x="2" y="75"/>
                  <a:pt x="10" y="41"/>
                  <a:pt x="12" y="32"/>
                </a:cubicBezTo>
                <a:cubicBezTo>
                  <a:pt x="13" y="26"/>
                  <a:pt x="14" y="20"/>
                  <a:pt x="15" y="14"/>
                </a:cubicBezTo>
                <a:cubicBezTo>
                  <a:pt x="18" y="23"/>
                  <a:pt x="12" y="41"/>
                  <a:pt x="12" y="41"/>
                </a:cubicBezTo>
                <a:cubicBezTo>
                  <a:pt x="13" y="44"/>
                  <a:pt x="12" y="50"/>
                  <a:pt x="15" y="50"/>
                </a:cubicBezTo>
                <a:cubicBezTo>
                  <a:pt x="18" y="50"/>
                  <a:pt x="18" y="44"/>
                  <a:pt x="18" y="41"/>
                </a:cubicBezTo>
                <a:cubicBezTo>
                  <a:pt x="18" y="33"/>
                  <a:pt x="16" y="25"/>
                  <a:pt x="15" y="17"/>
                </a:cubicBezTo>
                <a:cubicBezTo>
                  <a:pt x="21" y="15"/>
                  <a:pt x="30" y="9"/>
                  <a:pt x="30" y="23"/>
                </a:cubicBezTo>
                <a:cubicBezTo>
                  <a:pt x="30" y="29"/>
                  <a:pt x="24" y="41"/>
                  <a:pt x="24" y="41"/>
                </a:cubicBezTo>
                <a:cubicBezTo>
                  <a:pt x="14" y="27"/>
                  <a:pt x="20" y="22"/>
                  <a:pt x="36" y="26"/>
                </a:cubicBezTo>
                <a:cubicBezTo>
                  <a:pt x="33" y="38"/>
                  <a:pt x="35" y="55"/>
                  <a:pt x="24" y="38"/>
                </a:cubicBezTo>
                <a:cubicBezTo>
                  <a:pt x="25" y="31"/>
                  <a:pt x="22" y="22"/>
                  <a:pt x="27" y="17"/>
                </a:cubicBezTo>
                <a:cubicBezTo>
                  <a:pt x="30" y="14"/>
                  <a:pt x="37" y="19"/>
                  <a:pt x="39" y="23"/>
                </a:cubicBezTo>
                <a:cubicBezTo>
                  <a:pt x="41" y="29"/>
                  <a:pt x="37" y="35"/>
                  <a:pt x="36" y="41"/>
                </a:cubicBezTo>
                <a:cubicBezTo>
                  <a:pt x="34" y="38"/>
                  <a:pt x="30" y="36"/>
                  <a:pt x="30" y="32"/>
                </a:cubicBezTo>
                <a:cubicBezTo>
                  <a:pt x="30" y="26"/>
                  <a:pt x="36" y="14"/>
                  <a:pt x="36" y="14"/>
                </a:cubicBezTo>
                <a:cubicBezTo>
                  <a:pt x="41" y="15"/>
                  <a:pt x="48" y="13"/>
                  <a:pt x="51" y="17"/>
                </a:cubicBezTo>
                <a:cubicBezTo>
                  <a:pt x="57" y="25"/>
                  <a:pt x="40" y="41"/>
                  <a:pt x="36" y="44"/>
                </a:cubicBezTo>
                <a:cubicBezTo>
                  <a:pt x="38" y="35"/>
                  <a:pt x="44" y="11"/>
                  <a:pt x="51" y="32"/>
                </a:cubicBezTo>
                <a:cubicBezTo>
                  <a:pt x="35" y="37"/>
                  <a:pt x="37" y="27"/>
                  <a:pt x="48" y="20"/>
                </a:cubicBezTo>
                <a:cubicBezTo>
                  <a:pt x="65" y="26"/>
                  <a:pt x="61" y="46"/>
                  <a:pt x="48" y="20"/>
                </a:cubicBezTo>
                <a:cubicBezTo>
                  <a:pt x="62" y="15"/>
                  <a:pt x="75" y="26"/>
                  <a:pt x="57" y="14"/>
                </a:cubicBezTo>
                <a:cubicBezTo>
                  <a:pt x="43" y="15"/>
                  <a:pt x="28" y="13"/>
                  <a:pt x="15" y="17"/>
                </a:cubicBezTo>
                <a:cubicBezTo>
                  <a:pt x="11" y="18"/>
                  <a:pt x="36" y="65"/>
                  <a:pt x="18" y="38"/>
                </a:cubicBezTo>
                <a:cubicBezTo>
                  <a:pt x="23" y="0"/>
                  <a:pt x="13" y="14"/>
                  <a:pt x="63" y="14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55" name="Freeform 53"/>
          <p:cNvSpPr>
            <a:spLocks/>
          </p:cNvSpPr>
          <p:nvPr/>
        </p:nvSpPr>
        <p:spPr bwMode="auto">
          <a:xfrm>
            <a:off x="4057650" y="5233988"/>
            <a:ext cx="115888" cy="66675"/>
          </a:xfrm>
          <a:custGeom>
            <a:avLst/>
            <a:gdLst>
              <a:gd name="T0" fmla="*/ 2147483647 w 73"/>
              <a:gd name="T1" fmla="*/ 2147483647 h 42"/>
              <a:gd name="T2" fmla="*/ 2147483647 w 73"/>
              <a:gd name="T3" fmla="*/ 2147483647 h 42"/>
              <a:gd name="T4" fmla="*/ 2147483647 w 73"/>
              <a:gd name="T5" fmla="*/ 2147483647 h 42"/>
              <a:gd name="T6" fmla="*/ 2147483647 w 73"/>
              <a:gd name="T7" fmla="*/ 2147483647 h 42"/>
              <a:gd name="T8" fmla="*/ 2147483647 w 73"/>
              <a:gd name="T9" fmla="*/ 2147483647 h 42"/>
              <a:gd name="T10" fmla="*/ 2147483647 w 73"/>
              <a:gd name="T11" fmla="*/ 2147483647 h 42"/>
              <a:gd name="T12" fmla="*/ 2147483647 w 73"/>
              <a:gd name="T13" fmla="*/ 0 h 42"/>
              <a:gd name="T14" fmla="*/ 2147483647 w 73"/>
              <a:gd name="T15" fmla="*/ 2147483647 h 42"/>
              <a:gd name="T16" fmla="*/ 2147483647 w 73"/>
              <a:gd name="T17" fmla="*/ 2147483647 h 4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3"/>
              <a:gd name="T28" fmla="*/ 0 h 42"/>
              <a:gd name="T29" fmla="*/ 73 w 73"/>
              <a:gd name="T30" fmla="*/ 42 h 4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3" h="42">
                <a:moveTo>
                  <a:pt x="9" y="6"/>
                </a:moveTo>
                <a:cubicBezTo>
                  <a:pt x="8" y="11"/>
                  <a:pt x="1" y="21"/>
                  <a:pt x="6" y="21"/>
                </a:cubicBezTo>
                <a:cubicBezTo>
                  <a:pt x="11" y="21"/>
                  <a:pt x="13" y="11"/>
                  <a:pt x="12" y="6"/>
                </a:cubicBezTo>
                <a:cubicBezTo>
                  <a:pt x="11" y="3"/>
                  <a:pt x="0" y="3"/>
                  <a:pt x="3" y="3"/>
                </a:cubicBezTo>
                <a:cubicBezTo>
                  <a:pt x="16" y="3"/>
                  <a:pt x="32" y="9"/>
                  <a:pt x="45" y="12"/>
                </a:cubicBezTo>
                <a:cubicBezTo>
                  <a:pt x="51" y="11"/>
                  <a:pt x="58" y="12"/>
                  <a:pt x="63" y="9"/>
                </a:cubicBezTo>
                <a:cubicBezTo>
                  <a:pt x="66" y="7"/>
                  <a:pt x="73" y="0"/>
                  <a:pt x="69" y="0"/>
                </a:cubicBezTo>
                <a:cubicBezTo>
                  <a:pt x="64" y="0"/>
                  <a:pt x="56" y="15"/>
                  <a:pt x="54" y="18"/>
                </a:cubicBezTo>
                <a:cubicBezTo>
                  <a:pt x="37" y="37"/>
                  <a:pt x="33" y="42"/>
                  <a:pt x="9" y="42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56" name="Freeform 54"/>
          <p:cNvSpPr>
            <a:spLocks/>
          </p:cNvSpPr>
          <p:nvPr/>
        </p:nvSpPr>
        <p:spPr bwMode="auto">
          <a:xfrm>
            <a:off x="4076700" y="5224463"/>
            <a:ext cx="114300" cy="42862"/>
          </a:xfrm>
          <a:custGeom>
            <a:avLst/>
            <a:gdLst>
              <a:gd name="T0" fmla="*/ 0 w 72"/>
              <a:gd name="T1" fmla="*/ 2147483647 h 27"/>
              <a:gd name="T2" fmla="*/ 2147483647 w 72"/>
              <a:gd name="T3" fmla="*/ 2147483647 h 27"/>
              <a:gd name="T4" fmla="*/ 0 60000 65536"/>
              <a:gd name="T5" fmla="*/ 0 60000 65536"/>
              <a:gd name="T6" fmla="*/ 0 w 72"/>
              <a:gd name="T7" fmla="*/ 0 h 27"/>
              <a:gd name="T8" fmla="*/ 72 w 72"/>
              <a:gd name="T9" fmla="*/ 27 h 2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2" h="27">
                <a:moveTo>
                  <a:pt x="0" y="9"/>
                </a:moveTo>
                <a:cubicBezTo>
                  <a:pt x="9" y="10"/>
                  <a:pt x="72" y="0"/>
                  <a:pt x="45" y="2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57" name="Freeform 55"/>
          <p:cNvSpPr>
            <a:spLocks/>
          </p:cNvSpPr>
          <p:nvPr/>
        </p:nvSpPr>
        <p:spPr bwMode="auto">
          <a:xfrm>
            <a:off x="3902075" y="3322638"/>
            <a:ext cx="101600" cy="73025"/>
          </a:xfrm>
          <a:custGeom>
            <a:avLst/>
            <a:gdLst>
              <a:gd name="T0" fmla="*/ 2147483647 w 64"/>
              <a:gd name="T1" fmla="*/ 2147483647 h 46"/>
              <a:gd name="T2" fmla="*/ 2147483647 w 64"/>
              <a:gd name="T3" fmla="*/ 2147483647 h 46"/>
              <a:gd name="T4" fmla="*/ 2147483647 w 64"/>
              <a:gd name="T5" fmla="*/ 2147483647 h 46"/>
              <a:gd name="T6" fmla="*/ 2147483647 w 64"/>
              <a:gd name="T7" fmla="*/ 2147483647 h 46"/>
              <a:gd name="T8" fmla="*/ 2147483647 w 64"/>
              <a:gd name="T9" fmla="*/ 2147483647 h 46"/>
              <a:gd name="T10" fmla="*/ 2147483647 w 64"/>
              <a:gd name="T11" fmla="*/ 2147483647 h 46"/>
              <a:gd name="T12" fmla="*/ 2147483647 w 64"/>
              <a:gd name="T13" fmla="*/ 2147483647 h 4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4"/>
              <a:gd name="T22" fmla="*/ 0 h 46"/>
              <a:gd name="T23" fmla="*/ 64 w 64"/>
              <a:gd name="T24" fmla="*/ 46 h 4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4" h="46">
                <a:moveTo>
                  <a:pt x="38" y="7"/>
                </a:moveTo>
                <a:cubicBezTo>
                  <a:pt x="44" y="8"/>
                  <a:pt x="52" y="6"/>
                  <a:pt x="56" y="10"/>
                </a:cubicBezTo>
                <a:cubicBezTo>
                  <a:pt x="59" y="13"/>
                  <a:pt x="53" y="18"/>
                  <a:pt x="50" y="19"/>
                </a:cubicBezTo>
                <a:cubicBezTo>
                  <a:pt x="47" y="20"/>
                  <a:pt x="44" y="17"/>
                  <a:pt x="41" y="16"/>
                </a:cubicBezTo>
                <a:cubicBezTo>
                  <a:pt x="64" y="0"/>
                  <a:pt x="30" y="11"/>
                  <a:pt x="26" y="13"/>
                </a:cubicBezTo>
                <a:cubicBezTo>
                  <a:pt x="15" y="29"/>
                  <a:pt x="0" y="46"/>
                  <a:pt x="32" y="40"/>
                </a:cubicBezTo>
                <a:cubicBezTo>
                  <a:pt x="22" y="38"/>
                  <a:pt x="9" y="38"/>
                  <a:pt x="2" y="31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58" name="Freeform 56"/>
          <p:cNvSpPr>
            <a:spLocks/>
          </p:cNvSpPr>
          <p:nvPr/>
        </p:nvSpPr>
        <p:spPr bwMode="auto">
          <a:xfrm>
            <a:off x="3995738" y="3395663"/>
            <a:ext cx="119062" cy="109537"/>
          </a:xfrm>
          <a:custGeom>
            <a:avLst/>
            <a:gdLst>
              <a:gd name="T0" fmla="*/ 2147483647 w 75"/>
              <a:gd name="T1" fmla="*/ 2147483647 h 69"/>
              <a:gd name="T2" fmla="*/ 2147483647 w 75"/>
              <a:gd name="T3" fmla="*/ 2147483647 h 69"/>
              <a:gd name="T4" fmla="*/ 2147483647 w 75"/>
              <a:gd name="T5" fmla="*/ 2147483647 h 69"/>
              <a:gd name="T6" fmla="*/ 2147483647 w 75"/>
              <a:gd name="T7" fmla="*/ 2147483647 h 69"/>
              <a:gd name="T8" fmla="*/ 2147483647 w 75"/>
              <a:gd name="T9" fmla="*/ 2147483647 h 69"/>
              <a:gd name="T10" fmla="*/ 2147483647 w 75"/>
              <a:gd name="T11" fmla="*/ 2147483647 h 69"/>
              <a:gd name="T12" fmla="*/ 2147483647 w 75"/>
              <a:gd name="T13" fmla="*/ 2147483647 h 69"/>
              <a:gd name="T14" fmla="*/ 2147483647 w 75"/>
              <a:gd name="T15" fmla="*/ 2147483647 h 69"/>
              <a:gd name="T16" fmla="*/ 2147483647 w 75"/>
              <a:gd name="T17" fmla="*/ 2147483647 h 69"/>
              <a:gd name="T18" fmla="*/ 2147483647 w 75"/>
              <a:gd name="T19" fmla="*/ 2147483647 h 69"/>
              <a:gd name="T20" fmla="*/ 2147483647 w 75"/>
              <a:gd name="T21" fmla="*/ 2147483647 h 69"/>
              <a:gd name="T22" fmla="*/ 2147483647 w 75"/>
              <a:gd name="T23" fmla="*/ 2147483647 h 69"/>
              <a:gd name="T24" fmla="*/ 2147483647 w 75"/>
              <a:gd name="T25" fmla="*/ 2147483647 h 69"/>
              <a:gd name="T26" fmla="*/ 2147483647 w 75"/>
              <a:gd name="T27" fmla="*/ 2147483647 h 69"/>
              <a:gd name="T28" fmla="*/ 2147483647 w 75"/>
              <a:gd name="T29" fmla="*/ 2147483647 h 69"/>
              <a:gd name="T30" fmla="*/ 2147483647 w 75"/>
              <a:gd name="T31" fmla="*/ 2147483647 h 69"/>
              <a:gd name="T32" fmla="*/ 2147483647 w 75"/>
              <a:gd name="T33" fmla="*/ 2147483647 h 69"/>
              <a:gd name="T34" fmla="*/ 2147483647 w 75"/>
              <a:gd name="T35" fmla="*/ 2147483647 h 69"/>
              <a:gd name="T36" fmla="*/ 2147483647 w 75"/>
              <a:gd name="T37" fmla="*/ 2147483647 h 69"/>
              <a:gd name="T38" fmla="*/ 2147483647 w 75"/>
              <a:gd name="T39" fmla="*/ 2147483647 h 69"/>
              <a:gd name="T40" fmla="*/ 2147483647 w 75"/>
              <a:gd name="T41" fmla="*/ 2147483647 h 69"/>
              <a:gd name="T42" fmla="*/ 2147483647 w 75"/>
              <a:gd name="T43" fmla="*/ 2147483647 h 69"/>
              <a:gd name="T44" fmla="*/ 2147483647 w 75"/>
              <a:gd name="T45" fmla="*/ 2147483647 h 69"/>
              <a:gd name="T46" fmla="*/ 2147483647 w 75"/>
              <a:gd name="T47" fmla="*/ 2147483647 h 69"/>
              <a:gd name="T48" fmla="*/ 2147483647 w 75"/>
              <a:gd name="T49" fmla="*/ 2147483647 h 69"/>
              <a:gd name="T50" fmla="*/ 2147483647 w 75"/>
              <a:gd name="T51" fmla="*/ 2147483647 h 69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75"/>
              <a:gd name="T79" fmla="*/ 0 h 69"/>
              <a:gd name="T80" fmla="*/ 75 w 75"/>
              <a:gd name="T81" fmla="*/ 69 h 69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75" h="69">
                <a:moveTo>
                  <a:pt x="6" y="9"/>
                </a:moveTo>
                <a:cubicBezTo>
                  <a:pt x="10" y="22"/>
                  <a:pt x="0" y="69"/>
                  <a:pt x="9" y="36"/>
                </a:cubicBezTo>
                <a:cubicBezTo>
                  <a:pt x="10" y="33"/>
                  <a:pt x="11" y="30"/>
                  <a:pt x="12" y="27"/>
                </a:cubicBezTo>
                <a:cubicBezTo>
                  <a:pt x="11" y="24"/>
                  <a:pt x="9" y="15"/>
                  <a:pt x="9" y="18"/>
                </a:cubicBezTo>
                <a:cubicBezTo>
                  <a:pt x="9" y="24"/>
                  <a:pt x="12" y="36"/>
                  <a:pt x="12" y="36"/>
                </a:cubicBezTo>
                <a:cubicBezTo>
                  <a:pt x="21" y="8"/>
                  <a:pt x="19" y="12"/>
                  <a:pt x="15" y="48"/>
                </a:cubicBezTo>
                <a:cubicBezTo>
                  <a:pt x="6" y="35"/>
                  <a:pt x="10" y="26"/>
                  <a:pt x="15" y="12"/>
                </a:cubicBezTo>
                <a:cubicBezTo>
                  <a:pt x="19" y="18"/>
                  <a:pt x="25" y="23"/>
                  <a:pt x="27" y="30"/>
                </a:cubicBezTo>
                <a:cubicBezTo>
                  <a:pt x="28" y="35"/>
                  <a:pt x="28" y="42"/>
                  <a:pt x="24" y="45"/>
                </a:cubicBezTo>
                <a:cubicBezTo>
                  <a:pt x="21" y="47"/>
                  <a:pt x="20" y="39"/>
                  <a:pt x="18" y="36"/>
                </a:cubicBezTo>
                <a:cubicBezTo>
                  <a:pt x="32" y="15"/>
                  <a:pt x="37" y="20"/>
                  <a:pt x="21" y="15"/>
                </a:cubicBezTo>
                <a:cubicBezTo>
                  <a:pt x="44" y="0"/>
                  <a:pt x="21" y="29"/>
                  <a:pt x="18" y="33"/>
                </a:cubicBezTo>
                <a:cubicBezTo>
                  <a:pt x="19" y="36"/>
                  <a:pt x="18" y="42"/>
                  <a:pt x="21" y="42"/>
                </a:cubicBezTo>
                <a:cubicBezTo>
                  <a:pt x="31" y="42"/>
                  <a:pt x="26" y="25"/>
                  <a:pt x="24" y="12"/>
                </a:cubicBezTo>
                <a:cubicBezTo>
                  <a:pt x="40" y="1"/>
                  <a:pt x="36" y="14"/>
                  <a:pt x="30" y="24"/>
                </a:cubicBezTo>
                <a:cubicBezTo>
                  <a:pt x="23" y="60"/>
                  <a:pt x="30" y="21"/>
                  <a:pt x="33" y="12"/>
                </a:cubicBezTo>
                <a:cubicBezTo>
                  <a:pt x="41" y="24"/>
                  <a:pt x="37" y="29"/>
                  <a:pt x="33" y="42"/>
                </a:cubicBezTo>
                <a:cubicBezTo>
                  <a:pt x="23" y="27"/>
                  <a:pt x="31" y="15"/>
                  <a:pt x="48" y="9"/>
                </a:cubicBezTo>
                <a:cubicBezTo>
                  <a:pt x="42" y="53"/>
                  <a:pt x="42" y="26"/>
                  <a:pt x="39" y="9"/>
                </a:cubicBezTo>
                <a:cubicBezTo>
                  <a:pt x="57" y="3"/>
                  <a:pt x="50" y="20"/>
                  <a:pt x="48" y="33"/>
                </a:cubicBezTo>
                <a:cubicBezTo>
                  <a:pt x="44" y="21"/>
                  <a:pt x="45" y="10"/>
                  <a:pt x="60" y="15"/>
                </a:cubicBezTo>
                <a:cubicBezTo>
                  <a:pt x="54" y="33"/>
                  <a:pt x="47" y="17"/>
                  <a:pt x="63" y="12"/>
                </a:cubicBezTo>
                <a:cubicBezTo>
                  <a:pt x="64" y="15"/>
                  <a:pt x="69" y="20"/>
                  <a:pt x="66" y="21"/>
                </a:cubicBezTo>
                <a:cubicBezTo>
                  <a:pt x="63" y="23"/>
                  <a:pt x="58" y="19"/>
                  <a:pt x="57" y="15"/>
                </a:cubicBezTo>
                <a:cubicBezTo>
                  <a:pt x="55" y="7"/>
                  <a:pt x="75" y="2"/>
                  <a:pt x="54" y="9"/>
                </a:cubicBezTo>
                <a:cubicBezTo>
                  <a:pt x="73" y="15"/>
                  <a:pt x="56" y="22"/>
                  <a:pt x="48" y="3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59" name="Freeform 57"/>
          <p:cNvSpPr>
            <a:spLocks/>
          </p:cNvSpPr>
          <p:nvPr/>
        </p:nvSpPr>
        <p:spPr bwMode="auto">
          <a:xfrm>
            <a:off x="4010025" y="3400425"/>
            <a:ext cx="114300" cy="71438"/>
          </a:xfrm>
          <a:custGeom>
            <a:avLst/>
            <a:gdLst>
              <a:gd name="T0" fmla="*/ 0 w 72"/>
              <a:gd name="T1" fmla="*/ 2147483647 h 45"/>
              <a:gd name="T2" fmla="*/ 2147483647 w 72"/>
              <a:gd name="T3" fmla="*/ 2147483647 h 45"/>
              <a:gd name="T4" fmla="*/ 2147483647 w 72"/>
              <a:gd name="T5" fmla="*/ 0 h 45"/>
              <a:gd name="T6" fmla="*/ 2147483647 w 72"/>
              <a:gd name="T7" fmla="*/ 2147483647 h 45"/>
              <a:gd name="T8" fmla="*/ 2147483647 w 72"/>
              <a:gd name="T9" fmla="*/ 2147483647 h 45"/>
              <a:gd name="T10" fmla="*/ 2147483647 w 72"/>
              <a:gd name="T11" fmla="*/ 2147483647 h 45"/>
              <a:gd name="T12" fmla="*/ 2147483647 w 72"/>
              <a:gd name="T13" fmla="*/ 2147483647 h 45"/>
              <a:gd name="T14" fmla="*/ 2147483647 w 72"/>
              <a:gd name="T15" fmla="*/ 2147483647 h 45"/>
              <a:gd name="T16" fmla="*/ 2147483647 w 72"/>
              <a:gd name="T17" fmla="*/ 2147483647 h 4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2"/>
              <a:gd name="T28" fmla="*/ 0 h 45"/>
              <a:gd name="T29" fmla="*/ 72 w 72"/>
              <a:gd name="T30" fmla="*/ 45 h 4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2" h="45">
                <a:moveTo>
                  <a:pt x="0" y="6"/>
                </a:moveTo>
                <a:cubicBezTo>
                  <a:pt x="5" y="5"/>
                  <a:pt x="11" y="7"/>
                  <a:pt x="15" y="3"/>
                </a:cubicBezTo>
                <a:cubicBezTo>
                  <a:pt x="17" y="1"/>
                  <a:pt x="3" y="0"/>
                  <a:pt x="6" y="0"/>
                </a:cubicBezTo>
                <a:cubicBezTo>
                  <a:pt x="20" y="0"/>
                  <a:pt x="34" y="2"/>
                  <a:pt x="48" y="3"/>
                </a:cubicBezTo>
                <a:cubicBezTo>
                  <a:pt x="72" y="11"/>
                  <a:pt x="35" y="31"/>
                  <a:pt x="27" y="36"/>
                </a:cubicBezTo>
                <a:cubicBezTo>
                  <a:pt x="24" y="38"/>
                  <a:pt x="21" y="40"/>
                  <a:pt x="18" y="42"/>
                </a:cubicBezTo>
                <a:cubicBezTo>
                  <a:pt x="15" y="44"/>
                  <a:pt x="6" y="45"/>
                  <a:pt x="9" y="45"/>
                </a:cubicBezTo>
                <a:cubicBezTo>
                  <a:pt x="13" y="45"/>
                  <a:pt x="17" y="43"/>
                  <a:pt x="21" y="42"/>
                </a:cubicBezTo>
                <a:cubicBezTo>
                  <a:pt x="32" y="26"/>
                  <a:pt x="13" y="15"/>
                  <a:pt x="42" y="3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60" name="Freeform 58"/>
          <p:cNvSpPr>
            <a:spLocks/>
          </p:cNvSpPr>
          <p:nvPr/>
        </p:nvSpPr>
        <p:spPr bwMode="auto">
          <a:xfrm>
            <a:off x="3929063" y="3390900"/>
            <a:ext cx="185737" cy="28575"/>
          </a:xfrm>
          <a:custGeom>
            <a:avLst/>
            <a:gdLst>
              <a:gd name="T0" fmla="*/ 0 w 117"/>
              <a:gd name="T1" fmla="*/ 0 h 18"/>
              <a:gd name="T2" fmla="*/ 2147483647 w 117"/>
              <a:gd name="T3" fmla="*/ 2147483647 h 18"/>
              <a:gd name="T4" fmla="*/ 2147483647 w 117"/>
              <a:gd name="T5" fmla="*/ 2147483647 h 18"/>
              <a:gd name="T6" fmla="*/ 2147483647 w 117"/>
              <a:gd name="T7" fmla="*/ 2147483647 h 18"/>
              <a:gd name="T8" fmla="*/ 0 60000 65536"/>
              <a:gd name="T9" fmla="*/ 0 60000 65536"/>
              <a:gd name="T10" fmla="*/ 0 60000 65536"/>
              <a:gd name="T11" fmla="*/ 0 60000 65536"/>
              <a:gd name="T12" fmla="*/ 0 w 117"/>
              <a:gd name="T13" fmla="*/ 0 h 18"/>
              <a:gd name="T14" fmla="*/ 117 w 117"/>
              <a:gd name="T15" fmla="*/ 18 h 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7" h="18">
                <a:moveTo>
                  <a:pt x="0" y="0"/>
                </a:moveTo>
                <a:cubicBezTo>
                  <a:pt x="4" y="0"/>
                  <a:pt x="73" y="5"/>
                  <a:pt x="81" y="6"/>
                </a:cubicBezTo>
                <a:cubicBezTo>
                  <a:pt x="93" y="8"/>
                  <a:pt x="117" y="18"/>
                  <a:pt x="117" y="18"/>
                </a:cubicBezTo>
                <a:cubicBezTo>
                  <a:pt x="113" y="7"/>
                  <a:pt x="115" y="6"/>
                  <a:pt x="111" y="15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61" name="Text Box 59"/>
          <p:cNvSpPr txBox="1">
            <a:spLocks noChangeArrowheads="1"/>
          </p:cNvSpPr>
          <p:nvPr/>
        </p:nvSpPr>
        <p:spPr bwMode="auto">
          <a:xfrm>
            <a:off x="1355725" y="1946275"/>
            <a:ext cx="1452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understeer</a:t>
            </a:r>
          </a:p>
        </p:txBody>
      </p:sp>
      <p:sp>
        <p:nvSpPr>
          <p:cNvPr id="21562" name="Text Box 60"/>
          <p:cNvSpPr txBox="1">
            <a:spLocks noChangeArrowheads="1"/>
          </p:cNvSpPr>
          <p:nvPr/>
        </p:nvSpPr>
        <p:spPr bwMode="auto">
          <a:xfrm>
            <a:off x="1371600" y="4114800"/>
            <a:ext cx="1300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oversteer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Nature of the </a:t>
            </a:r>
            <a:r>
              <a:rPr lang="en-US" dirty="0" smtClean="0"/>
              <a:t>derivatives does help</a:t>
            </a:r>
            <a:endParaRPr lang="en-US" dirty="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800" smtClean="0">
                <a:sym typeface="Symbol" pitchFamily="18" charset="2"/>
              </a:rPr>
              <a:t>	M</a:t>
            </a:r>
            <a:r>
              <a:rPr lang="en-US" sz="2800" baseline="-25000" smtClean="0">
                <a:sym typeface="Symbol" pitchFamily="18" charset="2"/>
              </a:rPr>
              <a:t></a:t>
            </a:r>
            <a:r>
              <a:rPr lang="en-US" sz="2800" smtClean="0">
                <a:sym typeface="Symbol" pitchFamily="18" charset="2"/>
              </a:rPr>
              <a:t>, Y</a:t>
            </a:r>
            <a:r>
              <a:rPr lang="en-US" sz="2800" baseline="-25000" smtClean="0">
                <a:sym typeface="Symbol" pitchFamily="18" charset="2"/>
              </a:rPr>
              <a:t></a:t>
            </a:r>
            <a:r>
              <a:rPr lang="en-US" sz="2800" smtClean="0">
                <a:sym typeface="Symbol" pitchFamily="18" charset="2"/>
              </a:rPr>
              <a:t>          	control</a:t>
            </a:r>
            <a:br>
              <a:rPr lang="en-US" sz="2800" smtClean="0">
                <a:sym typeface="Symbol" pitchFamily="18" charset="2"/>
              </a:rPr>
            </a:br>
            <a:r>
              <a:rPr lang="en-US" sz="2800" smtClean="0">
                <a:sym typeface="Symbol" pitchFamily="18" charset="2"/>
              </a:rPr>
              <a:t>M</a:t>
            </a:r>
            <a:r>
              <a:rPr lang="en-US" sz="2800" baseline="-25000" smtClean="0">
                <a:sym typeface="Symbol" pitchFamily="18" charset="2"/>
              </a:rPr>
              <a:t>r</a:t>
            </a:r>
            <a:r>
              <a:rPr lang="en-US" sz="2800" smtClean="0">
                <a:sym typeface="Symbol" pitchFamily="18" charset="2"/>
              </a:rPr>
              <a:t>,  Y</a:t>
            </a:r>
            <a:r>
              <a:rPr lang="en-US" sz="2800" baseline="-25000" smtClean="0">
                <a:sym typeface="Symbol" pitchFamily="18" charset="2"/>
              </a:rPr>
              <a:t></a:t>
            </a:r>
            <a:r>
              <a:rPr lang="en-US" sz="2800" smtClean="0">
                <a:sym typeface="Symbol" pitchFamily="18" charset="2"/>
              </a:rPr>
              <a:t>          	damping</a:t>
            </a:r>
            <a:br>
              <a:rPr lang="en-US" sz="2800" smtClean="0">
                <a:sym typeface="Symbol" pitchFamily="18" charset="2"/>
              </a:rPr>
            </a:br>
            <a:r>
              <a:rPr lang="en-US" sz="2800" smtClean="0">
                <a:sym typeface="Symbol" pitchFamily="18" charset="2"/>
              </a:rPr>
              <a:t>M</a:t>
            </a:r>
            <a:r>
              <a:rPr lang="en-US" sz="2800" baseline="-25000" smtClean="0">
                <a:sym typeface="Symbol" pitchFamily="18" charset="2"/>
              </a:rPr>
              <a:t></a:t>
            </a:r>
            <a:r>
              <a:rPr lang="en-US" sz="2800" smtClean="0">
                <a:sym typeface="Symbol" pitchFamily="18" charset="2"/>
              </a:rPr>
              <a:t>, Y</a:t>
            </a:r>
            <a:r>
              <a:rPr lang="en-US" sz="2800" baseline="-25000" smtClean="0">
                <a:sym typeface="Symbol" pitchFamily="18" charset="2"/>
              </a:rPr>
              <a:t>r</a:t>
            </a:r>
            <a:r>
              <a:rPr lang="en-US" sz="2800" smtClean="0">
                <a:sym typeface="Symbol" pitchFamily="18" charset="2"/>
              </a:rPr>
              <a:t>          	coupling between yaw and sideslip.</a:t>
            </a:r>
            <a:br>
              <a:rPr lang="en-US" sz="2800" smtClean="0">
                <a:sym typeface="Symbol" pitchFamily="18" charset="2"/>
              </a:rPr>
            </a:br>
            <a:endParaRPr lang="en-US" sz="2800" smtClean="0">
              <a:sym typeface="Symbol" pitchFamily="18" charset="2"/>
            </a:endParaRPr>
          </a:p>
          <a:p>
            <a:r>
              <a:rPr lang="en-US" sz="2800" smtClean="0">
                <a:sym typeface="Symbol" pitchFamily="18" charset="2"/>
              </a:rPr>
              <a:t>This may be okay for describing the qualitative nature of the dynamics. However, these derivatives are not independent.  They are functions of C</a:t>
            </a:r>
            <a:r>
              <a:rPr lang="en-US" sz="2800" baseline="-25000" smtClean="0">
                <a:sym typeface="Symbol" pitchFamily="18" charset="2"/>
              </a:rPr>
              <a:t>f</a:t>
            </a:r>
            <a:r>
              <a:rPr lang="en-US" sz="2800" smtClean="0">
                <a:sym typeface="Symbol" pitchFamily="18" charset="2"/>
              </a:rPr>
              <a:t>, C</a:t>
            </a:r>
            <a:r>
              <a:rPr lang="en-US" sz="2800" baseline="-25000" smtClean="0">
                <a:sym typeface="Symbol" pitchFamily="18" charset="2"/>
              </a:rPr>
              <a:t>r</a:t>
            </a:r>
            <a:r>
              <a:rPr lang="en-US" sz="2800" smtClean="0">
                <a:sym typeface="Symbol" pitchFamily="18" charset="2"/>
              </a:rPr>
              <a:t>, a, b…</a:t>
            </a:r>
            <a:endParaRPr lang="en-US" sz="2800" smtClean="0"/>
          </a:p>
        </p:txBody>
      </p:sp>
      <p:sp>
        <p:nvSpPr>
          <p:cNvPr id="22532" name="Line 4"/>
          <p:cNvSpPr>
            <a:spLocks noChangeShapeType="1"/>
          </p:cNvSpPr>
          <p:nvPr/>
        </p:nvSpPr>
        <p:spPr bwMode="auto">
          <a:xfrm>
            <a:off x="2133600" y="1874838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33" name="Line 5"/>
          <p:cNvSpPr>
            <a:spLocks noChangeShapeType="1"/>
          </p:cNvSpPr>
          <p:nvPr/>
        </p:nvSpPr>
        <p:spPr bwMode="auto">
          <a:xfrm>
            <a:off x="2133600" y="2312988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34" name="Line 6"/>
          <p:cNvSpPr>
            <a:spLocks noChangeShapeType="1"/>
          </p:cNvSpPr>
          <p:nvPr/>
        </p:nvSpPr>
        <p:spPr bwMode="auto">
          <a:xfrm>
            <a:off x="2133600" y="2743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Since 1960, we’ve slowly abandoned the term-by-term analysis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Today, we tend to look at the overall dynamics of the system.</a:t>
            </a:r>
            <a:br>
              <a:rPr lang="en-US" dirty="0" smtClean="0"/>
            </a:br>
            <a:r>
              <a:rPr lang="en-US" dirty="0" smtClean="0"/>
              <a:t>	i.e. eigenvalues/poles</a:t>
            </a:r>
            <a:br>
              <a:rPr lang="en-US" dirty="0" smtClean="0"/>
            </a:br>
            <a:r>
              <a:rPr lang="en-US" dirty="0" smtClean="0"/>
              <a:t>	      frequency response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Font typeface="Wingdings" pitchFamily="2" charset="2"/>
              <a:buNone/>
            </a:pPr>
            <a:r>
              <a:rPr lang="en-US" dirty="0" smtClean="0"/>
              <a:t>	 	      stability analysis</a:t>
            </a:r>
          </a:p>
        </p:txBody>
      </p:sp>
      <p:pic>
        <p:nvPicPr>
          <p:cNvPr id="23556" name="Picture 4" descr="10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229100"/>
            <a:ext cx="4879975" cy="51435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3714750" y="4248150"/>
            <a:ext cx="1524000" cy="53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3717925" y="4300538"/>
            <a:ext cx="1511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</a:rPr>
              <a:t>Linear System</a:t>
            </a: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2308225" y="3740150"/>
            <a:ext cx="1092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</a:rPr>
              <a:t>sine wave</a:t>
            </a:r>
          </a:p>
          <a:p>
            <a:pPr eaLnBrk="1" hangingPunct="1"/>
            <a:r>
              <a:rPr lang="en-US" sz="1800">
                <a:solidFill>
                  <a:srgbClr val="000000"/>
                </a:solidFill>
              </a:rPr>
              <a:t>       in</a:t>
            </a:r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5486400" y="3733800"/>
            <a:ext cx="1092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</a:rPr>
              <a:t>sine wave</a:t>
            </a:r>
          </a:p>
          <a:p>
            <a:pPr eaLnBrk="1" hangingPunct="1"/>
            <a:r>
              <a:rPr lang="en-US" sz="1800">
                <a:solidFill>
                  <a:srgbClr val="000000"/>
                </a:solidFill>
              </a:rPr>
              <a:t>     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State space really became popular around 1970’s due to our space program 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05000"/>
            <a:ext cx="6060646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95600" y="5791200"/>
            <a:ext cx="35750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(some things never change)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830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The most basic </a:t>
            </a:r>
            <a:r>
              <a:rPr lang="en-US" dirty="0" smtClean="0"/>
              <a:t>state-space analysis </a:t>
            </a:r>
            <a:r>
              <a:rPr lang="en-US" dirty="0" smtClean="0"/>
              <a:t>is that of stability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1600200"/>
                <a:ext cx="422275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Consider a mass-spring-damper system’s free response:</a:t>
                </a:r>
                <a:br>
                  <a:rPr lang="en-US" dirty="0" smtClean="0"/>
                </a:b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	</a:t>
                </a:r>
              </a:p>
              <a:p>
                <a:pPr marL="0" indent="0">
                  <a:buNone/>
                </a:pPr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/>
                  <a:t> 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i="1" dirty="0" smtClean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126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222750" cy="4525963"/>
              </a:xfrm>
              <a:blipFill rotWithShape="0">
                <a:blip r:embed="rId4"/>
                <a:stretch>
                  <a:fillRect l="-3608" t="-1752" r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26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53381"/>
              </p:ext>
            </p:extLst>
          </p:nvPr>
        </p:nvGraphicFramePr>
        <p:xfrm>
          <a:off x="990600" y="3505200"/>
          <a:ext cx="2349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7" name="Equation" r:id="rId5" imgW="2349360" imgH="317160" progId="Equation.3">
                  <p:embed/>
                </p:oleObj>
              </mc:Choice>
              <mc:Fallback>
                <p:oleObj name="Equation" r:id="rId5" imgW="2349360" imgH="3171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505200"/>
                        <a:ext cx="2349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4572000" y="3962400"/>
            <a:ext cx="4152900" cy="1873252"/>
            <a:chOff x="1676400" y="4256086"/>
            <a:chExt cx="4152900" cy="1873252"/>
          </a:xfrm>
        </p:grpSpPr>
        <p:graphicFrame>
          <p:nvGraphicFramePr>
            <p:cNvPr id="1126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2732921"/>
                </p:ext>
              </p:extLst>
            </p:nvPr>
          </p:nvGraphicFramePr>
          <p:xfrm>
            <a:off x="1676400" y="4256086"/>
            <a:ext cx="4152900" cy="1168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8" name="Equation" r:id="rId7" imgW="4152600" imgH="1168200" progId="Equation.3">
                    <p:embed/>
                  </p:oleObj>
                </mc:Choice>
                <mc:Fallback>
                  <p:oleObj name="Equation" r:id="rId7" imgW="4152600" imgH="11682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6400" y="4256086"/>
                          <a:ext cx="4152900" cy="1168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1" name="AutoShape 8"/>
            <p:cNvSpPr>
              <a:spLocks/>
            </p:cNvSpPr>
            <p:nvPr/>
          </p:nvSpPr>
          <p:spPr bwMode="auto">
            <a:xfrm rot="16200000">
              <a:off x="4038600" y="4495800"/>
              <a:ext cx="152400" cy="2133600"/>
            </a:xfrm>
            <a:prstGeom prst="leftBrace">
              <a:avLst>
                <a:gd name="adj1" fmla="val 116667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2" name="Text Box 9"/>
            <p:cNvSpPr txBox="1">
              <a:spLocks noChangeArrowheads="1"/>
            </p:cNvSpPr>
            <p:nvPr/>
          </p:nvSpPr>
          <p:spPr bwMode="auto">
            <a:xfrm>
              <a:off x="3908425" y="5610225"/>
              <a:ext cx="441325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sz="2800">
                  <a:solidFill>
                    <a:srgbClr val="000000"/>
                  </a:solidFill>
                </a:rPr>
                <a:t>A</a:t>
              </a:r>
            </a:p>
          </p:txBody>
        </p:sp>
      </p:grpSp>
      <p:pic>
        <p:nvPicPr>
          <p:cNvPr id="11288" name="Picture 24" descr="http://upload.wikimedia.org/wikipedia/commons/4/4a/Mass-Spring-Damper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361" y="1417638"/>
            <a:ext cx="2992437" cy="1757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The eigenvalues </a:t>
            </a:r>
            <a:r>
              <a:rPr lang="en-US" sz="4000" dirty="0" smtClean="0"/>
              <a:t>of the A-matrix </a:t>
            </a:r>
            <a:r>
              <a:rPr lang="en-US" sz="4000" dirty="0"/>
              <a:t>determine the stability of the system </a:t>
            </a:r>
            <a:endParaRPr lang="en-US" sz="4000" dirty="0" smtClean="0"/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Denote these as (</a:t>
            </a:r>
            <a:r>
              <a:rPr lang="en-US" dirty="0" smtClean="0">
                <a:sym typeface="Symbol" pitchFamily="18" charset="2"/>
              </a:rPr>
              <a:t></a:t>
            </a:r>
            <a:r>
              <a:rPr lang="en-US" baseline="-25000" dirty="0" smtClean="0">
                <a:sym typeface="Symbol" pitchFamily="18" charset="2"/>
              </a:rPr>
              <a:t>1</a:t>
            </a:r>
            <a:r>
              <a:rPr lang="en-US" dirty="0" smtClean="0">
                <a:sym typeface="Symbol" pitchFamily="18" charset="2"/>
              </a:rPr>
              <a:t>, </a:t>
            </a:r>
            <a:r>
              <a:rPr lang="en-US" baseline="-25000" dirty="0" smtClean="0">
                <a:sym typeface="Symbol" pitchFamily="18" charset="2"/>
              </a:rPr>
              <a:t>2</a:t>
            </a:r>
            <a:r>
              <a:rPr lang="en-US" dirty="0" smtClean="0">
                <a:sym typeface="Symbol" pitchFamily="18" charset="2"/>
              </a:rPr>
              <a:t>)</a:t>
            </a:r>
            <a:endParaRPr lang="en-US" dirty="0" smtClean="0"/>
          </a:p>
        </p:txBody>
      </p:sp>
      <p:graphicFrame>
        <p:nvGraphicFramePr>
          <p:cNvPr id="12290" name="Object 4"/>
          <p:cNvGraphicFramePr>
            <a:graphicFrameLocks noChangeAspect="1"/>
          </p:cNvGraphicFramePr>
          <p:nvPr/>
        </p:nvGraphicFramePr>
        <p:xfrm>
          <a:off x="2590800" y="3211513"/>
          <a:ext cx="28194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7" name="Equation" r:id="rId4" imgW="876240" imgH="317160" progId="Equation.3">
                  <p:embed/>
                </p:oleObj>
              </mc:Choice>
              <mc:Fallback>
                <p:oleObj name="Equation" r:id="rId4" imgW="876240" imgH="3171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211513"/>
                        <a:ext cx="28194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5"/>
          <p:cNvGraphicFramePr>
            <a:graphicFrameLocks noChangeAspect="1"/>
          </p:cNvGraphicFramePr>
          <p:nvPr/>
        </p:nvGraphicFramePr>
        <p:xfrm>
          <a:off x="2438400" y="4495800"/>
          <a:ext cx="3271838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8" name="Equation" r:id="rId6" imgW="1638000" imgH="444240" progId="Equation.DSMT4">
                  <p:embed/>
                </p:oleObj>
              </mc:Choice>
              <mc:Fallback>
                <p:oleObj name="Equation" r:id="rId6" imgW="1638000" imgH="444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495800"/>
                        <a:ext cx="3271838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5715000" y="3429000"/>
            <a:ext cx="2928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characteristic equation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The eigenvalues also show what behavior to expect</a:t>
            </a:r>
          </a:p>
        </p:txBody>
      </p:sp>
      <p:sp>
        <p:nvSpPr>
          <p:cNvPr id="133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If                        critical damping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			over damped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	under damped</a:t>
            </a:r>
            <a:br>
              <a:rPr lang="en-US" dirty="0" smtClean="0"/>
            </a:br>
            <a:r>
              <a:rPr lang="en-US" dirty="0" smtClean="0"/>
              <a:t>			</a:t>
            </a:r>
            <a:r>
              <a:rPr lang="en-US" dirty="0" smtClean="0">
                <a:solidFill>
                  <a:srgbClr val="FF0000"/>
                </a:solidFill>
              </a:rPr>
              <a:t>complex</a:t>
            </a:r>
            <a:r>
              <a:rPr lang="en-US" dirty="0" smtClean="0"/>
              <a:t> numbers               	 </a:t>
            </a:r>
          </a:p>
        </p:txBody>
      </p:sp>
      <p:graphicFrame>
        <p:nvGraphicFramePr>
          <p:cNvPr id="13314" name="Object 4"/>
          <p:cNvGraphicFramePr>
            <a:graphicFrameLocks noChangeAspect="1"/>
          </p:cNvGraphicFramePr>
          <p:nvPr/>
        </p:nvGraphicFramePr>
        <p:xfrm>
          <a:off x="1219200" y="1676400"/>
          <a:ext cx="1828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7" name="Equation" r:id="rId4" imgW="1828800" imgH="380880" progId="Equation.3">
                  <p:embed/>
                </p:oleObj>
              </mc:Choice>
              <mc:Fallback>
                <p:oleObj name="Equation" r:id="rId4" imgW="1828800" imgH="3808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676400"/>
                        <a:ext cx="1828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5"/>
          <p:cNvGraphicFramePr>
            <a:graphicFrameLocks noChangeAspect="1"/>
          </p:cNvGraphicFramePr>
          <p:nvPr/>
        </p:nvGraphicFramePr>
        <p:xfrm>
          <a:off x="1219200" y="3124200"/>
          <a:ext cx="1828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8" name="Equation" r:id="rId6" imgW="1828800" imgH="380880" progId="Equation.3">
                  <p:embed/>
                </p:oleObj>
              </mc:Choice>
              <mc:Fallback>
                <p:oleObj name="Equation" r:id="rId6" imgW="1828800" imgH="3808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124200"/>
                        <a:ext cx="1828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6"/>
          <p:cNvGraphicFramePr>
            <a:graphicFrameLocks noChangeAspect="1"/>
          </p:cNvGraphicFramePr>
          <p:nvPr/>
        </p:nvGraphicFramePr>
        <p:xfrm>
          <a:off x="1219200" y="4191000"/>
          <a:ext cx="1828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9" name="Equation" r:id="rId8" imgW="1828800" imgH="380880" progId="Equation.3">
                  <p:embed/>
                </p:oleObj>
              </mc:Choice>
              <mc:Fallback>
                <p:oleObj name="Equation" r:id="rId8" imgW="1828800" imgH="3808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191000"/>
                        <a:ext cx="1828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Line 7"/>
          <p:cNvSpPr>
            <a:spLocks noChangeShapeType="1"/>
          </p:cNvSpPr>
          <p:nvPr/>
        </p:nvSpPr>
        <p:spPr bwMode="auto">
          <a:xfrm>
            <a:off x="6629400" y="1905000"/>
            <a:ext cx="1676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321" name="Line 8"/>
          <p:cNvSpPr>
            <a:spLocks noChangeShapeType="1"/>
          </p:cNvSpPr>
          <p:nvPr/>
        </p:nvSpPr>
        <p:spPr bwMode="auto">
          <a:xfrm>
            <a:off x="7620000" y="1524000"/>
            <a:ext cx="0" cy="76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322" name="Line 9"/>
          <p:cNvSpPr>
            <a:spLocks noChangeShapeType="1"/>
          </p:cNvSpPr>
          <p:nvPr/>
        </p:nvSpPr>
        <p:spPr bwMode="auto">
          <a:xfrm>
            <a:off x="6629400" y="3390900"/>
            <a:ext cx="1676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323" name="Line 10"/>
          <p:cNvSpPr>
            <a:spLocks noChangeShapeType="1"/>
          </p:cNvSpPr>
          <p:nvPr/>
        </p:nvSpPr>
        <p:spPr bwMode="auto">
          <a:xfrm>
            <a:off x="7620000" y="3009900"/>
            <a:ext cx="0" cy="76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324" name="Line 11"/>
          <p:cNvSpPr>
            <a:spLocks noChangeShapeType="1"/>
          </p:cNvSpPr>
          <p:nvPr/>
        </p:nvSpPr>
        <p:spPr bwMode="auto">
          <a:xfrm>
            <a:off x="6629400" y="4800600"/>
            <a:ext cx="1676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325" name="Line 12"/>
          <p:cNvSpPr>
            <a:spLocks noChangeShapeType="1"/>
          </p:cNvSpPr>
          <p:nvPr/>
        </p:nvSpPr>
        <p:spPr bwMode="auto">
          <a:xfrm>
            <a:off x="7620000" y="4419600"/>
            <a:ext cx="0" cy="76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326" name="Text Box 13"/>
          <p:cNvSpPr txBox="1">
            <a:spLocks noChangeArrowheads="1"/>
          </p:cNvSpPr>
          <p:nvPr/>
        </p:nvSpPr>
        <p:spPr bwMode="auto">
          <a:xfrm>
            <a:off x="6918325" y="169068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3327" name="Text Box 14"/>
          <p:cNvSpPr txBox="1">
            <a:spLocks noChangeArrowheads="1"/>
          </p:cNvSpPr>
          <p:nvPr/>
        </p:nvSpPr>
        <p:spPr bwMode="auto">
          <a:xfrm>
            <a:off x="6972300" y="169545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3328" name="Text Box 15"/>
          <p:cNvSpPr txBox="1">
            <a:spLocks noChangeArrowheads="1"/>
          </p:cNvSpPr>
          <p:nvPr/>
        </p:nvSpPr>
        <p:spPr bwMode="auto">
          <a:xfrm>
            <a:off x="6699250" y="314642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3329" name="Text Box 16"/>
          <p:cNvSpPr txBox="1">
            <a:spLocks noChangeArrowheads="1"/>
          </p:cNvSpPr>
          <p:nvPr/>
        </p:nvSpPr>
        <p:spPr bwMode="auto">
          <a:xfrm>
            <a:off x="7232650" y="314642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3330" name="Text Box 17"/>
          <p:cNvSpPr txBox="1">
            <a:spLocks noChangeArrowheads="1"/>
          </p:cNvSpPr>
          <p:nvPr/>
        </p:nvSpPr>
        <p:spPr bwMode="auto">
          <a:xfrm>
            <a:off x="7010400" y="417512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3331" name="Text Box 18"/>
          <p:cNvSpPr txBox="1">
            <a:spLocks noChangeArrowheads="1"/>
          </p:cNvSpPr>
          <p:nvPr/>
        </p:nvSpPr>
        <p:spPr bwMode="auto">
          <a:xfrm>
            <a:off x="7010400" y="493712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3332" name="Text Box 19"/>
          <p:cNvSpPr txBox="1">
            <a:spLocks noChangeArrowheads="1"/>
          </p:cNvSpPr>
          <p:nvPr/>
        </p:nvSpPr>
        <p:spPr bwMode="auto">
          <a:xfrm>
            <a:off x="3276600" y="2425700"/>
            <a:ext cx="1111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</a:rPr>
              <a:t>remember</a:t>
            </a:r>
          </a:p>
        </p:txBody>
      </p:sp>
      <p:graphicFrame>
        <p:nvGraphicFramePr>
          <p:cNvPr id="13317" name="Object 20"/>
          <p:cNvGraphicFramePr>
            <a:graphicFrameLocks noChangeAspect="1"/>
          </p:cNvGraphicFramePr>
          <p:nvPr/>
        </p:nvGraphicFramePr>
        <p:xfrm>
          <a:off x="4359275" y="2349500"/>
          <a:ext cx="9906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0" name="Equation" r:id="rId10" imgW="1523880" imgH="838080" progId="Equation.3">
                  <p:embed/>
                </p:oleObj>
              </mc:Choice>
              <mc:Fallback>
                <p:oleObj name="Equation" r:id="rId10" imgW="1523880" imgH="8380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9275" y="2349500"/>
                        <a:ext cx="9906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The pole locations predict system response</a:t>
            </a:r>
          </a:p>
        </p:txBody>
      </p:sp>
      <p:pic>
        <p:nvPicPr>
          <p:cNvPr id="24579" name="Picture 5" descr="10-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2075" y="1657350"/>
            <a:ext cx="4149725" cy="46847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 smtClean="0"/>
              <a:t>Since system responses depend on eigenvalues, let’s study these directly from here on…</a:t>
            </a:r>
          </a:p>
        </p:txBody>
      </p:sp>
      <p:pic>
        <p:nvPicPr>
          <p:cNvPr id="25603" name="Picture 4" descr="10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514600"/>
            <a:ext cx="2395538" cy="16002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5" descr="10-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905000"/>
            <a:ext cx="2486025" cy="16303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6" descr="10-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590800"/>
            <a:ext cx="2505075" cy="17478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7" descr="10-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19600"/>
            <a:ext cx="2395538" cy="165258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Picture 8" descr="10-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288" y="4440238"/>
            <a:ext cx="2449512" cy="17319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8" name="Text Box 9"/>
          <p:cNvSpPr txBox="1">
            <a:spLocks noChangeArrowheads="1"/>
          </p:cNvSpPr>
          <p:nvPr/>
        </p:nvSpPr>
        <p:spPr bwMode="auto">
          <a:xfrm>
            <a:off x="1620838" y="1946275"/>
            <a:ext cx="893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stable</a:t>
            </a:r>
          </a:p>
        </p:txBody>
      </p:sp>
      <p:sp>
        <p:nvSpPr>
          <p:cNvPr id="25609" name="Text Box 10"/>
          <p:cNvSpPr txBox="1">
            <a:spLocks noChangeArrowheads="1"/>
          </p:cNvSpPr>
          <p:nvPr/>
        </p:nvSpPr>
        <p:spPr bwMode="auto">
          <a:xfrm>
            <a:off x="6802438" y="1981200"/>
            <a:ext cx="1198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unstable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 smtClean="0"/>
              <a:t>The analysis of transient behavior is critical for vehicles, particularly at high speeds</a:t>
            </a:r>
            <a:endParaRPr lang="en-US" sz="3600" dirty="0"/>
          </a:p>
        </p:txBody>
      </p:sp>
      <p:pic>
        <p:nvPicPr>
          <p:cNvPr id="4" name="Lesson 10_short lane change illustrating overshoot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55750" y="1600200"/>
            <a:ext cx="6034088" cy="4525963"/>
          </a:xfrm>
        </p:spPr>
      </p:pic>
    </p:spTree>
    <p:extLst>
      <p:ext uri="{BB962C8B-B14F-4D97-AF65-F5344CB8AC3E}">
        <p14:creationId xmlns:p14="http://schemas.microsoft.com/office/powerpoint/2010/main" val="124034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04A49901785041AF741C157FF60EBA" ma:contentTypeVersion="21" ma:contentTypeDescription="Create a new document." ma:contentTypeScope="" ma:versionID="3affe9f3ad662f7041dbcf2c454b5892">
  <xsd:schema xmlns:xsd="http://www.w3.org/2001/XMLSchema" xmlns:xs="http://www.w3.org/2001/XMLSchema" xmlns:p="http://schemas.microsoft.com/office/2006/metadata/properties" xmlns:ns2="c7c738f6-68ec-422e-b0e4-3523873f7adf" xmlns:ns3="542b8847-f5d4-4c9f-bd30-657d16e5db1d" targetNamespace="http://schemas.microsoft.com/office/2006/metadata/properties" ma:root="true" ma:fieldsID="91f30fe7832be7f590b5986e49d89340" ns2:_="" ns3:_="">
    <xsd:import namespace="c7c738f6-68ec-422e-b0e4-3523873f7adf"/>
    <xsd:import namespace="542b8847-f5d4-4c9f-bd30-657d16e5db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_Flow_SignoffStatu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Siz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c738f6-68ec-422e-b0e4-3523873f7a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12" nillable="true" ma:displayName="Sign-off status" ma:internalName="Sign_x002d_off_x0020_status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Size" ma:index="22" nillable="true" ma:displayName="Size " ma:format="Dropdown" ma:internalName="Size" ma:percentage="FALSE">
      <xsd:simpleType>
        <xsd:restriction base="dms:Number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28b28469-8996-4088-bd89-44d87d6385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8" nillable="true" ma:displayName="Notes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b8847-f5d4-4c9f-bd30-657d16e5db1d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79eca24d-24b6-4c23-abe4-d1cce8e5186c}" ma:internalName="TaxCatchAll" ma:showField="CatchAllData" ma:web="542b8847-f5d4-4c9f-bd30-657d16e5db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c7c738f6-68ec-422e-b0e4-3523873f7adf" xsi:nil="true"/>
    <Size xmlns="c7c738f6-68ec-422e-b0e4-3523873f7adf" xsi:nil="true"/>
    <lcf76f155ced4ddcb4097134ff3c332f xmlns="c7c738f6-68ec-422e-b0e4-3523873f7adf">
      <Terms xmlns="http://schemas.microsoft.com/office/infopath/2007/PartnerControls"/>
    </lcf76f155ced4ddcb4097134ff3c332f>
    <TaxCatchAll xmlns="542b8847-f5d4-4c9f-bd30-657d16e5db1d" xsi:nil="true"/>
    <Notes xmlns="c7c738f6-68ec-422e-b0e4-3523873f7adf" xsi:nil="true"/>
  </documentManagement>
</p:properties>
</file>

<file path=customXml/itemProps1.xml><?xml version="1.0" encoding="utf-8"?>
<ds:datastoreItem xmlns:ds="http://schemas.openxmlformats.org/officeDocument/2006/customXml" ds:itemID="{CEBA457C-081F-4ED7-92BF-6E8137815132}"/>
</file>

<file path=customXml/itemProps2.xml><?xml version="1.0" encoding="utf-8"?>
<ds:datastoreItem xmlns:ds="http://schemas.openxmlformats.org/officeDocument/2006/customXml" ds:itemID="{ADEB2D47-34AA-41EC-B499-66BCF55ACC92}"/>
</file>

<file path=customXml/itemProps3.xml><?xml version="1.0" encoding="utf-8"?>
<ds:datastoreItem xmlns:ds="http://schemas.openxmlformats.org/officeDocument/2006/customXml" ds:itemID="{FE9076F8-21A7-4EB9-8A65-4468106056D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2443</TotalTime>
  <Words>738</Words>
  <Application>Microsoft Office PowerPoint</Application>
  <PresentationFormat>On-screen Show (4:3)</PresentationFormat>
  <Paragraphs>157</Paragraphs>
  <Slides>30</Slides>
  <Notes>22</Notes>
  <HiddenSlides>0</HiddenSlides>
  <MMClips>1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Cambria Math</vt:lpstr>
      <vt:lpstr>Symbol</vt:lpstr>
      <vt:lpstr>Times New Roman</vt:lpstr>
      <vt:lpstr>Wingdings</vt:lpstr>
      <vt:lpstr>Office Theme</vt:lpstr>
      <vt:lpstr>Equation</vt:lpstr>
      <vt:lpstr>Automotive Vehicle Dynamics</vt:lpstr>
      <vt:lpstr>Today we’ll discuss a variety of strange beasts!</vt:lpstr>
      <vt:lpstr>We start with our friend Newton</vt:lpstr>
      <vt:lpstr>The equations of motion for the planar bicycle model follow from the acceleration components derived previously:</vt:lpstr>
      <vt:lpstr>Rotation causes each tire to experience different velocities. The front/rear rotation-induced side velocities are large.</vt:lpstr>
      <vt:lpstr>We can simplify these equations assuming the linear tire model, as we did earlier</vt:lpstr>
      <vt:lpstr>We can rearrange to obtain an equation for lateral velocity:</vt:lpstr>
      <vt:lpstr>And another for yaw:</vt:lpstr>
      <vt:lpstr>The so-called bicycle model can now be defined in “state space”!</vt:lpstr>
      <vt:lpstr>Just a reminder… state-space has nothing really to do with space, or states in the US</vt:lpstr>
      <vt:lpstr>States refer to measurements that convey how energy is transferred, and space refers to the fact that we order the states into vectors</vt:lpstr>
      <vt:lpstr>State space is really just a template for writing differential equations…</vt:lpstr>
      <vt:lpstr>State-space equations are very handy for feedback control…</vt:lpstr>
      <vt:lpstr>Our resulting simulation is now very compact…</vt:lpstr>
      <vt:lpstr>How does state-space compare to other methods, for example Milliken’s Derivative Notation?</vt:lpstr>
      <vt:lpstr>Milliken’s Derivative Notation is based on sensitivity functions</vt:lpstr>
      <vt:lpstr>And the sensitivity functions give us the same result as state-space</vt:lpstr>
      <vt:lpstr>One can do the same analysis in yaw moments</vt:lpstr>
      <vt:lpstr>Many of these terms were named through the years prior to state-space… 1960’s</vt:lpstr>
      <vt:lpstr>Milliken’s Derivative Notation does give some insight …</vt:lpstr>
      <vt:lpstr>As an analogy, this is like a spring connected to a velocity vector pulling the vehicle along</vt:lpstr>
      <vt:lpstr>Nature of the derivatives does help</vt:lpstr>
      <vt:lpstr>Since 1960, we’ve slowly abandoned the term-by-term analysis</vt:lpstr>
      <vt:lpstr>State space really became popular around 1970’s due to our space program </vt:lpstr>
      <vt:lpstr>The most basic state-space analysis is that of stability</vt:lpstr>
      <vt:lpstr>The eigenvalues of the A-matrix determine the stability of the system </vt:lpstr>
      <vt:lpstr>The eigenvalues also show what behavior to expect</vt:lpstr>
      <vt:lpstr>The pole locations predict system response</vt:lpstr>
      <vt:lpstr>Since system responses depend on eigenvalues, let’s study these directly from here on…</vt:lpstr>
      <vt:lpstr>The analysis of transient behavior is critical for vehicles, particularly at high speeds</vt:lpstr>
    </vt:vector>
  </TitlesOfParts>
  <Company>Dell Computer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Preferred Customer</dc:creator>
  <cp:lastModifiedBy>Sean Brennan</cp:lastModifiedBy>
  <cp:revision>103</cp:revision>
  <cp:lastPrinted>2012-02-13T04:26:20Z</cp:lastPrinted>
  <dcterms:created xsi:type="dcterms:W3CDTF">2000-01-08T19:37:57Z</dcterms:created>
  <dcterms:modified xsi:type="dcterms:W3CDTF">2016-02-19T18:11:00Z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0x0101009204A49901785041AF741C157FF60EBA</vt:lpwstr>
  </property>
</Properties>
</file>