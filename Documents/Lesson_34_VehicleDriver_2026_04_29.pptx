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1" r:id="rId4"/>
  </p:sldMasterIdLst>
  <p:notesMasterIdLst>
    <p:notesMasterId r:id="rId39"/>
  </p:notesMasterIdLst>
  <p:handoutMasterIdLst>
    <p:handoutMasterId r:id="rId40"/>
  </p:handoutMasterIdLst>
  <p:sldIdLst>
    <p:sldId id="345" r:id="rId5"/>
    <p:sldId id="346" r:id="rId6"/>
    <p:sldId id="373" r:id="rId7"/>
    <p:sldId id="383" r:id="rId8"/>
    <p:sldId id="374" r:id="rId9"/>
    <p:sldId id="354" r:id="rId10"/>
    <p:sldId id="347" r:id="rId11"/>
    <p:sldId id="348" r:id="rId12"/>
    <p:sldId id="349" r:id="rId13"/>
    <p:sldId id="353" r:id="rId14"/>
    <p:sldId id="350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6" r:id="rId25"/>
    <p:sldId id="364" r:id="rId26"/>
    <p:sldId id="365" r:id="rId27"/>
    <p:sldId id="367" r:id="rId28"/>
    <p:sldId id="371" r:id="rId29"/>
    <p:sldId id="378" r:id="rId30"/>
    <p:sldId id="379" r:id="rId31"/>
    <p:sldId id="380" r:id="rId32"/>
    <p:sldId id="381" r:id="rId33"/>
    <p:sldId id="382" r:id="rId34"/>
    <p:sldId id="372" r:id="rId35"/>
    <p:sldId id="375" r:id="rId36"/>
    <p:sldId id="376" r:id="rId37"/>
    <p:sldId id="377" r:id="rId38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3300"/>
    <a:srgbClr val="D9D8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27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85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85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18221EB4-5278-440D-8552-CB0BCA3852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5666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pPr>
              <a:defRPr/>
            </a:pPr>
            <a:fld id="{F08D885D-E7CA-4A99-9D72-A3614D3CB67B}" type="datetimeFigureOut">
              <a:rPr lang="en-US"/>
              <a:pPr>
                <a:defRPr/>
              </a:pPr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pPr>
              <a:defRPr/>
            </a:pPr>
            <a:fld id="{DC7941CF-DA22-417C-8387-2A31A118F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6216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A9678699-6EDD-4DBC-A473-A954BA445597}" type="slidenum">
              <a:rPr lang="en-US" sz="1200"/>
              <a:pPr/>
              <a:t>0</a:t>
            </a:fld>
            <a:endParaRPr lang="en-US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644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E9079D8-607F-482B-A75E-8F0E186CFB11}" type="slidenum">
              <a:rPr lang="en-US" sz="1200"/>
              <a:pPr/>
              <a:t>1</a:t>
            </a:fld>
            <a:endParaRPr lang="en-US" sz="120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814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CEB914D4-FB7F-4D5E-8F24-3EBAED017A83}" type="slidenum">
              <a:rPr lang="en-US" sz="1200"/>
              <a:pPr/>
              <a:t>2</a:t>
            </a:fld>
            <a:endParaRPr 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48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D266651-B38B-48D8-8750-4895E2142F48}" type="slidenum">
              <a:rPr lang="en-US" sz="1200"/>
              <a:pPr/>
              <a:t>4</a:t>
            </a:fld>
            <a:endParaRPr lang="en-US" sz="12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07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A932A6B-B9F3-4504-BE3C-24584A3EACDB}" type="slidenum">
              <a:rPr lang="en-US" sz="1200"/>
              <a:pPr/>
              <a:t>5</a:t>
            </a:fld>
            <a:endParaRPr lang="en-US" sz="12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875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2473642-D33F-4688-A35B-C503D8D237B3}" type="slidenum">
              <a:rPr lang="en-US" sz="1200"/>
              <a:pPr/>
              <a:t>6</a:t>
            </a:fld>
            <a:endParaRPr lang="en-US" sz="12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208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BE58577-DA05-4CBB-A985-5BF95D33472D}" type="slidenum">
              <a:rPr lang="en-US" sz="1200"/>
              <a:pPr/>
              <a:t>7</a:t>
            </a:fld>
            <a:endParaRPr lang="en-US" sz="12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994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7BC2ED82-3281-4BF9-9B94-17941BB7DB76}" type="slidenum">
              <a:rPr lang="en-US" sz="1200"/>
              <a:pPr/>
              <a:t>8</a:t>
            </a:fld>
            <a:endParaRPr lang="en-US" sz="12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659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05F588E-AEB1-4C98-B25D-B4F618B40938}" type="slidenum">
              <a:rPr lang="en-US" sz="1200"/>
              <a:pPr/>
              <a:t>9</a:t>
            </a:fld>
            <a:endParaRPr lang="en-US" sz="12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5225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4E638A9-FD51-4B82-938F-341D56B69EB9}" type="slidenum">
              <a:rPr lang="en-US" sz="1200"/>
              <a:pPr/>
              <a:t>10</a:t>
            </a:fld>
            <a:endParaRPr lang="en-US" sz="120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3019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922FB3B-9E02-4A7C-85AC-51D9111E2828}" type="slidenum">
              <a:rPr lang="en-US" sz="1200"/>
              <a:pPr/>
              <a:t>11</a:t>
            </a:fld>
            <a:endParaRPr lang="en-US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491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1DF59CB-975E-4F02-91EC-1733702E45FF}" type="slidenum">
              <a:rPr lang="en-US" sz="1200"/>
              <a:pPr/>
              <a:t>12</a:t>
            </a:fld>
            <a:endParaRPr lang="en-US" sz="12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5380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D62C169-B765-4937-AFA6-7110F25B9971}" type="slidenum">
              <a:rPr lang="en-US" sz="1200"/>
              <a:pPr/>
              <a:t>13</a:t>
            </a:fld>
            <a:endParaRPr lang="en-US" sz="12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5274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DD893BF-D770-4D79-8DB6-53D260A6E9A1}" type="slidenum">
              <a:rPr lang="en-US" sz="1200"/>
              <a:pPr/>
              <a:t>14</a:t>
            </a:fld>
            <a:endParaRPr lang="en-US" sz="120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800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937A8A4D-38D7-423B-9972-C97CB28CAC5F}" type="slidenum">
              <a:rPr lang="en-US" sz="1200"/>
              <a:pPr/>
              <a:t>15</a:t>
            </a:fld>
            <a:endParaRPr lang="en-US" sz="12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8768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97D8D35-8908-4556-BC8E-AA81C6E9226D}" type="slidenum">
              <a:rPr lang="en-US" sz="1200"/>
              <a:pPr/>
              <a:t>16</a:t>
            </a:fld>
            <a:endParaRPr lang="en-US" sz="120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6768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020D853-C059-4989-A2E1-A2E432B930A0}" type="slidenum">
              <a:rPr lang="en-US" sz="1200"/>
              <a:pPr/>
              <a:t>17</a:t>
            </a:fld>
            <a:endParaRPr lang="en-US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645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D6DB718-4D20-4247-8912-7EA17BBEE388}" type="slidenum">
              <a:rPr lang="en-US" sz="1200"/>
              <a:pPr/>
              <a:t>18</a:t>
            </a:fld>
            <a:endParaRPr lang="en-US" sz="120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8390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DAEDFB3-6EA2-444B-BC6C-B21D48A2047A}" type="slidenum">
              <a:rPr lang="en-US" sz="1200"/>
              <a:pPr/>
              <a:t>19</a:t>
            </a:fld>
            <a:endParaRPr lang="en-US" sz="12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386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A261619-942A-42C9-A109-A03810F8135C}" type="slidenum">
              <a:rPr lang="en-US" sz="1200"/>
              <a:pPr/>
              <a:t>20</a:t>
            </a:fld>
            <a:endParaRPr lang="en-US" sz="120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074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5753AB1-3D32-4102-B4E2-BD8F6DFE526A}" type="slidenum">
              <a:rPr lang="en-US" sz="1200"/>
              <a:pPr/>
              <a:t>21</a:t>
            </a:fld>
            <a:endParaRPr lang="en-US" sz="120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0093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9054D96A-A9A4-4974-A699-759719A740BB}" type="slidenum">
              <a:rPr lang="en-US" sz="1200"/>
              <a:pPr/>
              <a:t>22</a:t>
            </a:fld>
            <a:endParaRPr 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19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E9FAE6D-A4F3-464D-8728-05881D1C7B88}" type="slidenum">
              <a:rPr lang="en-US" sz="1200"/>
              <a:pPr/>
              <a:t>23</a:t>
            </a:fld>
            <a:endParaRPr lang="en-US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5866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E16F607-E084-4F69-9513-53FF9ED7AD5F}" type="slidenum">
              <a:rPr lang="en-US" sz="1200"/>
              <a:pPr/>
              <a:t>24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2240887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6E9453-672C-4214-8EFD-B0F7217A3359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808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6E9453-672C-4214-8EFD-B0F7217A3359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6530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5ED3870-64A1-41A2-A5FA-3D27BFE0CA62}" type="slidenum">
              <a:rPr lang="en-US" sz="1200"/>
              <a:pPr/>
              <a:t>30</a:t>
            </a:fld>
            <a:endParaRPr lang="en-US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95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4E70CC5B-FAB3-404F-B1FD-F5C8C971815A}" type="slidenum">
              <a:rPr lang="en-US" sz="1200"/>
              <a:pPr/>
              <a:t>31</a:t>
            </a:fld>
            <a:endParaRPr lang="en-US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194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A1A0AA0-B9E9-4472-9EED-4FCD4C121735}" type="slidenum">
              <a:rPr lang="en-US" sz="1200"/>
              <a:pPr/>
              <a:t>32</a:t>
            </a:fld>
            <a:endParaRPr lang="en-US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7747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2924C29-9FE2-4003-984B-22CE0C6782D1}" type="slidenum">
              <a:rPr lang="en-US" sz="1200"/>
              <a:pPr/>
              <a:t>33</a:t>
            </a:fld>
            <a:endParaRPr lang="en-US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476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98AD9-E539-4932-BD4D-AB3625A9DE71}" type="datetimeFigureOut">
              <a:rPr lang="en-US"/>
              <a:pPr>
                <a:defRPr/>
              </a:pPr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013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6ABA75-B1E9-4483-92C7-BA942250B583}" type="datetimeFigureOut">
              <a:rPr lang="en-US"/>
              <a:pPr>
                <a:defRPr/>
              </a:pPr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C5C96B-4AE4-4A88-8401-27FB82B146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87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B063BC-A890-44AF-9AAA-C9C38D37ABA3}" type="datetimeFigureOut">
              <a:rPr lang="en-US"/>
              <a:pPr>
                <a:defRPr/>
              </a:pPr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4CCEEE-8B01-4232-8E6F-E6AE5BD255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153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53DAD9-4314-4569-B30B-0A7C3A4C96C5}" type="datetimeFigureOut">
              <a:rPr lang="en-US"/>
              <a:pPr>
                <a:defRPr/>
              </a:pPr>
              <a:t>4/29/2026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E936DA-4A42-4020-9942-CDFF2F991B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80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A79E7B-9AAC-412D-A96B-54EFA8456274}" type="datetimeFigureOut">
              <a:rPr lang="en-US"/>
              <a:pPr>
                <a:defRPr/>
              </a:pPr>
              <a:t>4/29/2026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878DF2-E1B8-4AD1-B68E-00E988E975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90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C5E03F-48A3-4EAD-9278-4D624CA2E620}" type="datetimeFigureOut">
              <a:rPr lang="en-US"/>
              <a:pPr>
                <a:defRPr/>
              </a:pPr>
              <a:t>4/29/2026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63B2D-D417-4694-BB6F-E707DA2F7D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78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76F378-2003-4B29-B0CE-58B2E670F3CA}" type="datetimeFigureOut">
              <a:rPr lang="en-US"/>
              <a:pPr>
                <a:defRPr/>
              </a:pPr>
              <a:t>4/29/2026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324F74-B99B-4ED4-9C49-D298E0FE43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55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D57EEC-D355-460F-AB3D-DA7F34EC6396}" type="datetimeFigureOut">
              <a:rPr lang="en-US"/>
              <a:pPr>
                <a:defRPr/>
              </a:pPr>
              <a:t>4/29/2026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5698B5-173E-466D-AC54-8A7A7978DA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2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F34E98-50AF-4DA8-8003-703186AACE45}" type="datetimeFigureOut">
              <a:rPr lang="en-US"/>
              <a:pPr>
                <a:defRPr/>
              </a:pPr>
              <a:t>4/29/2026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D2E253-9A03-4FE4-809A-AD81B19CFD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305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A816CD-D382-4935-AE61-D74E7ED74C13}" type="datetimeFigureOut">
              <a:rPr lang="en-US"/>
              <a:pPr>
                <a:defRPr/>
              </a:pPr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BF9824-2728-4793-B54E-5933A75B27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364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98C25-576C-42EB-B799-275FA66EBCE6}" type="datetimeFigureOut">
              <a:rPr lang="en-US"/>
              <a:pPr>
                <a:defRPr/>
              </a:pPr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D957E3-68A0-48C5-9048-AEFF84CAAD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422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00063"/>
            <a:ext cx="73787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57263" y="1909763"/>
            <a:ext cx="3902075" cy="4414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011738" y="1909763"/>
            <a:ext cx="3903662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011738" y="4192588"/>
            <a:ext cx="3903662" cy="21320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4598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00063"/>
            <a:ext cx="73787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57263" y="1909763"/>
            <a:ext cx="3902075" cy="4414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1738" y="1909763"/>
            <a:ext cx="3903662" cy="4414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9026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112"/>
          <p:cNvSpPr txBox="1">
            <a:spLocks noChangeArrowheads="1"/>
          </p:cNvSpPr>
          <p:nvPr userDrawn="1"/>
        </p:nvSpPr>
        <p:spPr bwMode="auto">
          <a:xfrm>
            <a:off x="685800" y="6427788"/>
            <a:ext cx="1905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000" dirty="0"/>
              <a:t>Automotive Vehicle Dynamics</a:t>
            </a:r>
          </a:p>
          <a:p>
            <a:pPr>
              <a:defRPr/>
            </a:pPr>
            <a:r>
              <a:rPr lang="en-US" sz="1000" dirty="0"/>
              <a:t>Copyright </a:t>
            </a:r>
            <a:r>
              <a:rPr lang="en-US" sz="1000" dirty="0">
                <a:cs typeface="Times New Roman" pitchFamily="18" charset="0"/>
              </a:rPr>
              <a:t>© 2015, Sean Brennan</a:t>
            </a:r>
            <a:endParaRPr lang="en-US" sz="1000" dirty="0"/>
          </a:p>
        </p:txBody>
      </p:sp>
      <p:sp>
        <p:nvSpPr>
          <p:cNvPr id="8" name="Text Box 113"/>
          <p:cNvSpPr txBox="1">
            <a:spLocks noChangeArrowheads="1"/>
          </p:cNvSpPr>
          <p:nvPr userDrawn="1"/>
        </p:nvSpPr>
        <p:spPr bwMode="auto">
          <a:xfrm>
            <a:off x="8288338" y="6427788"/>
            <a:ext cx="6302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000" dirty="0"/>
              <a:t>ME 452</a:t>
            </a:r>
          </a:p>
          <a:p>
            <a:pPr algn="r">
              <a:defRPr/>
            </a:pPr>
            <a:r>
              <a:rPr lang="en-US" sz="1000" dirty="0"/>
              <a:t>Slide </a:t>
            </a:r>
            <a:fld id="{26C36180-869E-4BA2-863F-7CB6209CB5D3}" type="slidenum">
              <a:rPr lang="en-US" sz="1000"/>
              <a:pPr algn="r">
                <a:defRPr/>
              </a:pPr>
              <a:t>‹#›</a:t>
            </a:fld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9" name="Line 114"/>
          <p:cNvSpPr>
            <a:spLocks noChangeShapeType="1"/>
          </p:cNvSpPr>
          <p:nvPr userDrawn="1"/>
        </p:nvSpPr>
        <p:spPr bwMode="auto">
          <a:xfrm>
            <a:off x="685800" y="6410325"/>
            <a:ext cx="8153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7" r:id="rId12"/>
    <p:sldLayoutId id="2147483738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n.wikipedia.org/wiki/File:Mori_Uncanny_Valley.svg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Automotive Vehicle Dynamics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z="3500" b="1" dirty="0"/>
              <a:t>Driver-Vehicle Interaction</a:t>
            </a:r>
          </a:p>
          <a:p>
            <a:pPr eaLnBrk="1" hangingPunct="1">
              <a:lnSpc>
                <a:spcPct val="110000"/>
              </a:lnSpc>
            </a:pPr>
            <a:r>
              <a:rPr lang="en-US" sz="1600" dirty="0"/>
              <a:t>Sean Brennan</a:t>
            </a:r>
          </a:p>
          <a:p>
            <a:pPr eaLnBrk="1" hangingPunct="1">
              <a:lnSpc>
                <a:spcPct val="110000"/>
              </a:lnSpc>
            </a:pPr>
            <a:r>
              <a:rPr lang="en-US" sz="1600" dirty="0"/>
              <a:t>Modified from presentations from Andrew Alleyne, used with permission</a:t>
            </a:r>
          </a:p>
          <a:p>
            <a:pPr eaLnBrk="1" hangingPunct="1">
              <a:lnSpc>
                <a:spcPct val="110000"/>
              </a:lnSpc>
            </a:pPr>
            <a:r>
              <a:rPr lang="en-US" sz="1600" dirty="0"/>
              <a:t>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45918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4000" dirty="0"/>
              <a:t>So far we have examined the dynamics of the vehicle as a stand-alone system. 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469985"/>
            <a:ext cx="7958138" cy="4849853"/>
          </a:xfrm>
        </p:spPr>
        <p:txBody>
          <a:bodyPr/>
          <a:lstStyle/>
          <a:p>
            <a:pPr marL="0" indent="0" eaLnBrk="1" hangingPunct="1">
              <a:buNone/>
            </a:pPr>
            <a:endParaRPr lang="en-US" dirty="0"/>
          </a:p>
          <a:p>
            <a:pPr marL="0" indent="0" eaLnBrk="1" hangingPunct="1">
              <a:buNone/>
            </a:pPr>
            <a:r>
              <a:rPr lang="en-US" dirty="0"/>
              <a:t>However, the driver is an important part of the overall system that will keep the vehicle following the proper direction on the road</a:t>
            </a:r>
          </a:p>
          <a:p>
            <a:pPr marL="0" indent="0" eaLnBrk="1" hangingPunct="1">
              <a:buNone/>
            </a:pPr>
            <a:r>
              <a:rPr lang="en-US" dirty="0"/>
              <a:t>….or not.</a:t>
            </a:r>
          </a:p>
        </p:txBody>
      </p:sp>
    </p:spTree>
    <p:extLst>
      <p:ext uri="{BB962C8B-B14F-4D97-AF65-F5344CB8AC3E}">
        <p14:creationId xmlns:p14="http://schemas.microsoft.com/office/powerpoint/2010/main" val="3260948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71475" y="853373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sz="3600" dirty="0"/>
              <a:t>The driver-vehicle system is actually a feedback loop with the driver providing the feedback using visual, inertial, haptic, and auditory cues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12291" name="Rectangle 4"/>
          <p:cNvSpPr>
            <a:spLocks noChangeArrowheads="1"/>
          </p:cNvSpPr>
          <p:nvPr/>
        </p:nvSpPr>
        <p:spPr bwMode="auto">
          <a:xfrm>
            <a:off x="2686050" y="3935413"/>
            <a:ext cx="1009650" cy="7524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driver</a:t>
            </a:r>
          </a:p>
        </p:txBody>
      </p:sp>
      <p:sp>
        <p:nvSpPr>
          <p:cNvPr id="12292" name="Line 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>
            <a:off x="3695700" y="4059238"/>
            <a:ext cx="415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4111625" y="3859213"/>
            <a:ext cx="1009650" cy="3984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/>
              <a:t>steering </a:t>
            </a:r>
          </a:p>
        </p:txBody>
      </p:sp>
      <p:sp>
        <p:nvSpPr>
          <p:cNvPr id="12294" name="Line 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>
            <a:off x="3695700" y="4521200"/>
            <a:ext cx="415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95" name="Rectangle 8"/>
          <p:cNvSpPr>
            <a:spLocks noChangeArrowheads="1"/>
          </p:cNvSpPr>
          <p:nvPr/>
        </p:nvSpPr>
        <p:spPr bwMode="auto">
          <a:xfrm>
            <a:off x="4111625" y="4371975"/>
            <a:ext cx="1009650" cy="3984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/>
              <a:t>accelerator</a:t>
            </a:r>
          </a:p>
          <a:p>
            <a:pPr algn="ctr"/>
            <a:r>
              <a:rPr lang="en-US" sz="1400"/>
              <a:t>&amp; brakes</a:t>
            </a:r>
          </a:p>
        </p:txBody>
      </p:sp>
      <p:sp>
        <p:nvSpPr>
          <p:cNvPr id="12296" name="Rectangle 9"/>
          <p:cNvSpPr>
            <a:spLocks noChangeArrowheads="1"/>
          </p:cNvSpPr>
          <p:nvPr/>
        </p:nvSpPr>
        <p:spPr bwMode="auto">
          <a:xfrm>
            <a:off x="5537200" y="3598863"/>
            <a:ext cx="1009650" cy="13176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vehicle</a:t>
            </a:r>
          </a:p>
        </p:txBody>
      </p:sp>
      <p:sp>
        <p:nvSpPr>
          <p:cNvPr id="12297" name="Line 10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>
            <a:off x="5121275" y="4059238"/>
            <a:ext cx="415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98" name="Line 1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>
            <a:off x="5121275" y="4521200"/>
            <a:ext cx="415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99" name="Line 1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>
            <a:off x="6546850" y="4257675"/>
            <a:ext cx="18272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300" name="Text Box 17"/>
          <p:cNvSpPr txBox="1">
            <a:spLocks noChangeArrowheads="1"/>
          </p:cNvSpPr>
          <p:nvPr/>
        </p:nvSpPr>
        <p:spPr bwMode="auto">
          <a:xfrm>
            <a:off x="7312025" y="3478213"/>
            <a:ext cx="12890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/>
              <a:t>Vehicle states:</a:t>
            </a:r>
          </a:p>
        </p:txBody>
      </p:sp>
      <p:sp>
        <p:nvSpPr>
          <p:cNvPr id="12301" name="Line 1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>
            <a:off x="6030913" y="3182938"/>
            <a:ext cx="0" cy="415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302" name="Text Box 19"/>
          <p:cNvSpPr txBox="1">
            <a:spLocks noChangeArrowheads="1"/>
          </p:cNvSpPr>
          <p:nvPr/>
        </p:nvSpPr>
        <p:spPr bwMode="auto">
          <a:xfrm>
            <a:off x="5003800" y="2449513"/>
            <a:ext cx="20542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/>
              <a:t>Disturbances:  wind/road</a:t>
            </a:r>
          </a:p>
        </p:txBody>
      </p:sp>
      <p:sp>
        <p:nvSpPr>
          <p:cNvPr id="12303" name="Rectangle 20"/>
          <p:cNvSpPr>
            <a:spLocks noChangeArrowheads="1"/>
          </p:cNvSpPr>
          <p:nvPr/>
        </p:nvSpPr>
        <p:spPr bwMode="auto">
          <a:xfrm>
            <a:off x="1257300" y="3859213"/>
            <a:ext cx="1009650" cy="3984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/>
              <a:t>road</a:t>
            </a:r>
          </a:p>
          <a:p>
            <a:pPr algn="ctr"/>
            <a:r>
              <a:rPr lang="en-US" sz="1400"/>
              <a:t>conditions </a:t>
            </a:r>
          </a:p>
        </p:txBody>
      </p:sp>
      <p:sp>
        <p:nvSpPr>
          <p:cNvPr id="12304" name="Rectangle 21"/>
          <p:cNvSpPr>
            <a:spLocks noChangeArrowheads="1"/>
          </p:cNvSpPr>
          <p:nvPr/>
        </p:nvSpPr>
        <p:spPr bwMode="auto">
          <a:xfrm>
            <a:off x="1257300" y="4371975"/>
            <a:ext cx="1009650" cy="3984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/>
              <a:t>road path</a:t>
            </a:r>
          </a:p>
        </p:txBody>
      </p:sp>
      <p:sp>
        <p:nvSpPr>
          <p:cNvPr id="12305" name="Line 2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>
            <a:off x="2266950" y="4059238"/>
            <a:ext cx="415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306" name="Line 2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>
            <a:off x="2266950" y="4521200"/>
            <a:ext cx="415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307" name="Text Box 24"/>
          <p:cNvSpPr txBox="1">
            <a:spLocks noChangeArrowheads="1"/>
          </p:cNvSpPr>
          <p:nvPr/>
        </p:nvSpPr>
        <p:spPr bwMode="auto">
          <a:xfrm>
            <a:off x="7464425" y="4359275"/>
            <a:ext cx="12890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1400"/>
              <a:t>speed, relative position, relative orientation</a:t>
            </a:r>
          </a:p>
        </p:txBody>
      </p:sp>
      <p:sp>
        <p:nvSpPr>
          <p:cNvPr id="12308" name="Line 2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>
            <a:off x="7058025" y="4257675"/>
            <a:ext cx="0" cy="1641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309" name="Line 2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97225" y="5899150"/>
            <a:ext cx="386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310" name="Line 2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7225" y="4687888"/>
            <a:ext cx="0" cy="1211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4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/>
              <a:t>One could argue that most of the behavior on the road is actually human-human interaction mediated by a vehicle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6669"/>
            <a:ext cx="3648269" cy="3849494"/>
          </a:xfrm>
        </p:spPr>
        <p:txBody>
          <a:bodyPr/>
          <a:lstStyle/>
          <a:p>
            <a:r>
              <a:rPr lang="en-US" sz="2000" dirty="0"/>
              <a:t>See “Development of a Driver Vehicle Module for the Interactive Highway Safety Design Model” Publication No. FHWA-HRT-08-019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330" y="1604865"/>
            <a:ext cx="3398789" cy="492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739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65125" y="523876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sz="3600" dirty="0"/>
              <a:t>How do we model this feedback loop? We know that drivers respond to the road ahead of them mostly using visual cues…</a:t>
            </a:r>
          </a:p>
        </p:txBody>
      </p:sp>
      <p:pic>
        <p:nvPicPr>
          <p:cNvPr id="13316" name="Picture 4" descr="tn00418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088" y="2311400"/>
            <a:ext cx="7123112" cy="402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Line 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16450" y="3602038"/>
            <a:ext cx="255588" cy="1143000"/>
          </a:xfrm>
          <a:prstGeom prst="line">
            <a:avLst/>
          </a:prstGeom>
          <a:noFill/>
          <a:ln w="57150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318" name="Line 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>
            <a:off x="4719638" y="4035425"/>
            <a:ext cx="1371600" cy="0"/>
          </a:xfrm>
          <a:prstGeom prst="line">
            <a:avLst/>
          </a:prstGeom>
          <a:noFill/>
          <a:ln w="57150">
            <a:solidFill>
              <a:srgbClr val="FF505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6137275" y="3883025"/>
            <a:ext cx="13779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/>
              <a:t>lateral distance</a:t>
            </a:r>
          </a:p>
        </p:txBody>
      </p:sp>
      <p:sp>
        <p:nvSpPr>
          <p:cNvPr id="13320" name="Line 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51363" y="4030663"/>
            <a:ext cx="160337" cy="696912"/>
          </a:xfrm>
          <a:prstGeom prst="line">
            <a:avLst/>
          </a:prstGeom>
          <a:noFill/>
          <a:ln w="57150">
            <a:solidFill>
              <a:srgbClr val="FF505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2936875" y="4035425"/>
            <a:ext cx="15430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/>
              <a:t>preview distance</a:t>
            </a:r>
          </a:p>
        </p:txBody>
      </p:sp>
    </p:spTree>
    <p:extLst>
      <p:ext uri="{BB962C8B-B14F-4D97-AF65-F5344CB8AC3E}">
        <p14:creationId xmlns:p14="http://schemas.microsoft.com/office/powerpoint/2010/main" val="4129014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43845" y="565151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dirty="0"/>
              <a:t>We seek to isolate input/output relationships, so usually model one input to one output</a:t>
            </a:r>
          </a:p>
        </p:txBody>
      </p:sp>
      <p:pic>
        <p:nvPicPr>
          <p:cNvPr id="14339" name="Picture 4" descr="j030126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681" y="3731254"/>
            <a:ext cx="1849437" cy="185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Rectangle 5"/>
          <p:cNvSpPr>
            <a:spLocks noChangeArrowheads="1"/>
          </p:cNvSpPr>
          <p:nvPr/>
        </p:nvSpPr>
        <p:spPr bwMode="auto">
          <a:xfrm>
            <a:off x="1238118" y="3904292"/>
            <a:ext cx="1358900" cy="6000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road</a:t>
            </a:r>
          </a:p>
          <a:p>
            <a:pPr algn="ctr"/>
            <a:r>
              <a:rPr lang="en-US" sz="2000"/>
              <a:t>conditions</a:t>
            </a:r>
            <a:r>
              <a:rPr lang="en-US" sz="1400"/>
              <a:t> </a:t>
            </a:r>
          </a:p>
        </p:txBody>
      </p:sp>
      <p:sp>
        <p:nvSpPr>
          <p:cNvPr id="14341" name="Rectangle 6"/>
          <p:cNvSpPr>
            <a:spLocks noChangeArrowheads="1"/>
          </p:cNvSpPr>
          <p:nvPr/>
        </p:nvSpPr>
        <p:spPr bwMode="auto">
          <a:xfrm>
            <a:off x="1223831" y="4618667"/>
            <a:ext cx="1373187" cy="614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road path</a:t>
            </a:r>
          </a:p>
        </p:txBody>
      </p:sp>
      <p:sp>
        <p:nvSpPr>
          <p:cNvPr id="14342" name="Lin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2597018" y="4305929"/>
            <a:ext cx="10604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43" name="Lin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2611306" y="4942517"/>
            <a:ext cx="9937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44" name="Text Box 9"/>
          <p:cNvSpPr txBox="1">
            <a:spLocks noChangeArrowheads="1"/>
          </p:cNvSpPr>
          <p:nvPr/>
        </p:nvSpPr>
        <p:spPr bwMode="auto">
          <a:xfrm>
            <a:off x="2323968" y="3228017"/>
            <a:ext cx="180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Driver inputs</a:t>
            </a:r>
          </a:p>
        </p:txBody>
      </p:sp>
      <p:sp>
        <p:nvSpPr>
          <p:cNvPr id="14345" name="Rectangle 11"/>
          <p:cNvSpPr>
            <a:spLocks noChangeArrowheads="1"/>
          </p:cNvSpPr>
          <p:nvPr/>
        </p:nvSpPr>
        <p:spPr bwMode="auto">
          <a:xfrm>
            <a:off x="6565768" y="3945567"/>
            <a:ext cx="1414463" cy="695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steering </a:t>
            </a:r>
          </a:p>
        </p:txBody>
      </p:sp>
      <p:sp>
        <p:nvSpPr>
          <p:cNvPr id="14346" name="Rectangle 13"/>
          <p:cNvSpPr>
            <a:spLocks noChangeArrowheads="1"/>
          </p:cNvSpPr>
          <p:nvPr/>
        </p:nvSpPr>
        <p:spPr bwMode="auto">
          <a:xfrm>
            <a:off x="6581643" y="4686929"/>
            <a:ext cx="1400175" cy="695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accelerator</a:t>
            </a:r>
          </a:p>
          <a:p>
            <a:pPr algn="ctr"/>
            <a:r>
              <a:rPr lang="en-US" sz="2000"/>
              <a:t>&amp; brakes</a:t>
            </a:r>
          </a:p>
        </p:txBody>
      </p:sp>
      <p:sp>
        <p:nvSpPr>
          <p:cNvPr id="14347" name="Lin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5519606" y="4390067"/>
            <a:ext cx="10604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48" name="Lin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5559293" y="4959979"/>
            <a:ext cx="9937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49" name="Text Box 17"/>
          <p:cNvSpPr txBox="1">
            <a:spLocks noChangeArrowheads="1"/>
          </p:cNvSpPr>
          <p:nvPr/>
        </p:nvSpPr>
        <p:spPr bwMode="auto">
          <a:xfrm>
            <a:off x="5246556" y="3326442"/>
            <a:ext cx="1952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Driver outputs</a:t>
            </a:r>
          </a:p>
        </p:txBody>
      </p:sp>
    </p:spTree>
    <p:extLst>
      <p:ext uri="{BB962C8B-B14F-4D97-AF65-F5344CB8AC3E}">
        <p14:creationId xmlns:p14="http://schemas.microsoft.com/office/powerpoint/2010/main" val="1931592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22476" y="344088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sz="3600" dirty="0"/>
              <a:t>In this lecture, we consider only very simple models of the driver to be used in conjunction with our vehicle models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9375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Accurate modeling of human behavior is an extremely difficult task.</a:t>
            </a:r>
          </a:p>
          <a:p>
            <a:pPr eaLnBrk="1" hangingPunct="1"/>
            <a:r>
              <a:rPr lang="en-US" dirty="0"/>
              <a:t>But even analyzing gross behavior, we obtain some very good insights into how to drive better ourselves!</a:t>
            </a:r>
          </a:p>
        </p:txBody>
      </p:sp>
    </p:spTree>
    <p:extLst>
      <p:ext uri="{BB962C8B-B14F-4D97-AF65-F5344CB8AC3E}">
        <p14:creationId xmlns:p14="http://schemas.microsoft.com/office/powerpoint/2010/main" val="2013493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00050" y="684212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dirty="0"/>
              <a:t>For our modeling purposes, the driver consists of several individual components</a:t>
            </a:r>
          </a:p>
        </p:txBody>
      </p:sp>
      <p:pic>
        <p:nvPicPr>
          <p:cNvPr id="9220" name="Picture 4" descr="hm00286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5525" y="3700463"/>
            <a:ext cx="827088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 descr="bd05199_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313" y="3700463"/>
            <a:ext cx="1208087" cy="102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6" descr="hm00376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675" y="3562350"/>
            <a:ext cx="949325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2406650" y="3105150"/>
            <a:ext cx="606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rgbClr val="FF00FF"/>
                </a:solidFill>
              </a:rPr>
              <a:t>eye</a:t>
            </a: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2160588" y="4524375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rgbClr val="0066FF"/>
                </a:solidFill>
              </a:rPr>
              <a:t>sensing</a:t>
            </a:r>
          </a:p>
        </p:txBody>
      </p:sp>
      <p:sp>
        <p:nvSpPr>
          <p:cNvPr id="9225" name="AutoShape 9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3" y="3951288"/>
            <a:ext cx="1146175" cy="295275"/>
          </a:xfrm>
          <a:prstGeom prst="rightArrow">
            <a:avLst>
              <a:gd name="adj1" fmla="val 50000"/>
              <a:gd name="adj2" fmla="val 97043"/>
            </a:avLst>
          </a:prstGeom>
          <a:solidFill>
            <a:srgbClr val="FF5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4514850" y="3105150"/>
            <a:ext cx="809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rgbClr val="FF00FF"/>
                </a:solidFill>
              </a:rPr>
              <a:t>brain</a:t>
            </a:r>
          </a:p>
        </p:txBody>
      </p:sp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4332288" y="4727575"/>
            <a:ext cx="172085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0066FF"/>
                </a:solidFill>
              </a:rPr>
              <a:t>processing and command generation</a:t>
            </a:r>
          </a:p>
        </p:txBody>
      </p:sp>
      <p:sp>
        <p:nvSpPr>
          <p:cNvPr id="9228" name="AutoShape 1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3400" y="3956050"/>
            <a:ext cx="1146175" cy="295275"/>
          </a:xfrm>
          <a:prstGeom prst="rightArrow">
            <a:avLst>
              <a:gd name="adj1" fmla="val 50000"/>
              <a:gd name="adj2" fmla="val 97043"/>
            </a:avLst>
          </a:prstGeom>
          <a:solidFill>
            <a:srgbClr val="FF5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6924675" y="2787650"/>
            <a:ext cx="16335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FF00FF"/>
                </a:solidFill>
              </a:rPr>
              <a:t>limbs and muscles</a:t>
            </a:r>
          </a:p>
        </p:txBody>
      </p:sp>
      <p:sp>
        <p:nvSpPr>
          <p:cNvPr id="9230" name="Text Box 14"/>
          <p:cNvSpPr txBox="1">
            <a:spLocks noChangeArrowheads="1"/>
          </p:cNvSpPr>
          <p:nvPr/>
        </p:nvSpPr>
        <p:spPr bwMode="auto">
          <a:xfrm>
            <a:off x="6759575" y="4595813"/>
            <a:ext cx="1633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0066FF"/>
                </a:solidFill>
              </a:rPr>
              <a:t>actuation</a:t>
            </a:r>
          </a:p>
        </p:txBody>
      </p:sp>
      <p:sp>
        <p:nvSpPr>
          <p:cNvPr id="9231" name="Text Box 15"/>
          <p:cNvSpPr txBox="1">
            <a:spLocks noChangeArrowheads="1"/>
          </p:cNvSpPr>
          <p:nvPr/>
        </p:nvSpPr>
        <p:spPr bwMode="auto">
          <a:xfrm>
            <a:off x="608013" y="3175000"/>
            <a:ext cx="1263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FF00FF"/>
                </a:solidFill>
              </a:rPr>
              <a:t>component:</a:t>
            </a:r>
          </a:p>
        </p:txBody>
      </p:sp>
      <p:sp>
        <p:nvSpPr>
          <p:cNvPr id="9232" name="Text Box 16"/>
          <p:cNvSpPr txBox="1">
            <a:spLocks noChangeArrowheads="1"/>
          </p:cNvSpPr>
          <p:nvPr/>
        </p:nvSpPr>
        <p:spPr bwMode="auto">
          <a:xfrm>
            <a:off x="774700" y="4564063"/>
            <a:ext cx="1009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66FF"/>
                </a:solidFill>
              </a:rPr>
              <a:t>function:</a:t>
            </a:r>
          </a:p>
        </p:txBody>
      </p:sp>
    </p:spTree>
    <p:extLst>
      <p:ext uri="{BB962C8B-B14F-4D97-AF65-F5344CB8AC3E}">
        <p14:creationId xmlns:p14="http://schemas.microsoft.com/office/powerpoint/2010/main" val="4294740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600" dirty="0"/>
              <a:t>There’s usually a (big) delay between sensing any signal and having it processed.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7263" y="1587500"/>
            <a:ext cx="7958137" cy="4414838"/>
          </a:xfrm>
        </p:spPr>
        <p:txBody>
          <a:bodyPr/>
          <a:lstStyle/>
          <a:p>
            <a:pPr eaLnBrk="1" hangingPunct="1"/>
            <a:r>
              <a:rPr lang="en-US" sz="2800" dirty="0"/>
              <a:t>This includes perception delay (paying attention), plus the delay between developing a command (planning) and that command reaching the limbs (actuation)</a:t>
            </a:r>
          </a:p>
          <a:p>
            <a:pPr eaLnBrk="1" hangingPunct="1"/>
            <a:r>
              <a:rPr lang="en-US" sz="2800" dirty="0"/>
              <a:t>Total delay is often referred to as the reaction time (0.1 sec to 2 seconds… or more)</a:t>
            </a:r>
          </a:p>
        </p:txBody>
      </p:sp>
      <p:pic>
        <p:nvPicPr>
          <p:cNvPr id="10244" name="Picture 4" descr="hm00286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25" y="5083175"/>
            <a:ext cx="827088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 descr="bd05199_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1913" y="5083175"/>
            <a:ext cx="1208087" cy="102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6" descr="hm00376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275" y="4945063"/>
            <a:ext cx="94932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7" name="Text Box 8"/>
          <p:cNvSpPr txBox="1">
            <a:spLocks noChangeArrowheads="1"/>
          </p:cNvSpPr>
          <p:nvPr/>
        </p:nvSpPr>
        <p:spPr bwMode="auto">
          <a:xfrm>
            <a:off x="2652713" y="4533900"/>
            <a:ext cx="11461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/>
              <a:t>time delay</a:t>
            </a:r>
          </a:p>
        </p:txBody>
      </p:sp>
      <p:sp>
        <p:nvSpPr>
          <p:cNvPr id="10248" name="Auto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5334000"/>
            <a:ext cx="1146175" cy="295275"/>
          </a:xfrm>
          <a:prstGeom prst="rightArrow">
            <a:avLst>
              <a:gd name="adj1" fmla="val 50000"/>
              <a:gd name="adj2" fmla="val 97043"/>
            </a:avLst>
          </a:prstGeom>
          <a:solidFill>
            <a:srgbClr val="FF5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9" name="Auto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0" y="5338763"/>
            <a:ext cx="1146175" cy="295275"/>
          </a:xfrm>
          <a:prstGeom prst="rightArrow">
            <a:avLst>
              <a:gd name="adj1" fmla="val 50000"/>
              <a:gd name="adj2" fmla="val 97043"/>
            </a:avLst>
          </a:prstGeom>
          <a:solidFill>
            <a:srgbClr val="FF5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0" name="Text Box 13"/>
          <p:cNvSpPr txBox="1">
            <a:spLocks noChangeArrowheads="1"/>
          </p:cNvSpPr>
          <p:nvPr/>
        </p:nvSpPr>
        <p:spPr bwMode="auto">
          <a:xfrm>
            <a:off x="5080000" y="4533900"/>
            <a:ext cx="11461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/>
              <a:t>time delay</a:t>
            </a:r>
          </a:p>
        </p:txBody>
      </p:sp>
    </p:spTree>
    <p:extLst>
      <p:ext uri="{BB962C8B-B14F-4D97-AF65-F5344CB8AC3E}">
        <p14:creationId xmlns:p14="http://schemas.microsoft.com/office/powerpoint/2010/main" val="4134894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4000" dirty="0"/>
              <a:t>This pure-delay method generates the simplest driver feedback model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/>
              <a:t>In simplest terms, the driver can be represented by a transfer function.</a:t>
            </a:r>
          </a:p>
          <a:p>
            <a:pPr eaLnBrk="1" hangingPunct="1">
              <a:lnSpc>
                <a:spcPct val="110000"/>
              </a:lnSpc>
            </a:pPr>
            <a:endParaRPr lang="en-US"/>
          </a:p>
          <a:p>
            <a:pPr eaLnBrk="1" hangingPunct="1">
              <a:lnSpc>
                <a:spcPct val="110000"/>
              </a:lnSpc>
            </a:pPr>
            <a:endParaRPr lang="en-US"/>
          </a:p>
          <a:p>
            <a:pPr eaLnBrk="1" hangingPunct="1">
              <a:lnSpc>
                <a:spcPct val="110000"/>
              </a:lnSpc>
            </a:pPr>
            <a:endParaRPr lang="en-US"/>
          </a:p>
          <a:p>
            <a:pPr eaLnBrk="1" hangingPunct="1">
              <a:lnSpc>
                <a:spcPct val="110000"/>
              </a:lnSpc>
            </a:pPr>
            <a:r>
              <a:rPr lang="en-US"/>
              <a:t>K</a:t>
            </a:r>
            <a:r>
              <a:rPr lang="en-US" baseline="-25000"/>
              <a:t>d</a:t>
            </a:r>
            <a:r>
              <a:rPr lang="en-US"/>
              <a:t> is the driver gain and </a:t>
            </a:r>
            <a:r>
              <a:rPr lang="en-US">
                <a:latin typeface="Symbol" pitchFamily="18" charset="2"/>
              </a:rPr>
              <a:t>t</a:t>
            </a:r>
            <a:r>
              <a:rPr lang="en-US"/>
              <a:t> is the lumped delay of the driver including sensor processing and command delay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3040063" y="3094038"/>
          <a:ext cx="3227387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49080" imgH="419040" progId="Equation.3">
                  <p:embed/>
                </p:oleObj>
              </mc:Choice>
              <mc:Fallback>
                <p:oleObj name="Equation" r:id="rId3" imgW="154908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0063" y="3094038"/>
                        <a:ext cx="3227387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AutoShape 5"/>
          <p:cNvSpPr>
            <a:spLocks/>
          </p:cNvSpPr>
          <p:nvPr/>
        </p:nvSpPr>
        <p:spPr bwMode="auto">
          <a:xfrm>
            <a:off x="6867525" y="2643188"/>
            <a:ext cx="1362075" cy="895350"/>
          </a:xfrm>
          <a:prstGeom prst="borderCallout2">
            <a:avLst>
              <a:gd name="adj1" fmla="val 12764"/>
              <a:gd name="adj2" fmla="val -5593"/>
              <a:gd name="adj3" fmla="val 12764"/>
              <a:gd name="adj4" fmla="val -87296"/>
              <a:gd name="adj5" fmla="val 53190"/>
              <a:gd name="adj6" fmla="val -14184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/>
              <a:t>Driver output</a:t>
            </a:r>
          </a:p>
        </p:txBody>
      </p:sp>
      <p:sp>
        <p:nvSpPr>
          <p:cNvPr id="1030" name="AutoShape 6"/>
          <p:cNvSpPr>
            <a:spLocks/>
          </p:cNvSpPr>
          <p:nvPr/>
        </p:nvSpPr>
        <p:spPr bwMode="auto">
          <a:xfrm>
            <a:off x="6907213" y="3965575"/>
            <a:ext cx="1843087" cy="519113"/>
          </a:xfrm>
          <a:prstGeom prst="borderCallout2">
            <a:avLst>
              <a:gd name="adj1" fmla="val 22019"/>
              <a:gd name="adj2" fmla="val -4134"/>
              <a:gd name="adj3" fmla="val 22019"/>
              <a:gd name="adj4" fmla="val -51250"/>
              <a:gd name="adj5" fmla="val -40366"/>
              <a:gd name="adj6" fmla="val -100171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/>
              <a:t>Driver input</a:t>
            </a:r>
          </a:p>
        </p:txBody>
      </p:sp>
    </p:spTree>
    <p:extLst>
      <p:ext uri="{BB962C8B-B14F-4D97-AF65-F5344CB8AC3E}">
        <p14:creationId xmlns:p14="http://schemas.microsoft.com/office/powerpoint/2010/main" val="3086949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4000" dirty="0"/>
              <a:t>There’s also a limit to how fast you can move! (actuator dynamics)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3100" y="1546225"/>
            <a:ext cx="8077200" cy="4414838"/>
          </a:xfrm>
        </p:spPr>
        <p:txBody>
          <a:bodyPr/>
          <a:lstStyle/>
          <a:p>
            <a:pPr eaLnBrk="1" hangingPunct="1"/>
            <a:r>
              <a:rPr lang="en-US" sz="2800" dirty="0"/>
              <a:t>Even after commands arrive at the limbs, there’s a delay before the actual task is performed by the muscle</a:t>
            </a:r>
          </a:p>
          <a:p>
            <a:pPr eaLnBrk="1" hangingPunct="1"/>
            <a:r>
              <a:rPr lang="en-US" sz="2800" dirty="0"/>
              <a:t>In other words, there’s a maximum frequency signal that can be tracked by the limb!</a:t>
            </a:r>
          </a:p>
          <a:p>
            <a:pPr lvl="1" eaLnBrk="1" hangingPunct="1"/>
            <a:r>
              <a:rPr lang="en-US" sz="2000" dirty="0"/>
              <a:t>Dependent on limb size (i.e. inertia) &amp; musculature</a:t>
            </a:r>
          </a:p>
        </p:txBody>
      </p:sp>
      <p:pic>
        <p:nvPicPr>
          <p:cNvPr id="11268" name="Picture 4" descr="hm00376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938" y="4783138"/>
            <a:ext cx="94932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9" name="Line 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48275" y="4746625"/>
            <a:ext cx="0" cy="1211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70" name="Line 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>
            <a:off x="5248275" y="5957888"/>
            <a:ext cx="20431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7094538" y="5961063"/>
            <a:ext cx="393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>
                <a:latin typeface="Symbol" pitchFamily="18" charset="2"/>
              </a:rPr>
              <a:t>w</a:t>
            </a:r>
          </a:p>
        </p:txBody>
      </p:sp>
      <p:grpSp>
        <p:nvGrpSpPr>
          <p:cNvPr id="11272" name="Group 10"/>
          <p:cNvGrpSpPr>
            <a:grpSpLocks/>
          </p:cNvGrpSpPr>
          <p:nvPr/>
        </p:nvGrpSpPr>
        <p:grpSpPr bwMode="auto">
          <a:xfrm>
            <a:off x="5248275" y="5203825"/>
            <a:ext cx="1681163" cy="498475"/>
            <a:chOff x="3973" y="2905"/>
            <a:chExt cx="1059" cy="314"/>
          </a:xfrm>
        </p:grpSpPr>
        <p:sp>
          <p:nvSpPr>
            <p:cNvPr id="11276" name="Line 8"/>
            <p:cNvSpPr>
              <a:spLocks noChangeShapeType="1"/>
            </p:cNvSpPr>
            <p:nvPr/>
          </p:nvSpPr>
          <p:spPr bwMode="auto">
            <a:xfrm>
              <a:off x="3973" y="2905"/>
              <a:ext cx="6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277" name="Line 9"/>
            <p:cNvSpPr>
              <a:spLocks noChangeShapeType="1"/>
            </p:cNvSpPr>
            <p:nvPr/>
          </p:nvSpPr>
          <p:spPr bwMode="auto">
            <a:xfrm>
              <a:off x="4633" y="2905"/>
              <a:ext cx="399" cy="3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1273" name="Text Box 11"/>
          <p:cNvSpPr txBox="1">
            <a:spLocks noChangeArrowheads="1"/>
          </p:cNvSpPr>
          <p:nvPr/>
        </p:nvSpPr>
        <p:spPr bwMode="auto">
          <a:xfrm>
            <a:off x="4894263" y="4406900"/>
            <a:ext cx="708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mag</a:t>
            </a:r>
          </a:p>
        </p:txBody>
      </p:sp>
      <p:sp>
        <p:nvSpPr>
          <p:cNvPr id="11274" name="AutoShape 1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3100" y="5203825"/>
            <a:ext cx="1681163" cy="296863"/>
          </a:xfrm>
          <a:prstGeom prst="rightArrow">
            <a:avLst>
              <a:gd name="adj1" fmla="val 50000"/>
              <a:gd name="adj2" fmla="val 14157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5" name="Text Box 13"/>
          <p:cNvSpPr txBox="1">
            <a:spLocks noChangeArrowheads="1"/>
          </p:cNvSpPr>
          <p:nvPr/>
        </p:nvSpPr>
        <p:spPr bwMode="auto">
          <a:xfrm>
            <a:off x="3213100" y="5500688"/>
            <a:ext cx="1611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/>
              <a:t>Limbs have a bandwidth</a:t>
            </a:r>
          </a:p>
        </p:txBody>
      </p:sp>
    </p:spTree>
    <p:extLst>
      <p:ext uri="{BB962C8B-B14F-4D97-AF65-F5344CB8AC3E}">
        <p14:creationId xmlns:p14="http://schemas.microsoft.com/office/powerpoint/2010/main" val="1829528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4000" dirty="0"/>
              <a:t>We can include the limb actuation dynamics into a driver feedback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2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dirty="0"/>
                  <a:t>Define T</a:t>
                </a:r>
                <a:r>
                  <a:rPr lang="en-US" baseline="-25000" dirty="0"/>
                  <a:t>D</a:t>
                </a:r>
                <a:r>
                  <a:rPr lang="en-US" dirty="0"/>
                  <a:t> as the bandwidth for the neuromuscular dynamics.</a:t>
                </a:r>
              </a:p>
              <a:p>
                <a:pPr eaLnBrk="1" hangingPunct="1"/>
                <a:endParaRPr lang="en-US" dirty="0"/>
              </a:p>
              <a:p>
                <a:pPr eaLnBrk="1" hangingPunct="1"/>
                <a:endParaRPr lang="en-US" dirty="0"/>
              </a:p>
              <a:p>
                <a:pPr eaLnBrk="1" hangingPunct="1"/>
                <a:endParaRPr lang="en-US" dirty="0"/>
              </a:p>
              <a:p>
                <a:pPr eaLnBrk="1" hangingPunct="1"/>
                <a:r>
                  <a:rPr lang="en-US" dirty="0"/>
                  <a:t>Note that,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K</a:t>
                </a:r>
                <a:r>
                  <a:rPr lang="en-US" baseline="-25000" dirty="0" err="1"/>
                  <a:t>d</a:t>
                </a:r>
                <a:r>
                  <a:rPr lang="en-US" dirty="0"/>
                  <a:t> and T</a:t>
                </a:r>
                <a:r>
                  <a:rPr lang="en-US" baseline="-25000" dirty="0"/>
                  <a:t>D</a:t>
                </a:r>
                <a:r>
                  <a:rPr lang="en-US" dirty="0"/>
                  <a:t> can (and will) change for different driving applications</a:t>
                </a:r>
              </a:p>
              <a:p>
                <a:pPr lvl="1" eaLnBrk="1" hangingPunct="1"/>
                <a:r>
                  <a:rPr lang="en-US" dirty="0"/>
                  <a:t>For example, distracted driving versus racing</a:t>
                </a:r>
              </a:p>
            </p:txBody>
          </p:sp>
        </mc:Choice>
        <mc:Fallback xmlns="">
          <p:sp>
            <p:nvSpPr>
              <p:cNvPr id="205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4"/>
                <a:stretch>
                  <a:fillRect l="-1704" t="-1752" b="-1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5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6158918"/>
              </p:ext>
            </p:extLst>
          </p:nvPr>
        </p:nvGraphicFramePr>
        <p:xfrm>
          <a:off x="2464142" y="3087215"/>
          <a:ext cx="375602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03240" imgH="457200" progId="Equation.3">
                  <p:embed/>
                </p:oleObj>
              </mc:Choice>
              <mc:Fallback>
                <p:oleObj name="Equation" r:id="rId5" imgW="18032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4142" y="3087215"/>
                        <a:ext cx="3756025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" name="Rectangle 6"/>
          <p:cNvSpPr>
            <a:spLocks noChangeArrowheads="1"/>
          </p:cNvSpPr>
          <p:nvPr/>
        </p:nvSpPr>
        <p:spPr bwMode="auto">
          <a:xfrm>
            <a:off x="6801192" y="3087215"/>
            <a:ext cx="1344612" cy="5953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Driver lag</a:t>
            </a:r>
          </a:p>
        </p:txBody>
      </p:sp>
      <p:sp>
        <p:nvSpPr>
          <p:cNvPr id="2054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780429" y="3699990"/>
            <a:ext cx="1143000" cy="631825"/>
          </a:xfrm>
          <a:custGeom>
            <a:avLst/>
            <a:gdLst>
              <a:gd name="T0" fmla="*/ 0 w 720"/>
              <a:gd name="T1" fmla="*/ 169 h 398"/>
              <a:gd name="T2" fmla="*/ 76 w 720"/>
              <a:gd name="T3" fmla="*/ 398 h 398"/>
              <a:gd name="T4" fmla="*/ 440 w 720"/>
              <a:gd name="T5" fmla="*/ 398 h 398"/>
              <a:gd name="T6" fmla="*/ 720 w 720"/>
              <a:gd name="T7" fmla="*/ 0 h 398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398"/>
              <a:gd name="T14" fmla="*/ 720 w 720"/>
              <a:gd name="T15" fmla="*/ 398 h 39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398">
                <a:moveTo>
                  <a:pt x="0" y="169"/>
                </a:moveTo>
                <a:lnTo>
                  <a:pt x="76" y="398"/>
                </a:lnTo>
                <a:lnTo>
                  <a:pt x="440" y="398"/>
                </a:lnTo>
                <a:lnTo>
                  <a:pt x="72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778521" y="2203043"/>
            <a:ext cx="1344612" cy="5953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Time delay</a:t>
            </a:r>
          </a:p>
        </p:txBody>
      </p:sp>
      <p:cxnSp>
        <p:nvCxnSpPr>
          <p:cNvPr id="3" name="Straight Arrow Connecto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7" idx="1"/>
          </p:cNvCxnSpPr>
          <p:nvPr/>
        </p:nvCxnSpPr>
        <p:spPr>
          <a:xfrm flipH="1">
            <a:off x="5909593" y="2500700"/>
            <a:ext cx="868928" cy="711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814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dirty="0"/>
              <a:t>The driver feedback depends on lateral or longitudinal positioning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The units for driver gain and driver lag are different for speed following (m/s) versus lane regulation (m) so K</a:t>
            </a:r>
            <a:r>
              <a:rPr lang="en-US" baseline="-25000"/>
              <a:t>d</a:t>
            </a:r>
            <a:r>
              <a:rPr lang="en-US"/>
              <a:t> should be different for longitudinal vs. lateral tasks.</a:t>
            </a:r>
          </a:p>
          <a:p>
            <a:pPr eaLnBrk="1" hangingPunct="1"/>
            <a:r>
              <a:rPr lang="en-US"/>
              <a:t>Similarly, the gain and the lag will be different between the arms/steering wheel actuation and foot/pedal actuation</a:t>
            </a:r>
          </a:p>
        </p:txBody>
      </p:sp>
    </p:spTree>
    <p:extLst>
      <p:ext uri="{BB962C8B-B14F-4D97-AF65-F5344CB8AC3E}">
        <p14:creationId xmlns:p14="http://schemas.microsoft.com/office/powerpoint/2010/main" val="149858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4000" dirty="0"/>
              <a:t>Problems with modeling: humans anticipate events (and have memory)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7263" y="1681163"/>
            <a:ext cx="7958137" cy="4643437"/>
          </a:xfrm>
        </p:spPr>
        <p:txBody>
          <a:bodyPr/>
          <a:lstStyle/>
          <a:p>
            <a:pPr eaLnBrk="1" hangingPunct="1"/>
            <a:r>
              <a:rPr lang="en-US" dirty="0"/>
              <a:t>Often, humans are very good at anticipating events.</a:t>
            </a:r>
          </a:p>
          <a:p>
            <a:pPr lvl="1" eaLnBrk="1" hangingPunct="1"/>
            <a:r>
              <a:rPr lang="en-US" dirty="0"/>
              <a:t>Particularly if they’ve been in similar situations before.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dirty="0"/>
              <a:t>(It’s called learning and remembering)</a:t>
            </a:r>
          </a:p>
          <a:p>
            <a:pPr eaLnBrk="1" hangingPunct="1"/>
            <a:r>
              <a:rPr lang="en-US" dirty="0"/>
              <a:t>The driver action can actually react a bit sooner than the events actually occur!</a:t>
            </a:r>
          </a:p>
          <a:p>
            <a:pPr lvl="1" eaLnBrk="1" hangingPunct="1"/>
            <a:r>
              <a:rPr lang="en-US" dirty="0"/>
              <a:t>In System Dynamics terms, humans can ‘add phase’ to the feedback system.</a:t>
            </a:r>
          </a:p>
        </p:txBody>
      </p:sp>
    </p:spTree>
    <p:extLst>
      <p:ext uri="{BB962C8B-B14F-4D97-AF65-F5344CB8AC3E}">
        <p14:creationId xmlns:p14="http://schemas.microsoft.com/office/powerpoint/2010/main" val="881925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4000" dirty="0"/>
              <a:t>One way to add phase is to use a simple lead controller model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z="2800" dirty="0"/>
              <a:t>Defining T</a:t>
            </a:r>
            <a:r>
              <a:rPr lang="en-US" sz="2800" baseline="-25000" dirty="0"/>
              <a:t>L</a:t>
            </a:r>
            <a:r>
              <a:rPr lang="en-US" sz="2800" dirty="0"/>
              <a:t> to be the driver ‘lead time,’</a:t>
            </a:r>
          </a:p>
          <a:p>
            <a:pPr eaLnBrk="1" hangingPunct="1">
              <a:lnSpc>
                <a:spcPct val="110000"/>
              </a:lnSpc>
            </a:pPr>
            <a:endParaRPr lang="en-US" sz="2800" dirty="0"/>
          </a:p>
          <a:p>
            <a:pPr eaLnBrk="1" hangingPunct="1">
              <a:lnSpc>
                <a:spcPct val="110000"/>
              </a:lnSpc>
            </a:pPr>
            <a:endParaRPr lang="en-US" sz="2800" dirty="0"/>
          </a:p>
          <a:p>
            <a:pPr eaLnBrk="1" hangingPunct="1">
              <a:lnSpc>
                <a:spcPct val="110000"/>
              </a:lnSpc>
            </a:pPr>
            <a:endParaRPr lang="en-US" sz="2800" dirty="0"/>
          </a:p>
          <a:p>
            <a:pPr eaLnBrk="1" hangingPunct="1">
              <a:lnSpc>
                <a:spcPct val="110000"/>
              </a:lnSpc>
            </a:pPr>
            <a:endParaRPr lang="en-US" sz="2800" dirty="0"/>
          </a:p>
          <a:p>
            <a:pPr eaLnBrk="1" hangingPunct="1">
              <a:lnSpc>
                <a:spcPct val="110000"/>
              </a:lnSpc>
            </a:pPr>
            <a:r>
              <a:rPr lang="en-US" sz="2800" dirty="0"/>
              <a:t>Question:  What is y(s) and u(s)?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400" dirty="0"/>
              <a:t>y(s) is simpler; it’s the steer wheel angle or the throttle/brake pedal position.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400" dirty="0"/>
              <a:t>U(s) is harder; it’s often a combo of many things.</a:t>
            </a:r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2106613" y="2743200"/>
          <a:ext cx="4205287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19240" imgH="431640" progId="Equation.3">
                  <p:embed/>
                </p:oleObj>
              </mc:Choice>
              <mc:Fallback>
                <p:oleObj name="Equation" r:id="rId3" imgW="20192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613" y="2743200"/>
                        <a:ext cx="4205287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AutoShape 5"/>
          <p:cNvSpPr>
            <a:spLocks/>
          </p:cNvSpPr>
          <p:nvPr/>
        </p:nvSpPr>
        <p:spPr bwMode="auto">
          <a:xfrm>
            <a:off x="1242050" y="2198225"/>
            <a:ext cx="1466850" cy="330200"/>
          </a:xfrm>
          <a:prstGeom prst="borderCallout2">
            <a:avLst>
              <a:gd name="adj1" fmla="val 34616"/>
              <a:gd name="adj2" fmla="val 105194"/>
              <a:gd name="adj3" fmla="val 34616"/>
              <a:gd name="adj4" fmla="val 131495"/>
              <a:gd name="adj5" fmla="val 175385"/>
              <a:gd name="adj6" fmla="val 156508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1800" dirty="0"/>
              <a:t>Driver output (steering)</a:t>
            </a:r>
          </a:p>
        </p:txBody>
      </p:sp>
      <p:sp>
        <p:nvSpPr>
          <p:cNvPr id="3078" name="AutoShape 6"/>
          <p:cNvSpPr>
            <a:spLocks/>
          </p:cNvSpPr>
          <p:nvPr/>
        </p:nvSpPr>
        <p:spPr bwMode="auto">
          <a:xfrm>
            <a:off x="7045325" y="2500313"/>
            <a:ext cx="1843088" cy="519112"/>
          </a:xfrm>
          <a:prstGeom prst="borderCallout2">
            <a:avLst>
              <a:gd name="adj1" fmla="val 22019"/>
              <a:gd name="adj2" fmla="val -4134"/>
              <a:gd name="adj3" fmla="val 22019"/>
              <a:gd name="adj4" fmla="val -42981"/>
              <a:gd name="adj5" fmla="val 55657"/>
              <a:gd name="adj6" fmla="val -83375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/>
              <a:t>Driver lead</a:t>
            </a:r>
          </a:p>
        </p:txBody>
      </p:sp>
      <p:sp>
        <p:nvSpPr>
          <p:cNvPr id="3079" name="AutoShape 7"/>
          <p:cNvSpPr>
            <a:spLocks/>
          </p:cNvSpPr>
          <p:nvPr/>
        </p:nvSpPr>
        <p:spPr bwMode="auto">
          <a:xfrm>
            <a:off x="1242050" y="3739776"/>
            <a:ext cx="1466850" cy="330200"/>
          </a:xfrm>
          <a:prstGeom prst="borderCallout2">
            <a:avLst>
              <a:gd name="adj1" fmla="val 48637"/>
              <a:gd name="adj2" fmla="val 102121"/>
              <a:gd name="adj3" fmla="val 52143"/>
              <a:gd name="adj4" fmla="val 140600"/>
              <a:gd name="adj5" fmla="val -50479"/>
              <a:gd name="adj6" fmla="val 158515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1800" dirty="0"/>
              <a:t>Driver’s input (eyes)</a:t>
            </a:r>
          </a:p>
        </p:txBody>
      </p:sp>
    </p:spTree>
    <p:extLst>
      <p:ext uri="{BB962C8B-B14F-4D97-AF65-F5344CB8AC3E}">
        <p14:creationId xmlns:p14="http://schemas.microsoft.com/office/powerpoint/2010/main" val="2289833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600" dirty="0"/>
              <a:t>Why not just use PID control on position?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7263" y="1639888"/>
            <a:ext cx="7958137" cy="4414837"/>
          </a:xfrm>
        </p:spPr>
        <p:txBody>
          <a:bodyPr/>
          <a:lstStyle/>
          <a:p>
            <a:pPr eaLnBrk="1" hangingPunct="1"/>
            <a:r>
              <a:rPr lang="en-US" dirty="0"/>
              <a:t>Let’s pretend we have a simple line-following idea… goal is to keep the vehicle along a prescribed path.</a:t>
            </a:r>
          </a:p>
        </p:txBody>
      </p:sp>
      <p:sp>
        <p:nvSpPr>
          <p:cNvPr id="17412" name="Arc 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 flipV="1">
            <a:off x="1371600" y="2486025"/>
            <a:ext cx="6677025" cy="2406650"/>
          </a:xfrm>
          <a:custGeom>
            <a:avLst/>
            <a:gdLst>
              <a:gd name="T0" fmla="*/ 0 w 24452"/>
              <a:gd name="T1" fmla="*/ 56601 h 21600"/>
              <a:gd name="T2" fmla="*/ 6677025 w 24452"/>
              <a:gd name="T3" fmla="*/ 1443656 h 21600"/>
              <a:gd name="T4" fmla="*/ 1271398 w 24452"/>
              <a:gd name="T5" fmla="*/ 2406650 h 21600"/>
              <a:gd name="T6" fmla="*/ 0 60000 65536"/>
              <a:gd name="T7" fmla="*/ 0 60000 65536"/>
              <a:gd name="T8" fmla="*/ 0 60000 65536"/>
              <a:gd name="T9" fmla="*/ 0 w 24452"/>
              <a:gd name="T10" fmla="*/ 0 h 21600"/>
              <a:gd name="T11" fmla="*/ 24452 w 2445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452" h="21600" fill="none" extrusionOk="0">
                <a:moveTo>
                  <a:pt x="-1" y="507"/>
                </a:moveTo>
                <a:cubicBezTo>
                  <a:pt x="1528" y="170"/>
                  <a:pt x="3090" y="-1"/>
                  <a:pt x="4656" y="0"/>
                </a:cubicBezTo>
                <a:cubicBezTo>
                  <a:pt x="13243" y="0"/>
                  <a:pt x="21015" y="5087"/>
                  <a:pt x="24451" y="12957"/>
                </a:cubicBezTo>
              </a:path>
              <a:path w="24452" h="21600" stroke="0" extrusionOk="0">
                <a:moveTo>
                  <a:pt x="-1" y="507"/>
                </a:moveTo>
                <a:cubicBezTo>
                  <a:pt x="1528" y="170"/>
                  <a:pt x="3090" y="-1"/>
                  <a:pt x="4656" y="0"/>
                </a:cubicBezTo>
                <a:cubicBezTo>
                  <a:pt x="13243" y="0"/>
                  <a:pt x="21015" y="5087"/>
                  <a:pt x="24451" y="12957"/>
                </a:cubicBezTo>
                <a:lnTo>
                  <a:pt x="4656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7413" name="Group 21"/>
          <p:cNvGrpSpPr>
            <a:grpSpLocks/>
          </p:cNvGrpSpPr>
          <p:nvPr/>
        </p:nvGrpSpPr>
        <p:grpSpPr bwMode="auto">
          <a:xfrm>
            <a:off x="4949825" y="4878388"/>
            <a:ext cx="1782763" cy="852487"/>
            <a:chOff x="2703" y="3149"/>
            <a:chExt cx="1123" cy="537"/>
          </a:xfrm>
        </p:grpSpPr>
        <p:grpSp>
          <p:nvGrpSpPr>
            <p:cNvPr id="17423" name="Group 18"/>
            <p:cNvGrpSpPr>
              <a:grpSpLocks noChangeAspect="1"/>
            </p:cNvGrpSpPr>
            <p:nvPr/>
          </p:nvGrpSpPr>
          <p:grpSpPr bwMode="auto">
            <a:xfrm>
              <a:off x="2703" y="3149"/>
              <a:ext cx="1123" cy="537"/>
              <a:chOff x="2626" y="3216"/>
              <a:chExt cx="748" cy="358"/>
            </a:xfrm>
          </p:grpSpPr>
          <p:sp>
            <p:nvSpPr>
              <p:cNvPr id="17426" name="Line 8"/>
              <p:cNvSpPr>
                <a:spLocks noChangeAspect="1" noChangeShapeType="1"/>
              </p:cNvSpPr>
              <p:nvPr/>
            </p:nvSpPr>
            <p:spPr bwMode="auto">
              <a:xfrm>
                <a:off x="2715" y="3393"/>
                <a:ext cx="5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427" name="Line 9"/>
              <p:cNvSpPr>
                <a:spLocks noChangeAspect="1" noChangeShapeType="1"/>
              </p:cNvSpPr>
              <p:nvPr/>
            </p:nvSpPr>
            <p:spPr bwMode="auto">
              <a:xfrm>
                <a:off x="2719" y="3282"/>
                <a:ext cx="0" cy="2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428" name="Line 12"/>
              <p:cNvSpPr>
                <a:spLocks noChangeAspect="1" noChangeShapeType="1"/>
              </p:cNvSpPr>
              <p:nvPr/>
            </p:nvSpPr>
            <p:spPr bwMode="auto">
              <a:xfrm>
                <a:off x="2626" y="3283"/>
                <a:ext cx="18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429" name="Line 13"/>
              <p:cNvSpPr>
                <a:spLocks noChangeAspect="1" noChangeShapeType="1"/>
              </p:cNvSpPr>
              <p:nvPr/>
            </p:nvSpPr>
            <p:spPr bwMode="auto">
              <a:xfrm>
                <a:off x="2626" y="3523"/>
                <a:ext cx="18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430" name="Line 14"/>
              <p:cNvSpPr>
                <a:spLocks noChangeAspect="1" noChangeShapeType="1"/>
              </p:cNvSpPr>
              <p:nvPr/>
            </p:nvSpPr>
            <p:spPr bwMode="auto">
              <a:xfrm>
                <a:off x="3281" y="3285"/>
                <a:ext cx="0" cy="2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431" name="Line 15"/>
              <p:cNvSpPr>
                <a:spLocks noChangeAspect="1" noChangeShapeType="1"/>
              </p:cNvSpPr>
              <p:nvPr/>
            </p:nvSpPr>
            <p:spPr bwMode="auto">
              <a:xfrm flipV="1">
                <a:off x="3188" y="3216"/>
                <a:ext cx="186" cy="11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432" name="Line 16"/>
              <p:cNvSpPr>
                <a:spLocks noChangeAspect="1" noChangeShapeType="1"/>
              </p:cNvSpPr>
              <p:nvPr/>
            </p:nvSpPr>
            <p:spPr bwMode="auto">
              <a:xfrm flipV="1">
                <a:off x="3188" y="3441"/>
                <a:ext cx="186" cy="13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433" name="Oval 17"/>
              <p:cNvSpPr>
                <a:spLocks noChangeAspect="1" noChangeArrowheads="1"/>
              </p:cNvSpPr>
              <p:nvPr/>
            </p:nvSpPr>
            <p:spPr bwMode="auto">
              <a:xfrm>
                <a:off x="2947" y="3334"/>
                <a:ext cx="101" cy="10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7424" name="AutoShape 19"/>
            <p:cNvSpPr>
              <a:spLocks noChangeArrowheads="1"/>
            </p:cNvSpPr>
            <p:nvPr/>
          </p:nvSpPr>
          <p:spPr bwMode="auto">
            <a:xfrm>
              <a:off x="3267" y="3326"/>
              <a:ext cx="76" cy="89"/>
            </a:xfrm>
            <a:prstGeom prst="rtTriangl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5" name="AutoShape 20"/>
            <p:cNvSpPr>
              <a:spLocks noChangeArrowheads="1"/>
            </p:cNvSpPr>
            <p:nvPr/>
          </p:nvSpPr>
          <p:spPr bwMode="auto">
            <a:xfrm rot="5400000" flipV="1">
              <a:off x="3191" y="3401"/>
              <a:ext cx="76" cy="89"/>
            </a:xfrm>
            <a:prstGeom prst="rtTriangl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414" name="Line 2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48325" y="4545013"/>
            <a:ext cx="131763" cy="614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5" name="Line 2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>
            <a:off x="5786438" y="4519613"/>
            <a:ext cx="46037" cy="166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6" name="Line 2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81663" y="4692650"/>
            <a:ext cx="142875" cy="31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7" name="Text Box 25"/>
          <p:cNvSpPr txBox="1">
            <a:spLocks noChangeArrowheads="1"/>
          </p:cNvSpPr>
          <p:nvPr/>
        </p:nvSpPr>
        <p:spPr bwMode="auto">
          <a:xfrm>
            <a:off x="7494588" y="4911725"/>
            <a:ext cx="1276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600"/>
              <a:t>heading error</a:t>
            </a:r>
          </a:p>
        </p:txBody>
      </p:sp>
      <p:sp>
        <p:nvSpPr>
          <p:cNvPr id="17418" name="Line 2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>
            <a:off x="6610350" y="5297488"/>
            <a:ext cx="189706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9" name="Text Box 27"/>
          <p:cNvSpPr txBox="1">
            <a:spLocks noChangeArrowheads="1"/>
          </p:cNvSpPr>
          <p:nvPr/>
        </p:nvSpPr>
        <p:spPr bwMode="auto">
          <a:xfrm>
            <a:off x="1844675" y="4352925"/>
            <a:ext cx="1663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desired path</a:t>
            </a:r>
          </a:p>
        </p:txBody>
      </p:sp>
      <p:sp>
        <p:nvSpPr>
          <p:cNvPr id="17420" name="Line 2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67500" y="4670425"/>
            <a:ext cx="1801813" cy="471488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21" name="Freeform 29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7140575" y="5043488"/>
            <a:ext cx="39688" cy="255587"/>
          </a:xfrm>
          <a:custGeom>
            <a:avLst/>
            <a:gdLst>
              <a:gd name="T0" fmla="*/ 0 w 25"/>
              <a:gd name="T1" fmla="*/ 161 h 161"/>
              <a:gd name="T2" fmla="*/ 25 w 25"/>
              <a:gd name="T3" fmla="*/ 93 h 161"/>
              <a:gd name="T4" fmla="*/ 1 w 25"/>
              <a:gd name="T5" fmla="*/ 0 h 161"/>
              <a:gd name="T6" fmla="*/ 0 60000 65536"/>
              <a:gd name="T7" fmla="*/ 0 60000 65536"/>
              <a:gd name="T8" fmla="*/ 0 60000 65536"/>
              <a:gd name="T9" fmla="*/ 0 w 25"/>
              <a:gd name="T10" fmla="*/ 0 h 161"/>
              <a:gd name="T11" fmla="*/ 25 w 25"/>
              <a:gd name="T12" fmla="*/ 161 h 1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" h="161">
                <a:moveTo>
                  <a:pt x="0" y="161"/>
                </a:moveTo>
                <a:lnTo>
                  <a:pt x="25" y="93"/>
                </a:lnTo>
                <a:lnTo>
                  <a:pt x="1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22" name="Text Box 30"/>
          <p:cNvSpPr txBox="1">
            <a:spLocks noChangeArrowheads="1"/>
          </p:cNvSpPr>
          <p:nvPr/>
        </p:nvSpPr>
        <p:spPr bwMode="auto">
          <a:xfrm>
            <a:off x="5808663" y="4487863"/>
            <a:ext cx="1143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600"/>
              <a:t>lateral error</a:t>
            </a:r>
          </a:p>
        </p:txBody>
      </p:sp>
    </p:spTree>
    <p:extLst>
      <p:ext uri="{BB962C8B-B14F-4D97-AF65-F5344CB8AC3E}">
        <p14:creationId xmlns:p14="http://schemas.microsoft.com/office/powerpoint/2010/main" val="2163195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4000" dirty="0"/>
              <a:t>If use only lateral error, we cannot correct yaw angle errors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These three all have zero lateral error but only one is correct.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marL="0" indent="0" eaLnBrk="1" hangingPunct="1">
              <a:buNone/>
            </a:pPr>
            <a:endParaRPr lang="en-US" dirty="0"/>
          </a:p>
          <a:p>
            <a:pPr eaLnBrk="1" hangingPunct="1"/>
            <a:r>
              <a:rPr lang="en-US" dirty="0"/>
              <a:t>Remember, yaw motion is lightly damped…!</a:t>
            </a:r>
          </a:p>
          <a:p>
            <a:pPr eaLnBrk="1" hangingPunct="1"/>
            <a:endParaRPr lang="en-US" dirty="0"/>
          </a:p>
        </p:txBody>
      </p:sp>
      <p:grpSp>
        <p:nvGrpSpPr>
          <p:cNvPr id="18436" name="Group 16"/>
          <p:cNvGrpSpPr>
            <a:grpSpLocks/>
          </p:cNvGrpSpPr>
          <p:nvPr/>
        </p:nvGrpSpPr>
        <p:grpSpPr bwMode="auto">
          <a:xfrm rot="-909831">
            <a:off x="990600" y="3386138"/>
            <a:ext cx="1782763" cy="863600"/>
            <a:chOff x="3118" y="3073"/>
            <a:chExt cx="1123" cy="544"/>
          </a:xfrm>
        </p:grpSpPr>
        <p:sp>
          <p:nvSpPr>
            <p:cNvPr id="18462" name="Line 6"/>
            <p:cNvSpPr>
              <a:spLocks noChangeAspect="1" noChangeShapeType="1"/>
            </p:cNvSpPr>
            <p:nvPr/>
          </p:nvSpPr>
          <p:spPr bwMode="auto">
            <a:xfrm>
              <a:off x="3252" y="3339"/>
              <a:ext cx="8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63" name="Line 7"/>
            <p:cNvSpPr>
              <a:spLocks noChangeAspect="1" noChangeShapeType="1"/>
            </p:cNvSpPr>
            <p:nvPr/>
          </p:nvSpPr>
          <p:spPr bwMode="auto">
            <a:xfrm>
              <a:off x="3258" y="3172"/>
              <a:ext cx="0" cy="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64" name="Line 8"/>
            <p:cNvSpPr>
              <a:spLocks noChangeAspect="1" noChangeShapeType="1"/>
            </p:cNvSpPr>
            <p:nvPr/>
          </p:nvSpPr>
          <p:spPr bwMode="auto">
            <a:xfrm>
              <a:off x="3118" y="3174"/>
              <a:ext cx="27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65" name="Line 9"/>
            <p:cNvSpPr>
              <a:spLocks noChangeAspect="1" noChangeShapeType="1"/>
            </p:cNvSpPr>
            <p:nvPr/>
          </p:nvSpPr>
          <p:spPr bwMode="auto">
            <a:xfrm>
              <a:off x="3118" y="3534"/>
              <a:ext cx="27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66" name="Line 10"/>
            <p:cNvSpPr>
              <a:spLocks noChangeAspect="1" noChangeShapeType="1"/>
            </p:cNvSpPr>
            <p:nvPr/>
          </p:nvSpPr>
          <p:spPr bwMode="auto">
            <a:xfrm>
              <a:off x="4101" y="3177"/>
              <a:ext cx="0" cy="3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67" name="Line 11"/>
            <p:cNvSpPr>
              <a:spLocks noChangeAspect="1" noChangeShapeType="1"/>
            </p:cNvSpPr>
            <p:nvPr/>
          </p:nvSpPr>
          <p:spPr bwMode="auto">
            <a:xfrm rot="1935381" flipV="1">
              <a:off x="3962" y="3073"/>
              <a:ext cx="279" cy="17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68" name="Line 12"/>
            <p:cNvSpPr>
              <a:spLocks noChangeAspect="1" noChangeShapeType="1"/>
            </p:cNvSpPr>
            <p:nvPr/>
          </p:nvSpPr>
          <p:spPr bwMode="auto">
            <a:xfrm rot="2119572" flipV="1">
              <a:off x="3962" y="3419"/>
              <a:ext cx="278" cy="1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69" name="Oval 13"/>
            <p:cNvSpPr>
              <a:spLocks noChangeAspect="1" noChangeArrowheads="1"/>
            </p:cNvSpPr>
            <p:nvPr/>
          </p:nvSpPr>
          <p:spPr bwMode="auto">
            <a:xfrm>
              <a:off x="3600" y="3250"/>
              <a:ext cx="152" cy="16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0" name="AutoShape 14"/>
            <p:cNvSpPr>
              <a:spLocks noChangeArrowheads="1"/>
            </p:cNvSpPr>
            <p:nvPr/>
          </p:nvSpPr>
          <p:spPr bwMode="auto">
            <a:xfrm>
              <a:off x="3682" y="3250"/>
              <a:ext cx="76" cy="89"/>
            </a:xfrm>
            <a:prstGeom prst="rtTriangl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1" name="AutoShape 15"/>
            <p:cNvSpPr>
              <a:spLocks noChangeArrowheads="1"/>
            </p:cNvSpPr>
            <p:nvPr/>
          </p:nvSpPr>
          <p:spPr bwMode="auto">
            <a:xfrm rot="5400000" flipV="1">
              <a:off x="3606" y="3325"/>
              <a:ext cx="76" cy="89"/>
            </a:xfrm>
            <a:prstGeom prst="rtTriangl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437" name="Lin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3425" y="3790950"/>
            <a:ext cx="2433638" cy="1588"/>
          </a:xfrm>
          <a:prstGeom prst="line">
            <a:avLst/>
          </a:prstGeom>
          <a:noFill/>
          <a:ln w="9525">
            <a:solidFill>
              <a:srgbClr val="FF505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8438" name="Group 18"/>
          <p:cNvGrpSpPr>
            <a:grpSpLocks/>
          </p:cNvGrpSpPr>
          <p:nvPr/>
        </p:nvGrpSpPr>
        <p:grpSpPr bwMode="auto">
          <a:xfrm rot="909831" flipV="1">
            <a:off x="6380163" y="3362325"/>
            <a:ext cx="1782762" cy="863600"/>
            <a:chOff x="3118" y="3073"/>
            <a:chExt cx="1123" cy="544"/>
          </a:xfrm>
        </p:grpSpPr>
        <p:sp>
          <p:nvSpPr>
            <p:cNvPr id="18452" name="Line 19"/>
            <p:cNvSpPr>
              <a:spLocks noChangeAspect="1" noChangeShapeType="1"/>
            </p:cNvSpPr>
            <p:nvPr/>
          </p:nvSpPr>
          <p:spPr bwMode="auto">
            <a:xfrm>
              <a:off x="3252" y="3339"/>
              <a:ext cx="8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53" name="Line 20"/>
            <p:cNvSpPr>
              <a:spLocks noChangeAspect="1" noChangeShapeType="1"/>
            </p:cNvSpPr>
            <p:nvPr/>
          </p:nvSpPr>
          <p:spPr bwMode="auto">
            <a:xfrm>
              <a:off x="3258" y="3172"/>
              <a:ext cx="0" cy="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54" name="Line 21"/>
            <p:cNvSpPr>
              <a:spLocks noChangeAspect="1" noChangeShapeType="1"/>
            </p:cNvSpPr>
            <p:nvPr/>
          </p:nvSpPr>
          <p:spPr bwMode="auto">
            <a:xfrm>
              <a:off x="3118" y="3174"/>
              <a:ext cx="27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55" name="Line 22"/>
            <p:cNvSpPr>
              <a:spLocks noChangeAspect="1" noChangeShapeType="1"/>
            </p:cNvSpPr>
            <p:nvPr/>
          </p:nvSpPr>
          <p:spPr bwMode="auto">
            <a:xfrm>
              <a:off x="3118" y="3534"/>
              <a:ext cx="27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56" name="Line 23"/>
            <p:cNvSpPr>
              <a:spLocks noChangeAspect="1" noChangeShapeType="1"/>
            </p:cNvSpPr>
            <p:nvPr/>
          </p:nvSpPr>
          <p:spPr bwMode="auto">
            <a:xfrm>
              <a:off x="4101" y="3177"/>
              <a:ext cx="0" cy="3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57" name="Line 24"/>
            <p:cNvSpPr>
              <a:spLocks noChangeAspect="1" noChangeShapeType="1"/>
            </p:cNvSpPr>
            <p:nvPr/>
          </p:nvSpPr>
          <p:spPr bwMode="auto">
            <a:xfrm rot="1935381" flipV="1">
              <a:off x="3962" y="3073"/>
              <a:ext cx="279" cy="17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58" name="Line 25"/>
            <p:cNvSpPr>
              <a:spLocks noChangeAspect="1" noChangeShapeType="1"/>
            </p:cNvSpPr>
            <p:nvPr/>
          </p:nvSpPr>
          <p:spPr bwMode="auto">
            <a:xfrm rot="2119572" flipV="1">
              <a:off x="3962" y="3419"/>
              <a:ext cx="278" cy="1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59" name="Oval 26"/>
            <p:cNvSpPr>
              <a:spLocks noChangeAspect="1" noChangeArrowheads="1"/>
            </p:cNvSpPr>
            <p:nvPr/>
          </p:nvSpPr>
          <p:spPr bwMode="auto">
            <a:xfrm>
              <a:off x="3600" y="3250"/>
              <a:ext cx="152" cy="16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0" name="AutoShape 27"/>
            <p:cNvSpPr>
              <a:spLocks noChangeArrowheads="1"/>
            </p:cNvSpPr>
            <p:nvPr/>
          </p:nvSpPr>
          <p:spPr bwMode="auto">
            <a:xfrm>
              <a:off x="3682" y="3250"/>
              <a:ext cx="76" cy="89"/>
            </a:xfrm>
            <a:prstGeom prst="rtTriangl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1" name="AutoShape 28"/>
            <p:cNvSpPr>
              <a:spLocks noChangeArrowheads="1"/>
            </p:cNvSpPr>
            <p:nvPr/>
          </p:nvSpPr>
          <p:spPr bwMode="auto">
            <a:xfrm rot="5400000" flipV="1">
              <a:off x="3606" y="3325"/>
              <a:ext cx="76" cy="89"/>
            </a:xfrm>
            <a:prstGeom prst="rtTriangl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439" name="Line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22988" y="3768725"/>
            <a:ext cx="2849562" cy="12700"/>
          </a:xfrm>
          <a:prstGeom prst="line">
            <a:avLst/>
          </a:prstGeom>
          <a:noFill/>
          <a:ln w="9525">
            <a:solidFill>
              <a:srgbClr val="FF505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8440" name="Group 30"/>
          <p:cNvGrpSpPr>
            <a:grpSpLocks/>
          </p:cNvGrpSpPr>
          <p:nvPr/>
        </p:nvGrpSpPr>
        <p:grpSpPr bwMode="auto">
          <a:xfrm rot="-42017">
            <a:off x="3582988" y="3365500"/>
            <a:ext cx="1782762" cy="863600"/>
            <a:chOff x="3118" y="3073"/>
            <a:chExt cx="1123" cy="544"/>
          </a:xfrm>
        </p:grpSpPr>
        <p:sp>
          <p:nvSpPr>
            <p:cNvPr id="18442" name="Line 31"/>
            <p:cNvSpPr>
              <a:spLocks noChangeAspect="1" noChangeShapeType="1"/>
            </p:cNvSpPr>
            <p:nvPr/>
          </p:nvSpPr>
          <p:spPr bwMode="auto">
            <a:xfrm>
              <a:off x="3252" y="3339"/>
              <a:ext cx="8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43" name="Line 32"/>
            <p:cNvSpPr>
              <a:spLocks noChangeAspect="1" noChangeShapeType="1"/>
            </p:cNvSpPr>
            <p:nvPr/>
          </p:nvSpPr>
          <p:spPr bwMode="auto">
            <a:xfrm>
              <a:off x="3258" y="3172"/>
              <a:ext cx="0" cy="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44" name="Line 33"/>
            <p:cNvSpPr>
              <a:spLocks noChangeAspect="1" noChangeShapeType="1"/>
            </p:cNvSpPr>
            <p:nvPr/>
          </p:nvSpPr>
          <p:spPr bwMode="auto">
            <a:xfrm>
              <a:off x="3118" y="3174"/>
              <a:ext cx="27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45" name="Line 34"/>
            <p:cNvSpPr>
              <a:spLocks noChangeAspect="1" noChangeShapeType="1"/>
            </p:cNvSpPr>
            <p:nvPr/>
          </p:nvSpPr>
          <p:spPr bwMode="auto">
            <a:xfrm>
              <a:off x="3118" y="3534"/>
              <a:ext cx="27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46" name="Line 35"/>
            <p:cNvSpPr>
              <a:spLocks noChangeAspect="1" noChangeShapeType="1"/>
            </p:cNvSpPr>
            <p:nvPr/>
          </p:nvSpPr>
          <p:spPr bwMode="auto">
            <a:xfrm>
              <a:off x="4101" y="3177"/>
              <a:ext cx="0" cy="3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47" name="Line 36"/>
            <p:cNvSpPr>
              <a:spLocks noChangeAspect="1" noChangeShapeType="1"/>
            </p:cNvSpPr>
            <p:nvPr/>
          </p:nvSpPr>
          <p:spPr bwMode="auto">
            <a:xfrm rot="1935381" flipV="1">
              <a:off x="3962" y="3073"/>
              <a:ext cx="279" cy="17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48" name="Line 37"/>
            <p:cNvSpPr>
              <a:spLocks noChangeAspect="1" noChangeShapeType="1"/>
            </p:cNvSpPr>
            <p:nvPr/>
          </p:nvSpPr>
          <p:spPr bwMode="auto">
            <a:xfrm rot="2119572" flipV="1">
              <a:off x="3962" y="3419"/>
              <a:ext cx="278" cy="1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49" name="Oval 38"/>
            <p:cNvSpPr>
              <a:spLocks noChangeAspect="1" noChangeArrowheads="1"/>
            </p:cNvSpPr>
            <p:nvPr/>
          </p:nvSpPr>
          <p:spPr bwMode="auto">
            <a:xfrm>
              <a:off x="3600" y="3250"/>
              <a:ext cx="152" cy="16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0" name="AutoShape 39"/>
            <p:cNvSpPr>
              <a:spLocks noChangeArrowheads="1"/>
            </p:cNvSpPr>
            <p:nvPr/>
          </p:nvSpPr>
          <p:spPr bwMode="auto">
            <a:xfrm>
              <a:off x="3682" y="3250"/>
              <a:ext cx="76" cy="89"/>
            </a:xfrm>
            <a:prstGeom prst="rtTriangl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1" name="AutoShape 40"/>
            <p:cNvSpPr>
              <a:spLocks noChangeArrowheads="1"/>
            </p:cNvSpPr>
            <p:nvPr/>
          </p:nvSpPr>
          <p:spPr bwMode="auto">
            <a:xfrm rot="5400000" flipV="1">
              <a:off x="3606" y="3325"/>
              <a:ext cx="76" cy="89"/>
            </a:xfrm>
            <a:prstGeom prst="rtTriangl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441" name="Line 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25813" y="3783013"/>
            <a:ext cx="2566987" cy="14287"/>
          </a:xfrm>
          <a:prstGeom prst="line">
            <a:avLst/>
          </a:prstGeom>
          <a:noFill/>
          <a:ln w="9525">
            <a:solidFill>
              <a:srgbClr val="FF505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20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600" dirty="0"/>
              <a:t>It is difficult to control the vehicle using only </a:t>
            </a:r>
            <a:r>
              <a:rPr lang="en-US" sz="3600" dirty="0" err="1"/>
              <a:t>c.g.</a:t>
            </a:r>
            <a:r>
              <a:rPr lang="en-US" sz="3600" dirty="0"/>
              <a:t> lateral position information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dirty="0"/>
              <a:t>For example, it is very hard to keep  your car parallel to the center line while looking out the bottom of an open driver door.</a:t>
            </a:r>
          </a:p>
          <a:p>
            <a:pPr eaLnBrk="1" hangingPunct="1">
              <a:lnSpc>
                <a:spcPct val="110000"/>
              </a:lnSpc>
            </a:pPr>
            <a:endParaRPr lang="en-US" dirty="0"/>
          </a:p>
          <a:p>
            <a:pPr eaLnBrk="1" hangingPunct="1">
              <a:lnSpc>
                <a:spcPct val="110000"/>
              </a:lnSpc>
            </a:pPr>
            <a:r>
              <a:rPr lang="en-US" dirty="0"/>
              <a:t>What do they teach in high school Driver’s Ed?</a:t>
            </a:r>
          </a:p>
          <a:p>
            <a:pPr lvl="1" eaLnBrk="1" hangingPunct="1">
              <a:lnSpc>
                <a:spcPct val="110000"/>
              </a:lnSpc>
            </a:pPr>
            <a:r>
              <a:rPr lang="en-US" dirty="0"/>
              <a:t>Look ahead of the vehicle and try to control this point.</a:t>
            </a:r>
          </a:p>
        </p:txBody>
      </p:sp>
    </p:spTree>
    <p:extLst>
      <p:ext uri="{BB962C8B-B14F-4D97-AF65-F5344CB8AC3E}">
        <p14:creationId xmlns:p14="http://schemas.microsoft.com/office/powerpoint/2010/main" val="973966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dirty="0"/>
              <a:t>Preview: how a driver’s control is really done!</a:t>
            </a:r>
          </a:p>
        </p:txBody>
      </p:sp>
      <p:sp>
        <p:nvSpPr>
          <p:cNvPr id="20483" name="AutoShape 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7288" y="4935538"/>
            <a:ext cx="1184275" cy="887412"/>
          </a:xfrm>
          <a:custGeom>
            <a:avLst/>
            <a:gdLst>
              <a:gd name="T0" fmla="*/ 592138 w 21600"/>
              <a:gd name="T1" fmla="*/ 0 h 21600"/>
              <a:gd name="T2" fmla="*/ 47590 w 21600"/>
              <a:gd name="T3" fmla="*/ 444528 h 21600"/>
              <a:gd name="T4" fmla="*/ 592138 w 21600"/>
              <a:gd name="T5" fmla="*/ 71363 h 21600"/>
              <a:gd name="T6" fmla="*/ 1136685 w 21600"/>
              <a:gd name="T7" fmla="*/ 444528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737" y="10819"/>
                </a:moveTo>
                <a:cubicBezTo>
                  <a:pt x="1737" y="10812"/>
                  <a:pt x="1737" y="10806"/>
                  <a:pt x="1737" y="10800"/>
                </a:cubicBezTo>
                <a:cubicBezTo>
                  <a:pt x="1737" y="5794"/>
                  <a:pt x="5794" y="1737"/>
                  <a:pt x="10800" y="1737"/>
                </a:cubicBezTo>
                <a:cubicBezTo>
                  <a:pt x="15805" y="1737"/>
                  <a:pt x="19863" y="5794"/>
                  <a:pt x="19863" y="10800"/>
                </a:cubicBezTo>
                <a:cubicBezTo>
                  <a:pt x="19863" y="10806"/>
                  <a:pt x="19862" y="10812"/>
                  <a:pt x="19862" y="10819"/>
                </a:cubicBezTo>
                <a:lnTo>
                  <a:pt x="21599" y="10822"/>
                </a:lnTo>
                <a:cubicBezTo>
                  <a:pt x="21599" y="10815"/>
                  <a:pt x="21600" y="10807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-1" y="10807"/>
                  <a:pt x="0" y="10815"/>
                  <a:pt x="0" y="10822"/>
                </a:cubicBez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84" name="Line 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3713" y="4989513"/>
            <a:ext cx="0" cy="376237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85" name="Arc 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 flipH="1">
            <a:off x="5230813" y="4114800"/>
            <a:ext cx="2070100" cy="1023938"/>
          </a:xfrm>
          <a:custGeom>
            <a:avLst/>
            <a:gdLst>
              <a:gd name="T0" fmla="*/ 907106 w 21600"/>
              <a:gd name="T1" fmla="*/ 0 h 32291"/>
              <a:gd name="T2" fmla="*/ 1662214 w 21600"/>
              <a:gd name="T3" fmla="*/ 1023938 h 32291"/>
              <a:gd name="T4" fmla="*/ 0 w 21600"/>
              <a:gd name="T5" fmla="*/ 615676 h 32291"/>
              <a:gd name="T6" fmla="*/ 0 60000 65536"/>
              <a:gd name="T7" fmla="*/ 0 60000 65536"/>
              <a:gd name="T8" fmla="*/ 0 60000 65536"/>
              <a:gd name="T9" fmla="*/ 0 w 21600"/>
              <a:gd name="T10" fmla="*/ 0 h 32291"/>
              <a:gd name="T11" fmla="*/ 21600 w 21600"/>
              <a:gd name="T12" fmla="*/ 32291 h 3229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2291" fill="none" extrusionOk="0">
                <a:moveTo>
                  <a:pt x="9464" y="0"/>
                </a:moveTo>
                <a:cubicBezTo>
                  <a:pt x="16889" y="3619"/>
                  <a:pt x="21600" y="11156"/>
                  <a:pt x="21600" y="19416"/>
                </a:cubicBezTo>
                <a:cubicBezTo>
                  <a:pt x="21600" y="24053"/>
                  <a:pt x="20107" y="28567"/>
                  <a:pt x="17343" y="32290"/>
                </a:cubicBezTo>
              </a:path>
              <a:path w="21600" h="32291" stroke="0" extrusionOk="0">
                <a:moveTo>
                  <a:pt x="9464" y="0"/>
                </a:moveTo>
                <a:cubicBezTo>
                  <a:pt x="16889" y="3619"/>
                  <a:pt x="21600" y="11156"/>
                  <a:pt x="21600" y="19416"/>
                </a:cubicBezTo>
                <a:cubicBezTo>
                  <a:pt x="21600" y="24053"/>
                  <a:pt x="20107" y="28567"/>
                  <a:pt x="17343" y="32290"/>
                </a:cubicBezTo>
                <a:lnTo>
                  <a:pt x="0" y="19416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6" name="AutoShape 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9788" y="3470275"/>
            <a:ext cx="5003800" cy="1666875"/>
          </a:xfrm>
          <a:custGeom>
            <a:avLst/>
            <a:gdLst>
              <a:gd name="T0" fmla="*/ 4718630 w 21600"/>
              <a:gd name="T1" fmla="*/ 833438 h 21600"/>
              <a:gd name="T2" fmla="*/ 2501900 w 21600"/>
              <a:gd name="T3" fmla="*/ 1666875 h 21600"/>
              <a:gd name="T4" fmla="*/ 285170 w 21600"/>
              <a:gd name="T5" fmla="*/ 833438 h 21600"/>
              <a:gd name="T6" fmla="*/ 250190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31 w 21600"/>
              <a:gd name="T13" fmla="*/ 3031 h 21600"/>
              <a:gd name="T14" fmla="*/ 18569 w 21600"/>
              <a:gd name="T15" fmla="*/ 18569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62" y="21600"/>
                </a:lnTo>
                <a:lnTo>
                  <a:pt x="19138" y="21600"/>
                </a:lnTo>
                <a:lnTo>
                  <a:pt x="21600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7" name="Line 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82775" y="3468688"/>
            <a:ext cx="201613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88" name="Line 9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>
            <a:off x="7126288" y="3468688"/>
            <a:ext cx="215900" cy="1870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89" name="Line 10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68488" y="5122863"/>
            <a:ext cx="820737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90" name="Line 1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>
            <a:off x="6575425" y="5164138"/>
            <a:ext cx="739775" cy="174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91" name="Line 1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51088" y="4102100"/>
            <a:ext cx="4533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92" name="Arc 1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 flipH="1">
            <a:off x="3057525" y="4092575"/>
            <a:ext cx="2070100" cy="1023938"/>
          </a:xfrm>
          <a:custGeom>
            <a:avLst/>
            <a:gdLst>
              <a:gd name="T0" fmla="*/ 907106 w 21600"/>
              <a:gd name="T1" fmla="*/ 0 h 32291"/>
              <a:gd name="T2" fmla="*/ 1662214 w 21600"/>
              <a:gd name="T3" fmla="*/ 1023938 h 32291"/>
              <a:gd name="T4" fmla="*/ 0 w 21600"/>
              <a:gd name="T5" fmla="*/ 615676 h 32291"/>
              <a:gd name="T6" fmla="*/ 0 60000 65536"/>
              <a:gd name="T7" fmla="*/ 0 60000 65536"/>
              <a:gd name="T8" fmla="*/ 0 60000 65536"/>
              <a:gd name="T9" fmla="*/ 0 w 21600"/>
              <a:gd name="T10" fmla="*/ 0 h 32291"/>
              <a:gd name="T11" fmla="*/ 21600 w 21600"/>
              <a:gd name="T12" fmla="*/ 32291 h 3229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2291" fill="none" extrusionOk="0">
                <a:moveTo>
                  <a:pt x="9464" y="0"/>
                </a:moveTo>
                <a:cubicBezTo>
                  <a:pt x="16889" y="3619"/>
                  <a:pt x="21600" y="11156"/>
                  <a:pt x="21600" y="19416"/>
                </a:cubicBezTo>
                <a:cubicBezTo>
                  <a:pt x="21600" y="24053"/>
                  <a:pt x="20107" y="28567"/>
                  <a:pt x="17343" y="32290"/>
                </a:cubicBezTo>
              </a:path>
              <a:path w="21600" h="32291" stroke="0" extrusionOk="0">
                <a:moveTo>
                  <a:pt x="9464" y="0"/>
                </a:moveTo>
                <a:cubicBezTo>
                  <a:pt x="16889" y="3619"/>
                  <a:pt x="21600" y="11156"/>
                  <a:pt x="21600" y="19416"/>
                </a:cubicBezTo>
                <a:cubicBezTo>
                  <a:pt x="21600" y="24053"/>
                  <a:pt x="20107" y="28567"/>
                  <a:pt x="17343" y="32290"/>
                </a:cubicBezTo>
                <a:lnTo>
                  <a:pt x="0" y="19416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3" name="Line 1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14825" y="4127500"/>
            <a:ext cx="95250" cy="9953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20494" name="Group 17"/>
          <p:cNvGrpSpPr>
            <a:grpSpLocks/>
          </p:cNvGrpSpPr>
          <p:nvPr/>
        </p:nvGrpSpPr>
        <p:grpSpPr bwMode="auto">
          <a:xfrm>
            <a:off x="5230813" y="4129088"/>
            <a:ext cx="188912" cy="188912"/>
            <a:chOff x="1584" y="3439"/>
            <a:chExt cx="296" cy="263"/>
          </a:xfrm>
        </p:grpSpPr>
        <p:sp>
          <p:nvSpPr>
            <p:cNvPr id="20501" name="Line 15"/>
            <p:cNvSpPr>
              <a:spLocks noChangeShapeType="1"/>
            </p:cNvSpPr>
            <p:nvPr/>
          </p:nvSpPr>
          <p:spPr bwMode="auto">
            <a:xfrm flipH="1">
              <a:off x="1728" y="3439"/>
              <a:ext cx="0" cy="26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0502" name="Line 16"/>
            <p:cNvSpPr>
              <a:spLocks noChangeShapeType="1"/>
            </p:cNvSpPr>
            <p:nvPr/>
          </p:nvSpPr>
          <p:spPr bwMode="auto">
            <a:xfrm>
              <a:off x="1584" y="3566"/>
              <a:ext cx="2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0495" name="AutoShape 18"/>
          <p:cNvSpPr>
            <a:spLocks/>
          </p:cNvSpPr>
          <p:nvPr/>
        </p:nvSpPr>
        <p:spPr bwMode="auto">
          <a:xfrm>
            <a:off x="2101850" y="2360613"/>
            <a:ext cx="1412875" cy="946150"/>
          </a:xfrm>
          <a:prstGeom prst="borderCallout2">
            <a:avLst>
              <a:gd name="adj1" fmla="val 12079"/>
              <a:gd name="adj2" fmla="val 105394"/>
              <a:gd name="adj3" fmla="val 12079"/>
              <a:gd name="adj4" fmla="val 130111"/>
              <a:gd name="adj5" fmla="val 182551"/>
              <a:gd name="adj6" fmla="val 155731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rIns="0"/>
          <a:lstStyle/>
          <a:p>
            <a:pPr algn="ctr"/>
            <a:r>
              <a:rPr lang="en-US" sz="2000"/>
              <a:t>Vehicle longitudinal axis</a:t>
            </a:r>
          </a:p>
        </p:txBody>
      </p:sp>
      <p:sp>
        <p:nvSpPr>
          <p:cNvPr id="20496" name="Line 19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4195763"/>
            <a:ext cx="860425" cy="0"/>
          </a:xfrm>
          <a:prstGeom prst="line">
            <a:avLst/>
          </a:prstGeom>
          <a:noFill/>
          <a:ln w="9525">
            <a:solidFill>
              <a:srgbClr val="FF505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97" name="AutoShape 20"/>
          <p:cNvSpPr>
            <a:spLocks/>
          </p:cNvSpPr>
          <p:nvPr/>
        </p:nvSpPr>
        <p:spPr bwMode="auto">
          <a:xfrm>
            <a:off x="6508750" y="2108200"/>
            <a:ext cx="1412875" cy="717550"/>
          </a:xfrm>
          <a:prstGeom prst="borderCallout2">
            <a:avLst>
              <a:gd name="adj1" fmla="val 15931"/>
              <a:gd name="adj2" fmla="val -5394"/>
              <a:gd name="adj3" fmla="val 15931"/>
              <a:gd name="adj4" fmla="val -41912"/>
              <a:gd name="adj5" fmla="val 276551"/>
              <a:gd name="adj6" fmla="val -7977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rIns="0"/>
          <a:lstStyle/>
          <a:p>
            <a:pPr algn="ctr"/>
            <a:r>
              <a:rPr lang="en-US" sz="2000"/>
              <a:t>Desired look-ahead point</a:t>
            </a:r>
          </a:p>
        </p:txBody>
      </p:sp>
      <p:sp>
        <p:nvSpPr>
          <p:cNvPr id="20498" name="Text Box 22"/>
          <p:cNvSpPr txBox="1">
            <a:spLocks noChangeArrowheads="1"/>
          </p:cNvSpPr>
          <p:nvPr/>
        </p:nvSpPr>
        <p:spPr bwMode="auto">
          <a:xfrm>
            <a:off x="4560888" y="4170363"/>
            <a:ext cx="628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FF5050"/>
                </a:solidFill>
              </a:rPr>
              <a:t>error</a:t>
            </a:r>
          </a:p>
        </p:txBody>
      </p:sp>
      <p:sp>
        <p:nvSpPr>
          <p:cNvPr id="20499" name="AutoShape 23"/>
          <p:cNvSpPr>
            <a:spLocks/>
          </p:cNvSpPr>
          <p:nvPr/>
        </p:nvSpPr>
        <p:spPr bwMode="auto">
          <a:xfrm>
            <a:off x="6818313" y="5794375"/>
            <a:ext cx="1412875" cy="409575"/>
          </a:xfrm>
          <a:prstGeom prst="borderCallout2">
            <a:avLst>
              <a:gd name="adj1" fmla="val 27907"/>
              <a:gd name="adj2" fmla="val -5394"/>
              <a:gd name="adj3" fmla="val 27907"/>
              <a:gd name="adj4" fmla="val -43370"/>
              <a:gd name="adj5" fmla="val -152713"/>
              <a:gd name="adj6" fmla="val -8258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rIns="0"/>
          <a:lstStyle/>
          <a:p>
            <a:pPr algn="ctr"/>
            <a:r>
              <a:rPr lang="en-US" sz="2000"/>
              <a:t>Road path</a:t>
            </a:r>
          </a:p>
        </p:txBody>
      </p:sp>
      <p:sp>
        <p:nvSpPr>
          <p:cNvPr id="20500" name="Rectangle 24"/>
          <p:cNvSpPr>
            <a:spLocks noGrp="1" noChangeArrowheads="1"/>
          </p:cNvSpPr>
          <p:nvPr>
            <p:ph type="body" idx="1"/>
          </p:nvPr>
        </p:nvSpPr>
        <p:spPr>
          <a:xfrm>
            <a:off x="930275" y="1574800"/>
            <a:ext cx="7958138" cy="663575"/>
          </a:xfrm>
          <a:noFill/>
        </p:spPr>
        <p:txBody>
          <a:bodyPr/>
          <a:lstStyle/>
          <a:p>
            <a:pPr eaLnBrk="1" hangingPunct="1"/>
            <a:r>
              <a:rPr lang="en-US"/>
              <a:t>From inside the vehicle:</a:t>
            </a:r>
          </a:p>
        </p:txBody>
      </p:sp>
    </p:spTree>
    <p:extLst>
      <p:ext uri="{BB962C8B-B14F-4D97-AF65-F5344CB8AC3E}">
        <p14:creationId xmlns:p14="http://schemas.microsoft.com/office/powerpoint/2010/main" val="3056426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74073" y="608013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A view from above the vehicle shows that using preview is like using both yaw and lateral control</a:t>
            </a:r>
          </a:p>
        </p:txBody>
      </p:sp>
      <p:grpSp>
        <p:nvGrpSpPr>
          <p:cNvPr id="21508" name="Group 5"/>
          <p:cNvGrpSpPr>
            <a:grpSpLocks/>
          </p:cNvGrpSpPr>
          <p:nvPr/>
        </p:nvGrpSpPr>
        <p:grpSpPr bwMode="auto">
          <a:xfrm rot="-909831">
            <a:off x="2549525" y="3587750"/>
            <a:ext cx="1782763" cy="863600"/>
            <a:chOff x="3118" y="3073"/>
            <a:chExt cx="1123" cy="544"/>
          </a:xfrm>
        </p:grpSpPr>
        <p:sp>
          <p:nvSpPr>
            <p:cNvPr id="21526" name="Line 6"/>
            <p:cNvSpPr>
              <a:spLocks noChangeAspect="1" noChangeShapeType="1"/>
            </p:cNvSpPr>
            <p:nvPr/>
          </p:nvSpPr>
          <p:spPr bwMode="auto">
            <a:xfrm>
              <a:off x="3252" y="3339"/>
              <a:ext cx="8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7" name="Line 7"/>
            <p:cNvSpPr>
              <a:spLocks noChangeAspect="1" noChangeShapeType="1"/>
            </p:cNvSpPr>
            <p:nvPr/>
          </p:nvSpPr>
          <p:spPr bwMode="auto">
            <a:xfrm>
              <a:off x="3258" y="3172"/>
              <a:ext cx="0" cy="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8" name="Line 8"/>
            <p:cNvSpPr>
              <a:spLocks noChangeAspect="1" noChangeShapeType="1"/>
            </p:cNvSpPr>
            <p:nvPr/>
          </p:nvSpPr>
          <p:spPr bwMode="auto">
            <a:xfrm>
              <a:off x="3118" y="3174"/>
              <a:ext cx="27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9" name="Line 9"/>
            <p:cNvSpPr>
              <a:spLocks noChangeAspect="1" noChangeShapeType="1"/>
            </p:cNvSpPr>
            <p:nvPr/>
          </p:nvSpPr>
          <p:spPr bwMode="auto">
            <a:xfrm>
              <a:off x="3118" y="3534"/>
              <a:ext cx="27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30" name="Line 10"/>
            <p:cNvSpPr>
              <a:spLocks noChangeAspect="1" noChangeShapeType="1"/>
            </p:cNvSpPr>
            <p:nvPr/>
          </p:nvSpPr>
          <p:spPr bwMode="auto">
            <a:xfrm>
              <a:off x="4101" y="3177"/>
              <a:ext cx="0" cy="3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31" name="Line 11"/>
            <p:cNvSpPr>
              <a:spLocks noChangeAspect="1" noChangeShapeType="1"/>
            </p:cNvSpPr>
            <p:nvPr/>
          </p:nvSpPr>
          <p:spPr bwMode="auto">
            <a:xfrm rot="1935381" flipV="1">
              <a:off x="3962" y="3073"/>
              <a:ext cx="279" cy="17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32" name="Line 12"/>
            <p:cNvSpPr>
              <a:spLocks noChangeAspect="1" noChangeShapeType="1"/>
            </p:cNvSpPr>
            <p:nvPr/>
          </p:nvSpPr>
          <p:spPr bwMode="auto">
            <a:xfrm rot="2119572" flipV="1">
              <a:off x="3962" y="3419"/>
              <a:ext cx="278" cy="1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33" name="Oval 13"/>
            <p:cNvSpPr>
              <a:spLocks noChangeAspect="1" noChangeArrowheads="1"/>
            </p:cNvSpPr>
            <p:nvPr/>
          </p:nvSpPr>
          <p:spPr bwMode="auto">
            <a:xfrm>
              <a:off x="3600" y="3250"/>
              <a:ext cx="152" cy="16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4" name="AutoShape 14"/>
            <p:cNvSpPr>
              <a:spLocks noChangeArrowheads="1"/>
            </p:cNvSpPr>
            <p:nvPr/>
          </p:nvSpPr>
          <p:spPr bwMode="auto">
            <a:xfrm>
              <a:off x="3682" y="3250"/>
              <a:ext cx="76" cy="89"/>
            </a:xfrm>
            <a:prstGeom prst="rtTriangl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5" name="AutoShape 15"/>
            <p:cNvSpPr>
              <a:spLocks noChangeArrowheads="1"/>
            </p:cNvSpPr>
            <p:nvPr/>
          </p:nvSpPr>
          <p:spPr bwMode="auto">
            <a:xfrm rot="5400000" flipV="1">
              <a:off x="3606" y="3325"/>
              <a:ext cx="76" cy="89"/>
            </a:xfrm>
            <a:prstGeom prst="rtTriangl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509" name="Lin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50938" y="4678363"/>
            <a:ext cx="7180262" cy="1587"/>
          </a:xfrm>
          <a:prstGeom prst="line">
            <a:avLst/>
          </a:prstGeom>
          <a:noFill/>
          <a:ln w="9525">
            <a:solidFill>
              <a:srgbClr val="FF505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0" name="Text Box 17"/>
          <p:cNvSpPr txBox="1">
            <a:spLocks noChangeArrowheads="1"/>
          </p:cNvSpPr>
          <p:nvPr/>
        </p:nvSpPr>
        <p:spPr bwMode="auto">
          <a:xfrm>
            <a:off x="984250" y="4676775"/>
            <a:ext cx="12080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>
                <a:solidFill>
                  <a:srgbClr val="FF5050"/>
                </a:solidFill>
              </a:rPr>
              <a:t>desired path</a:t>
            </a:r>
          </a:p>
        </p:txBody>
      </p:sp>
      <p:sp>
        <p:nvSpPr>
          <p:cNvPr id="21511" name="Lin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54488" y="3106738"/>
            <a:ext cx="2609850" cy="700087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2" name="Lin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49650" y="4029075"/>
            <a:ext cx="3482975" cy="1588"/>
          </a:xfrm>
          <a:prstGeom prst="line">
            <a:avLst/>
          </a:prstGeom>
          <a:noFill/>
          <a:ln w="9525">
            <a:solidFill>
              <a:srgbClr val="FF505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3" name="Arc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 flipV="1">
            <a:off x="5657850" y="3417888"/>
            <a:ext cx="211138" cy="582612"/>
          </a:xfrm>
          <a:custGeom>
            <a:avLst/>
            <a:gdLst>
              <a:gd name="T0" fmla="*/ 6011 w 22233"/>
              <a:gd name="T1" fmla="*/ 0 h 43200"/>
              <a:gd name="T2" fmla="*/ 0 w 22233"/>
              <a:gd name="T3" fmla="*/ 582491 h 43200"/>
              <a:gd name="T4" fmla="*/ 6011 w 22233"/>
              <a:gd name="T5" fmla="*/ 291306 h 43200"/>
              <a:gd name="T6" fmla="*/ 0 60000 65536"/>
              <a:gd name="T7" fmla="*/ 0 60000 65536"/>
              <a:gd name="T8" fmla="*/ 0 60000 65536"/>
              <a:gd name="T9" fmla="*/ 0 w 22233"/>
              <a:gd name="T10" fmla="*/ 0 h 43200"/>
              <a:gd name="T11" fmla="*/ 22233 w 2223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233" h="43200" fill="none" extrusionOk="0">
                <a:moveTo>
                  <a:pt x="632" y="0"/>
                </a:moveTo>
                <a:cubicBezTo>
                  <a:pt x="12562" y="0"/>
                  <a:pt x="22233" y="9670"/>
                  <a:pt x="22233" y="21600"/>
                </a:cubicBezTo>
                <a:cubicBezTo>
                  <a:pt x="22233" y="33529"/>
                  <a:pt x="12562" y="43200"/>
                  <a:pt x="633" y="43200"/>
                </a:cubicBezTo>
                <a:cubicBezTo>
                  <a:pt x="421" y="43200"/>
                  <a:pt x="210" y="43196"/>
                  <a:pt x="0" y="43190"/>
                </a:cubicBezTo>
              </a:path>
              <a:path w="22233" h="43200" stroke="0" extrusionOk="0">
                <a:moveTo>
                  <a:pt x="632" y="0"/>
                </a:moveTo>
                <a:cubicBezTo>
                  <a:pt x="12562" y="0"/>
                  <a:pt x="22233" y="9670"/>
                  <a:pt x="22233" y="21600"/>
                </a:cubicBezTo>
                <a:cubicBezTo>
                  <a:pt x="22233" y="33529"/>
                  <a:pt x="12562" y="43200"/>
                  <a:pt x="633" y="43200"/>
                </a:cubicBezTo>
                <a:cubicBezTo>
                  <a:pt x="421" y="43200"/>
                  <a:pt x="210" y="43196"/>
                  <a:pt x="0" y="43190"/>
                </a:cubicBezTo>
                <a:lnTo>
                  <a:pt x="633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4" name="Text Box 22"/>
          <p:cNvSpPr txBox="1">
            <a:spLocks noChangeArrowheads="1"/>
          </p:cNvSpPr>
          <p:nvPr/>
        </p:nvSpPr>
        <p:spPr bwMode="auto">
          <a:xfrm>
            <a:off x="5462588" y="3494088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600">
                <a:latin typeface="Symbol" pitchFamily="18" charset="2"/>
              </a:rPr>
              <a:t>y</a:t>
            </a:r>
          </a:p>
        </p:txBody>
      </p:sp>
      <p:sp>
        <p:nvSpPr>
          <p:cNvPr id="21515" name="Lin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35338" y="2649538"/>
            <a:ext cx="3360737" cy="968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6" name="Text Box 24"/>
          <p:cNvSpPr txBox="1">
            <a:spLocks noChangeArrowheads="1"/>
          </p:cNvSpPr>
          <p:nvPr/>
        </p:nvSpPr>
        <p:spPr bwMode="auto">
          <a:xfrm>
            <a:off x="3376613" y="2719388"/>
            <a:ext cx="19319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/>
              <a:t>preview length = L</a:t>
            </a:r>
          </a:p>
        </p:txBody>
      </p:sp>
      <p:sp>
        <p:nvSpPr>
          <p:cNvPr id="21517" name="Lin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3267075" y="3536950"/>
            <a:ext cx="68263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8" name="Lin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6642100" y="2516188"/>
            <a:ext cx="66675" cy="269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9" name="AutoShap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708775" y="3148013"/>
            <a:ext cx="185738" cy="863600"/>
          </a:xfrm>
          <a:prstGeom prst="rightBrace">
            <a:avLst>
              <a:gd name="adj1" fmla="val 3874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0" name="Text Box 28"/>
          <p:cNvSpPr txBox="1">
            <a:spLocks noChangeArrowheads="1"/>
          </p:cNvSpPr>
          <p:nvPr/>
        </p:nvSpPr>
        <p:spPr bwMode="auto">
          <a:xfrm>
            <a:off x="6923088" y="3057525"/>
            <a:ext cx="204152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1800"/>
              <a:t>L*sin(</a:t>
            </a:r>
            <a:r>
              <a:rPr lang="en-US" sz="1800">
                <a:latin typeface="Symbol" pitchFamily="18" charset="2"/>
              </a:rPr>
              <a:t>y</a:t>
            </a:r>
            <a:r>
              <a:rPr lang="en-US" sz="1800"/>
              <a:t>) = error from orientation mismatch</a:t>
            </a:r>
          </a:p>
        </p:txBody>
      </p:sp>
      <p:sp>
        <p:nvSpPr>
          <p:cNvPr id="21521" name="Line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26263" y="3295650"/>
            <a:ext cx="209550" cy="234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22" name="Line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5" y="4059238"/>
            <a:ext cx="0" cy="595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23" name="Text Box 31"/>
          <p:cNvSpPr txBox="1">
            <a:spLocks noChangeArrowheads="1"/>
          </p:cNvSpPr>
          <p:nvPr/>
        </p:nvSpPr>
        <p:spPr bwMode="auto">
          <a:xfrm>
            <a:off x="6732588" y="4151313"/>
            <a:ext cx="15160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1800"/>
              <a:t>lateral error</a:t>
            </a:r>
          </a:p>
        </p:txBody>
      </p:sp>
      <p:sp>
        <p:nvSpPr>
          <p:cNvPr id="21524" name="AutoShape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359525" y="3144838"/>
            <a:ext cx="319088" cy="1509712"/>
          </a:xfrm>
          <a:prstGeom prst="leftBrace">
            <a:avLst>
              <a:gd name="adj1" fmla="val 39428"/>
              <a:gd name="adj2" fmla="val 50000"/>
            </a:avLst>
          </a:prstGeom>
          <a:noFill/>
          <a:ln w="57150">
            <a:solidFill>
              <a:srgbClr val="00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5" name="AutoShape 33"/>
          <p:cNvSpPr>
            <a:spLocks/>
          </p:cNvSpPr>
          <p:nvPr/>
        </p:nvSpPr>
        <p:spPr bwMode="auto">
          <a:xfrm>
            <a:off x="4370388" y="4957763"/>
            <a:ext cx="914400" cy="733425"/>
          </a:xfrm>
          <a:prstGeom prst="borderCallout2">
            <a:avLst>
              <a:gd name="adj1" fmla="val 15583"/>
              <a:gd name="adj2" fmla="val 108333"/>
              <a:gd name="adj3" fmla="val 15583"/>
              <a:gd name="adj4" fmla="val 158856"/>
              <a:gd name="adj5" fmla="val -143292"/>
              <a:gd name="adj6" fmla="val 211458"/>
            </a:avLst>
          </a:prstGeom>
          <a:solidFill>
            <a:schemeClr val="bg1"/>
          </a:solidFill>
          <a:ln w="9525">
            <a:solidFill>
              <a:srgbClr val="0066FF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>
                <a:solidFill>
                  <a:srgbClr val="0066FF"/>
                </a:solidFill>
              </a:rPr>
              <a:t>total error</a:t>
            </a:r>
          </a:p>
        </p:txBody>
      </p:sp>
    </p:spTree>
    <p:extLst>
      <p:ext uri="{BB962C8B-B14F-4D97-AF65-F5344CB8AC3E}">
        <p14:creationId xmlns:p14="http://schemas.microsoft.com/office/powerpoint/2010/main" val="2039107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38897" y="552438"/>
            <a:ext cx="8819366" cy="1143000"/>
          </a:xfrm>
        </p:spPr>
        <p:txBody>
          <a:bodyPr/>
          <a:lstStyle/>
          <a:p>
            <a:pPr algn="l" eaLnBrk="1" hangingPunct="1"/>
            <a:r>
              <a:rPr lang="en-US" sz="3600" dirty="0"/>
              <a:t>For normal, “look-ahead” driving, we see that the driver acts like a state-feedback controller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24580" name="Lin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3549650" y="3606800"/>
            <a:ext cx="817563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1012825" y="3387725"/>
            <a:ext cx="2562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/>
              <a:t>lateral error + L*sin(</a:t>
            </a:r>
            <a:r>
              <a:rPr lang="en-US" sz="2000">
                <a:latin typeface="Symbol" pitchFamily="18" charset="2"/>
              </a:rPr>
              <a:t>y</a:t>
            </a:r>
            <a:r>
              <a:rPr lang="en-US" sz="2000"/>
              <a:t>)</a:t>
            </a:r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4354513" y="3171825"/>
            <a:ext cx="1398587" cy="8731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/>
              <a:t>G</a:t>
            </a:r>
            <a:r>
              <a:rPr lang="en-US" sz="2800" baseline="-25000"/>
              <a:t>driver</a:t>
            </a:r>
            <a:r>
              <a:rPr lang="en-US" sz="2800"/>
              <a:t>(s)</a:t>
            </a:r>
          </a:p>
        </p:txBody>
      </p:sp>
      <p:sp>
        <p:nvSpPr>
          <p:cNvPr id="24583" name="Lin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5772150" y="3579813"/>
            <a:ext cx="714375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6459538" y="3101975"/>
            <a:ext cx="249872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/>
              <a:t>Steer angle or steer angle command (if you include limb dynamics)</a:t>
            </a:r>
          </a:p>
        </p:txBody>
      </p:sp>
      <p:sp>
        <p:nvSpPr>
          <p:cNvPr id="24585" name="Auto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 rot="5400000">
            <a:off x="2880518" y="3307557"/>
            <a:ext cx="188913" cy="1047750"/>
          </a:xfrm>
          <a:prstGeom prst="rightBrace">
            <a:avLst>
              <a:gd name="adj1" fmla="val 4621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6" name="Lin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2786063" y="3968750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87" name="Lin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2911475" y="3968750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1357313" y="4144963"/>
            <a:ext cx="399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/>
              <a:t>preview distance*heading angle error</a:t>
            </a:r>
          </a:p>
        </p:txBody>
      </p:sp>
      <p:sp>
        <p:nvSpPr>
          <p:cNvPr id="24589" name="Freeform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882900" y="4537075"/>
            <a:ext cx="63500" cy="307975"/>
          </a:xfrm>
          <a:custGeom>
            <a:avLst/>
            <a:gdLst>
              <a:gd name="T0" fmla="*/ 15 w 40"/>
              <a:gd name="T1" fmla="*/ 0 h 194"/>
              <a:gd name="T2" fmla="*/ 40 w 40"/>
              <a:gd name="T3" fmla="*/ 34 h 194"/>
              <a:gd name="T4" fmla="*/ 32 w 40"/>
              <a:gd name="T5" fmla="*/ 78 h 194"/>
              <a:gd name="T6" fmla="*/ 4 w 40"/>
              <a:gd name="T7" fmla="*/ 126 h 194"/>
              <a:gd name="T8" fmla="*/ 0 w 40"/>
              <a:gd name="T9" fmla="*/ 166 h 194"/>
              <a:gd name="T10" fmla="*/ 14 w 40"/>
              <a:gd name="T11" fmla="*/ 194 h 19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0"/>
              <a:gd name="T19" fmla="*/ 0 h 194"/>
              <a:gd name="T20" fmla="*/ 40 w 40"/>
              <a:gd name="T21" fmla="*/ 194 h 19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0" h="194">
                <a:moveTo>
                  <a:pt x="15" y="0"/>
                </a:moveTo>
                <a:lnTo>
                  <a:pt x="40" y="34"/>
                </a:lnTo>
                <a:lnTo>
                  <a:pt x="32" y="78"/>
                </a:lnTo>
                <a:lnTo>
                  <a:pt x="4" y="126"/>
                </a:lnTo>
                <a:lnTo>
                  <a:pt x="0" y="166"/>
                </a:lnTo>
                <a:lnTo>
                  <a:pt x="14" y="194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90" name="Text Box 15"/>
          <p:cNvSpPr txBox="1">
            <a:spLocks noChangeArrowheads="1"/>
          </p:cNvSpPr>
          <p:nvPr/>
        </p:nvSpPr>
        <p:spPr bwMode="auto">
          <a:xfrm>
            <a:off x="1468438" y="4775200"/>
            <a:ext cx="3744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/>
              <a:t>L*</a:t>
            </a:r>
            <a:r>
              <a:rPr lang="en-US" sz="2000">
                <a:latin typeface="Symbol" pitchFamily="18" charset="2"/>
              </a:rPr>
              <a:t>y</a:t>
            </a:r>
            <a:r>
              <a:rPr lang="en-US" sz="2000"/>
              <a:t> for small heading angle errors</a:t>
            </a:r>
          </a:p>
        </p:txBody>
      </p:sp>
      <p:sp>
        <p:nvSpPr>
          <p:cNvPr id="24591" name="Freeform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755900" y="4549775"/>
            <a:ext cx="63500" cy="307975"/>
          </a:xfrm>
          <a:custGeom>
            <a:avLst/>
            <a:gdLst>
              <a:gd name="T0" fmla="*/ 15 w 40"/>
              <a:gd name="T1" fmla="*/ 0 h 194"/>
              <a:gd name="T2" fmla="*/ 40 w 40"/>
              <a:gd name="T3" fmla="*/ 34 h 194"/>
              <a:gd name="T4" fmla="*/ 32 w 40"/>
              <a:gd name="T5" fmla="*/ 78 h 194"/>
              <a:gd name="T6" fmla="*/ 4 w 40"/>
              <a:gd name="T7" fmla="*/ 126 h 194"/>
              <a:gd name="T8" fmla="*/ 0 w 40"/>
              <a:gd name="T9" fmla="*/ 166 h 194"/>
              <a:gd name="T10" fmla="*/ 14 w 40"/>
              <a:gd name="T11" fmla="*/ 194 h 19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0"/>
              <a:gd name="T19" fmla="*/ 0 h 194"/>
              <a:gd name="T20" fmla="*/ 40 w 40"/>
              <a:gd name="T21" fmla="*/ 194 h 19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0" h="194">
                <a:moveTo>
                  <a:pt x="15" y="0"/>
                </a:moveTo>
                <a:lnTo>
                  <a:pt x="40" y="34"/>
                </a:lnTo>
                <a:lnTo>
                  <a:pt x="32" y="78"/>
                </a:lnTo>
                <a:lnTo>
                  <a:pt x="4" y="126"/>
                </a:lnTo>
                <a:lnTo>
                  <a:pt x="0" y="166"/>
                </a:lnTo>
                <a:lnTo>
                  <a:pt x="14" y="194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12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The look-ahead or preview distance is a critical factor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dirty="0"/>
              <a:t>For pure lateral control (no preview), the input to the driver would be the lateral error.</a:t>
            </a:r>
          </a:p>
          <a:p>
            <a:pPr eaLnBrk="1" hangingPunct="1">
              <a:lnSpc>
                <a:spcPct val="110000"/>
              </a:lnSpc>
            </a:pPr>
            <a:endParaRPr lang="en-US" dirty="0"/>
          </a:p>
          <a:p>
            <a:pPr eaLnBrk="1" hangingPunct="1">
              <a:lnSpc>
                <a:spcPct val="110000"/>
              </a:lnSpc>
            </a:pPr>
            <a:endParaRPr lang="en-US" dirty="0"/>
          </a:p>
          <a:p>
            <a:pPr eaLnBrk="1" hangingPunct="1">
              <a:lnSpc>
                <a:spcPct val="110000"/>
              </a:lnSpc>
            </a:pPr>
            <a:r>
              <a:rPr lang="en-US" dirty="0"/>
              <a:t>The lateral error is given in Earth fixed coordinates for our purposes.</a:t>
            </a:r>
          </a:p>
        </p:txBody>
      </p:sp>
      <p:sp>
        <p:nvSpPr>
          <p:cNvPr id="22532" name="Lin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2046866" y="3350439"/>
            <a:ext cx="1155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1227716" y="3023414"/>
            <a:ext cx="1257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/>
              <a:t>lateral error</a:t>
            </a:r>
          </a:p>
        </p:txBody>
      </p:sp>
      <p:sp>
        <p:nvSpPr>
          <p:cNvPr id="22534" name="Rectangle 8"/>
          <p:cNvSpPr>
            <a:spLocks noChangeArrowheads="1"/>
          </p:cNvSpPr>
          <p:nvPr/>
        </p:nvSpPr>
        <p:spPr bwMode="auto">
          <a:xfrm>
            <a:off x="3162878" y="2913877"/>
            <a:ext cx="1398588" cy="8731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G</a:t>
            </a:r>
            <a:r>
              <a:rPr lang="en-US" baseline="-25000"/>
              <a:t>driver</a:t>
            </a:r>
            <a:r>
              <a:rPr lang="en-US"/>
              <a:t>(s)</a:t>
            </a:r>
          </a:p>
        </p:txBody>
      </p:sp>
      <p:sp>
        <p:nvSpPr>
          <p:cNvPr id="22535" name="Lin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4601153" y="3350439"/>
            <a:ext cx="969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36" name="Text Box 11"/>
          <p:cNvSpPr txBox="1">
            <a:spLocks noChangeArrowheads="1"/>
          </p:cNvSpPr>
          <p:nvPr/>
        </p:nvSpPr>
        <p:spPr bwMode="auto">
          <a:xfrm>
            <a:off x="5615566" y="3112314"/>
            <a:ext cx="3157537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/>
              <a:t>Steer angle or steer angle command (if you include limb dynamics)</a:t>
            </a:r>
          </a:p>
        </p:txBody>
      </p:sp>
    </p:spTree>
    <p:extLst>
      <p:ext uri="{BB962C8B-B14F-4D97-AF65-F5344CB8AC3E}">
        <p14:creationId xmlns:p14="http://schemas.microsoft.com/office/powerpoint/2010/main" val="13537204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dirty="0"/>
              <a:t>We need to reconcile body-fixed to earth-fixed tracking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7263" y="1481138"/>
            <a:ext cx="7958137" cy="4414837"/>
          </a:xfrm>
        </p:spPr>
        <p:txBody>
          <a:bodyPr/>
          <a:lstStyle/>
          <a:p>
            <a:pPr eaLnBrk="1" hangingPunct="1"/>
            <a:r>
              <a:rPr lang="en-US" sz="2400"/>
              <a:t>In a general case, the earth fixed coordinates would have to move along with the road.</a:t>
            </a:r>
          </a:p>
        </p:txBody>
      </p:sp>
      <p:pic>
        <p:nvPicPr>
          <p:cNvPr id="23556" name="Picture 4" descr="tn00418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75" y="2390775"/>
            <a:ext cx="7123113" cy="402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Lin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00888" y="4062413"/>
            <a:ext cx="496887" cy="457200"/>
          </a:xfrm>
          <a:prstGeom prst="line">
            <a:avLst/>
          </a:prstGeom>
          <a:noFill/>
          <a:ln w="57150">
            <a:solidFill>
              <a:srgbClr val="FF5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58" name="Text Box 7"/>
          <p:cNvSpPr txBox="1">
            <a:spLocks noChangeArrowheads="1"/>
          </p:cNvSpPr>
          <p:nvPr/>
        </p:nvSpPr>
        <p:spPr bwMode="auto">
          <a:xfrm>
            <a:off x="6488113" y="3789363"/>
            <a:ext cx="512762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 b="1">
                <a:solidFill>
                  <a:srgbClr val="FF5050"/>
                </a:solidFill>
              </a:rPr>
              <a:t>X</a:t>
            </a:r>
            <a:r>
              <a:rPr lang="en-US" sz="1800" b="1" baseline="-25000">
                <a:solidFill>
                  <a:srgbClr val="FF5050"/>
                </a:solidFill>
              </a:rPr>
              <a:t>earth</a:t>
            </a:r>
          </a:p>
        </p:txBody>
      </p:sp>
      <p:sp>
        <p:nvSpPr>
          <p:cNvPr id="23559" name="Lin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27775" y="4124325"/>
            <a:ext cx="804863" cy="412750"/>
          </a:xfrm>
          <a:prstGeom prst="line">
            <a:avLst/>
          </a:prstGeom>
          <a:noFill/>
          <a:ln w="57150">
            <a:solidFill>
              <a:srgbClr val="FF5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0" name="Text Box 10"/>
          <p:cNvSpPr txBox="1">
            <a:spLocks noChangeArrowheads="1"/>
          </p:cNvSpPr>
          <p:nvPr/>
        </p:nvSpPr>
        <p:spPr bwMode="auto">
          <a:xfrm>
            <a:off x="7218363" y="3700463"/>
            <a:ext cx="512762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 b="1">
                <a:solidFill>
                  <a:srgbClr val="FF5050"/>
                </a:solidFill>
              </a:rPr>
              <a:t>Y</a:t>
            </a:r>
            <a:r>
              <a:rPr lang="en-US" sz="1800" b="1" baseline="-25000">
                <a:solidFill>
                  <a:srgbClr val="FF5050"/>
                </a:solidFill>
              </a:rPr>
              <a:t>earth</a:t>
            </a:r>
          </a:p>
        </p:txBody>
      </p:sp>
    </p:spTree>
    <p:extLst>
      <p:ext uri="{BB962C8B-B14F-4D97-AF65-F5344CB8AC3E}">
        <p14:creationId xmlns:p14="http://schemas.microsoft.com/office/powerpoint/2010/main" val="12284461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dirty="0"/>
              <a:t>There is such thing as too much look-ahead, or too little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7263" y="1654175"/>
            <a:ext cx="7958137" cy="467042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z="2800" dirty="0"/>
              <a:t>The larger the look-ahead distance L is, the greater the relative contribution of yaw angle orientation to the driver feedback.</a:t>
            </a:r>
          </a:p>
          <a:p>
            <a:pPr eaLnBrk="1" hangingPunct="1">
              <a:lnSpc>
                <a:spcPct val="110000"/>
              </a:lnSpc>
            </a:pPr>
            <a:r>
              <a:rPr lang="en-US" sz="2800" dirty="0"/>
              <a:t>Yaw feedback has a tendency to stabilize the Driver-Vehicle system.</a:t>
            </a:r>
          </a:p>
          <a:p>
            <a:pPr lvl="2" eaLnBrk="1" hangingPunct="1">
              <a:lnSpc>
                <a:spcPct val="110000"/>
              </a:lnSpc>
            </a:pPr>
            <a:r>
              <a:rPr lang="en-US" sz="2000" dirty="0"/>
              <a:t>It adds damping</a:t>
            </a:r>
          </a:p>
          <a:p>
            <a:pPr eaLnBrk="1" hangingPunct="1">
              <a:lnSpc>
                <a:spcPct val="110000"/>
              </a:lnSpc>
            </a:pPr>
            <a:r>
              <a:rPr lang="en-US" sz="2800" dirty="0"/>
              <a:t>More L=&gt;more damped response which is beneficial…to a point.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400" dirty="0"/>
              <a:t>You can’t be looking a mile ahead to control the vehicle.</a:t>
            </a:r>
          </a:p>
        </p:txBody>
      </p:sp>
    </p:spTree>
    <p:extLst>
      <p:ext uri="{BB962C8B-B14F-4D97-AF65-F5344CB8AC3E}">
        <p14:creationId xmlns:p14="http://schemas.microsoft.com/office/powerpoint/2010/main" val="1768618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4000" dirty="0"/>
              <a:t>The problem with developing models of humans… we don’t like to conform!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Risk homeostasis: proposed by Gerald J.S. Wilde to explain why crash rates do not seem to be declining with ABS</a:t>
            </a:r>
          </a:p>
          <a:p>
            <a:pPr lvl="1" eaLnBrk="1" hangingPunct="1"/>
            <a:r>
              <a:rPr lang="en-US" dirty="0"/>
              <a:t>The basic idea: if you make the vehicle safer to drive (by improving the human/vehicle system), humans will drive in more risky manner to compensate</a:t>
            </a:r>
          </a:p>
          <a:p>
            <a:pPr lvl="1" eaLnBrk="1" hangingPunct="1"/>
            <a:r>
              <a:rPr lang="en-US" dirty="0"/>
              <a:t>For example, if you have 4WD, you are more likely to drive in snow storms than if you didn’t!</a:t>
            </a:r>
          </a:p>
          <a:p>
            <a:pPr lvl="2"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9266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0" y="173038"/>
            <a:ext cx="8229600" cy="954107"/>
          </a:xfrm>
        </p:spPr>
        <p:txBody>
          <a:bodyPr/>
          <a:lstStyle/>
          <a:p>
            <a:pPr algn="l"/>
            <a:r>
              <a:rPr lang="en-US" sz="4000" dirty="0"/>
              <a:t>The other problem is that we don’t like vehicles making human-like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0" y="1346200"/>
            <a:ext cx="5740882" cy="1054100"/>
          </a:xfrm>
        </p:spPr>
        <p:txBody>
          <a:bodyPr/>
          <a:lstStyle/>
          <a:p>
            <a:pPr>
              <a:buNone/>
            </a:pPr>
            <a:r>
              <a:rPr lang="en-US" dirty="0"/>
              <a:t>This is called the “canny valley”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209800"/>
            <a:ext cx="1945905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/>
          <a:srcRect r="84160" b="50000"/>
          <a:stretch>
            <a:fillRect/>
          </a:stretch>
        </p:blipFill>
        <p:spPr bwMode="auto">
          <a:xfrm>
            <a:off x="7841850" y="1271300"/>
            <a:ext cx="1095375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4800" y="2209800"/>
            <a:ext cx="5496537" cy="352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878000" y="4343400"/>
            <a:ext cx="1524000" cy="17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/>
        </p:nvSpPr>
        <p:spPr>
          <a:xfrm>
            <a:off x="457200" y="59436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http://www.youtube.com/watch?v=1js5bD68Nw8&amp;feature=player_embedded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331560" y="5243399"/>
            <a:ext cx="1605665" cy="1138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671753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0" y="531863"/>
            <a:ext cx="8229600" cy="523220"/>
          </a:xfrm>
        </p:spPr>
        <p:txBody>
          <a:bodyPr/>
          <a:lstStyle/>
          <a:p>
            <a:r>
              <a:rPr lang="en-US" dirty="0"/>
              <a:t>The canny valley gets deeper if things move… like vehicles</a:t>
            </a:r>
          </a:p>
        </p:txBody>
      </p:sp>
      <p:pic>
        <p:nvPicPr>
          <p:cNvPr id="1026" name="Picture 2" descr="http://farm8.staticflickr.com/7008/6797430167_0a0e069ca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3514" y="1801800"/>
            <a:ext cx="4762500" cy="3714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74292" y="5656690"/>
            <a:ext cx="4493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hlinkClick r:id="rId4"/>
              </a:rPr>
              <a:t>http://en.wikipedia.org/wiki/File:Mori_Uncanny_Valley.svg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872320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key challenge with driving is that it is a giant psychology experiment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109716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 example, are you more likely to get hurt by a car with a helmet or without when riding a bicycle near the road?</a:t>
            </a:r>
          </a:p>
        </p:txBody>
      </p:sp>
      <p:pic>
        <p:nvPicPr>
          <p:cNvPr id="13314" name="Picture 2" descr="http://www.bikethebyways.org/wp-content/gallery/sea-clayton-sackets-harbor/sea-clayton-bike-on-shoulder-with-sea-sign-bike-rt-sign-holmes-201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1531" y="1859028"/>
            <a:ext cx="5005269" cy="375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515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Turns out: drivers give you less room if wearing a helmet!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578" y="4387819"/>
            <a:ext cx="4742097" cy="19209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437" y="1972383"/>
            <a:ext cx="2623189" cy="26395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989" y="1647431"/>
            <a:ext cx="3795589" cy="457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0143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/>
              <a:t>There’s a joke that, the more technology we develop to make cars safer, the more technology makes us behave unsafe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35643"/>
            <a:ext cx="3903203" cy="339052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In 2011, Blackberry had an outage for 3 days. In Dubai and Abu Dhabi (strong Blackberry usage base then), accidents fell by 20 to 40 percent nationwide over those 3 days.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403" y="2440920"/>
            <a:ext cx="4468072" cy="315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1635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ME 452</a:t>
            </a:r>
            <a:br>
              <a:rPr lang="en-US" sz="3200"/>
            </a:br>
            <a:r>
              <a:rPr lang="en-US" sz="3200"/>
              <a:t>Automotive Vehicle Dynamics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sz="2000" dirty="0"/>
              <a:t>Produced by the</a:t>
            </a:r>
          </a:p>
          <a:p>
            <a:pPr eaLnBrk="1" hangingPunct="1"/>
            <a:r>
              <a:rPr lang="en-US" sz="2000" dirty="0"/>
              <a:t>College of Engineering, UIUC </a:t>
            </a:r>
          </a:p>
          <a:p>
            <a:pPr eaLnBrk="1" hangingPunct="1"/>
            <a:r>
              <a:rPr lang="en-US" sz="1600" dirty="0"/>
              <a:t>© 2000 UIUC BOT, </a:t>
            </a:r>
            <a:endParaRPr lang="en-US" sz="2000" dirty="0"/>
          </a:p>
          <a:p>
            <a:pPr eaLnBrk="1" hangingPunct="1"/>
            <a:r>
              <a:rPr lang="en-US" sz="1800" dirty="0"/>
              <a:t>Modifications by S. Brennan, PSU</a:t>
            </a:r>
          </a:p>
          <a:p>
            <a:pPr eaLnBrk="1" hangingPunct="1"/>
            <a:r>
              <a:rPr lang="en-US" sz="1600" dirty="0"/>
              <a:t>© 2011 PSU </a:t>
            </a:r>
          </a:p>
          <a:p>
            <a:pPr eaLnBrk="1" hangingPunct="1"/>
            <a:r>
              <a:rPr lang="en-US" sz="1600" dirty="0"/>
              <a:t>All Rights Reserved</a:t>
            </a:r>
          </a:p>
          <a:p>
            <a:pPr eaLnBrk="1" hangingPunct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909120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Confounding Factors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Amount of sleep 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Doesn’t just affect driving. </a:t>
            </a:r>
          </a:p>
          <a:p>
            <a:pPr lvl="2" eaLnBrk="1" hangingPunct="1"/>
            <a:r>
              <a:rPr lang="en-US" sz="2000" i="1" dirty="0"/>
              <a:t>Obesity</a:t>
            </a:r>
            <a:r>
              <a:rPr lang="en-US" sz="2000" dirty="0"/>
              <a:t>, Feb 2008 reports that sleep loss leads to excessive weight gain. </a:t>
            </a:r>
          </a:p>
          <a:p>
            <a:pPr lvl="2" eaLnBrk="1" hangingPunct="1"/>
            <a:r>
              <a:rPr lang="en-US" sz="2000" dirty="0"/>
              <a:t>If more than 2 hours a night missed, 92% more likely to be overweight.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4127500" y="6342063"/>
            <a:ext cx="1841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/>
              <a:t>Modified 2008/03</a:t>
            </a:r>
          </a:p>
        </p:txBody>
      </p:sp>
    </p:spTree>
    <p:extLst>
      <p:ext uri="{BB962C8B-B14F-4D97-AF65-F5344CB8AC3E}">
        <p14:creationId xmlns:p14="http://schemas.microsoft.com/office/powerpoint/2010/main" val="25707365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Suggested Sleep?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Younger than 5 years: 11 hours</a:t>
            </a:r>
          </a:p>
          <a:p>
            <a:pPr eaLnBrk="1" hangingPunct="1"/>
            <a:r>
              <a:rPr lang="en-US"/>
              <a:t>5 to 10 years: 10 hours</a:t>
            </a:r>
          </a:p>
          <a:p>
            <a:pPr eaLnBrk="1" hangingPunct="1"/>
            <a:r>
              <a:rPr lang="en-US"/>
              <a:t>Older than 10 years: 9 hours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4127500" y="6342063"/>
            <a:ext cx="1841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/>
              <a:t>Modified 2008/03</a:t>
            </a:r>
          </a:p>
        </p:txBody>
      </p:sp>
    </p:spTree>
    <p:extLst>
      <p:ext uri="{BB962C8B-B14F-4D97-AF65-F5344CB8AC3E}">
        <p14:creationId xmlns:p14="http://schemas.microsoft.com/office/powerpoint/2010/main" val="23339881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Driving Strategies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So, how </a:t>
            </a:r>
            <a:r>
              <a:rPr lang="en-US" i="1"/>
              <a:t>should</a:t>
            </a:r>
            <a:r>
              <a:rPr lang="en-US"/>
              <a:t> one drive in snow?</a:t>
            </a:r>
          </a:p>
        </p:txBody>
      </p:sp>
    </p:spTree>
    <p:extLst>
      <p:ext uri="{BB962C8B-B14F-4D97-AF65-F5344CB8AC3E}">
        <p14:creationId xmlns:p14="http://schemas.microsoft.com/office/powerpoint/2010/main" val="3582538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c7c738f6-68ec-422e-b0e4-3523873f7adf" xsi:nil="true"/>
    <Size xmlns="c7c738f6-68ec-422e-b0e4-3523873f7adf" xsi:nil="true"/>
    <lcf76f155ced4ddcb4097134ff3c332f xmlns="c7c738f6-68ec-422e-b0e4-3523873f7adf">
      <Terms xmlns="http://schemas.microsoft.com/office/infopath/2007/PartnerControls"/>
    </lcf76f155ced4ddcb4097134ff3c332f>
    <TaxCatchAll xmlns="542b8847-f5d4-4c9f-bd30-657d16e5db1d" xsi:nil="true"/>
    <Notes xmlns="c7c738f6-68ec-422e-b0e4-3523873f7ad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04A49901785041AF741C157FF60EBA" ma:contentTypeVersion="21" ma:contentTypeDescription="Create a new document." ma:contentTypeScope="" ma:versionID="3affe9f3ad662f7041dbcf2c454b5892">
  <xsd:schema xmlns:xsd="http://www.w3.org/2001/XMLSchema" xmlns:xs="http://www.w3.org/2001/XMLSchema" xmlns:p="http://schemas.microsoft.com/office/2006/metadata/properties" xmlns:ns2="c7c738f6-68ec-422e-b0e4-3523873f7adf" xmlns:ns3="542b8847-f5d4-4c9f-bd30-657d16e5db1d" targetNamespace="http://schemas.microsoft.com/office/2006/metadata/properties" ma:root="true" ma:fieldsID="91f30fe7832be7f590b5986e49d89340" ns2:_="" ns3:_="">
    <xsd:import namespace="c7c738f6-68ec-422e-b0e4-3523873f7adf"/>
    <xsd:import namespace="542b8847-f5d4-4c9f-bd30-657d16e5db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_Flow_SignoffStatu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Siz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c738f6-68ec-422e-b0e4-3523873f7a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12" nillable="true" ma:displayName="Sign-off status" ma:internalName="Sign_x002d_off_x0020_status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Size" ma:index="22" nillable="true" ma:displayName="Size " ma:format="Dropdown" ma:internalName="Size" ma:percentage="FALSE">
      <xsd:simpleType>
        <xsd:restriction base="dms:Number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28b28469-8996-4088-bd89-44d87d6385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8" nillable="true" ma:displayName="Notes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b8847-f5d4-4c9f-bd30-657d16e5db1d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79eca24d-24b6-4c23-abe4-d1cce8e5186c}" ma:internalName="TaxCatchAll" ma:showField="CatchAllData" ma:web="542b8847-f5d4-4c9f-bd30-657d16e5db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C4E55E-B996-41E4-963C-090A35A3B4AC}">
  <ds:schemaRefs>
    <ds:schemaRef ds:uri="http://schemas.openxmlformats.org/package/2006/metadata/core-properties"/>
    <ds:schemaRef ds:uri="http://purl.org/dc/dcmitype/"/>
    <ds:schemaRef ds:uri="http://schemas.microsoft.com/office/2006/metadata/properties"/>
    <ds:schemaRef ds:uri="c7c738f6-68ec-422e-b0e4-3523873f7adf"/>
    <ds:schemaRef ds:uri="http://www.w3.org/XML/1998/namespace"/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542b8847-f5d4-4c9f-bd30-657d16e5db1d"/>
  </ds:schemaRefs>
</ds:datastoreItem>
</file>

<file path=customXml/itemProps2.xml><?xml version="1.0" encoding="utf-8"?>
<ds:datastoreItem xmlns:ds="http://schemas.openxmlformats.org/officeDocument/2006/customXml" ds:itemID="{A17918A5-B464-491E-9675-4F8602B49D7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FE4C4C-5B65-4FD5-8954-C19005DB9B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c738f6-68ec-422e-b0e4-3523873f7adf"/>
    <ds:schemaRef ds:uri="542b8847-f5d4-4c9f-bd30-657d16e5db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3949</TotalTime>
  <Words>1572</Words>
  <Application>Microsoft Office PowerPoint</Application>
  <PresentationFormat>On-screen Show (4:3)</PresentationFormat>
  <Paragraphs>217</Paragraphs>
  <Slides>34</Slides>
  <Notes>30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Calibri</vt:lpstr>
      <vt:lpstr>Cambria Math</vt:lpstr>
      <vt:lpstr>Symbol</vt:lpstr>
      <vt:lpstr>Times New Roman</vt:lpstr>
      <vt:lpstr>Wingdings</vt:lpstr>
      <vt:lpstr>Office Theme</vt:lpstr>
      <vt:lpstr>Equation</vt:lpstr>
      <vt:lpstr>Automotive Vehicle Dynamics</vt:lpstr>
      <vt:lpstr>So far we have examined the dynamics of the vehicle as a stand-alone system. </vt:lpstr>
      <vt:lpstr>The driver-vehicle system is actually a feedback loop with the driver providing the feedback using visual, inertial, haptic, and auditory cues </vt:lpstr>
      <vt:lpstr>One could argue that most of the behavior on the road is actually human-human interaction mediated by a vehicle</vt:lpstr>
      <vt:lpstr>How do we model this feedback loop? We know that drivers respond to the road ahead of them mostly using visual cues…</vt:lpstr>
      <vt:lpstr>We seek to isolate input/output relationships, so usually model one input to one output</vt:lpstr>
      <vt:lpstr>In this lecture, we consider only very simple models of the driver to be used in conjunction with our vehicle models</vt:lpstr>
      <vt:lpstr>For our modeling purposes, the driver consists of several individual components</vt:lpstr>
      <vt:lpstr>There’s usually a (big) delay between sensing any signal and having it processed.</vt:lpstr>
      <vt:lpstr>This pure-delay method generates the simplest driver feedback model</vt:lpstr>
      <vt:lpstr>There’s also a limit to how fast you can move! (actuator dynamics)</vt:lpstr>
      <vt:lpstr>We can include the limb actuation dynamics into a driver feedback model</vt:lpstr>
      <vt:lpstr>The driver feedback depends on lateral or longitudinal positioning</vt:lpstr>
      <vt:lpstr>Problems with modeling: humans anticipate events (and have memory)</vt:lpstr>
      <vt:lpstr>One way to add phase is to use a simple lead controller model</vt:lpstr>
      <vt:lpstr>Why not just use PID control on position?</vt:lpstr>
      <vt:lpstr>If use only lateral error, we cannot correct yaw angle errors</vt:lpstr>
      <vt:lpstr>It is difficult to control the vehicle using only c.g. lateral position information</vt:lpstr>
      <vt:lpstr>Preview: how a driver’s control is really done!</vt:lpstr>
      <vt:lpstr>A view from above the vehicle shows that using preview is like using both yaw and lateral control</vt:lpstr>
      <vt:lpstr>For normal, “look-ahead” driving, we see that the driver acts like a state-feedback controller </vt:lpstr>
      <vt:lpstr>The look-ahead or preview distance is a critical factor</vt:lpstr>
      <vt:lpstr>We need to reconcile body-fixed to earth-fixed tracking</vt:lpstr>
      <vt:lpstr>There is such thing as too much look-ahead, or too little</vt:lpstr>
      <vt:lpstr>The problem with developing models of humans… we don’t like to conform!</vt:lpstr>
      <vt:lpstr>The other problem is that we don’t like vehicles making human-like decisions</vt:lpstr>
      <vt:lpstr>The canny valley gets deeper if things move… like vehicles</vt:lpstr>
      <vt:lpstr>A key challenge with driving is that it is a giant psychology experiment</vt:lpstr>
      <vt:lpstr>Turns out: drivers give you less room if wearing a helmet!</vt:lpstr>
      <vt:lpstr>There’s a joke that, the more technology we develop to make cars safer, the more technology makes us behave unsafe</vt:lpstr>
      <vt:lpstr>ME 452 Automotive Vehicle Dynamics</vt:lpstr>
      <vt:lpstr>Confounding Factors</vt:lpstr>
      <vt:lpstr>Suggested Sleep?</vt:lpstr>
      <vt:lpstr>Driving Strategies</vt:lpstr>
    </vt:vector>
  </TitlesOfParts>
  <Company>Dell Computer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Preferred Customer</dc:creator>
  <cp:lastModifiedBy>Brennan, Sean N</cp:lastModifiedBy>
  <cp:revision>232</cp:revision>
  <cp:lastPrinted>2012-04-23T18:19:06Z</cp:lastPrinted>
  <dcterms:created xsi:type="dcterms:W3CDTF">2000-01-08T19:37:57Z</dcterms:created>
  <dcterms:modified xsi:type="dcterms:W3CDTF">2026-04-29T19:25:10Z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0x0101009204A49901785041AF741C157FF60EBA</vt:lpwstr>
  </property>
</Properties>
</file>