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1" r:id="rId4"/>
  </p:sldMasterIdLst>
  <p:notesMasterIdLst>
    <p:notesMasterId r:id="rId33"/>
  </p:notesMasterIdLst>
  <p:handoutMasterIdLst>
    <p:handoutMasterId r:id="rId34"/>
  </p:handoutMasterIdLst>
  <p:sldIdLst>
    <p:sldId id="348" r:id="rId5"/>
    <p:sldId id="359" r:id="rId6"/>
    <p:sldId id="339" r:id="rId7"/>
    <p:sldId id="360" r:id="rId8"/>
    <p:sldId id="361" r:id="rId9"/>
    <p:sldId id="362" r:id="rId10"/>
    <p:sldId id="340" r:id="rId11"/>
    <p:sldId id="341" r:id="rId12"/>
    <p:sldId id="342" r:id="rId13"/>
    <p:sldId id="343" r:id="rId14"/>
    <p:sldId id="344" r:id="rId15"/>
    <p:sldId id="345" r:id="rId16"/>
    <p:sldId id="314" r:id="rId17"/>
    <p:sldId id="318" r:id="rId18"/>
    <p:sldId id="325" r:id="rId19"/>
    <p:sldId id="329" r:id="rId20"/>
    <p:sldId id="352" r:id="rId21"/>
    <p:sldId id="351" r:id="rId22"/>
    <p:sldId id="353" r:id="rId23"/>
    <p:sldId id="356" r:id="rId24"/>
    <p:sldId id="357" r:id="rId25"/>
    <p:sldId id="358" r:id="rId26"/>
    <p:sldId id="363" r:id="rId27"/>
    <p:sldId id="332" r:id="rId28"/>
    <p:sldId id="333" r:id="rId29"/>
    <p:sldId id="334" r:id="rId30"/>
    <p:sldId id="335" r:id="rId31"/>
    <p:sldId id="364" r:id="rId3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808080"/>
    <a:srgbClr val="000000"/>
    <a:srgbClr val="003300"/>
    <a:srgbClr val="D9D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0" autoAdjust="0"/>
    <p:restoredTop sz="94719" autoAdjust="0"/>
  </p:normalViewPr>
  <p:slideViewPr>
    <p:cSldViewPr snapToGrid="0">
      <p:cViewPr varScale="1">
        <p:scale>
          <a:sx n="105" d="100"/>
          <a:sy n="105" d="100"/>
        </p:scale>
        <p:origin x="1800" y="114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nsky, Stephen" userId="86c2c72b-4aca-470c-afa0-0530cedea55f" providerId="ADAL" clId="{C3C34069-D6CB-43E9-97D8-949CFFB53FEE}"/>
    <pc:docChg chg="modSld sldOrd">
      <pc:chgData name="Maransky, Stephen" userId="86c2c72b-4aca-470c-afa0-0530cedea55f" providerId="ADAL" clId="{C3C34069-D6CB-43E9-97D8-949CFFB53FEE}" dt="2022-03-13T22:07:26.958" v="1"/>
      <pc:docMkLst>
        <pc:docMk/>
      </pc:docMkLst>
      <pc:sldChg chg="ord">
        <pc:chgData name="Maransky, Stephen" userId="86c2c72b-4aca-470c-afa0-0530cedea55f" providerId="ADAL" clId="{C3C34069-D6CB-43E9-97D8-949CFFB53FEE}" dt="2022-03-13T22:07:26.958" v="1"/>
        <pc:sldMkLst>
          <pc:docMk/>
          <pc:sldMk cId="0" sldId="3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6D3A88D-5FC3-418F-BF91-EB4A958B08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08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F7039DA5-4D13-42AE-8D44-B12107DC01DA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EBECC430-DA90-460F-B0E1-4E6604A56C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973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1D0E1ED-145F-49AC-A79F-879738C7CC25}" type="slidenum">
              <a:rPr lang="en-US" sz="1200" smtClean="0"/>
              <a:pPr eaLnBrk="1" hangingPunct="1"/>
              <a:t>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13355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097AC24-7D4B-48E0-AE37-8F5D5C409E91}" type="slidenum">
              <a:rPr lang="en-US" sz="1200" smtClean="0"/>
              <a:pPr eaLnBrk="1" hangingPunct="1"/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35078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DCA03EE-7C2E-44F6-8640-40F7EE09F64F}" type="slidenum">
              <a:rPr lang="en-US" sz="1200" smtClean="0"/>
              <a:pPr eaLnBrk="1" hangingPunct="1"/>
              <a:t>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35030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08E9C31-DD7C-4693-9D87-837B408EF868}" type="slidenum">
              <a:rPr lang="en-US" sz="1200" smtClean="0"/>
              <a:pPr eaLnBrk="1" hangingPunct="1"/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67770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3AFEEB1-CD90-4C31-819B-BF6C69A9B22C}" type="slidenum">
              <a:rPr lang="en-US" sz="1200" smtClean="0"/>
              <a:pPr eaLnBrk="1" hangingPunct="1"/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6517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EBE8B54-4055-4B08-95AA-CEE853B284E8}" type="slidenum">
              <a:rPr lang="en-US" sz="1200" smtClean="0"/>
              <a:pPr eaLnBrk="1" hangingPunct="1"/>
              <a:t>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46697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23BD0F5-D49D-4FF6-9754-0F40CE295896}" type="slidenum">
              <a:rPr lang="en-US" sz="1200" smtClean="0"/>
              <a:pPr eaLnBrk="1" hangingPunct="1"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5285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95300F2-70B3-48E1-ABF1-DF38215B0978}" type="slidenum">
              <a:rPr lang="en-US" sz="1200" smtClean="0"/>
              <a:pPr eaLnBrk="1" hangingPunct="1"/>
              <a:t>11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92096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6410D73-F71A-4D7B-91F6-E8483DA20EB5}" type="slidenum">
              <a:rPr lang="en-US" sz="1200" smtClean="0"/>
              <a:pPr eaLnBrk="1" hangingPunct="1"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1095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03E88C1-8756-483E-87C1-D61ED9DA0B4F}" type="slidenum">
              <a:rPr lang="en-US" sz="1200" smtClean="0"/>
              <a:pPr eaLnBrk="1" hangingPunct="1"/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76898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80B6D68-1C19-4B0D-90CF-30594CAE0B63}" type="slidenum">
              <a:rPr lang="en-US" sz="1200" smtClean="0"/>
              <a:pPr eaLnBrk="1" hangingPunct="1"/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80292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06E7D05-BF1E-4C40-8778-C58D1EC7282F}" type="slidenum">
              <a:rPr lang="en-US" sz="1200" smtClean="0"/>
              <a:pPr eaLnBrk="1" hangingPunct="1"/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80927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BD272A1-8BCA-4368-A99C-E9CDCBCF30E2}" type="slidenum">
              <a:rPr lang="en-US" sz="1200" smtClean="0"/>
              <a:pPr eaLnBrk="1" hangingPunct="1"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11066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BD272A1-8BCA-4368-A99C-E9CDCBCF30E2}" type="slidenum">
              <a:rPr lang="en-US" sz="1200" smtClean="0"/>
              <a:pPr eaLnBrk="1" hangingPunct="1"/>
              <a:t>17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06907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ECC430-DA90-460F-B0E1-4E6604A56CA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20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ECC430-DA90-460F-B0E1-4E6604A56CA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20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ECC430-DA90-460F-B0E1-4E6604A56CA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7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ECC430-DA90-460F-B0E1-4E6604A56CA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54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FA6D455-CD8E-4DA8-B3B5-E38A43CD4516}" type="slidenum">
              <a:rPr lang="en-US" sz="1200" smtClean="0"/>
              <a:pPr eaLnBrk="1" hangingPunct="1"/>
              <a:t>23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08304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E5E8208-FEF7-4FCE-9C56-A29DC2CC3CBA}" type="slidenum">
              <a:rPr lang="en-US" sz="1200" smtClean="0"/>
              <a:pPr eaLnBrk="1" hangingPunct="1"/>
              <a:t>24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83072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39A864E-09A1-4BEA-A522-3288D5CD8059}" type="slidenum">
              <a:rPr lang="en-US" sz="1200" smtClean="0"/>
              <a:pPr eaLnBrk="1" hangingPunct="1"/>
              <a:t>25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04703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6309B2D-95BD-4A66-B021-060AB93A74E6}" type="slidenum">
              <a:rPr lang="en-US" sz="1200" smtClean="0"/>
              <a:pPr eaLnBrk="1" hangingPunct="1"/>
              <a:t>26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5875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029FA-2100-49E2-92B6-7E2F86995C44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7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EB510-BDC1-4DAE-941A-3AE95A05BA76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3F262-04E2-4E5C-8F47-9018D08D2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1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0742D-972B-4B7C-90BB-CA634665A836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06997-7084-484B-8708-8BEB5B120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7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33805-45BC-4455-A460-6A18694A5C5A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EAFB8-2894-4718-AD46-BCEBC119B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7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83596-00F0-4369-940F-78DD4F245BCE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EA02B-A3C1-461A-B585-7D3E318C4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0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0A460-B08C-4E40-9F3A-AC0481D81586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F1FD7-69AE-402D-BCA1-D5A405B0EB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7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8303D-B376-4C11-A9B3-BA6E98783629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409AD-5DB2-406D-B97E-56DBF1F45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6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B5061-BCD8-466D-BA20-A1A1796BE305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38229-EBAC-469A-B83C-A7AE4FF6D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459EB4-6CDD-4D17-B0FF-96382C843E0A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058F3-2A5E-4EA9-915C-7DB360E41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2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F7AAE-86CF-4382-9937-92D0D5CBE6F4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72C56-3311-4721-A253-5552644801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01E2A-2D3F-4A00-AF7D-9C8FE571B575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7EE18-3D2A-495E-821A-225E055861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1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063"/>
            <a:ext cx="73787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7263" y="1909763"/>
            <a:ext cx="3902075" cy="4414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11738" y="1909763"/>
            <a:ext cx="3903662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11738" y="4192588"/>
            <a:ext cx="3903662" cy="2132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61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063"/>
            <a:ext cx="73787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7263" y="1909763"/>
            <a:ext cx="3902075" cy="4414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738" y="1909763"/>
            <a:ext cx="3903662" cy="4414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526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1" name="Text Box 112"/>
          <p:cNvSpPr txBox="1">
            <a:spLocks noChangeArrowheads="1"/>
          </p:cNvSpPr>
          <p:nvPr userDrawn="1"/>
        </p:nvSpPr>
        <p:spPr bwMode="auto">
          <a:xfrm>
            <a:off x="685800" y="6427788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000" dirty="0"/>
              <a:t>Automotive Vehicle Dynamics</a:t>
            </a:r>
          </a:p>
          <a:p>
            <a:pPr eaLnBrk="1" hangingPunct="1"/>
            <a:r>
              <a:rPr lang="en-US" sz="1000" dirty="0"/>
              <a:t>Copyright </a:t>
            </a:r>
            <a:r>
              <a:rPr lang="en-US" sz="1000" dirty="0">
                <a:cs typeface="Times New Roman" pitchFamily="18" charset="0"/>
              </a:rPr>
              <a:t>© 2015, Sean Brennan</a:t>
            </a:r>
            <a:endParaRPr lang="en-US" sz="1000" dirty="0"/>
          </a:p>
        </p:txBody>
      </p:sp>
      <p:sp>
        <p:nvSpPr>
          <p:cNvPr id="1032" name="Text Box 113"/>
          <p:cNvSpPr txBox="1">
            <a:spLocks noChangeArrowheads="1"/>
          </p:cNvSpPr>
          <p:nvPr userDrawn="1"/>
        </p:nvSpPr>
        <p:spPr bwMode="auto">
          <a:xfrm>
            <a:off x="8285163" y="6427788"/>
            <a:ext cx="633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sz="1000"/>
              <a:t>ME 452</a:t>
            </a:r>
          </a:p>
          <a:p>
            <a:pPr algn="r" eaLnBrk="1" hangingPunct="1"/>
            <a:r>
              <a:rPr lang="en-US" sz="1000"/>
              <a:t>Slide </a:t>
            </a:r>
            <a:fld id="{47EDA7CD-A8F5-41BD-A7DF-162F7CD14F43}" type="slidenum">
              <a:rPr lang="en-US" sz="1000"/>
              <a:pPr algn="r" eaLnBrk="1" hangingPunct="1"/>
              <a:t>‹#›</a:t>
            </a:fld>
            <a:endParaRPr lang="en-US" sz="1000">
              <a:solidFill>
                <a:srgbClr val="FF0000"/>
              </a:solidFill>
            </a:endParaRPr>
          </a:p>
        </p:txBody>
      </p:sp>
      <p:sp>
        <p:nvSpPr>
          <p:cNvPr id="1033" name="Line 114"/>
          <p:cNvSpPr>
            <a:spLocks noChangeShapeType="1"/>
          </p:cNvSpPr>
          <p:nvPr userDrawn="1"/>
        </p:nvSpPr>
        <p:spPr bwMode="auto">
          <a:xfrm>
            <a:off x="685800" y="6410325"/>
            <a:ext cx="815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3" r:id="rId12"/>
    <p:sldLayoutId id="214748375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3.mp4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microsoft.com/office/2007/relationships/media" Target="../media/media6.mp4"/><Relationship Id="rId7" Type="http://schemas.openxmlformats.org/officeDocument/2006/relationships/image" Target="../media/image34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6.mp4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microsoft.com/office/2007/relationships/media" Target="../media/media8.mp4"/><Relationship Id="rId7" Type="http://schemas.openxmlformats.org/officeDocument/2006/relationships/image" Target="../media/image36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8.mp4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br>
              <a:rPr lang="en-US" dirty="0"/>
            </a:br>
            <a:r>
              <a:rPr lang="en-US" dirty="0"/>
              <a:t>Automotive Vehicle Dynamics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600" b="1" dirty="0">
                <a:solidFill>
                  <a:schemeClr val="tx1"/>
                </a:solidFill>
              </a:rPr>
              <a:t>Acceleration and Braking IV – Anti-Lock Braking</a:t>
            </a: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Sean Brennan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Department of Mechanical and Nuclear Engineering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Penn State University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sbrennan@psu.edu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</p:txBody>
      </p:sp>
      <p:pic>
        <p:nvPicPr>
          <p:cNvPr id="5124" name="Picture 5" descr="http://i.imgur.com/FKYlD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63850" y="150813"/>
            <a:ext cx="2967038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First, a few words about spelling, since this is a pet peeve for the instructor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25" y="2178699"/>
            <a:ext cx="8229600" cy="367159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Breaking</a:t>
            </a:r>
            <a:r>
              <a:rPr lang="en-US" dirty="0"/>
              <a:t> - separating or causing to separate into pieces as a result of a blow, shock, or strain.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Braking</a:t>
            </a:r>
            <a:r>
              <a:rPr lang="en-US" dirty="0"/>
              <a:t> - making a moving vehicle slow down or stop by using a brake</a:t>
            </a:r>
          </a:p>
        </p:txBody>
      </p:sp>
    </p:spTree>
    <p:extLst>
      <p:ext uri="{BB962C8B-B14F-4D97-AF65-F5344CB8AC3E}">
        <p14:creationId xmlns:p14="http://schemas.microsoft.com/office/powerpoint/2010/main" val="4294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slip control is critical for directional stability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If the slip reached 100% (locked wheels) a loss of stability can occur.  Even if stability is maintained, the forces generated from a locked wheel aren’t the maximum forces </a:t>
            </a:r>
            <a:r>
              <a:rPr lang="en-US" sz="2400" dirty="0">
                <a:sym typeface="Symbol" pitchFamily="18" charset="2"/>
              </a:rPr>
              <a:t> longer stopping distance.</a:t>
            </a:r>
          </a:p>
          <a:p>
            <a:endParaRPr lang="en-US" sz="2400" dirty="0">
              <a:sym typeface="Symbol" pitchFamily="18" charset="2"/>
            </a:endParaRPr>
          </a:p>
          <a:p>
            <a:pPr>
              <a:buFont typeface="Arial" charset="0"/>
              <a:buNone/>
            </a:pPr>
            <a:br>
              <a:rPr lang="en-US" sz="2400" dirty="0">
                <a:sym typeface="Symbol" pitchFamily="18" charset="2"/>
              </a:rPr>
            </a:br>
            <a:br>
              <a:rPr lang="en-US" sz="2400" dirty="0">
                <a:sym typeface="Symbol" pitchFamily="18" charset="2"/>
              </a:rPr>
            </a:br>
            <a:br>
              <a:rPr lang="en-US" sz="2400" dirty="0">
                <a:sym typeface="Symbol" pitchFamily="18" charset="2"/>
              </a:rPr>
            </a:br>
            <a:br>
              <a:rPr lang="en-US" sz="2400" dirty="0">
                <a:sym typeface="Symbol" pitchFamily="18" charset="2"/>
              </a:rPr>
            </a:br>
            <a:endParaRPr lang="en-US" sz="2400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sz="2400" dirty="0"/>
              <a:t>Ideally we want to operate at the slip that gives the peak force</a:t>
            </a:r>
          </a:p>
        </p:txBody>
      </p:sp>
      <p:pic>
        <p:nvPicPr>
          <p:cNvPr id="6148" name="Picture 4" descr="14-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4725" y="3606800"/>
            <a:ext cx="2157413" cy="1281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3514725" y="3511550"/>
            <a:ext cx="0" cy="137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3514725" y="48641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4200525" y="3663950"/>
            <a:ext cx="0" cy="12192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5648325" y="3759200"/>
            <a:ext cx="0" cy="11430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 flipH="1">
            <a:off x="3438525" y="3930650"/>
            <a:ext cx="152400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 flipH="1">
            <a:off x="3438525" y="3644900"/>
            <a:ext cx="7620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3438525" y="36449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3438525" y="393065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2828925" y="3435350"/>
            <a:ext cx="574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F</a:t>
            </a:r>
            <a:r>
              <a:rPr lang="en-US" sz="1800" baseline="-25000">
                <a:solidFill>
                  <a:srgbClr val="000000"/>
                </a:solidFill>
              </a:rPr>
              <a:t>max</a:t>
            </a: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2776538" y="3716338"/>
            <a:ext cx="719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F</a:t>
            </a:r>
            <a:r>
              <a:rPr lang="en-US" sz="1800" baseline="-25000">
                <a:solidFill>
                  <a:srgbClr val="000000"/>
                </a:solidFill>
              </a:rPr>
              <a:t>locked</a:t>
            </a: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3406775" y="48450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3971925" y="4840288"/>
            <a:ext cx="655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 </a:t>
            </a:r>
            <a:r>
              <a:rPr lang="en-US" sz="1800" baseline="-25000">
                <a:solidFill>
                  <a:srgbClr val="000000"/>
                </a:solidFill>
                <a:sym typeface="Symbol" pitchFamily="18" charset="2"/>
              </a:rPr>
              <a:t>peak</a:t>
            </a:r>
            <a:endParaRPr lang="en-US" sz="1800" baseline="-25000">
              <a:solidFill>
                <a:srgbClr val="000000"/>
              </a:solidFill>
            </a:endParaRP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5343525" y="4868863"/>
            <a:ext cx="658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</a:rPr>
              <a:t>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difference in stopping distance is substantial</a:t>
            </a:r>
          </a:p>
        </p:txBody>
      </p:sp>
      <p:pic>
        <p:nvPicPr>
          <p:cNvPr id="4" name="Factoid_CarSim-ABS-Simulation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6338" y="1600200"/>
            <a:ext cx="6789737" cy="4525963"/>
          </a:xfrm>
        </p:spPr>
      </p:pic>
    </p:spTree>
    <p:extLst>
      <p:ext uri="{BB962C8B-B14F-4D97-AF65-F5344CB8AC3E}">
        <p14:creationId xmlns:p14="http://schemas.microsoft.com/office/powerpoint/2010/main" val="379335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Anti-Lock Braking Systems: Stopping Times From 160-0 MPH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ABS (t=4.9s)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No ABS (t=5.5s)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" y="5638800"/>
            <a:ext cx="7161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*Take note of the skid mark patterns</a:t>
            </a:r>
          </a:p>
        </p:txBody>
      </p:sp>
      <p:pic>
        <p:nvPicPr>
          <p:cNvPr id="8" name="AB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800" y="2481942"/>
            <a:ext cx="3657600" cy="2743200"/>
          </a:xfrm>
          <a:prstGeom prst="rect">
            <a:avLst/>
          </a:prstGeom>
        </p:spPr>
      </p:pic>
      <p:pic>
        <p:nvPicPr>
          <p:cNvPr id="9" name="No ABS Good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645025" y="2481942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ABS also ensures that the tires continue to rotate, providing directional stability</a:t>
            </a:r>
          </a:p>
        </p:txBody>
      </p:sp>
      <p:pic>
        <p:nvPicPr>
          <p:cNvPr id="9" name="ABS braking - real car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3527" y="1637522"/>
            <a:ext cx="81343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stay at the peak?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braking: Assume there’s a maximum allowable brake torque : </a:t>
            </a:r>
            <a:r>
              <a:rPr lang="en-US" dirty="0">
                <a:sym typeface="Symbol" pitchFamily="18" charset="2"/>
              </a:rPr>
              <a:t></a:t>
            </a:r>
            <a:r>
              <a:rPr lang="en-US" baseline="-25000" dirty="0">
                <a:sym typeface="Symbol" pitchFamily="18" charset="2"/>
              </a:rPr>
              <a:t>max  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A simple control law to achieve peak slip is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		</a:t>
            </a:r>
            <a:endParaRPr lang="en-US" i="1" baseline="-25000" dirty="0">
              <a:solidFill>
                <a:srgbClr val="000000"/>
              </a:solidFill>
            </a:endParaRPr>
          </a:p>
        </p:txBody>
      </p:sp>
      <p:pic>
        <p:nvPicPr>
          <p:cNvPr id="7172" name="Picture 5" descr="14-1a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19388" y="5005388"/>
            <a:ext cx="1471612" cy="9382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Line 6"/>
          <p:cNvSpPr>
            <a:spLocks noChangeShapeType="1"/>
          </p:cNvSpPr>
          <p:nvPr/>
        </p:nvSpPr>
        <p:spPr bwMode="auto">
          <a:xfrm>
            <a:off x="2438400" y="5886450"/>
            <a:ext cx="1981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4" name="Line 7"/>
          <p:cNvSpPr>
            <a:spLocks noChangeShapeType="1"/>
          </p:cNvSpPr>
          <p:nvPr/>
        </p:nvSpPr>
        <p:spPr bwMode="auto">
          <a:xfrm flipV="1">
            <a:off x="2781300" y="5038725"/>
            <a:ext cx="0" cy="83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5" name="Line 8"/>
          <p:cNvSpPr>
            <a:spLocks noChangeShapeType="1"/>
          </p:cNvSpPr>
          <p:nvPr/>
        </p:nvSpPr>
        <p:spPr bwMode="auto">
          <a:xfrm>
            <a:off x="3124200" y="5029200"/>
            <a:ext cx="0" cy="914400"/>
          </a:xfrm>
          <a:prstGeom prst="line">
            <a:avLst/>
          </a:prstGeom>
          <a:noFill/>
          <a:ln w="635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6" name="Freeform 9"/>
          <p:cNvSpPr>
            <a:spLocks/>
          </p:cNvSpPr>
          <p:nvPr/>
        </p:nvSpPr>
        <p:spPr bwMode="auto">
          <a:xfrm>
            <a:off x="2743200" y="5181600"/>
            <a:ext cx="762000" cy="609600"/>
          </a:xfrm>
          <a:custGeom>
            <a:avLst/>
            <a:gdLst>
              <a:gd name="T0" fmla="*/ 0 w 480"/>
              <a:gd name="T1" fmla="*/ 2147483647 h 384"/>
              <a:gd name="T2" fmla="*/ 2147483647 w 480"/>
              <a:gd name="T3" fmla="*/ 2147483647 h 384"/>
              <a:gd name="T4" fmla="*/ 2147483647 w 480"/>
              <a:gd name="T5" fmla="*/ 2147483647 h 384"/>
              <a:gd name="T6" fmla="*/ 2147483647 w 480"/>
              <a:gd name="T7" fmla="*/ 2147483647 h 384"/>
              <a:gd name="T8" fmla="*/ 2147483647 w 480"/>
              <a:gd name="T9" fmla="*/ 0 h 384"/>
              <a:gd name="T10" fmla="*/ 2147483647 w 480"/>
              <a:gd name="T11" fmla="*/ 2147483647 h 384"/>
              <a:gd name="T12" fmla="*/ 2147483647 w 480"/>
              <a:gd name="T13" fmla="*/ 2147483647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0"/>
              <a:gd name="T22" fmla="*/ 0 h 384"/>
              <a:gd name="T23" fmla="*/ 480 w 480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0" h="384">
                <a:moveTo>
                  <a:pt x="0" y="384"/>
                </a:moveTo>
                <a:cubicBezTo>
                  <a:pt x="16" y="312"/>
                  <a:pt x="32" y="240"/>
                  <a:pt x="48" y="192"/>
                </a:cubicBezTo>
                <a:cubicBezTo>
                  <a:pt x="64" y="144"/>
                  <a:pt x="80" y="120"/>
                  <a:pt x="96" y="96"/>
                </a:cubicBezTo>
                <a:cubicBezTo>
                  <a:pt x="112" y="72"/>
                  <a:pt x="120" y="64"/>
                  <a:pt x="144" y="48"/>
                </a:cubicBezTo>
                <a:cubicBezTo>
                  <a:pt x="168" y="32"/>
                  <a:pt x="200" y="0"/>
                  <a:pt x="240" y="0"/>
                </a:cubicBezTo>
                <a:cubicBezTo>
                  <a:pt x="280" y="0"/>
                  <a:pt x="344" y="24"/>
                  <a:pt x="384" y="48"/>
                </a:cubicBezTo>
                <a:cubicBezTo>
                  <a:pt x="424" y="72"/>
                  <a:pt x="464" y="128"/>
                  <a:pt x="480" y="144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7" name="Freeform 10"/>
          <p:cNvSpPr>
            <a:spLocks/>
          </p:cNvSpPr>
          <p:nvPr/>
        </p:nvSpPr>
        <p:spPr bwMode="auto">
          <a:xfrm>
            <a:off x="2928938" y="5097463"/>
            <a:ext cx="457200" cy="165100"/>
          </a:xfrm>
          <a:custGeom>
            <a:avLst/>
            <a:gdLst>
              <a:gd name="T0" fmla="*/ 0 w 288"/>
              <a:gd name="T1" fmla="*/ 2147483647 h 104"/>
              <a:gd name="T2" fmla="*/ 2147483647 w 288"/>
              <a:gd name="T3" fmla="*/ 2147483647 h 104"/>
              <a:gd name="T4" fmla="*/ 2147483647 w 288"/>
              <a:gd name="T5" fmla="*/ 2147483647 h 104"/>
              <a:gd name="T6" fmla="*/ 2147483647 w 288"/>
              <a:gd name="T7" fmla="*/ 2147483647 h 104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104"/>
              <a:gd name="T14" fmla="*/ 288 w 288"/>
              <a:gd name="T15" fmla="*/ 104 h 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104">
                <a:moveTo>
                  <a:pt x="0" y="104"/>
                </a:moveTo>
                <a:cubicBezTo>
                  <a:pt x="12" y="88"/>
                  <a:pt x="24" y="72"/>
                  <a:pt x="48" y="56"/>
                </a:cubicBezTo>
                <a:cubicBezTo>
                  <a:pt x="72" y="40"/>
                  <a:pt x="104" y="0"/>
                  <a:pt x="144" y="8"/>
                </a:cubicBezTo>
                <a:cubicBezTo>
                  <a:pt x="184" y="16"/>
                  <a:pt x="264" y="88"/>
                  <a:pt x="288" y="104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8" name="Freeform 11"/>
          <p:cNvSpPr>
            <a:spLocks/>
          </p:cNvSpPr>
          <p:nvPr/>
        </p:nvSpPr>
        <p:spPr bwMode="auto">
          <a:xfrm>
            <a:off x="2990850" y="5057775"/>
            <a:ext cx="304800" cy="138113"/>
          </a:xfrm>
          <a:custGeom>
            <a:avLst/>
            <a:gdLst>
              <a:gd name="T0" fmla="*/ 0 w 288"/>
              <a:gd name="T1" fmla="*/ 2147483647 h 104"/>
              <a:gd name="T2" fmla="*/ 2147483647 w 288"/>
              <a:gd name="T3" fmla="*/ 2147483647 h 104"/>
              <a:gd name="T4" fmla="*/ 2147483647 w 288"/>
              <a:gd name="T5" fmla="*/ 2147483647 h 104"/>
              <a:gd name="T6" fmla="*/ 2147483647 w 288"/>
              <a:gd name="T7" fmla="*/ 2147483647 h 104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104"/>
              <a:gd name="T14" fmla="*/ 288 w 288"/>
              <a:gd name="T15" fmla="*/ 104 h 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104">
                <a:moveTo>
                  <a:pt x="0" y="104"/>
                </a:moveTo>
                <a:cubicBezTo>
                  <a:pt x="12" y="88"/>
                  <a:pt x="24" y="72"/>
                  <a:pt x="48" y="56"/>
                </a:cubicBezTo>
                <a:cubicBezTo>
                  <a:pt x="72" y="40"/>
                  <a:pt x="104" y="0"/>
                  <a:pt x="144" y="8"/>
                </a:cubicBezTo>
                <a:cubicBezTo>
                  <a:pt x="184" y="16"/>
                  <a:pt x="264" y="88"/>
                  <a:pt x="288" y="104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" name="Freeform 12"/>
          <p:cNvSpPr>
            <a:spLocks/>
          </p:cNvSpPr>
          <p:nvPr/>
        </p:nvSpPr>
        <p:spPr bwMode="auto">
          <a:xfrm>
            <a:off x="2957513" y="5129213"/>
            <a:ext cx="381000" cy="133350"/>
          </a:xfrm>
          <a:custGeom>
            <a:avLst/>
            <a:gdLst>
              <a:gd name="T0" fmla="*/ 0 w 288"/>
              <a:gd name="T1" fmla="*/ 2147483647 h 104"/>
              <a:gd name="T2" fmla="*/ 2147483647 w 288"/>
              <a:gd name="T3" fmla="*/ 2147483647 h 104"/>
              <a:gd name="T4" fmla="*/ 2147483647 w 288"/>
              <a:gd name="T5" fmla="*/ 2147483647 h 104"/>
              <a:gd name="T6" fmla="*/ 2147483647 w 288"/>
              <a:gd name="T7" fmla="*/ 2147483647 h 104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104"/>
              <a:gd name="T14" fmla="*/ 288 w 288"/>
              <a:gd name="T15" fmla="*/ 104 h 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104">
                <a:moveTo>
                  <a:pt x="0" y="104"/>
                </a:moveTo>
                <a:cubicBezTo>
                  <a:pt x="12" y="88"/>
                  <a:pt x="24" y="72"/>
                  <a:pt x="48" y="56"/>
                </a:cubicBezTo>
                <a:cubicBezTo>
                  <a:pt x="72" y="40"/>
                  <a:pt x="104" y="0"/>
                  <a:pt x="144" y="8"/>
                </a:cubicBezTo>
                <a:cubicBezTo>
                  <a:pt x="184" y="16"/>
                  <a:pt x="264" y="88"/>
                  <a:pt x="288" y="104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0" name="Rectangle 13"/>
          <p:cNvSpPr>
            <a:spLocks noChangeArrowheads="1"/>
          </p:cNvSpPr>
          <p:nvPr/>
        </p:nvSpPr>
        <p:spPr bwMode="auto">
          <a:xfrm>
            <a:off x="2686050" y="5619750"/>
            <a:ext cx="7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81" name="Object 14"/>
          <p:cNvGraphicFramePr>
            <a:graphicFrameLocks noChangeAspect="1"/>
          </p:cNvGraphicFramePr>
          <p:nvPr/>
        </p:nvGraphicFramePr>
        <p:xfrm>
          <a:off x="4221163" y="4416425"/>
          <a:ext cx="311467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5100" imgH="482600" progId="">
                  <p:embed/>
                </p:oleObj>
              </mc:Choice>
              <mc:Fallback>
                <p:oleObj name="Equation" r:id="rId4" imgW="1435100" imgH="482600" progId="">
                  <p:embed/>
                  <p:pic>
                    <p:nvPicPr>
                      <p:cNvPr id="718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4416425"/>
                        <a:ext cx="3114675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on-off may be a bad idea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this requires lots of things that are impossible:</a:t>
            </a:r>
            <a:br>
              <a:rPr lang="en-US" dirty="0"/>
            </a:br>
            <a:r>
              <a:rPr lang="en-US" dirty="0"/>
              <a:t>	1.  Knowledge of what </a:t>
            </a:r>
            <a:r>
              <a:rPr lang="en-US" dirty="0">
                <a:sym typeface="Symbol" pitchFamily="18" charset="2"/>
              </a:rPr>
              <a:t> </a:t>
            </a:r>
            <a:r>
              <a:rPr lang="en-US" baseline="-25000" dirty="0">
                <a:sym typeface="Symbol" pitchFamily="18" charset="2"/>
              </a:rPr>
              <a:t>peak</a:t>
            </a:r>
            <a:r>
              <a:rPr lang="en-US" dirty="0">
                <a:sym typeface="Symbol" pitchFamily="18" charset="2"/>
              </a:rPr>
              <a:t> is exactly.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	2.  Infinitely fast brake torque response.</a:t>
            </a:r>
          </a:p>
          <a:p>
            <a:r>
              <a:rPr lang="en-US" dirty="0">
                <a:sym typeface="Symbol" pitchFamily="18" charset="2"/>
              </a:rPr>
              <a:t>A more realistic response involves the generation of a brake pressure which then generates a brake torque.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	(steady state  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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brake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= K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b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i="1" dirty="0" err="1">
                <a:solidFill>
                  <a:srgbClr val="000000"/>
                </a:solidFill>
                <a:sym typeface="Symbol" pitchFamily="18" charset="2"/>
              </a:rPr>
              <a:t>P</a:t>
            </a:r>
            <a:r>
              <a:rPr lang="en-US" i="1" baseline="-25000" dirty="0" err="1">
                <a:solidFill>
                  <a:srgbClr val="000000"/>
                </a:solidFill>
                <a:sym typeface="Symbol" pitchFamily="18" charset="2"/>
              </a:rPr>
              <a:t>brake</a:t>
            </a:r>
            <a:r>
              <a:rPr lang="en-US" dirty="0">
                <a:sym typeface="Symbol" pitchFamily="18" charset="2"/>
              </a:rPr>
              <a:t>.)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29638" cy="1143000"/>
          </a:xfrm>
        </p:spPr>
        <p:txBody>
          <a:bodyPr/>
          <a:lstStyle/>
          <a:p>
            <a:r>
              <a:rPr lang="en-US" dirty="0"/>
              <a:t>The brakes cannot respond instantly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34975" y="1600200"/>
            <a:ext cx="8229600" cy="4525963"/>
          </a:xfrm>
        </p:spPr>
        <p:txBody>
          <a:bodyPr/>
          <a:lstStyle/>
          <a:p>
            <a:r>
              <a:rPr lang="en-US"/>
              <a:t>Let’s model the dynamics of the torque generation as a first order system.</a:t>
            </a:r>
          </a:p>
          <a:p>
            <a:pPr>
              <a:buFont typeface="Arial" charset="0"/>
              <a:buNone/>
            </a:pPr>
            <a:br>
              <a:rPr lang="en-US"/>
            </a:br>
            <a:br>
              <a:rPr lang="en-US"/>
            </a:br>
            <a:endParaRPr lang="en-US">
              <a:sym typeface="Symbol" pitchFamily="18" charset="2"/>
            </a:endParaRPr>
          </a:p>
          <a:p>
            <a:pPr>
              <a:buFont typeface="Arial" charset="0"/>
              <a:buNone/>
            </a:pPr>
            <a:r>
              <a:rPr lang="en-US">
                <a:sym typeface="Symbol" pitchFamily="18" charset="2"/>
              </a:rPr>
              <a:t>	where C</a:t>
            </a:r>
            <a:r>
              <a:rPr lang="en-US" baseline="-25000">
                <a:sym typeface="Symbol" pitchFamily="18" charset="2"/>
              </a:rPr>
              <a:t>fill </a:t>
            </a:r>
            <a:r>
              <a:rPr lang="en-US">
                <a:sym typeface="Symbol" pitchFamily="18" charset="2"/>
              </a:rPr>
              <a:t>, C</a:t>
            </a:r>
            <a:r>
              <a:rPr lang="en-US" baseline="-25000">
                <a:sym typeface="Symbol" pitchFamily="18" charset="2"/>
              </a:rPr>
              <a:t>dump</a:t>
            </a:r>
            <a:r>
              <a:rPr lang="en-US">
                <a:sym typeface="Symbol" pitchFamily="18" charset="2"/>
              </a:rPr>
              <a:t> are time constants of the fill and dump phases of the brake cylinder </a:t>
            </a:r>
            <a:endParaRPr lang="en-US"/>
          </a:p>
        </p:txBody>
      </p:sp>
      <p:graphicFrame>
        <p:nvGraphicFramePr>
          <p:cNvPr id="9220" name="Object 7"/>
          <p:cNvGraphicFramePr>
            <a:graphicFrameLocks noChangeAspect="1"/>
          </p:cNvGraphicFramePr>
          <p:nvPr/>
        </p:nvGraphicFramePr>
        <p:xfrm>
          <a:off x="1268413" y="2882900"/>
          <a:ext cx="5872162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05100" imgH="508000" progId="">
                  <p:embed/>
                </p:oleObj>
              </mc:Choice>
              <mc:Fallback>
                <p:oleObj name="Equation" r:id="rId3" imgW="2705100" imgH="508000" progId="">
                  <p:embed/>
                  <p:pic>
                    <p:nvPicPr>
                      <p:cNvPr id="92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2882900"/>
                        <a:ext cx="5872162" cy="110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we may want to limit cycling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brake system also has a hold phase where</a:t>
            </a:r>
            <a:br>
              <a:rPr lang="en-US"/>
            </a:br>
            <a:r>
              <a:rPr lang="en-US"/>
              <a:t>		</a:t>
            </a:r>
          </a:p>
          <a:p>
            <a:endParaRPr lang="en-US" i="1">
              <a:solidFill>
                <a:srgbClr val="000000"/>
              </a:solidFill>
              <a:sym typeface="Symbol" pitchFamily="18" charset="2"/>
            </a:endParaRPr>
          </a:p>
          <a:p>
            <a:pPr>
              <a:buFont typeface="Wingdings" pitchFamily="2" charset="2"/>
              <a:buNone/>
            </a:pPr>
            <a:r>
              <a:rPr lang="en-US">
                <a:sym typeface="Symbol" pitchFamily="18" charset="2"/>
              </a:rPr>
              <a:t>	but we won’t use that now.</a:t>
            </a:r>
            <a:br>
              <a:rPr lang="en-US">
                <a:sym typeface="Symbol" pitchFamily="18" charset="2"/>
              </a:rPr>
            </a:br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Let’s treat P</a:t>
            </a:r>
            <a:r>
              <a:rPr lang="en-US" baseline="-25000">
                <a:sym typeface="Symbol" pitchFamily="18" charset="2"/>
              </a:rPr>
              <a:t>brake</a:t>
            </a:r>
            <a:r>
              <a:rPr lang="en-US">
                <a:sym typeface="Symbol" pitchFamily="18" charset="2"/>
              </a:rPr>
              <a:t> as a constant supply pressure that’s regulated by an on-off solenoid valve.</a:t>
            </a:r>
            <a:endParaRPr lang="en-US" i="1">
              <a:solidFill>
                <a:srgbClr val="000000"/>
              </a:solidFill>
            </a:endParaRPr>
          </a:p>
        </p:txBody>
      </p:sp>
      <p:graphicFrame>
        <p:nvGraphicFramePr>
          <p:cNvPr id="10244" name="Object 5"/>
          <p:cNvGraphicFramePr>
            <a:graphicFrameLocks noChangeAspect="1"/>
          </p:cNvGraphicFramePr>
          <p:nvPr/>
        </p:nvGraphicFramePr>
        <p:xfrm>
          <a:off x="3278188" y="2339975"/>
          <a:ext cx="14605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08" imgH="393529" progId="">
                  <p:embed/>
                </p:oleObj>
              </mc:Choice>
              <mc:Fallback>
                <p:oleObj name="Equation" r:id="rId3" imgW="672808" imgH="393529" progId="">
                  <p:embed/>
                  <p:pic>
                    <p:nvPicPr>
                      <p:cNvPr id="102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2339975"/>
                        <a:ext cx="1460500" cy="855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how do we implement?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909763"/>
            <a:ext cx="7958137" cy="45672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/>
              <a:t>K</a:t>
            </a:r>
            <a:r>
              <a:rPr lang="en-US" sz="2400" baseline="-25000"/>
              <a:t>b</a:t>
            </a:r>
            <a:r>
              <a:rPr lang="en-US" sz="2400"/>
              <a:t> is a function of brake radius, brake pad friction coefficient, brake temperature and number of pads.</a:t>
            </a:r>
          </a:p>
          <a:p>
            <a:pPr>
              <a:lnSpc>
                <a:spcPct val="110000"/>
              </a:lnSpc>
            </a:pPr>
            <a:r>
              <a:rPr lang="en-US" sz="2400"/>
              <a:t>Now we could try the same strategy as before:</a:t>
            </a:r>
            <a:br>
              <a:rPr lang="en-US" sz="2400"/>
            </a:br>
            <a:br>
              <a:rPr lang="en-US" sz="2400"/>
            </a:br>
            <a:r>
              <a:rPr lang="en-US" sz="2400"/>
              <a:t>	</a:t>
            </a:r>
            <a:endParaRPr lang="en-US" sz="2400" i="1" baseline="-25000">
              <a:solidFill>
                <a:srgbClr val="000000"/>
              </a:solidFill>
              <a:sym typeface="Symbol" pitchFamily="18" charset="2"/>
            </a:endParaRPr>
          </a:p>
          <a:p>
            <a:pPr>
              <a:lnSpc>
                <a:spcPct val="110000"/>
              </a:lnSpc>
            </a:pPr>
            <a:endParaRPr lang="en-US" sz="2400">
              <a:sym typeface="Symbol" pitchFamily="18" charset="2"/>
            </a:endParaRPr>
          </a:p>
          <a:p>
            <a:pPr>
              <a:lnSpc>
                <a:spcPct val="110000"/>
              </a:lnSpc>
            </a:pPr>
            <a:endParaRPr lang="en-US" sz="2400">
              <a:sym typeface="Symbol" pitchFamily="18" charset="2"/>
            </a:endParaRPr>
          </a:p>
          <a:p>
            <a:pPr>
              <a:lnSpc>
                <a:spcPct val="110000"/>
              </a:lnSpc>
            </a:pPr>
            <a:r>
              <a:rPr lang="en-US" sz="2400">
                <a:sym typeface="Symbol" pitchFamily="18" charset="2"/>
              </a:rPr>
              <a:t>But we’d still need to know exactly where </a:t>
            </a:r>
            <a:r>
              <a:rPr lang="en-US" sz="2400" baseline="-25000">
                <a:sym typeface="Symbol" pitchFamily="18" charset="2"/>
              </a:rPr>
              <a:t>peak</a:t>
            </a:r>
            <a:r>
              <a:rPr lang="en-US" sz="2400">
                <a:sym typeface="Symbol" pitchFamily="18" charset="2"/>
              </a:rPr>
              <a:t> was plus the solenoid valve would be constantly switching</a:t>
            </a:r>
            <a:endParaRPr lang="en-US" sz="2400" baseline="-25000"/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4556125" y="3363913"/>
            <a:ext cx="165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Supply pressure</a:t>
            </a:r>
          </a:p>
        </p:txBody>
      </p:sp>
      <p:sp>
        <p:nvSpPr>
          <p:cNvPr id="11269" name="Line 6"/>
          <p:cNvSpPr>
            <a:spLocks noChangeShapeType="1"/>
          </p:cNvSpPr>
          <p:nvPr/>
        </p:nvSpPr>
        <p:spPr bwMode="auto">
          <a:xfrm flipH="1">
            <a:off x="4189413" y="3600450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1270" name="Object 7"/>
          <p:cNvGraphicFramePr>
            <a:graphicFrameLocks noChangeAspect="1"/>
          </p:cNvGraphicFramePr>
          <p:nvPr/>
        </p:nvGraphicFramePr>
        <p:xfrm>
          <a:off x="2344738" y="3810000"/>
          <a:ext cx="3252787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7950" imgH="482391" progId="">
                  <p:embed/>
                </p:oleObj>
              </mc:Choice>
              <mc:Fallback>
                <p:oleObj name="Equation" r:id="rId3" imgW="1497950" imgH="482391" progId="">
                  <p:embed/>
                  <p:pic>
                    <p:nvPicPr>
                      <p:cNvPr id="1127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3810000"/>
                        <a:ext cx="3252787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together, we obtain a simple ABS strategy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852613"/>
            <a:ext cx="7958137" cy="46434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/>
              <a:t>Better idea:</a:t>
            </a:r>
            <a:br>
              <a:rPr lang="en-US" sz="2400"/>
            </a:br>
            <a:endParaRPr lang="en-US" sz="2400"/>
          </a:p>
          <a:p>
            <a:pPr>
              <a:lnSpc>
                <a:spcPct val="110000"/>
              </a:lnSpc>
            </a:pPr>
            <a:endParaRPr lang="en-US" sz="2400">
              <a:sym typeface="Symbol" pitchFamily="18" charset="2"/>
            </a:endParaRPr>
          </a:p>
          <a:p>
            <a:pPr>
              <a:lnSpc>
                <a:spcPct val="110000"/>
              </a:lnSpc>
              <a:buFont typeface="Arial" charset="0"/>
              <a:buNone/>
            </a:pPr>
            <a:br>
              <a:rPr lang="en-US" sz="2400">
                <a:sym typeface="Symbol" pitchFamily="18" charset="2"/>
              </a:rPr>
            </a:br>
            <a:br>
              <a:rPr lang="en-US" sz="2400">
                <a:sym typeface="Symbol" pitchFamily="18" charset="2"/>
              </a:rPr>
            </a:br>
            <a:br>
              <a:rPr lang="en-US" sz="2400">
                <a:sym typeface="Symbol" pitchFamily="18" charset="2"/>
              </a:rPr>
            </a:br>
            <a:br>
              <a:rPr lang="en-US" sz="2400">
                <a:sym typeface="Symbol" pitchFamily="18" charset="2"/>
              </a:rPr>
            </a:br>
            <a:br>
              <a:rPr lang="en-US" sz="2400">
                <a:sym typeface="Symbol" pitchFamily="18" charset="2"/>
              </a:rPr>
            </a:br>
            <a:br>
              <a:rPr lang="en-US" sz="2400">
                <a:sym typeface="Symbol" pitchFamily="18" charset="2"/>
              </a:rPr>
            </a:br>
            <a:r>
              <a:rPr lang="en-US" sz="2400">
                <a:sym typeface="Symbol" pitchFamily="18" charset="2"/>
              </a:rPr>
              <a:t>This is a simple example of ABS for braking.</a:t>
            </a:r>
            <a:endParaRPr lang="en-US" sz="2400"/>
          </a:p>
        </p:txBody>
      </p:sp>
      <p:pic>
        <p:nvPicPr>
          <p:cNvPr id="12292" name="Picture 5" descr="14-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19450" y="3660775"/>
            <a:ext cx="2833688" cy="13620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Line 6"/>
          <p:cNvSpPr>
            <a:spLocks noChangeShapeType="1"/>
          </p:cNvSpPr>
          <p:nvPr/>
        </p:nvSpPr>
        <p:spPr bwMode="auto">
          <a:xfrm flipV="1">
            <a:off x="3295650" y="3413125"/>
            <a:ext cx="0" cy="160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4" name="Line 7"/>
          <p:cNvSpPr>
            <a:spLocks noChangeShapeType="1"/>
          </p:cNvSpPr>
          <p:nvPr/>
        </p:nvSpPr>
        <p:spPr bwMode="auto">
          <a:xfrm>
            <a:off x="3295650" y="5013325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>
            <a:off x="3752850" y="4060825"/>
            <a:ext cx="0" cy="990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6" name="Line 9"/>
          <p:cNvSpPr>
            <a:spLocks noChangeShapeType="1"/>
          </p:cNvSpPr>
          <p:nvPr/>
        </p:nvSpPr>
        <p:spPr bwMode="auto">
          <a:xfrm>
            <a:off x="5000625" y="4060825"/>
            <a:ext cx="0" cy="990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7" name="Line 10"/>
          <p:cNvSpPr>
            <a:spLocks noChangeShapeType="1"/>
          </p:cNvSpPr>
          <p:nvPr/>
        </p:nvSpPr>
        <p:spPr bwMode="auto">
          <a:xfrm>
            <a:off x="6019800" y="4137025"/>
            <a:ext cx="0" cy="9144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8" name="Line 11"/>
          <p:cNvSpPr>
            <a:spLocks noChangeShapeType="1"/>
          </p:cNvSpPr>
          <p:nvPr/>
        </p:nvSpPr>
        <p:spPr bwMode="auto">
          <a:xfrm flipH="1">
            <a:off x="3800475" y="3889375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9" name="Freeform 12"/>
          <p:cNvSpPr>
            <a:spLocks/>
          </p:cNvSpPr>
          <p:nvPr/>
        </p:nvSpPr>
        <p:spPr bwMode="auto">
          <a:xfrm>
            <a:off x="3943350" y="3808413"/>
            <a:ext cx="147638" cy="85725"/>
          </a:xfrm>
          <a:custGeom>
            <a:avLst/>
            <a:gdLst>
              <a:gd name="T0" fmla="*/ 2147483647 w 93"/>
              <a:gd name="T1" fmla="*/ 0 h 54"/>
              <a:gd name="T2" fmla="*/ 2147483647 w 93"/>
              <a:gd name="T3" fmla="*/ 2147483647 h 54"/>
              <a:gd name="T4" fmla="*/ 0 w 93"/>
              <a:gd name="T5" fmla="*/ 2147483647 h 54"/>
              <a:gd name="T6" fmla="*/ 0 60000 65536"/>
              <a:gd name="T7" fmla="*/ 0 60000 65536"/>
              <a:gd name="T8" fmla="*/ 0 60000 65536"/>
              <a:gd name="T9" fmla="*/ 0 w 93"/>
              <a:gd name="T10" fmla="*/ 0 h 54"/>
              <a:gd name="T11" fmla="*/ 93 w 93"/>
              <a:gd name="T12" fmla="*/ 54 h 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" h="54">
                <a:moveTo>
                  <a:pt x="93" y="0"/>
                </a:moveTo>
                <a:cubicBezTo>
                  <a:pt x="67" y="6"/>
                  <a:pt x="37" y="18"/>
                  <a:pt x="15" y="33"/>
                </a:cubicBezTo>
                <a:cubicBezTo>
                  <a:pt x="7" y="44"/>
                  <a:pt x="0" y="41"/>
                  <a:pt x="0" y="5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0" name="Line 13"/>
          <p:cNvSpPr>
            <a:spLocks noChangeShapeType="1"/>
          </p:cNvSpPr>
          <p:nvPr/>
        </p:nvSpPr>
        <p:spPr bwMode="auto">
          <a:xfrm rot="-1487472">
            <a:off x="4038600" y="3803650"/>
            <a:ext cx="1524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1" name="Line 14"/>
          <p:cNvSpPr>
            <a:spLocks noChangeShapeType="1"/>
          </p:cNvSpPr>
          <p:nvPr/>
        </p:nvSpPr>
        <p:spPr bwMode="auto">
          <a:xfrm rot="-1757482" flipH="1" flipV="1">
            <a:off x="4248150" y="3756025"/>
            <a:ext cx="76200" cy="76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2" name="Freeform 15"/>
          <p:cNvSpPr>
            <a:spLocks/>
          </p:cNvSpPr>
          <p:nvPr/>
        </p:nvSpPr>
        <p:spPr bwMode="auto">
          <a:xfrm>
            <a:off x="4352925" y="3813175"/>
            <a:ext cx="219075" cy="90488"/>
          </a:xfrm>
          <a:custGeom>
            <a:avLst/>
            <a:gdLst>
              <a:gd name="T0" fmla="*/ 0 w 138"/>
              <a:gd name="T1" fmla="*/ 0 h 57"/>
              <a:gd name="T2" fmla="*/ 2147483647 w 138"/>
              <a:gd name="T3" fmla="*/ 2147483647 h 57"/>
              <a:gd name="T4" fmla="*/ 2147483647 w 138"/>
              <a:gd name="T5" fmla="*/ 2147483647 h 57"/>
              <a:gd name="T6" fmla="*/ 0 60000 65536"/>
              <a:gd name="T7" fmla="*/ 0 60000 65536"/>
              <a:gd name="T8" fmla="*/ 0 60000 65536"/>
              <a:gd name="T9" fmla="*/ 0 w 138"/>
              <a:gd name="T10" fmla="*/ 0 h 57"/>
              <a:gd name="T11" fmla="*/ 138 w 138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" h="57">
                <a:moveTo>
                  <a:pt x="0" y="0"/>
                </a:moveTo>
                <a:cubicBezTo>
                  <a:pt x="36" y="12"/>
                  <a:pt x="73" y="48"/>
                  <a:pt x="111" y="48"/>
                </a:cubicBezTo>
                <a:lnTo>
                  <a:pt x="138" y="57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3" name="Line 16"/>
          <p:cNvSpPr>
            <a:spLocks noChangeShapeType="1"/>
          </p:cNvSpPr>
          <p:nvPr/>
        </p:nvSpPr>
        <p:spPr bwMode="auto">
          <a:xfrm>
            <a:off x="4572000" y="3898900"/>
            <a:ext cx="152400" cy="76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4" name="Line 17"/>
          <p:cNvSpPr>
            <a:spLocks noChangeShapeType="1"/>
          </p:cNvSpPr>
          <p:nvPr/>
        </p:nvSpPr>
        <p:spPr bwMode="auto">
          <a:xfrm>
            <a:off x="4724400" y="3975100"/>
            <a:ext cx="304800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5" name="Line 18"/>
          <p:cNvSpPr>
            <a:spLocks noChangeShapeType="1"/>
          </p:cNvSpPr>
          <p:nvPr/>
        </p:nvSpPr>
        <p:spPr bwMode="auto">
          <a:xfrm flipV="1">
            <a:off x="3752850" y="3451225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6" name="Line 19"/>
          <p:cNvSpPr>
            <a:spLocks noChangeShapeType="1"/>
          </p:cNvSpPr>
          <p:nvPr/>
        </p:nvSpPr>
        <p:spPr bwMode="auto">
          <a:xfrm flipV="1">
            <a:off x="4991100" y="3451225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7" name="Text Box 20"/>
          <p:cNvSpPr txBox="1">
            <a:spLocks noChangeArrowheads="1"/>
          </p:cNvSpPr>
          <p:nvPr/>
        </p:nvSpPr>
        <p:spPr bwMode="auto">
          <a:xfrm>
            <a:off x="3984625" y="3341688"/>
            <a:ext cx="78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</a:rPr>
              <a:t>cycling</a:t>
            </a:r>
          </a:p>
        </p:txBody>
      </p:sp>
      <p:sp>
        <p:nvSpPr>
          <p:cNvPr id="12308" name="Line 21"/>
          <p:cNvSpPr>
            <a:spLocks noChangeShapeType="1"/>
          </p:cNvSpPr>
          <p:nvPr/>
        </p:nvSpPr>
        <p:spPr bwMode="auto">
          <a:xfrm>
            <a:off x="4724400" y="3527425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09" name="Line 22"/>
          <p:cNvSpPr>
            <a:spLocks noChangeShapeType="1"/>
          </p:cNvSpPr>
          <p:nvPr/>
        </p:nvSpPr>
        <p:spPr bwMode="auto">
          <a:xfrm flipH="1">
            <a:off x="3810000" y="3527425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10" name="Line 23"/>
          <p:cNvSpPr>
            <a:spLocks noChangeShapeType="1"/>
          </p:cNvSpPr>
          <p:nvPr/>
        </p:nvSpPr>
        <p:spPr bwMode="auto">
          <a:xfrm>
            <a:off x="6019800" y="4975225"/>
            <a:ext cx="0" cy="76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311" name="Text Box 24"/>
          <p:cNvSpPr txBox="1">
            <a:spLocks noChangeArrowheads="1"/>
          </p:cNvSpPr>
          <p:nvPr/>
        </p:nvSpPr>
        <p:spPr bwMode="auto">
          <a:xfrm>
            <a:off x="3489325" y="5084763"/>
            <a:ext cx="547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</a:t>
            </a:r>
            <a:r>
              <a:rPr lang="en-US" sz="1800" baseline="-25000">
                <a:solidFill>
                  <a:srgbClr val="000000"/>
                </a:solidFill>
                <a:sym typeface="Symbol" pitchFamily="18" charset="2"/>
              </a:rPr>
              <a:t>min</a:t>
            </a:r>
            <a:endParaRPr lang="en-US" sz="1800" baseline="-25000">
              <a:solidFill>
                <a:srgbClr val="000000"/>
              </a:solidFill>
            </a:endParaRPr>
          </a:p>
        </p:txBody>
      </p:sp>
      <p:sp>
        <p:nvSpPr>
          <p:cNvPr id="12312" name="Text Box 25"/>
          <p:cNvSpPr txBox="1">
            <a:spLocks noChangeArrowheads="1"/>
          </p:cNvSpPr>
          <p:nvPr/>
        </p:nvSpPr>
        <p:spPr bwMode="auto">
          <a:xfrm>
            <a:off x="4800600" y="5084763"/>
            <a:ext cx="573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</a:t>
            </a:r>
            <a:r>
              <a:rPr lang="en-US" sz="1800" baseline="-25000">
                <a:solidFill>
                  <a:srgbClr val="000000"/>
                </a:solidFill>
                <a:sym typeface="Symbol" pitchFamily="18" charset="2"/>
              </a:rPr>
              <a:t>max</a:t>
            </a:r>
            <a:endParaRPr lang="en-US" sz="1800" baseline="-25000">
              <a:solidFill>
                <a:srgbClr val="000000"/>
              </a:solidFill>
            </a:endParaRPr>
          </a:p>
        </p:txBody>
      </p:sp>
      <p:sp>
        <p:nvSpPr>
          <p:cNvPr id="12313" name="Text Box 26"/>
          <p:cNvSpPr txBox="1">
            <a:spLocks noChangeArrowheads="1"/>
          </p:cNvSpPr>
          <p:nvPr/>
        </p:nvSpPr>
        <p:spPr bwMode="auto">
          <a:xfrm>
            <a:off x="5815013" y="5094288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100</a:t>
            </a:r>
            <a:endParaRPr lang="en-US" sz="1800" baseline="-25000">
              <a:solidFill>
                <a:srgbClr val="000000"/>
              </a:solidFill>
            </a:endParaRPr>
          </a:p>
        </p:txBody>
      </p:sp>
      <p:sp>
        <p:nvSpPr>
          <p:cNvPr id="12314" name="Text Box 27"/>
          <p:cNvSpPr txBox="1">
            <a:spLocks noChangeArrowheads="1"/>
          </p:cNvSpPr>
          <p:nvPr/>
        </p:nvSpPr>
        <p:spPr bwMode="auto">
          <a:xfrm>
            <a:off x="2736850" y="3389313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F</a:t>
            </a:r>
            <a:r>
              <a:rPr lang="en-US" sz="1800" baseline="-25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2315" name="Text Box 28"/>
          <p:cNvSpPr txBox="1">
            <a:spLocks noChangeArrowheads="1"/>
          </p:cNvSpPr>
          <p:nvPr/>
        </p:nvSpPr>
        <p:spPr bwMode="auto">
          <a:xfrm>
            <a:off x="6689725" y="3797300"/>
            <a:ext cx="14271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this is the 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</a:rPr>
              <a:t>  result.</a:t>
            </a:r>
          </a:p>
        </p:txBody>
      </p:sp>
      <p:graphicFrame>
        <p:nvGraphicFramePr>
          <p:cNvPr id="12316" name="Object 29"/>
          <p:cNvGraphicFramePr>
            <a:graphicFrameLocks noChangeAspect="1"/>
          </p:cNvGraphicFramePr>
          <p:nvPr/>
        </p:nvGraphicFramePr>
        <p:xfrm>
          <a:off x="3375025" y="1485900"/>
          <a:ext cx="4962525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736600" progId="">
                  <p:embed/>
                </p:oleObj>
              </mc:Choice>
              <mc:Fallback>
                <p:oleObj name="Equation" r:id="rId4" imgW="2286000" imgH="736600" progId="">
                  <p:embed/>
                  <p:pic>
                    <p:nvPicPr>
                      <p:cNvPr id="1231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5" y="1485900"/>
                        <a:ext cx="4962525" cy="159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Example</a:t>
            </a:r>
          </a:p>
        </p:txBody>
      </p:sp>
      <p:pic>
        <p:nvPicPr>
          <p:cNvPr id="13315" name="Picture 4" descr="14-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78213" y="1692275"/>
            <a:ext cx="5178425" cy="22510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6" descr="14-2a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1288" y="3962400"/>
            <a:ext cx="4765675" cy="23209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 Box 7"/>
          <p:cNvSpPr txBox="1">
            <a:spLocks noChangeArrowheads="1"/>
          </p:cNvSpPr>
          <p:nvPr/>
        </p:nvSpPr>
        <p:spPr bwMode="auto">
          <a:xfrm>
            <a:off x="887413" y="2305050"/>
            <a:ext cx="26209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/>
              <a:t>Half-car model with 2 wheel degrees of freedom.</a:t>
            </a:r>
          </a:p>
          <a:p>
            <a:pPr eaLnBrk="1" hangingPunct="1">
              <a:buFontTx/>
              <a:buChar char="•"/>
            </a:pPr>
            <a:endParaRPr lang="en-US"/>
          </a:p>
          <a:p>
            <a:pPr eaLnBrk="1" hangingPunct="1">
              <a:buFontTx/>
              <a:buChar char="•"/>
            </a:pPr>
            <a:r>
              <a:rPr lang="en-US"/>
              <a:t>4 DOF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Example</a:t>
            </a:r>
          </a:p>
        </p:txBody>
      </p:sp>
      <p:pic>
        <p:nvPicPr>
          <p:cNvPr id="14339" name="Picture 4" descr="14-2d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0800" y="2438400"/>
            <a:ext cx="4697413" cy="31432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2601913" y="1831975"/>
            <a:ext cx="442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Braking Coefficient vs. Slip Curve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Without ABS Wheel Slip Control</a:t>
            </a:r>
          </a:p>
        </p:txBody>
      </p:sp>
      <p:pic>
        <p:nvPicPr>
          <p:cNvPr id="15363" name="Picture 4" descr="14-6a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563" y="1717675"/>
            <a:ext cx="205105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831850" y="1476375"/>
            <a:ext cx="1074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00000"/>
                </a:solidFill>
              </a:rPr>
              <a:t>Vehicle Pos.</a:t>
            </a:r>
          </a:p>
        </p:txBody>
      </p:sp>
      <p:pic>
        <p:nvPicPr>
          <p:cNvPr id="1536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57450" y="1679575"/>
            <a:ext cx="2457450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7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5413" y="1570038"/>
            <a:ext cx="2597150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5" descr="14-6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6950" y="3806825"/>
            <a:ext cx="2220913" cy="16510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Text Box 6"/>
          <p:cNvSpPr txBox="1">
            <a:spLocks noChangeArrowheads="1"/>
          </p:cNvSpPr>
          <p:nvPr/>
        </p:nvSpPr>
        <p:spPr bwMode="auto">
          <a:xfrm>
            <a:off x="1552575" y="5534025"/>
            <a:ext cx="736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00000"/>
                </a:solidFill>
              </a:rPr>
              <a:t>Pitch </a:t>
            </a:r>
            <a:r>
              <a:rPr lang="en-US" sz="1400">
                <a:solidFill>
                  <a:srgbClr val="000000"/>
                </a:solidFill>
                <a:sym typeface="Symbol" pitchFamily="18" charset="2"/>
              </a:rPr>
              <a:t></a:t>
            </a:r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15369" name="Picture 4" descr="14-3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83025" y="3398838"/>
            <a:ext cx="2703513" cy="2168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0" name="Text Box 5"/>
          <p:cNvSpPr txBox="1">
            <a:spLocks noChangeArrowheads="1"/>
          </p:cNvSpPr>
          <p:nvPr/>
        </p:nvSpPr>
        <p:spPr bwMode="auto">
          <a:xfrm>
            <a:off x="4073525" y="5426075"/>
            <a:ext cx="21542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400"/>
              <a:t>Front normal force (kN)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 ABS Wheel Slip Control</a:t>
            </a:r>
          </a:p>
        </p:txBody>
      </p:sp>
      <p:pic>
        <p:nvPicPr>
          <p:cNvPr id="16387" name="Picture 4" descr="14-7a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8463" y="1485900"/>
            <a:ext cx="2132012" cy="17811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 descr="14-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2000" y="1416050"/>
            <a:ext cx="2316163" cy="18684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2962275" y="3268663"/>
            <a:ext cx="30718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200"/>
              <a:t>Front normal force (kN)</a:t>
            </a:r>
          </a:p>
        </p:txBody>
      </p:sp>
      <p:pic>
        <p:nvPicPr>
          <p:cNvPr id="16390" name="Picture 4" descr="14-7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8213" y="1373188"/>
            <a:ext cx="2268537" cy="18494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4" descr="14-7b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038" y="3622675"/>
            <a:ext cx="2606675" cy="22082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4" descr="14-4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2050" y="3968750"/>
            <a:ext cx="2236788" cy="17335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3" name="Text Box 5"/>
          <p:cNvSpPr txBox="1">
            <a:spLocks noChangeArrowheads="1"/>
          </p:cNvSpPr>
          <p:nvPr/>
        </p:nvSpPr>
        <p:spPr bwMode="auto">
          <a:xfrm>
            <a:off x="4129088" y="4449763"/>
            <a:ext cx="712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cycling</a:t>
            </a:r>
          </a:p>
        </p:txBody>
      </p:sp>
      <p:pic>
        <p:nvPicPr>
          <p:cNvPr id="16394" name="Picture 4" descr="14-7c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6538" y="3905250"/>
            <a:ext cx="2224087" cy="18764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" y="1417638"/>
            <a:ext cx="6082308" cy="4084940"/>
          </a:xfrm>
          <a:prstGeom prst="rect">
            <a:avLst/>
          </a:prstGeom>
        </p:spPr>
      </p:pic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experiments </a:t>
            </a:r>
            <a:br>
              <a:rPr lang="en-US" dirty="0"/>
            </a:br>
            <a:r>
              <a:rPr lang="en-US" dirty="0"/>
              <a:t>(pulling ABS fuse to turn it off)</a:t>
            </a: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6566" y="1845577"/>
            <a:ext cx="2750234" cy="14301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02973" y="1845577"/>
            <a:ext cx="219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Initial Speed: 40 mph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depends on inflation pressure</a:t>
            </a: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7412" name="Picture 1" descr="IMG_049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7288" y="1522413"/>
            <a:ext cx="2544762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Chart 1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2"/>
          <a:stretch>
            <a:fillRect/>
          </a:stretch>
        </p:blipFill>
        <p:spPr bwMode="auto">
          <a:xfrm>
            <a:off x="512763" y="2501900"/>
            <a:ext cx="44481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0" y="1828800"/>
            <a:ext cx="3897698" cy="292327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175" y="1828800"/>
            <a:ext cx="3879225" cy="2909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4175" y="358605"/>
            <a:ext cx="814642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+mj-lt"/>
              </a:rPr>
              <a:t>Case Study: Two vehicles were used to perform an experiment comparing ABS on </a:t>
            </a:r>
            <a:r>
              <a:rPr lang="en-US" sz="2500" dirty="0" err="1">
                <a:latin typeface="+mj-lt"/>
              </a:rPr>
              <a:t>vs</a:t>
            </a:r>
            <a:r>
              <a:rPr lang="en-US" sz="2500" dirty="0">
                <a:latin typeface="+mj-lt"/>
              </a:rPr>
              <a:t> off. Both vehicles have ABS, which can be disabled by removing a fuse.</a:t>
            </a:r>
          </a:p>
        </p:txBody>
      </p:sp>
      <p:sp>
        <p:nvSpPr>
          <p:cNvPr id="10" name="TextBox 9"/>
          <p:cNvSpPr txBox="1"/>
          <p:nvPr/>
        </p:nvSpPr>
        <p:spPr>
          <a:xfrm rot="10800000" flipV="1">
            <a:off x="450319" y="4738219"/>
            <a:ext cx="387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j-lt"/>
              </a:rPr>
              <a:t>Chrysler Concorde </a:t>
            </a:r>
            <a:r>
              <a:rPr lang="en-US" sz="1800" dirty="0" err="1">
                <a:latin typeface="+mj-lt"/>
              </a:rPr>
              <a:t>LXi</a:t>
            </a:r>
            <a:r>
              <a:rPr lang="en-US" sz="1800" dirty="0">
                <a:latin typeface="+mj-lt"/>
              </a:rPr>
              <a:t> </a:t>
            </a:r>
          </a:p>
          <a:p>
            <a:pPr algn="ctr"/>
            <a:r>
              <a:rPr lang="en-US" sz="1800" dirty="0">
                <a:latin typeface="+mj-lt"/>
              </a:rPr>
              <a:t>(Bright Platinum Metallic) </a:t>
            </a:r>
          </a:p>
        </p:txBody>
      </p:sp>
      <p:sp>
        <p:nvSpPr>
          <p:cNvPr id="11" name="TextBox 10"/>
          <p:cNvSpPr txBox="1"/>
          <p:nvPr/>
        </p:nvSpPr>
        <p:spPr>
          <a:xfrm rot="10800000" flipV="1">
            <a:off x="4731374" y="4738221"/>
            <a:ext cx="387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j-lt"/>
              </a:rPr>
              <a:t>Mazda 3</a:t>
            </a:r>
          </a:p>
          <a:p>
            <a:pPr algn="ctr"/>
            <a:r>
              <a:rPr lang="en-US" sz="1800" dirty="0">
                <a:latin typeface="+mj-lt"/>
              </a:rPr>
              <a:t>(Black) </a:t>
            </a:r>
          </a:p>
        </p:txBody>
      </p:sp>
    </p:spTree>
    <p:extLst>
      <p:ext uri="{BB962C8B-B14F-4D97-AF65-F5344CB8AC3E}">
        <p14:creationId xmlns:p14="http://schemas.microsoft.com/office/powerpoint/2010/main" val="4067882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>
                <a:cs typeface="Times New Roman" panose="02020603050405020304" pitchFamily="18" charset="0"/>
              </a:rPr>
              <a:t>The test was performed on a road with 100ft of measured track.  Each vehicle ran at 40mph with ABS.</a:t>
            </a:r>
            <a:endParaRPr lang="en-US" sz="3800" dirty="0"/>
          </a:p>
        </p:txBody>
      </p:sp>
      <p:pic>
        <p:nvPicPr>
          <p:cNvPr id="9" name="Max40mphABS.mp4">
            <a:hlinkClick r:id="" action="ppaction://media"/>
          </p:cNvPr>
          <p:cNvPicPr>
            <a:picLocks noGrp="1" noChangeAspect="1"/>
          </p:cNvPicPr>
          <p:nvPr>
            <p:ph sz="quarter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screen"/>
          <a:stretch>
            <a:fillRect/>
          </a:stretch>
        </p:blipFill>
        <p:spPr>
          <a:xfrm>
            <a:off x="457200" y="2351088"/>
            <a:ext cx="4040188" cy="2273300"/>
          </a:xfrm>
          <a:effectLst/>
        </p:spPr>
      </p:pic>
      <p:pic>
        <p:nvPicPr>
          <p:cNvPr id="10" name="Doug40mphABS.mp4">
            <a:hlinkClick r:id="" action="ppaction://media"/>
          </p:cNvPr>
          <p:cNvPicPr>
            <a:picLocks noGrp="1" noChangeAspect="1"/>
          </p:cNvPicPr>
          <p:nvPr>
            <p:ph sz="quarter" idx="4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 cstate="screen"/>
          <a:stretch>
            <a:fillRect/>
          </a:stretch>
        </p:blipFill>
        <p:spPr>
          <a:xfrm>
            <a:off x="4645025" y="2351088"/>
            <a:ext cx="4041775" cy="2273300"/>
          </a:xfrm>
        </p:spPr>
      </p:pic>
      <p:sp>
        <p:nvSpPr>
          <p:cNvPr id="12" name="Text Placeholder 2"/>
          <p:cNvSpPr txBox="1">
            <a:spLocks/>
          </p:cNvSpPr>
          <p:nvPr/>
        </p:nvSpPr>
        <p:spPr>
          <a:xfrm>
            <a:off x="457200" y="4635779"/>
            <a:ext cx="4040188" cy="838200"/>
          </a:xfrm>
          <a:prstGeom prst="rect">
            <a:avLst/>
          </a:prstGeom>
        </p:spPr>
        <p:txBody>
          <a:bodyPr vert="horz" anchor="t">
            <a:normAutofit lnSpcReduction="10000"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None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None/>
              <a:defRPr kumimoji="0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solidFill>
                  <a:schemeClr val="tx1"/>
                </a:solidFill>
              </a:rPr>
              <a:t>Chrysler Concorde LXI</a:t>
            </a: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56ft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4635779"/>
            <a:ext cx="4041775" cy="8382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Mazda 3</a:t>
            </a: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50ft</a:t>
            </a:r>
          </a:p>
        </p:txBody>
      </p:sp>
    </p:spTree>
    <p:extLst>
      <p:ext uri="{BB962C8B-B14F-4D97-AF65-F5344CB8AC3E}">
        <p14:creationId xmlns:p14="http://schemas.microsoft.com/office/powerpoint/2010/main" val="30630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8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800" dirty="0"/>
              <a:t>NO ABS 40MPH</a:t>
            </a:r>
          </a:p>
        </p:txBody>
      </p:sp>
      <p:pic>
        <p:nvPicPr>
          <p:cNvPr id="6" name="Max40mphNOABS.mp4">
            <a:hlinkClick r:id="" action="ppaction://media"/>
          </p:cNvPr>
          <p:cNvPicPr>
            <a:picLocks noGrp="1" noChangeAspect="1"/>
          </p:cNvPicPr>
          <p:nvPr>
            <p:ph sz="quarter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screen"/>
          <a:stretch>
            <a:fillRect/>
          </a:stretch>
        </p:blipFill>
        <p:spPr>
          <a:xfrm>
            <a:off x="457200" y="2351088"/>
            <a:ext cx="4040188" cy="2273300"/>
          </a:xfrm>
        </p:spPr>
      </p:pic>
      <p:pic>
        <p:nvPicPr>
          <p:cNvPr id="8" name="Doug40mphNOABS.mp4">
            <a:hlinkClick r:id="" action="ppaction://media"/>
          </p:cNvPr>
          <p:cNvPicPr>
            <a:picLocks noGrp="1" noChangeAspect="1"/>
          </p:cNvPicPr>
          <p:nvPr>
            <p:ph sz="quarter" idx="4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 cstate="screen"/>
          <a:stretch>
            <a:fillRect/>
          </a:stretch>
        </p:blipFill>
        <p:spPr>
          <a:xfrm>
            <a:off x="4645025" y="2351088"/>
            <a:ext cx="4041775" cy="2273300"/>
          </a:xfrm>
        </p:spPr>
      </p:pic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478466" y="4626933"/>
            <a:ext cx="4040188" cy="8382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Chrysler Concorde LXI</a:t>
            </a: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68ft</a:t>
            </a:r>
          </a:p>
        </p:txBody>
      </p:sp>
      <p:sp>
        <p:nvSpPr>
          <p:cNvPr id="14" name="Text Placeholder 3"/>
          <p:cNvSpPr txBox="1">
            <a:spLocks/>
          </p:cNvSpPr>
          <p:nvPr/>
        </p:nvSpPr>
        <p:spPr>
          <a:xfrm>
            <a:off x="4648200" y="4609860"/>
            <a:ext cx="4041775" cy="838200"/>
          </a:xfrm>
          <a:prstGeom prst="rect">
            <a:avLst/>
          </a:prstGeom>
        </p:spPr>
        <p:txBody>
          <a:bodyPr vert="horz" anchor="t">
            <a:normAutofit lnSpcReduction="10000"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None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None/>
              <a:defRPr kumimoji="0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solidFill>
                  <a:schemeClr val="tx1"/>
                </a:solidFill>
              </a:rPr>
              <a:t>Mazda 3</a:t>
            </a: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64ft</a:t>
            </a:r>
          </a:p>
        </p:txBody>
      </p:sp>
    </p:spTree>
    <p:extLst>
      <p:ext uri="{BB962C8B-B14F-4D97-AF65-F5344CB8AC3E}">
        <p14:creationId xmlns:p14="http://schemas.microsoft.com/office/powerpoint/2010/main" val="285899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4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278" y="3420138"/>
            <a:ext cx="3053866" cy="2663482"/>
          </a:xfrm>
        </p:spPr>
        <p:txBody>
          <a:bodyPr anchor="ctr">
            <a:normAutofit/>
          </a:bodyPr>
          <a:lstStyle/>
          <a:p>
            <a:pPr algn="ctr"/>
            <a:r>
              <a:rPr lang="en-US" sz="1800" dirty="0"/>
              <a:t>40MPH w/ABS: 56ft</a:t>
            </a:r>
          </a:p>
          <a:p>
            <a:pPr algn="ctr"/>
            <a:r>
              <a:rPr lang="en-US" sz="1800" dirty="0"/>
              <a:t>40MPH No ABS: 68ft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565" y="1841054"/>
            <a:ext cx="3672585" cy="255244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Placeholder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837657" y="1775004"/>
            <a:ext cx="3487637" cy="2618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 txBox="1">
            <a:spLocks/>
          </p:cNvSpPr>
          <p:nvPr/>
        </p:nvSpPr>
        <p:spPr bwMode="auto">
          <a:xfrm>
            <a:off x="5054542" y="4051000"/>
            <a:ext cx="3053866" cy="1336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40MPH w/ABS: 50ft</a:t>
            </a:r>
          </a:p>
          <a:p>
            <a:pPr algn="ctr"/>
            <a:r>
              <a:rPr lang="en-US" sz="1800" dirty="0"/>
              <a:t>40MPH No ABS: 64ft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33915" y="214424"/>
            <a:ext cx="8623006" cy="99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"/>
            <a:r>
              <a:rPr lang="en-US" sz="2500" dirty="0">
                <a:latin typeface="+mj-lt"/>
                <a:cs typeface="Times New Roman" panose="02020603050405020304" pitchFamily="18" charset="0"/>
              </a:rPr>
              <a:t>Final results yielded a 17.6% and 21.9% increase in performance for the Concorde and Mazda 3, respectively with ABS enabled</a:t>
            </a:r>
          </a:p>
        </p:txBody>
      </p:sp>
    </p:spTree>
    <p:extLst>
      <p:ext uri="{BB962C8B-B14F-4D97-AF65-F5344CB8AC3E}">
        <p14:creationId xmlns:p14="http://schemas.microsoft.com/office/powerpoint/2010/main" val="1835568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 control is like ABS, but for acceleration to prevent spin-out</a:t>
            </a:r>
          </a:p>
        </p:txBody>
      </p:sp>
      <p:pic>
        <p:nvPicPr>
          <p:cNvPr id="7" name="Factoid_Demonstration of Traction Contro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6000" y="17145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0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 control systems are very like ABS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909763"/>
            <a:ext cx="7958137" cy="4643437"/>
          </a:xfrm>
        </p:spPr>
        <p:txBody>
          <a:bodyPr/>
          <a:lstStyle/>
          <a:p>
            <a:r>
              <a:rPr lang="en-US"/>
              <a:t>Very similar strategies can be used to minimize wheel slip during acceleration.</a:t>
            </a:r>
          </a:p>
          <a:p>
            <a:r>
              <a:rPr lang="en-US"/>
              <a:t>In this case, use</a:t>
            </a:r>
            <a:br>
              <a:rPr lang="en-US"/>
            </a:br>
            <a:r>
              <a:rPr lang="en-US"/>
              <a:t>	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</a:t>
            </a:r>
            <a:r>
              <a:rPr lang="en-US" i="1" baseline="-25000">
                <a:solidFill>
                  <a:srgbClr val="000000"/>
                </a:solidFill>
                <a:sym typeface="Symbol" pitchFamily="18" charset="2"/>
              </a:rPr>
              <a:t>accel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 =</a:t>
            </a:r>
            <a:r>
              <a:rPr lang="en-US">
                <a:sym typeface="Symbol" pitchFamily="18" charset="2"/>
              </a:rPr>
              <a:t>	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Torque (1)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		 &lt; </a:t>
            </a:r>
            <a:r>
              <a:rPr lang="en-US" i="1" baseline="-25000">
                <a:solidFill>
                  <a:srgbClr val="000000"/>
                </a:solidFill>
                <a:sym typeface="Symbol" pitchFamily="18" charset="2"/>
              </a:rPr>
              <a:t>min</a:t>
            </a:r>
            <a:br>
              <a:rPr lang="en-US" i="1">
                <a:solidFill>
                  <a:srgbClr val="000000"/>
                </a:solidFill>
                <a:sym typeface="Symbol" pitchFamily="18" charset="2"/>
              </a:rPr>
            </a:b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Torque (2)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		 &gt; </a:t>
            </a:r>
            <a:r>
              <a:rPr lang="en-US" i="1" baseline="-25000">
                <a:solidFill>
                  <a:srgbClr val="000000"/>
                </a:solidFill>
                <a:sym typeface="Symbol" pitchFamily="18" charset="2"/>
              </a:rPr>
              <a:t>max</a:t>
            </a:r>
            <a:br>
              <a:rPr lang="en-US" i="1" baseline="-25000">
                <a:solidFill>
                  <a:srgbClr val="000000"/>
                </a:solidFill>
                <a:sym typeface="Symbol" pitchFamily="18" charset="2"/>
              </a:rPr>
            </a:b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			</a:t>
            </a:r>
            <a:r>
              <a:rPr lang="en-US" i="1" baseline="-25000">
                <a:solidFill>
                  <a:srgbClr val="000000"/>
                </a:solidFill>
                <a:sym typeface="Symbol" pitchFamily="18" charset="2"/>
              </a:rPr>
              <a:t>accel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(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t – t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       </a:t>
            </a:r>
            <a:r>
              <a:rPr lang="en-US" i="1" baseline="-25000">
                <a:solidFill>
                  <a:srgbClr val="000000"/>
                </a:solidFill>
                <a:sym typeface="Symbol" pitchFamily="18" charset="2"/>
              </a:rPr>
              <a:t>min</a:t>
            </a:r>
            <a:r>
              <a:rPr lang="en-US" i="1">
                <a:solidFill>
                  <a:srgbClr val="000000"/>
                </a:solidFill>
                <a:sym typeface="Symbol" pitchFamily="18" charset="2"/>
              </a:rPr>
              <a:t> &lt;  &lt; </a:t>
            </a:r>
            <a:r>
              <a:rPr lang="en-US" i="1" baseline="-25000">
                <a:solidFill>
                  <a:srgbClr val="000000"/>
                </a:solidFill>
                <a:sym typeface="Symbol" pitchFamily="18" charset="2"/>
              </a:rPr>
              <a:t>max </a:t>
            </a:r>
            <a:endParaRPr lang="en-US" i="1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Torque (1) &gt; Torque (2)</a:t>
            </a:r>
            <a:endParaRPr lang="en-US" baseline="-2500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436" name="AutoShape 4"/>
          <p:cNvSpPr>
            <a:spLocks/>
          </p:cNvSpPr>
          <p:nvPr/>
        </p:nvSpPr>
        <p:spPr bwMode="auto">
          <a:xfrm>
            <a:off x="3524250" y="37338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274638"/>
            <a:ext cx="8543925" cy="1143000"/>
          </a:xfrm>
        </p:spPr>
        <p:txBody>
          <a:bodyPr/>
          <a:lstStyle/>
          <a:p>
            <a:r>
              <a:rPr lang="en-US" dirty="0"/>
              <a:t>Traction control is different than ABS in that we can use other inputs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These two torques are generated from a variety of sources.</a:t>
            </a:r>
          </a:p>
          <a:p>
            <a:r>
              <a:rPr lang="en-US"/>
              <a:t>Torque (1) is principally engine torque x gear ratio and is governed by the throttle angle.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743200" y="4572000"/>
            <a:ext cx="1752600" cy="99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248400" y="4800600"/>
            <a:ext cx="7620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3032125" y="4548188"/>
            <a:ext cx="12128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Engine</a:t>
            </a:r>
          </a:p>
          <a:p>
            <a:pPr eaLnBrk="1" hangingPunct="1"/>
            <a:r>
              <a:rPr lang="en-US" sz="2000">
                <a:solidFill>
                  <a:srgbClr val="000000"/>
                </a:solidFill>
              </a:rPr>
              <a:t>Nonlinear</a:t>
            </a:r>
          </a:p>
          <a:p>
            <a:pPr eaLnBrk="1" hangingPunct="1"/>
            <a:r>
              <a:rPr lang="en-US" sz="2000">
                <a:solidFill>
                  <a:srgbClr val="000000"/>
                </a:solidFill>
              </a:rPr>
              <a:t>Dynamics</a:t>
            </a:r>
          </a:p>
        </p:txBody>
      </p:sp>
      <p:sp>
        <p:nvSpPr>
          <p:cNvPr id="19463" name="AutoShape 7"/>
          <p:cNvSpPr>
            <a:spLocks/>
          </p:cNvSpPr>
          <p:nvPr/>
        </p:nvSpPr>
        <p:spPr bwMode="auto">
          <a:xfrm>
            <a:off x="3048000" y="4876800"/>
            <a:ext cx="76200" cy="609600"/>
          </a:xfrm>
          <a:prstGeom prst="leftBracket">
            <a:avLst>
              <a:gd name="adj" fmla="val 6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AutoShape 8"/>
          <p:cNvSpPr>
            <a:spLocks/>
          </p:cNvSpPr>
          <p:nvPr/>
        </p:nvSpPr>
        <p:spPr bwMode="auto">
          <a:xfrm>
            <a:off x="4114800" y="4876800"/>
            <a:ext cx="76200" cy="609600"/>
          </a:xfrm>
          <a:prstGeom prst="rightBracket">
            <a:avLst>
              <a:gd name="adj" fmla="val 6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1219200" y="5105400"/>
            <a:ext cx="1371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143000" y="4495800"/>
            <a:ext cx="920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Throttle</a:t>
            </a:r>
          </a:p>
          <a:p>
            <a:pPr eaLnBrk="1" hangingPunct="1"/>
            <a:r>
              <a:rPr lang="en-US" sz="1800">
                <a:solidFill>
                  <a:srgbClr val="000000"/>
                </a:solidFill>
              </a:rPr>
              <a:t>  angle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1355725" y="5105400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</a:t>
            </a: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4937125" y="4827588"/>
            <a:ext cx="735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  <a:sym typeface="Symbol" pitchFamily="18" charset="2"/>
              </a:rPr>
              <a:t></a:t>
            </a:r>
            <a:r>
              <a:rPr lang="en-US" sz="2000" baseline="-25000">
                <a:solidFill>
                  <a:srgbClr val="000000"/>
                </a:solidFill>
                <a:sym typeface="Symbol" pitchFamily="18" charset="2"/>
              </a:rPr>
              <a:t>engine</a:t>
            </a:r>
            <a:endParaRPr lang="en-US" sz="2000" baseline="-25000">
              <a:solidFill>
                <a:srgbClr val="000000"/>
              </a:solidFill>
            </a:endParaRPr>
          </a:p>
        </p:txBody>
      </p:sp>
      <p:sp>
        <p:nvSpPr>
          <p:cNvPr id="19469" name="Line 14"/>
          <p:cNvSpPr>
            <a:spLocks noChangeShapeType="1"/>
          </p:cNvSpPr>
          <p:nvPr/>
        </p:nvSpPr>
        <p:spPr bwMode="auto">
          <a:xfrm>
            <a:off x="5715000" y="51054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0" name="Line 15"/>
          <p:cNvSpPr>
            <a:spLocks noChangeShapeType="1"/>
          </p:cNvSpPr>
          <p:nvPr/>
        </p:nvSpPr>
        <p:spPr bwMode="auto">
          <a:xfrm>
            <a:off x="4495800" y="51054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9471" name="Object 16"/>
          <p:cNvGraphicFramePr>
            <a:graphicFrameLocks noChangeAspect="1"/>
          </p:cNvGraphicFramePr>
          <p:nvPr/>
        </p:nvGraphicFramePr>
        <p:xfrm>
          <a:off x="6515100" y="4813300"/>
          <a:ext cx="2254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446" imgH="825142" progId="Equation.3">
                  <p:embed/>
                </p:oleObj>
              </mc:Choice>
              <mc:Fallback>
                <p:oleObj name="Equation" r:id="rId3" imgW="355446" imgH="825142" progId="Equation.3">
                  <p:embed/>
                  <p:pic>
                    <p:nvPicPr>
                      <p:cNvPr id="1947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13300"/>
                        <a:ext cx="22542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Line 17"/>
          <p:cNvSpPr>
            <a:spLocks noChangeShapeType="1"/>
          </p:cNvSpPr>
          <p:nvPr/>
        </p:nvSpPr>
        <p:spPr bwMode="auto">
          <a:xfrm>
            <a:off x="7010400" y="50673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73" name="Text Box 18"/>
          <p:cNvSpPr txBox="1">
            <a:spLocks noChangeArrowheads="1"/>
          </p:cNvSpPr>
          <p:nvPr/>
        </p:nvSpPr>
        <p:spPr bwMode="auto">
          <a:xfrm>
            <a:off x="7451725" y="4838700"/>
            <a:ext cx="116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Torque (1)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other methods?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Torque (2) is a reduced torque that is obtained by one of several ways</a:t>
            </a:r>
            <a:br>
              <a:rPr lang="en-US"/>
            </a:br>
            <a:br>
              <a:rPr lang="en-US"/>
            </a:br>
            <a:r>
              <a:rPr lang="en-US"/>
              <a:t>	1.  Reduced throttle angle</a:t>
            </a:r>
            <a:br>
              <a:rPr lang="en-US"/>
            </a:br>
            <a:r>
              <a:rPr lang="en-US"/>
              <a:t>	2.  Spark timing</a:t>
            </a:r>
            <a:br>
              <a:rPr lang="en-US"/>
            </a:br>
            <a:r>
              <a:rPr lang="en-US"/>
              <a:t>	3.  Application of brakes.</a:t>
            </a:r>
            <a:br>
              <a:rPr lang="en-US"/>
            </a:br>
            <a:endParaRPr lang="en-US"/>
          </a:p>
          <a:p>
            <a:r>
              <a:rPr lang="en-US"/>
              <a:t>The conceptual idea is the same as with ABS. </a:t>
            </a:r>
            <a:endParaRPr lang="en-US" sz="24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problems in ABS and TCS?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of the problems associated with ABS?</a:t>
            </a:r>
          </a:p>
          <a:p>
            <a:pPr lvl="1"/>
            <a:r>
              <a:rPr lang="en-US" dirty="0"/>
              <a:t>How do we know the velocity of vehicle with respect to ground? (without a ground speed sensor)</a:t>
            </a:r>
          </a:p>
          <a:p>
            <a:pPr lvl="1"/>
            <a:r>
              <a:rPr lang="en-US" dirty="0"/>
              <a:t>How do we determine road characteristics such as friction?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Finally, let’s talk about some vehicle testing situations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are the ethical issues of this test?</a:t>
            </a:r>
          </a:p>
        </p:txBody>
      </p:sp>
      <p:pic>
        <p:nvPicPr>
          <p:cNvPr id="4" name="VehicleBarrier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17102" y="2468254"/>
            <a:ext cx="4509796" cy="33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8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7c738f6-68ec-422e-b0e4-3523873f7adf" xsi:nil="true"/>
    <Size xmlns="c7c738f6-68ec-422e-b0e4-3523873f7adf" xsi:nil="true"/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18" ma:contentTypeDescription="Create a new document." ma:contentTypeScope="" ma:versionID="53b17709f1baef69b61bd03463dafbd0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5ba9c385811dc0e6eef34b0e6e0ce819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Siz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2" nillable="true" ma:displayName="Sign-off status" ma:internalName="Sign_x002d_off_x0020_status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Size" ma:index="22" nillable="true" ma:displayName="Size " ma:format="Dropdown" ma:internalName="Size" ma:percentage="FALSE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9eca24d-24b6-4c23-abe4-d1cce8e5186c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F250DE-FB57-4AEC-B1FB-FBA3DB442550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542b8847-f5d4-4c9f-bd30-657d16e5db1d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c7c738f6-68ec-422e-b0e4-3523873f7adf"/>
  </ds:schemaRefs>
</ds:datastoreItem>
</file>

<file path=customXml/itemProps2.xml><?xml version="1.0" encoding="utf-8"?>
<ds:datastoreItem xmlns:ds="http://schemas.openxmlformats.org/officeDocument/2006/customXml" ds:itemID="{76A00C0D-70A7-4D52-88E0-EAC83212DC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C343A8-2E21-4768-89C4-C669F3EF0A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2648</TotalTime>
  <Words>980</Words>
  <Application>Microsoft Office PowerPoint</Application>
  <PresentationFormat>On-screen Show (4:3)</PresentationFormat>
  <Paragraphs>143</Paragraphs>
  <Slides>28</Slides>
  <Notes>22</Notes>
  <HiddenSlides>0</HiddenSlides>
  <MMClips>10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Symbol</vt:lpstr>
      <vt:lpstr>Times New Roman</vt:lpstr>
      <vt:lpstr>Wingdings</vt:lpstr>
      <vt:lpstr>Office Theme</vt:lpstr>
      <vt:lpstr>Equation</vt:lpstr>
      <vt:lpstr> Automotive Vehicle Dynamics</vt:lpstr>
      <vt:lpstr>First, a few words about spelling, since this is a pet peeve for the instructor</vt:lpstr>
      <vt:lpstr>Wheel slip control is critical for directional stability</vt:lpstr>
      <vt:lpstr>The difference in stopping distance is substantial</vt:lpstr>
      <vt:lpstr>Anti-Lock Braking Systems: Stopping Times From 160-0 MPH</vt:lpstr>
      <vt:lpstr>ABS also ensures that the tires continue to rotate, providing directional stability</vt:lpstr>
      <vt:lpstr>How do we stay at the peak?</vt:lpstr>
      <vt:lpstr>Pure on-off may be a bad idea</vt:lpstr>
      <vt:lpstr>The brakes cannot respond instantly</vt:lpstr>
      <vt:lpstr>And we may want to limit cycling</vt:lpstr>
      <vt:lpstr>So how do we implement?</vt:lpstr>
      <vt:lpstr>Putting it all together, we obtain a simple ABS strategy</vt:lpstr>
      <vt:lpstr>Simple Example</vt:lpstr>
      <vt:lpstr>Simple Example</vt:lpstr>
      <vt:lpstr>Without ABS Wheel Slip Control</vt:lpstr>
      <vt:lpstr>With ABS Wheel Slip Control</vt:lpstr>
      <vt:lpstr>Student experiments  (pulling ABS fuse to turn it off)</vt:lpstr>
      <vt:lpstr>Distance depends on inflation pressure</vt:lpstr>
      <vt:lpstr>PowerPoint Presentation</vt:lpstr>
      <vt:lpstr>The test was performed on a road with 100ft of measured track.  Each vehicle ran at 40mph with ABS.</vt:lpstr>
      <vt:lpstr>NO ABS 40MPH</vt:lpstr>
      <vt:lpstr>PowerPoint Presentation</vt:lpstr>
      <vt:lpstr>Traction control is like ABS, but for acceleration to prevent spin-out</vt:lpstr>
      <vt:lpstr>Traction control systems are very like ABS</vt:lpstr>
      <vt:lpstr>Traction control is different than ABS in that we can use other inputs</vt:lpstr>
      <vt:lpstr>What other methods?</vt:lpstr>
      <vt:lpstr>Hard problems in ABS and TCS?</vt:lpstr>
      <vt:lpstr>Finally, let’s talk about some vehicle testing situations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452</dc:title>
  <dc:creator>Sean Brennan</dc:creator>
  <cp:lastModifiedBy>Brennan, Sean N</cp:lastModifiedBy>
  <cp:revision>130</cp:revision>
  <dcterms:created xsi:type="dcterms:W3CDTF">2000-01-08T19:37:57Z</dcterms:created>
  <dcterms:modified xsi:type="dcterms:W3CDTF">2026-04-13T19:30:07Z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