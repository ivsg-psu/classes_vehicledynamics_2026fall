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2"/>
  </p:notesMasterIdLst>
  <p:handoutMasterIdLst>
    <p:handoutMasterId r:id="rId23"/>
  </p:handoutMasterIdLst>
  <p:sldIdLst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2" r:id="rId15"/>
    <p:sldId id="267" r:id="rId16"/>
    <p:sldId id="268" r:id="rId17"/>
    <p:sldId id="273" r:id="rId18"/>
    <p:sldId id="274" r:id="rId19"/>
    <p:sldId id="275" r:id="rId20"/>
    <p:sldId id="271" r:id="rId2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0" autoAdjust="0"/>
    <p:restoredTop sz="94719" autoAdjust="0"/>
  </p:normalViewPr>
  <p:slideViewPr>
    <p:cSldViewPr>
      <p:cViewPr varScale="1">
        <p:scale>
          <a:sx n="105" d="100"/>
          <a:sy n="105" d="100"/>
        </p:scale>
        <p:origin x="18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242E1828-FD1D-4F7E-AF83-1DCF89CDD3D9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8D1DBE2A-9AD8-48F0-A854-977EDAB26B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45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209DD2E9-A06D-46DA-850B-200DFBE8416D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963F5855-E335-4C2F-A2C8-7920A04EEA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5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C9DFFFC-224C-43D4-B480-0669D0BF7DF6}" type="slidenum">
              <a:rPr lang="en-US" sz="1200" smtClean="0"/>
              <a:pPr eaLnBrk="1" hangingPunct="1"/>
              <a:t>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900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54F991B-7B21-4C38-A314-DA342BEE4797}" type="slidenum">
              <a:rPr lang="en-US" sz="1200" smtClean="0"/>
              <a:pPr eaLnBrk="1" hangingPunct="1"/>
              <a:t>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94622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066D324-A658-4926-A91A-ABB8DC027B63}" type="slidenum">
              <a:rPr lang="en-US" sz="1200" smtClean="0"/>
              <a:pPr eaLnBrk="1" hangingPunct="1"/>
              <a:t>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67463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43FA3D9-2172-4E48-B464-F8B3C6DA1091}" type="slidenum">
              <a:rPr lang="en-US" sz="1200" smtClean="0"/>
              <a:pPr eaLnBrk="1" hangingPunct="1"/>
              <a:t>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63454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1A4CA54-BFE0-4048-B565-DB33DB8E594A}" type="slidenum">
              <a:rPr lang="en-US" sz="1200" smtClean="0"/>
              <a:pPr eaLnBrk="1" hangingPunct="1"/>
              <a:t>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87999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1E5E0B0-A0AC-468D-94D6-51FA55227F45}" type="slidenum">
              <a:rPr lang="en-US" sz="1200" smtClean="0"/>
              <a:pPr eaLnBrk="1" hangingPunct="1"/>
              <a:t>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41011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B74A613-F7BA-4FA3-BBC8-3FCE5C54687D}" type="slidenum">
              <a:rPr lang="en-US" sz="1200" smtClean="0"/>
              <a:pPr eaLnBrk="1" hangingPunct="1"/>
              <a:t>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988801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F4CA196-6654-425F-94E6-6A67A7EAC48E}" type="slidenum">
              <a:rPr lang="en-US" sz="1200" smtClean="0"/>
              <a:pPr eaLnBrk="1" hangingPunct="1"/>
              <a:t>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9858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6D429E7-74DB-4F0A-BF8A-AC7B2E2DD3E6}" type="slidenum">
              <a:rPr lang="en-US" sz="1200" smtClean="0"/>
              <a:pPr eaLnBrk="1" hangingPunct="1"/>
              <a:t>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991268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9F8A6E4-BF36-4F47-864E-5F24351ED5B1}" type="slidenum">
              <a:rPr lang="en-US" sz="1200" smtClean="0"/>
              <a:pPr eaLnBrk="1" hangingPunct="1"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913831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9CD10A8-698E-4600-A825-E32AD9B7C923}" type="slidenum">
              <a:rPr lang="en-US" sz="1200" smtClean="0"/>
              <a:pPr eaLnBrk="1" hangingPunct="1"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85534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D47B5FF-382F-4B1A-A97D-05B1E8F937B3}" type="slidenum">
              <a:rPr lang="en-US" sz="1200" smtClean="0"/>
              <a:pPr eaLnBrk="1" hangingPunct="1"/>
              <a:t>13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83950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3F5855-E335-4C2F-A2C8-7920A04EEA5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23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5E9CE-BF33-4124-A65D-0000098146F7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9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837E9-F15C-4B7E-8A0F-119F3A939D9C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F59F93-2CA6-49C2-A4C3-2D084BEC84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1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EFBE5-3CCC-46BF-AB94-3E77782DD255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1F5E1-CC34-459E-9FC1-73AE0AB448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8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E6DA3-EC9B-43B0-8904-7D11D3BD9BFC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2341B-2D59-4DF6-83B4-D5D6D4BD12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7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17F9B-3381-4B84-B16B-6E3B37C5C4FE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EF26D-8548-4175-8523-419382CCB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7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0E17C-F98C-4356-AE2F-29BAD2D2950A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71644-A653-43B5-8816-D4D547DE56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327CE-C0DF-44D2-A95F-369D64ADBFD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FF2AF-3E0E-4F84-89BC-650B87CA1E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4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3D328-DC02-464C-8EF1-ED19947AC779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904FF-A4C7-47E6-BA9E-94324FB2AE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48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3935C-AF23-4832-968C-3AD819994B23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3B632-B950-4210-A384-3D0978DC8A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BFC12-1CB9-4918-9587-11D686C998B3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5B783-3A59-4261-8673-702D4B73B3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46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F3AA5-3F1C-4169-B83E-398626E974F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33D1C-4325-4D02-A80E-4C0D92652B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2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112"/>
          <p:cNvSpPr txBox="1">
            <a:spLocks noChangeArrowheads="1"/>
          </p:cNvSpPr>
          <p:nvPr userDrawn="1"/>
        </p:nvSpPr>
        <p:spPr bwMode="auto">
          <a:xfrm>
            <a:off x="685800" y="6427788"/>
            <a:ext cx="1905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00" dirty="0"/>
              <a:t>Automotive Vehicle Dynamics</a:t>
            </a:r>
          </a:p>
          <a:p>
            <a:pPr>
              <a:defRPr/>
            </a:pPr>
            <a:r>
              <a:rPr lang="en-US" sz="1000" dirty="0"/>
              <a:t>Copyright </a:t>
            </a:r>
            <a:r>
              <a:rPr lang="en-US" sz="1000" dirty="0">
                <a:cs typeface="Times New Roman" pitchFamily="18" charset="0"/>
              </a:rPr>
              <a:t>© 2026, Sean Brennan</a:t>
            </a:r>
            <a:endParaRPr lang="en-US" sz="1000" dirty="0"/>
          </a:p>
        </p:txBody>
      </p:sp>
      <p:sp>
        <p:nvSpPr>
          <p:cNvPr id="8" name="Text Box 113"/>
          <p:cNvSpPr txBox="1">
            <a:spLocks noChangeArrowheads="1"/>
          </p:cNvSpPr>
          <p:nvPr userDrawn="1"/>
        </p:nvSpPr>
        <p:spPr bwMode="auto">
          <a:xfrm>
            <a:off x="6202767" y="6427788"/>
            <a:ext cx="27158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000" dirty="0"/>
              <a:t>ME 452  – Transient</a:t>
            </a:r>
            <a:r>
              <a:rPr lang="en-US" sz="1000" baseline="0" dirty="0"/>
              <a:t> Response – Model Analysis</a:t>
            </a:r>
            <a:endParaRPr lang="en-US" sz="1000" dirty="0"/>
          </a:p>
          <a:p>
            <a:pPr algn="r">
              <a:defRPr/>
            </a:pPr>
            <a:r>
              <a:rPr lang="en-US" sz="1000" dirty="0"/>
              <a:t>Slide </a:t>
            </a:r>
            <a:fld id="{7D293F27-70A3-43C2-B121-2757EE015B27}" type="slidenum">
              <a:rPr lang="en-US" sz="1000" smtClean="0"/>
              <a:pPr algn="r">
                <a:defRPr/>
              </a:pPr>
              <a:t>‹#›</a:t>
            </a:fld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" name="Line 114"/>
          <p:cNvSpPr>
            <a:spLocks noChangeShapeType="1"/>
          </p:cNvSpPr>
          <p:nvPr userDrawn="1"/>
        </p:nvSpPr>
        <p:spPr bwMode="auto">
          <a:xfrm>
            <a:off x="685800" y="6410325"/>
            <a:ext cx="815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media" Target="../media/media5.mp4"/><Relationship Id="rId7" Type="http://schemas.openxmlformats.org/officeDocument/2006/relationships/image" Target="../media/image27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26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5.mp4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Automotive Vehicle Dynamics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600" b="1" dirty="0">
                <a:solidFill>
                  <a:schemeClr val="tx1"/>
                </a:solidFill>
              </a:rPr>
              <a:t>Transient Response – Model Analysis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/>
              <a:t>Sean Brennan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Department of Mechanical and Nuclear Engineering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Penn State University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/>
              <a:t>sbrennan@psu.edu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52400"/>
            <a:ext cx="3208338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"/>
            <a:ext cx="3208338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The Bicycle Model represents 2 degree of freedom vehicle dynamics in the plane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Unlike previous steady-state formulations, it works with </a:t>
            </a:r>
            <a:r>
              <a:rPr lang="en-US" dirty="0">
                <a:solidFill>
                  <a:srgbClr val="FF0000"/>
                </a:solidFill>
              </a:rPr>
              <a:t>changing</a:t>
            </a:r>
            <a:r>
              <a:rPr lang="en-US" dirty="0"/>
              <a:t> steering inputs.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685800" y="3352800"/>
          <a:ext cx="8305800" cy="199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97280" imgH="927000" progId="Equation.3">
                  <p:embed/>
                </p:oleObj>
              </mc:Choice>
              <mc:Fallback>
                <p:oleObj name="Equation" r:id="rId3" imgW="379728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352800"/>
                        <a:ext cx="8305800" cy="199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AutoShape 5"/>
          <p:cNvSpPr>
            <a:spLocks/>
          </p:cNvSpPr>
          <p:nvPr/>
        </p:nvSpPr>
        <p:spPr bwMode="auto">
          <a:xfrm rot="-5400000">
            <a:off x="3429000" y="3581400"/>
            <a:ext cx="304800" cy="4114800"/>
          </a:xfrm>
          <a:prstGeom prst="leftBrace">
            <a:avLst>
              <a:gd name="adj1" fmla="val 11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405188" y="5715000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A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7315200" y="54864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B</a:t>
            </a:r>
          </a:p>
        </p:txBody>
      </p:sp>
      <p:sp>
        <p:nvSpPr>
          <p:cNvPr id="1032" name="AutoShape 8"/>
          <p:cNvSpPr>
            <a:spLocks/>
          </p:cNvSpPr>
          <p:nvPr/>
        </p:nvSpPr>
        <p:spPr bwMode="auto">
          <a:xfrm rot="-5400000">
            <a:off x="7315200" y="4495800"/>
            <a:ext cx="228600" cy="1905000"/>
          </a:xfrm>
          <a:prstGeom prst="leftBrace">
            <a:avLst>
              <a:gd name="adj1" fmla="val 69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The stability of the transient system is dependent on the </a:t>
            </a:r>
            <a:r>
              <a:rPr lang="en-US" sz="3600" dirty="0">
                <a:solidFill>
                  <a:srgbClr val="FF0000"/>
                </a:solidFill>
              </a:rPr>
              <a:t>eigenvalues</a:t>
            </a:r>
            <a:r>
              <a:rPr lang="en-US" sz="3600" dirty="0"/>
              <a:t> of the system A matrix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81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a 2x2 system (like the bicycle model) the eigenvalues are easy to calculate. Set 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1752600" y="3167063"/>
          <a:ext cx="5638800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9560" imgH="393480" progId="Equation.3">
                  <p:embed/>
                </p:oleObj>
              </mc:Choice>
              <mc:Fallback>
                <p:oleObj name="Equation" r:id="rId3" imgW="187956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67063"/>
                        <a:ext cx="5638800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343703"/>
              </p:ext>
            </p:extLst>
          </p:nvPr>
        </p:nvGraphicFramePr>
        <p:xfrm>
          <a:off x="2057400" y="4556125"/>
          <a:ext cx="5468471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23800" imgH="215640" progId="Equation.3">
                  <p:embed/>
                </p:oleObj>
              </mc:Choice>
              <mc:Fallback>
                <p:oleObj name="Equation" r:id="rId5" imgW="232380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556125"/>
                        <a:ext cx="5468471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163388"/>
              </p:ext>
            </p:extLst>
          </p:nvPr>
        </p:nvGraphicFramePr>
        <p:xfrm>
          <a:off x="1905000" y="5276850"/>
          <a:ext cx="51736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241200" progId="Equation.DSMT4">
                  <p:embed/>
                </p:oleObj>
              </mc:Choice>
              <mc:Fallback>
                <p:oleObj name="Equation" r:id="rId7" imgW="207000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276850"/>
                        <a:ext cx="517366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378861"/>
              </p:ext>
            </p:extLst>
          </p:nvPr>
        </p:nvGraphicFramePr>
        <p:xfrm>
          <a:off x="6857440" y="2603501"/>
          <a:ext cx="1867830" cy="434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000" imgH="215640" progId="Equation.3">
                  <p:embed/>
                </p:oleObj>
              </mc:Choice>
              <mc:Fallback>
                <p:oleObj name="Equation" r:id="rId9" imgW="92700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57440" y="2603501"/>
                        <a:ext cx="1867830" cy="434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Plugging in the entries of the bicycle model </a:t>
            </a:r>
            <a:br>
              <a:rPr lang="en-US" sz="3200" dirty="0"/>
            </a:br>
            <a:r>
              <a:rPr lang="en-US" sz="3200" dirty="0"/>
              <a:t>“A-matrix” gives the characteristic equation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This turns out to be the same as the denominator of the transfer function from input to any measured output.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1905000" y="2971800"/>
          <a:ext cx="50800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84520" imgH="1117440" progId="Equation.3">
                  <p:embed/>
                </p:oleObj>
              </mc:Choice>
              <mc:Fallback>
                <p:oleObj name="Equation" r:id="rId3" imgW="5384520" imgH="11174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971800"/>
                        <a:ext cx="50800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1828800" y="4257675"/>
          <a:ext cx="6003925" cy="199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62640" imgH="2108160" progId="Equation.3">
                  <p:embed/>
                </p:oleObj>
              </mc:Choice>
              <mc:Fallback>
                <p:oleObj name="Equation" r:id="rId5" imgW="6362640" imgH="21081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57675"/>
                        <a:ext cx="6003925" cy="199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The eigenvalues are obtained by finding the roots to the characteristic equation…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i="1" dirty="0">
                <a:solidFill>
                  <a:srgbClr val="000000"/>
                </a:solidFill>
              </a:rPr>
              <a:t>C</a:t>
            </a:r>
            <a:r>
              <a:rPr lang="en-US" i="1" baseline="-25000" dirty="0">
                <a:solidFill>
                  <a:srgbClr val="000000"/>
                </a:solidFill>
              </a:rPr>
              <a:t>1</a:t>
            </a:r>
            <a:r>
              <a:rPr lang="en-US" i="1" dirty="0">
                <a:solidFill>
                  <a:srgbClr val="000000"/>
                </a:solidFill>
              </a:rPr>
              <a:t> = 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 f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+ 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 r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  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2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=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(</a:t>
            </a:r>
            <a:r>
              <a:rPr lang="en-US" i="1" dirty="0" err="1">
                <a:solidFill>
                  <a:srgbClr val="000000"/>
                </a:solidFill>
                <a:sym typeface="Symbol" pitchFamily="18" charset="2"/>
              </a:rPr>
              <a:t>aC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 f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- </a:t>
            </a:r>
            <a:r>
              <a:rPr lang="en-US" i="1" dirty="0" err="1">
                <a:solidFill>
                  <a:srgbClr val="000000"/>
                </a:solidFill>
                <a:sym typeface="Symbol" pitchFamily="18" charset="2"/>
              </a:rPr>
              <a:t>bC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 r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)</a:t>
            </a:r>
            <a:br>
              <a:rPr lang="en-US" i="1" dirty="0">
                <a:solidFill>
                  <a:srgbClr val="000000"/>
                </a:solidFill>
                <a:sym typeface="Symbol" pitchFamily="18" charset="2"/>
              </a:rPr>
            </a:b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	 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3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= a</a:t>
            </a:r>
            <a:r>
              <a:rPr lang="en-US" i="1" baseline="30000" dirty="0">
                <a:solidFill>
                  <a:srgbClr val="000000"/>
                </a:solidFill>
                <a:sym typeface="Symbol" pitchFamily="18" charset="2"/>
              </a:rPr>
              <a:t>2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 f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+ b</a:t>
            </a:r>
            <a:r>
              <a:rPr lang="en-US" i="1" baseline="30000" dirty="0">
                <a:solidFill>
                  <a:srgbClr val="000000"/>
                </a:solidFill>
                <a:sym typeface="Symbol" pitchFamily="18" charset="2"/>
              </a:rPr>
              <a:t>2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 r</a:t>
            </a:r>
            <a:br>
              <a:rPr lang="en-US" dirty="0">
                <a:sym typeface="Symbol" pitchFamily="18" charset="2"/>
              </a:rPr>
            </a:br>
            <a:endParaRPr lang="en-US" dirty="0">
              <a:sym typeface="Symbol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itchFamily="18" charset="2"/>
              </a:rPr>
              <a:t>Then</a:t>
            </a:r>
            <a:endParaRPr lang="en-US" i="1" baseline="-25000" dirty="0">
              <a:solidFill>
                <a:srgbClr val="000000"/>
              </a:solidFill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524000" y="4876800"/>
          <a:ext cx="6819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19840" imgH="939600" progId="Equation.3">
                  <p:embed/>
                </p:oleObj>
              </mc:Choice>
              <mc:Fallback>
                <p:oleObj name="Equation" r:id="rId3" imgW="681984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68199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 2</a:t>
            </a:r>
            <a:r>
              <a:rPr lang="en-US" baseline="30000" dirty="0"/>
              <a:t>nd</a:t>
            </a:r>
            <a:r>
              <a:rPr lang="en-US" dirty="0"/>
              <a:t>  or 1</a:t>
            </a:r>
            <a:r>
              <a:rPr lang="en-US" baseline="30000" dirty="0"/>
              <a:t>st</a:t>
            </a:r>
            <a:r>
              <a:rPr lang="en-US" dirty="0"/>
              <a:t> order systems, stability can be seen by inspection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For a 2</a:t>
            </a:r>
            <a:r>
              <a:rPr lang="en-US" baseline="30000" dirty="0"/>
              <a:t>nd</a:t>
            </a:r>
            <a:r>
              <a:rPr lang="en-US" dirty="0"/>
              <a:t> order polynomial to have roots with negative real parts, all the coefficients must have the same sign.  (Routh – Hurwitz)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  mC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3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+ I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z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1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&lt; O</a:t>
            </a:r>
            <a:br>
              <a:rPr lang="en-US" i="1" dirty="0">
                <a:solidFill>
                  <a:srgbClr val="000000"/>
                </a:solidFill>
                <a:sym typeface="Symbol" pitchFamily="18" charset="2"/>
              </a:rPr>
            </a:br>
            <a:endParaRPr lang="en-US" dirty="0">
              <a:sym typeface="Symbol" pitchFamily="18" charset="2"/>
            </a:endParaRPr>
          </a:p>
          <a:p>
            <a:pPr>
              <a:lnSpc>
                <a:spcPct val="110000"/>
              </a:lnSpc>
            </a:pPr>
            <a:r>
              <a:rPr lang="en-US" dirty="0">
                <a:sym typeface="Symbol" pitchFamily="18" charset="2"/>
              </a:rPr>
              <a:t>This is always satisfied if 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 f</a:t>
            </a:r>
            <a:r>
              <a:rPr lang="en-US" i="1" dirty="0">
                <a:solidFill>
                  <a:srgbClr val="000000"/>
                </a:solidFill>
                <a:sym typeface="Symbol" pitchFamily="18" charset="2"/>
              </a:rPr>
              <a:t> + C</a:t>
            </a:r>
            <a:r>
              <a:rPr lang="en-US" i="1" baseline="-25000" dirty="0">
                <a:solidFill>
                  <a:srgbClr val="000000"/>
                </a:solidFill>
                <a:sym typeface="Symbol" pitchFamily="18" charset="2"/>
              </a:rPr>
              <a:t> r</a:t>
            </a:r>
            <a:r>
              <a:rPr lang="en-US" dirty="0">
                <a:sym typeface="Symbol" pitchFamily="18" charset="2"/>
              </a:rPr>
              <a:t> are negative (remember SAE convention).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	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11268" name="AutoShape 4"/>
          <p:cNvSpPr>
            <a:spLocks noChangeArrowheads="1"/>
          </p:cNvSpPr>
          <p:nvPr/>
        </p:nvSpPr>
        <p:spPr bwMode="auto">
          <a:xfrm>
            <a:off x="6248400" y="3581400"/>
            <a:ext cx="2209800" cy="762000"/>
          </a:xfrm>
          <a:prstGeom prst="wedgeRoundRectCallout">
            <a:avLst>
              <a:gd name="adj1" fmla="val -92458"/>
              <a:gd name="adj2" fmla="val -6604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dirty="0"/>
              <a:t>See any controls course textbook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We can use this stability criteria to find conditions under which a vehicle is stable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Also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Simplify to get.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2146300" y="1809750"/>
          <a:ext cx="3035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160" imgH="901440" progId="Equation.3">
                  <p:embed/>
                </p:oleObj>
              </mc:Choice>
              <mc:Fallback>
                <p:oleObj name="Equation" r:id="rId3" imgW="3035160" imgH="9014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1809750"/>
                        <a:ext cx="30353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/>
          <p:cNvGraphicFramePr>
            <a:graphicFrameLocks noChangeAspect="1"/>
          </p:cNvGraphicFramePr>
          <p:nvPr/>
        </p:nvGraphicFramePr>
        <p:xfrm>
          <a:off x="990600" y="2819400"/>
          <a:ext cx="7924800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6880" imgH="571320" progId="Equation.3">
                  <p:embed/>
                </p:oleObj>
              </mc:Choice>
              <mc:Fallback>
                <p:oleObj name="Equation" r:id="rId5" imgW="2666880" imgH="5713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19400"/>
                        <a:ext cx="7924800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6"/>
          <p:cNvGraphicFramePr>
            <a:graphicFrameLocks noChangeAspect="1"/>
          </p:cNvGraphicFramePr>
          <p:nvPr/>
        </p:nvGraphicFramePr>
        <p:xfrm>
          <a:off x="1447800" y="5321300"/>
          <a:ext cx="6400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00800" imgH="545760" progId="Equation.3">
                  <p:embed/>
                </p:oleObj>
              </mc:Choice>
              <mc:Fallback>
                <p:oleObj name="Equation" r:id="rId7" imgW="6400800" imgH="5457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321300"/>
                        <a:ext cx="64008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/>
              <a:t>So, stability is </a:t>
            </a:r>
            <a:r>
              <a:rPr lang="en-US" sz="4000" u="sng" dirty="0"/>
              <a:t>guaranteed</a:t>
            </a:r>
            <a:r>
              <a:rPr lang="en-US" sz="4000" dirty="0"/>
              <a:t> if a vehicle is understeer, but not so with oversteer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Positive coefficients will always be true if</a:t>
            </a:r>
            <a:br>
              <a:rPr lang="en-US" dirty="0"/>
            </a:br>
            <a:endParaRPr lang="en-US" sz="1200" dirty="0"/>
          </a:p>
          <a:p>
            <a:pPr>
              <a:buFont typeface="Arial" charset="0"/>
              <a:buNone/>
            </a:pPr>
            <a:r>
              <a:rPr lang="en-US" dirty="0"/>
              <a:t>				or                       (i.e. understeer)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If not, then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will be the speed above which one eigenvalue moves into the RHP </a:t>
            </a:r>
            <a:r>
              <a:rPr lang="en-US" dirty="0">
                <a:sym typeface="Symbol" pitchFamily="18" charset="2"/>
              </a:rPr>
              <a:t> unstable.</a:t>
            </a:r>
            <a:endParaRPr lang="en-US" dirty="0"/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219200" y="2438400"/>
          <a:ext cx="185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000" imgH="482400" progId="Equation.3">
                  <p:embed/>
                </p:oleObj>
              </mc:Choice>
              <mc:Fallback>
                <p:oleObj name="Equation" r:id="rId3" imgW="185400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438400"/>
                        <a:ext cx="1854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"/>
          <p:cNvGraphicFramePr>
            <a:graphicFrameLocks noChangeAspect="1"/>
          </p:cNvGraphicFramePr>
          <p:nvPr/>
        </p:nvGraphicFramePr>
        <p:xfrm>
          <a:off x="3962400" y="2209800"/>
          <a:ext cx="1562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62040" imgH="965160" progId="Equation.3">
                  <p:embed/>
                </p:oleObj>
              </mc:Choice>
              <mc:Fallback>
                <p:oleObj name="Equation" r:id="rId5" imgW="1562040" imgH="9651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209800"/>
                        <a:ext cx="1562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2768600" y="3810000"/>
          <a:ext cx="342265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85720" imgH="495000" progId="Equation.DSMT4">
                  <p:embed/>
                </p:oleObj>
              </mc:Choice>
              <mc:Fallback>
                <p:oleObj name="Equation" r:id="rId7" imgW="1485720" imgH="495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3810000"/>
                        <a:ext cx="342265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6688138" y="3962400"/>
            <a:ext cx="2303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/>
              <a:t>(critical speed)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The characteristic equation also tells us how the natural frequency and damping changes with speed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>
          <a:xfrm>
            <a:off x="728663" y="1600200"/>
            <a:ext cx="7958137" cy="5100638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Looking back at the characteristic equation we can see that it looks like a standard 2</a:t>
            </a:r>
            <a:r>
              <a:rPr lang="en-US" sz="2400" baseline="30000" dirty="0"/>
              <a:t>nd</a:t>
            </a:r>
            <a:r>
              <a:rPr lang="en-US" sz="2400" dirty="0"/>
              <a:t> order system:</a:t>
            </a:r>
            <a:br>
              <a:rPr lang="en-US" sz="2400" dirty="0"/>
            </a:b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We see that the natural frequency is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So, as U increases, the effective damping of the system decreases.</a:t>
            </a:r>
            <a:br>
              <a:rPr lang="en-US" sz="2400" dirty="0"/>
            </a:br>
            <a:endParaRPr lang="en-US" sz="2400" dirty="0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763442"/>
              </p:ext>
            </p:extLst>
          </p:nvPr>
        </p:nvGraphicFramePr>
        <p:xfrm>
          <a:off x="5562600" y="2395537"/>
          <a:ext cx="29718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215640" progId="Equation.3">
                  <p:embed/>
                </p:oleObj>
              </mc:Choice>
              <mc:Fallback>
                <p:oleObj name="Equation" r:id="rId3" imgW="100296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395537"/>
                        <a:ext cx="297180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/>
          <p:cNvGraphicFramePr>
            <a:graphicFrameLocks noChangeAspect="1"/>
          </p:cNvGraphicFramePr>
          <p:nvPr/>
        </p:nvGraphicFramePr>
        <p:xfrm>
          <a:off x="2362200" y="3451225"/>
          <a:ext cx="53340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600" imgH="406080" progId="Equation.3">
                  <p:embed/>
                </p:oleObj>
              </mc:Choice>
              <mc:Fallback>
                <p:oleObj name="Equation" r:id="rId5" imgW="186660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451225"/>
                        <a:ext cx="53340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6"/>
          <p:cNvGraphicFramePr>
            <a:graphicFrameLocks noChangeAspect="1"/>
          </p:cNvGraphicFramePr>
          <p:nvPr/>
        </p:nvGraphicFramePr>
        <p:xfrm>
          <a:off x="1981200" y="4467225"/>
          <a:ext cx="560387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06280" imgH="393480" progId="Equation.3">
                  <p:embed/>
                </p:oleObj>
              </mc:Choice>
              <mc:Fallback>
                <p:oleObj name="Equation" r:id="rId7" imgW="200628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467225"/>
                        <a:ext cx="5603875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Understeer vehicle eigenvalues approach the </a:t>
            </a:r>
            <a:r>
              <a:rPr lang="en-US" sz="3600" dirty="0" err="1"/>
              <a:t>jw</a:t>
            </a:r>
            <a:r>
              <a:rPr lang="en-US" sz="3600" dirty="0"/>
              <a:t>-axis, but NEVER cross…</a:t>
            </a:r>
          </a:p>
        </p:txBody>
      </p:sp>
      <p:grpSp>
        <p:nvGrpSpPr>
          <p:cNvPr id="12291" name="Group 10"/>
          <p:cNvGrpSpPr>
            <a:grpSpLocks/>
          </p:cNvGrpSpPr>
          <p:nvPr/>
        </p:nvGrpSpPr>
        <p:grpSpPr bwMode="auto">
          <a:xfrm>
            <a:off x="1638300" y="1371600"/>
            <a:ext cx="5867400" cy="4584700"/>
            <a:chOff x="2133600" y="1752600"/>
            <a:chExt cx="5867400" cy="4584700"/>
          </a:xfrm>
        </p:grpSpPr>
        <p:pic>
          <p:nvPicPr>
            <p:cNvPr id="12292" name="Picture 3" descr="10-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1905000"/>
              <a:ext cx="5776913" cy="44323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3" name="Rectangle 4"/>
            <p:cNvSpPr>
              <a:spLocks noChangeArrowheads="1"/>
            </p:cNvSpPr>
            <p:nvPr/>
          </p:nvSpPr>
          <p:spPr bwMode="auto">
            <a:xfrm>
              <a:off x="5562600" y="1752600"/>
              <a:ext cx="2438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4" name="Text Box 5"/>
            <p:cNvSpPr txBox="1">
              <a:spLocks noChangeArrowheads="1"/>
            </p:cNvSpPr>
            <p:nvPr/>
          </p:nvSpPr>
          <p:spPr bwMode="auto">
            <a:xfrm>
              <a:off x="6804025" y="2514600"/>
              <a:ext cx="66357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400"/>
                <a:t>50 m/s</a:t>
              </a:r>
            </a:p>
          </p:txBody>
        </p:sp>
        <p:sp>
          <p:nvSpPr>
            <p:cNvPr id="12295" name="Text Box 6"/>
            <p:cNvSpPr txBox="1">
              <a:spLocks noChangeArrowheads="1"/>
            </p:cNvSpPr>
            <p:nvPr/>
          </p:nvSpPr>
          <p:spPr bwMode="auto">
            <a:xfrm>
              <a:off x="3352800" y="3200400"/>
              <a:ext cx="663575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400"/>
                <a:t>10 m/s</a:t>
              </a:r>
            </a:p>
          </p:txBody>
        </p:sp>
        <p:sp>
          <p:nvSpPr>
            <p:cNvPr id="12296" name="Line 7"/>
            <p:cNvSpPr>
              <a:spLocks noChangeShapeType="1"/>
            </p:cNvSpPr>
            <p:nvPr/>
          </p:nvSpPr>
          <p:spPr bwMode="auto">
            <a:xfrm flipV="1">
              <a:off x="3733800" y="2743200"/>
              <a:ext cx="457200" cy="2286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7" name="Line 8"/>
            <p:cNvSpPr>
              <a:spLocks noChangeShapeType="1"/>
            </p:cNvSpPr>
            <p:nvPr/>
          </p:nvSpPr>
          <p:spPr bwMode="auto">
            <a:xfrm flipH="1" flipV="1">
              <a:off x="6324600" y="2514600"/>
              <a:ext cx="152400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8" name="Arc 9"/>
            <p:cNvSpPr>
              <a:spLocks/>
            </p:cNvSpPr>
            <p:nvPr/>
          </p:nvSpPr>
          <p:spPr bwMode="auto">
            <a:xfrm flipH="1">
              <a:off x="7480300" y="3771900"/>
              <a:ext cx="152400" cy="228600"/>
            </a:xfrm>
            <a:custGeom>
              <a:avLst/>
              <a:gdLst>
                <a:gd name="T0" fmla="*/ 0 w 21600"/>
                <a:gd name="T1" fmla="*/ 0 h 21600"/>
                <a:gd name="T2" fmla="*/ 377667496 w 21600"/>
                <a:gd name="T3" fmla="*/ 2147483647 h 21600"/>
                <a:gd name="T4" fmla="*/ 0 w 21600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6870700" y="3667125"/>
              <a:ext cx="604838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1400"/>
                <a:t>cos</a:t>
              </a:r>
              <a:r>
                <a:rPr lang="en-US" sz="1400" baseline="30000"/>
                <a:t>-1</a:t>
              </a:r>
              <a:r>
                <a:rPr lang="en-US" sz="1400">
                  <a:latin typeface="Symbol" pitchFamily="18" charset="2"/>
                </a:rPr>
                <a:t>z</a:t>
              </a:r>
              <a:endParaRPr lang="en-US" sz="14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algn="l"/>
            <a:r>
              <a:rPr lang="en-US" sz="2400" dirty="0"/>
              <a:t>We can see the decreasing damping of an understeer vehicle at high speeds. This can become so oscillatory that the vehicle is effectively undrivable. </a:t>
            </a:r>
            <a:br>
              <a:rPr lang="en-US" sz="2400" dirty="0"/>
            </a:br>
            <a:r>
              <a:rPr lang="en-US" sz="2400" dirty="0">
                <a:solidFill>
                  <a:srgbClr val="FF0000"/>
                </a:solidFill>
              </a:rPr>
              <a:t>Lesson: a system that is stable BUT poorly damped is still BAD.</a:t>
            </a:r>
          </a:p>
        </p:txBody>
      </p:sp>
      <p:pic>
        <p:nvPicPr>
          <p:cNvPr id="4" name="Lesson 11_insidecarf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38400" y="1905000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Time response verify that damping DECREASES with increasing speed</a:t>
            </a:r>
          </a:p>
        </p:txBody>
      </p:sp>
      <p:pic>
        <p:nvPicPr>
          <p:cNvPr id="13315" name="Picture 3" descr="10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794" y="1524000"/>
            <a:ext cx="5840412" cy="44196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638800" y="1828800"/>
            <a:ext cx="2286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6880225" y="3657600"/>
            <a:ext cx="663575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50 m/s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858000" y="3124200"/>
            <a:ext cx="663575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25 m/s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behavior is seen in lateral velocity (or ANY state we look at)</a:t>
            </a:r>
          </a:p>
        </p:txBody>
      </p:sp>
      <p:pic>
        <p:nvPicPr>
          <p:cNvPr id="14339" name="Picture 4" descr="10-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1447800"/>
            <a:ext cx="5840412" cy="44196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5562600" y="1828800"/>
            <a:ext cx="2362200" cy="7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6956425" y="4953000"/>
            <a:ext cx="663575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50 m/s</a:t>
            </a:r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6858000" y="2590800"/>
            <a:ext cx="663575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400"/>
              <a:t>25 m/s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For oversteer vehicles, instability manifests itself by yaw and slip angles that increase in magnitude to infinity</a:t>
            </a:r>
          </a:p>
        </p:txBody>
      </p:sp>
      <p:pic>
        <p:nvPicPr>
          <p:cNvPr id="4" name="PowerOversteer_Eric_Brewer_2008_02_2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71600" y="16764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0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This oversteer-like instability can be seen regularly under RWD throttle-on situations</a:t>
            </a:r>
          </a:p>
        </p:txBody>
      </p:sp>
      <p:pic>
        <p:nvPicPr>
          <p:cNvPr id="4" name="poweroversteer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33600" y="1676400"/>
            <a:ext cx="50292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6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You can do this experiment of stability even without a vehicle</a:t>
            </a:r>
          </a:p>
        </p:txBody>
      </p:sp>
      <p:pic>
        <p:nvPicPr>
          <p:cNvPr id="4" name="Skates - Lift up Back Wheels Causes Oversteer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48200" y="1752600"/>
            <a:ext cx="4267200" cy="3200400"/>
          </a:xfrm>
          <a:prstGeom prst="rect">
            <a:avLst/>
          </a:prstGeom>
        </p:spPr>
      </p:pic>
      <p:pic>
        <p:nvPicPr>
          <p:cNvPr id="5" name="Skates - Lift up Front Wheels Causes Understeer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04800" y="1752600"/>
            <a:ext cx="426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0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Stability analysis depends on complex numbers, but isn’t complex as relationships…</a:t>
            </a:r>
          </a:p>
        </p:txBody>
      </p:sp>
      <p:pic>
        <p:nvPicPr>
          <p:cNvPr id="40962" name="Picture 2" descr="Z:\Classes\Brennan_Classes_Current\2012_ME452\Lesson 15 - Transient Response - Model Analysis\Funny_ImaginaryNumbers_2009-07-24-cha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6934200" cy="433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37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7c738f6-68ec-422e-b0e4-3523873f7ad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13" ma:contentTypeDescription="Create a new document." ma:contentTypeScope="" ma:versionID="9103b0da9f8fed759ceced0a84d6aec5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a379d58d63e74d9574d4625524b56ddb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2" nillable="true" ma:displayName="Sign-off status" ma:internalName="Sign_x002d_off_x0020_status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D3F1D3-FAFF-4CD4-9603-B3FB45817BF3}">
  <ds:schemaRefs>
    <ds:schemaRef ds:uri="542b8847-f5d4-4c9f-bd30-657d16e5db1d"/>
    <ds:schemaRef ds:uri="c7c738f6-68ec-422e-b0e4-3523873f7adf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2D4524B-66F4-4A72-A365-3C5A211E4B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8DC637-594A-4C1E-8DFE-4C504C2B00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738f6-68ec-422e-b0e4-3523873f7adf"/>
    <ds:schemaRef ds:uri="542b8847-f5d4-4c9f-bd30-657d16e5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563</Words>
  <Application>Microsoft Office PowerPoint</Application>
  <PresentationFormat>On-screen Show (4:3)</PresentationFormat>
  <Paragraphs>64</Paragraphs>
  <Slides>17</Slides>
  <Notes>13</Notes>
  <HiddenSlides>0</HiddenSlides>
  <MMClips>5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Symbol</vt:lpstr>
      <vt:lpstr>Times New Roman</vt:lpstr>
      <vt:lpstr>Wingdings</vt:lpstr>
      <vt:lpstr>Office Theme</vt:lpstr>
      <vt:lpstr>Equation</vt:lpstr>
      <vt:lpstr>Automotive Vehicle Dynamics</vt:lpstr>
      <vt:lpstr>The Bicycle Model represents 2 degree of freedom vehicle dynamics in the plane</vt:lpstr>
      <vt:lpstr>The stability of the transient system is dependent on the eigenvalues of the system A matrix</vt:lpstr>
      <vt:lpstr>Plugging in the entries of the bicycle model  “A-matrix” gives the characteristic equation</vt:lpstr>
      <vt:lpstr>The eigenvalues are obtained by finding the roots to the characteristic equation…</vt:lpstr>
      <vt:lpstr>For 2nd  or 1st order systems, stability can be seen by inspection</vt:lpstr>
      <vt:lpstr>We can use this stability criteria to find conditions under which a vehicle is stable</vt:lpstr>
      <vt:lpstr>So, stability is guaranteed if a vehicle is understeer, but not so with oversteer</vt:lpstr>
      <vt:lpstr>The characteristic equation also tells us how the natural frequency and damping changes with speed</vt:lpstr>
      <vt:lpstr>Understeer vehicle eigenvalues approach the jw-axis, but NEVER cross…</vt:lpstr>
      <vt:lpstr>We can see the decreasing damping of an understeer vehicle at high speeds. This can become so oscillatory that the vehicle is effectively undrivable.  Lesson: a system that is stable BUT poorly damped is still BAD.</vt:lpstr>
      <vt:lpstr>Time response verify that damping DECREASES with increasing speed</vt:lpstr>
      <vt:lpstr>Similar behavior is seen in lateral velocity (or ANY state we look at)</vt:lpstr>
      <vt:lpstr>For oversteer vehicles, instability manifests itself by yaw and slip angles that increase in magnitude to infinity</vt:lpstr>
      <vt:lpstr>This oversteer-like instability can be seen regularly under RWD throttle-on situations</vt:lpstr>
      <vt:lpstr>You can do this experiment of stability even without a vehicle</vt:lpstr>
      <vt:lpstr>Stability analysis depends on complex numbers, but isn’t complex as relationships…</vt:lpstr>
    </vt:vector>
  </TitlesOfParts>
  <Company>M&amp;IE, College of Engineering -- 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452</dc:title>
  <dc:creator>Sean Brennan</dc:creator>
  <cp:lastModifiedBy>Brennan, Sean N</cp:lastModifiedBy>
  <cp:revision>39</cp:revision>
  <dcterms:created xsi:type="dcterms:W3CDTF">2000-10-16T16:37:53Z</dcterms:created>
  <dcterms:modified xsi:type="dcterms:W3CDTF">2026-03-16T16:52:15Z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0x0101009204A49901785041AF741C157FF60EBA</vt:lpwstr>
  </property>
</Properties>
</file>