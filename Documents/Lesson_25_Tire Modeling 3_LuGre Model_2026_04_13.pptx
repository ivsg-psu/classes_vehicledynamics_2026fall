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3.xml" ContentType="application/vnd.openxmlformats-officedocument.presentationml.slide+xml"/>
  <Override PartName="/ppt/slides/slide1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3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339" r:id="rId2"/>
    <p:sldId id="362" r:id="rId3"/>
    <p:sldId id="363" r:id="rId4"/>
    <p:sldId id="402" r:id="rId5"/>
    <p:sldId id="403" r:id="rId6"/>
    <p:sldId id="404" r:id="rId7"/>
    <p:sldId id="405" r:id="rId8"/>
    <p:sldId id="406" r:id="rId9"/>
    <p:sldId id="364" r:id="rId10"/>
    <p:sldId id="393" r:id="rId11"/>
    <p:sldId id="394" r:id="rId12"/>
    <p:sldId id="395" r:id="rId13"/>
    <p:sldId id="392" r:id="rId14"/>
    <p:sldId id="391" r:id="rId15"/>
    <p:sldId id="369" r:id="rId16"/>
    <p:sldId id="398" r:id="rId17"/>
    <p:sldId id="366" r:id="rId18"/>
    <p:sldId id="397" r:id="rId19"/>
    <p:sldId id="374" r:id="rId20"/>
    <p:sldId id="400" r:id="rId21"/>
    <p:sldId id="371" r:id="rId22"/>
    <p:sldId id="399" r:id="rId23"/>
    <p:sldId id="372" r:id="rId24"/>
    <p:sldId id="375" r:id="rId25"/>
    <p:sldId id="376" r:id="rId26"/>
    <p:sldId id="401" r:id="rId27"/>
    <p:sldId id="377" r:id="rId28"/>
    <p:sldId id="407" r:id="rId29"/>
    <p:sldId id="378" r:id="rId30"/>
    <p:sldId id="379" r:id="rId31"/>
    <p:sldId id="380" r:id="rId32"/>
    <p:sldId id="381" r:id="rId33"/>
    <p:sldId id="382" r:id="rId34"/>
    <p:sldId id="383" r:id="rId35"/>
    <p:sldId id="384" r:id="rId36"/>
    <p:sldId id="385" r:id="rId37"/>
    <p:sldId id="386" r:id="rId38"/>
    <p:sldId id="387" r:id="rId39"/>
    <p:sldId id="396" r:id="rId40"/>
    <p:sldId id="388" r:id="rId41"/>
    <p:sldId id="389" r:id="rId42"/>
    <p:sldId id="390" r:id="rId43"/>
    <p:sldId id="408" r:id="rId44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Tejas" initials="TMV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00"/>
    <a:srgbClr val="3333FF"/>
    <a:srgbClr val="000000"/>
    <a:srgbClr val="003300"/>
    <a:srgbClr val="D9D8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 autoAdjust="0"/>
    <p:restoredTop sz="94682" autoAdjust="0"/>
  </p:normalViewPr>
  <p:slideViewPr>
    <p:cSldViewPr>
      <p:cViewPr varScale="1">
        <p:scale>
          <a:sx n="103" d="100"/>
          <a:sy n="103" d="100"/>
        </p:scale>
        <p:origin x="972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2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A4B9A0-7CCB-40D2-BAE0-CA501E52E600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1169033F-1FD0-43EA-89ED-9AA2C378E89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Calculate Relative Velocity</a:t>
          </a:r>
          <a:endParaRPr lang="en-US" dirty="0">
            <a:solidFill>
              <a:schemeClr val="tx1"/>
            </a:solidFill>
          </a:endParaRPr>
        </a:p>
      </dgm:t>
    </dgm:pt>
    <dgm:pt modelId="{E412F68F-76CA-4C2E-AA47-29E4D26FB00E}" type="parTrans" cxnId="{CF89AF45-2FEB-447E-AD4E-65982B418C2D}">
      <dgm:prSet/>
      <dgm:spPr/>
      <dgm:t>
        <a:bodyPr/>
        <a:lstStyle/>
        <a:p>
          <a:endParaRPr lang="en-US"/>
        </a:p>
      </dgm:t>
    </dgm:pt>
    <dgm:pt modelId="{40F023FB-C3DC-48B0-AD42-548ADA4BAE09}" type="sibTrans" cxnId="{CF89AF45-2FEB-447E-AD4E-65982B418C2D}">
      <dgm:prSet/>
      <dgm:spPr/>
      <dgm:t>
        <a:bodyPr/>
        <a:lstStyle/>
        <a:p>
          <a:endParaRPr lang="en-US"/>
        </a:p>
      </dgm:t>
    </dgm:pt>
    <dgm:pt modelId="{679EE8F2-E330-4367-B736-CC8AF835D0CD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Calculate Stribeck Friction</a:t>
          </a:r>
          <a:endParaRPr lang="en-US" dirty="0">
            <a:solidFill>
              <a:schemeClr val="tx1"/>
            </a:solidFill>
          </a:endParaRPr>
        </a:p>
      </dgm:t>
    </dgm:pt>
    <dgm:pt modelId="{FED408E0-F060-49EC-93ED-56C8B91BD447}" type="parTrans" cxnId="{9AB165A7-5DE5-4A98-918A-352864D601EF}">
      <dgm:prSet/>
      <dgm:spPr/>
      <dgm:t>
        <a:bodyPr/>
        <a:lstStyle/>
        <a:p>
          <a:endParaRPr lang="en-US"/>
        </a:p>
      </dgm:t>
    </dgm:pt>
    <dgm:pt modelId="{9E241EC2-4797-4A7C-B270-265D3867B3A7}" type="sibTrans" cxnId="{9AB165A7-5DE5-4A98-918A-352864D601EF}">
      <dgm:prSet/>
      <dgm:spPr/>
      <dgm:t>
        <a:bodyPr/>
        <a:lstStyle/>
        <a:p>
          <a:endParaRPr lang="en-US"/>
        </a:p>
      </dgm:t>
    </dgm:pt>
    <dgm:pt modelId="{E919939D-B123-4A03-8096-7D819A0CD89D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Calculate Bristle Deflection</a:t>
          </a:r>
          <a:endParaRPr lang="en-US" dirty="0">
            <a:solidFill>
              <a:schemeClr val="tx1"/>
            </a:solidFill>
          </a:endParaRPr>
        </a:p>
      </dgm:t>
    </dgm:pt>
    <dgm:pt modelId="{E585A087-F2A9-47B2-B62B-55E0BF78ED8B}" type="parTrans" cxnId="{1EE06D56-68B5-43BB-BE0A-9E9E085E70AF}">
      <dgm:prSet/>
      <dgm:spPr/>
      <dgm:t>
        <a:bodyPr/>
        <a:lstStyle/>
        <a:p>
          <a:endParaRPr lang="en-US"/>
        </a:p>
      </dgm:t>
    </dgm:pt>
    <dgm:pt modelId="{8F23EA22-642A-4FDD-9E1C-B672C31F0DC4}" type="sibTrans" cxnId="{1EE06D56-68B5-43BB-BE0A-9E9E085E70AF}">
      <dgm:prSet/>
      <dgm:spPr/>
      <dgm:t>
        <a:bodyPr/>
        <a:lstStyle/>
        <a:p>
          <a:endParaRPr lang="en-US"/>
        </a:p>
      </dgm:t>
    </dgm:pt>
    <dgm:pt modelId="{DBB82E55-BE1C-4B94-B38F-24C90FE828A1}">
      <dgm:prSet phldrT="[Text]"/>
      <dgm:spPr/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Calculate Bristle Friction</a:t>
          </a:r>
          <a:endParaRPr lang="en-US" dirty="0">
            <a:solidFill>
              <a:schemeClr val="tx1"/>
            </a:solidFill>
          </a:endParaRPr>
        </a:p>
      </dgm:t>
    </dgm:pt>
    <dgm:pt modelId="{C7410F3F-5EEB-4467-BFD9-935E3AFA9F77}" type="parTrans" cxnId="{F23616FF-4725-41B9-B3C5-1DE45743DCAE}">
      <dgm:prSet/>
      <dgm:spPr/>
      <dgm:t>
        <a:bodyPr/>
        <a:lstStyle/>
        <a:p>
          <a:endParaRPr lang="en-US"/>
        </a:p>
      </dgm:t>
    </dgm:pt>
    <dgm:pt modelId="{E178DC7A-10AD-42FF-B951-2400604DF0EE}" type="sibTrans" cxnId="{F23616FF-4725-41B9-B3C5-1DE45743DCAE}">
      <dgm:prSet/>
      <dgm:spPr/>
      <dgm:t>
        <a:bodyPr/>
        <a:lstStyle/>
        <a:p>
          <a:endParaRPr lang="en-US"/>
        </a:p>
      </dgm:t>
    </dgm:pt>
    <dgm:pt modelId="{13DAAAE9-BA54-4546-BEB8-EED2A34AB741}" type="pres">
      <dgm:prSet presAssocID="{FCA4B9A0-7CCB-40D2-BAE0-CA501E52E600}" presName="Name0" presStyleCnt="0">
        <dgm:presLayoutVars>
          <dgm:dir/>
          <dgm:resizeHandles val="exact"/>
        </dgm:presLayoutVars>
      </dgm:prSet>
      <dgm:spPr/>
    </dgm:pt>
    <dgm:pt modelId="{515FDA5D-7EC0-42B2-AA58-A625F0141505}" type="pres">
      <dgm:prSet presAssocID="{1169033F-1FD0-43EA-89ED-9AA2C378E891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33F955-6139-4A03-8353-318AA48787E0}" type="pres">
      <dgm:prSet presAssocID="{40F023FB-C3DC-48B0-AD42-548ADA4BAE09}" presName="sibTrans" presStyleLbl="sibTrans2D1" presStyleIdx="0" presStyleCnt="3"/>
      <dgm:spPr/>
      <dgm:t>
        <a:bodyPr/>
        <a:lstStyle/>
        <a:p>
          <a:endParaRPr lang="en-US"/>
        </a:p>
      </dgm:t>
    </dgm:pt>
    <dgm:pt modelId="{A9540558-9727-42FD-A61E-EA768264B20C}" type="pres">
      <dgm:prSet presAssocID="{40F023FB-C3DC-48B0-AD42-548ADA4BAE09}" presName="connectorText" presStyleLbl="sibTrans2D1" presStyleIdx="0" presStyleCnt="3"/>
      <dgm:spPr/>
      <dgm:t>
        <a:bodyPr/>
        <a:lstStyle/>
        <a:p>
          <a:endParaRPr lang="en-US"/>
        </a:p>
      </dgm:t>
    </dgm:pt>
    <dgm:pt modelId="{3575863C-1B55-4FC4-87D1-7AC9D9EE7F90}" type="pres">
      <dgm:prSet presAssocID="{679EE8F2-E330-4367-B736-CC8AF835D0CD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92AE3A-3180-498E-900B-690952E89D21}" type="pres">
      <dgm:prSet presAssocID="{9E241EC2-4797-4A7C-B270-265D3867B3A7}" presName="sibTrans" presStyleLbl="sibTrans2D1" presStyleIdx="1" presStyleCnt="3"/>
      <dgm:spPr/>
      <dgm:t>
        <a:bodyPr/>
        <a:lstStyle/>
        <a:p>
          <a:endParaRPr lang="en-US"/>
        </a:p>
      </dgm:t>
    </dgm:pt>
    <dgm:pt modelId="{C2D534C4-72E0-4096-ACC4-A8E0BD4AB9A6}" type="pres">
      <dgm:prSet presAssocID="{9E241EC2-4797-4A7C-B270-265D3867B3A7}" presName="connectorText" presStyleLbl="sibTrans2D1" presStyleIdx="1" presStyleCnt="3"/>
      <dgm:spPr/>
      <dgm:t>
        <a:bodyPr/>
        <a:lstStyle/>
        <a:p>
          <a:endParaRPr lang="en-US"/>
        </a:p>
      </dgm:t>
    </dgm:pt>
    <dgm:pt modelId="{882DFEB5-646A-49EA-9061-482B335FC910}" type="pres">
      <dgm:prSet presAssocID="{E919939D-B123-4A03-8096-7D819A0CD89D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47CE12-091B-4044-8A2C-82995E04D183}" type="pres">
      <dgm:prSet presAssocID="{8F23EA22-642A-4FDD-9E1C-B672C31F0DC4}" presName="sibTrans" presStyleLbl="sibTrans2D1" presStyleIdx="2" presStyleCnt="3"/>
      <dgm:spPr/>
      <dgm:t>
        <a:bodyPr/>
        <a:lstStyle/>
        <a:p>
          <a:endParaRPr lang="en-US"/>
        </a:p>
      </dgm:t>
    </dgm:pt>
    <dgm:pt modelId="{E30DD05E-BC72-40D1-8492-0568692D218B}" type="pres">
      <dgm:prSet presAssocID="{8F23EA22-642A-4FDD-9E1C-B672C31F0DC4}" presName="connectorText" presStyleLbl="sibTrans2D1" presStyleIdx="2" presStyleCnt="3"/>
      <dgm:spPr/>
      <dgm:t>
        <a:bodyPr/>
        <a:lstStyle/>
        <a:p>
          <a:endParaRPr lang="en-US"/>
        </a:p>
      </dgm:t>
    </dgm:pt>
    <dgm:pt modelId="{7A6A1B9B-C00F-4B69-B0BE-8E14342E657D}" type="pres">
      <dgm:prSet presAssocID="{DBB82E55-BE1C-4B94-B38F-24C90FE828A1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AB165A7-5DE5-4A98-918A-352864D601EF}" srcId="{FCA4B9A0-7CCB-40D2-BAE0-CA501E52E600}" destId="{679EE8F2-E330-4367-B736-CC8AF835D0CD}" srcOrd="1" destOrd="0" parTransId="{FED408E0-F060-49EC-93ED-56C8B91BD447}" sibTransId="{9E241EC2-4797-4A7C-B270-265D3867B3A7}"/>
    <dgm:cxn modelId="{1EE06D56-68B5-43BB-BE0A-9E9E085E70AF}" srcId="{FCA4B9A0-7CCB-40D2-BAE0-CA501E52E600}" destId="{E919939D-B123-4A03-8096-7D819A0CD89D}" srcOrd="2" destOrd="0" parTransId="{E585A087-F2A9-47B2-B62B-55E0BF78ED8B}" sibTransId="{8F23EA22-642A-4FDD-9E1C-B672C31F0DC4}"/>
    <dgm:cxn modelId="{4789434D-D59E-403D-B40D-75ACB2C97290}" type="presOf" srcId="{679EE8F2-E330-4367-B736-CC8AF835D0CD}" destId="{3575863C-1B55-4FC4-87D1-7AC9D9EE7F90}" srcOrd="0" destOrd="0" presId="urn:microsoft.com/office/officeart/2005/8/layout/process1"/>
    <dgm:cxn modelId="{6638E2EC-2847-4D8F-95CC-9AE4563DB611}" type="presOf" srcId="{9E241EC2-4797-4A7C-B270-265D3867B3A7}" destId="{2F92AE3A-3180-498E-900B-690952E89D21}" srcOrd="0" destOrd="0" presId="urn:microsoft.com/office/officeart/2005/8/layout/process1"/>
    <dgm:cxn modelId="{4AEB51AC-4585-4692-BF8A-0BBB2BB74522}" type="presOf" srcId="{E919939D-B123-4A03-8096-7D819A0CD89D}" destId="{882DFEB5-646A-49EA-9061-482B335FC910}" srcOrd="0" destOrd="0" presId="urn:microsoft.com/office/officeart/2005/8/layout/process1"/>
    <dgm:cxn modelId="{98917396-53F4-4521-91DE-0E1956F29087}" type="presOf" srcId="{DBB82E55-BE1C-4B94-B38F-24C90FE828A1}" destId="{7A6A1B9B-C00F-4B69-B0BE-8E14342E657D}" srcOrd="0" destOrd="0" presId="urn:microsoft.com/office/officeart/2005/8/layout/process1"/>
    <dgm:cxn modelId="{3A0B5280-7445-482F-ABAA-56D73CD7A45B}" type="presOf" srcId="{9E241EC2-4797-4A7C-B270-265D3867B3A7}" destId="{C2D534C4-72E0-4096-ACC4-A8E0BD4AB9A6}" srcOrd="1" destOrd="0" presId="urn:microsoft.com/office/officeart/2005/8/layout/process1"/>
    <dgm:cxn modelId="{DBA91089-5AE8-4DAC-975A-3818CA2466D9}" type="presOf" srcId="{8F23EA22-642A-4FDD-9E1C-B672C31F0DC4}" destId="{6447CE12-091B-4044-8A2C-82995E04D183}" srcOrd="0" destOrd="0" presId="urn:microsoft.com/office/officeart/2005/8/layout/process1"/>
    <dgm:cxn modelId="{55D1E2BD-C53E-44A5-80A5-32EF0B5A6B08}" type="presOf" srcId="{8F23EA22-642A-4FDD-9E1C-B672C31F0DC4}" destId="{E30DD05E-BC72-40D1-8492-0568692D218B}" srcOrd="1" destOrd="0" presId="urn:microsoft.com/office/officeart/2005/8/layout/process1"/>
    <dgm:cxn modelId="{CF89AF45-2FEB-447E-AD4E-65982B418C2D}" srcId="{FCA4B9A0-7CCB-40D2-BAE0-CA501E52E600}" destId="{1169033F-1FD0-43EA-89ED-9AA2C378E891}" srcOrd="0" destOrd="0" parTransId="{E412F68F-76CA-4C2E-AA47-29E4D26FB00E}" sibTransId="{40F023FB-C3DC-48B0-AD42-548ADA4BAE09}"/>
    <dgm:cxn modelId="{9FB60FDF-0096-46E9-AD11-50F12A87D1FB}" type="presOf" srcId="{40F023FB-C3DC-48B0-AD42-548ADA4BAE09}" destId="{C333F955-6139-4A03-8353-318AA48787E0}" srcOrd="0" destOrd="0" presId="urn:microsoft.com/office/officeart/2005/8/layout/process1"/>
    <dgm:cxn modelId="{F23616FF-4725-41B9-B3C5-1DE45743DCAE}" srcId="{FCA4B9A0-7CCB-40D2-BAE0-CA501E52E600}" destId="{DBB82E55-BE1C-4B94-B38F-24C90FE828A1}" srcOrd="3" destOrd="0" parTransId="{C7410F3F-5EEB-4467-BFD9-935E3AFA9F77}" sibTransId="{E178DC7A-10AD-42FF-B951-2400604DF0EE}"/>
    <dgm:cxn modelId="{61529AC2-C2A2-4F06-B745-D74260A03E06}" type="presOf" srcId="{1169033F-1FD0-43EA-89ED-9AA2C378E891}" destId="{515FDA5D-7EC0-42B2-AA58-A625F0141505}" srcOrd="0" destOrd="0" presId="urn:microsoft.com/office/officeart/2005/8/layout/process1"/>
    <dgm:cxn modelId="{DFE9E9F0-B342-4F79-AB32-22DB38ED3CFD}" type="presOf" srcId="{FCA4B9A0-7CCB-40D2-BAE0-CA501E52E600}" destId="{13DAAAE9-BA54-4546-BEB8-EED2A34AB741}" srcOrd="0" destOrd="0" presId="urn:microsoft.com/office/officeart/2005/8/layout/process1"/>
    <dgm:cxn modelId="{B6F74354-D423-4587-A4A2-D691911E7D00}" type="presOf" srcId="{40F023FB-C3DC-48B0-AD42-548ADA4BAE09}" destId="{A9540558-9727-42FD-A61E-EA768264B20C}" srcOrd="1" destOrd="0" presId="urn:microsoft.com/office/officeart/2005/8/layout/process1"/>
    <dgm:cxn modelId="{E94FAB92-D6D4-4355-B02C-99A453FD2B7F}" type="presParOf" srcId="{13DAAAE9-BA54-4546-BEB8-EED2A34AB741}" destId="{515FDA5D-7EC0-42B2-AA58-A625F0141505}" srcOrd="0" destOrd="0" presId="urn:microsoft.com/office/officeart/2005/8/layout/process1"/>
    <dgm:cxn modelId="{68C508E4-0F32-470D-A2C1-5311EC373AE5}" type="presParOf" srcId="{13DAAAE9-BA54-4546-BEB8-EED2A34AB741}" destId="{C333F955-6139-4A03-8353-318AA48787E0}" srcOrd="1" destOrd="0" presId="urn:microsoft.com/office/officeart/2005/8/layout/process1"/>
    <dgm:cxn modelId="{453F0392-A8DD-41B5-BC55-EC21BDE1528E}" type="presParOf" srcId="{C333F955-6139-4A03-8353-318AA48787E0}" destId="{A9540558-9727-42FD-A61E-EA768264B20C}" srcOrd="0" destOrd="0" presId="urn:microsoft.com/office/officeart/2005/8/layout/process1"/>
    <dgm:cxn modelId="{8D355796-3941-46AB-A500-5FBE0615DEDE}" type="presParOf" srcId="{13DAAAE9-BA54-4546-BEB8-EED2A34AB741}" destId="{3575863C-1B55-4FC4-87D1-7AC9D9EE7F90}" srcOrd="2" destOrd="0" presId="urn:microsoft.com/office/officeart/2005/8/layout/process1"/>
    <dgm:cxn modelId="{5809EA0B-BB34-4569-ABEC-485322A40777}" type="presParOf" srcId="{13DAAAE9-BA54-4546-BEB8-EED2A34AB741}" destId="{2F92AE3A-3180-498E-900B-690952E89D21}" srcOrd="3" destOrd="0" presId="urn:microsoft.com/office/officeart/2005/8/layout/process1"/>
    <dgm:cxn modelId="{AA684CB5-DB59-4B58-ACF7-FC2033AB949A}" type="presParOf" srcId="{2F92AE3A-3180-498E-900B-690952E89D21}" destId="{C2D534C4-72E0-4096-ACC4-A8E0BD4AB9A6}" srcOrd="0" destOrd="0" presId="urn:microsoft.com/office/officeart/2005/8/layout/process1"/>
    <dgm:cxn modelId="{079D418C-D009-47BF-B032-2B49DF826A26}" type="presParOf" srcId="{13DAAAE9-BA54-4546-BEB8-EED2A34AB741}" destId="{882DFEB5-646A-49EA-9061-482B335FC910}" srcOrd="4" destOrd="0" presId="urn:microsoft.com/office/officeart/2005/8/layout/process1"/>
    <dgm:cxn modelId="{2DA69DAD-5D46-43BD-B2F0-F670777FE27C}" type="presParOf" srcId="{13DAAAE9-BA54-4546-BEB8-EED2A34AB741}" destId="{6447CE12-091B-4044-8A2C-82995E04D183}" srcOrd="5" destOrd="0" presId="urn:microsoft.com/office/officeart/2005/8/layout/process1"/>
    <dgm:cxn modelId="{0974EE53-9999-4885-9AFD-D35E084B0C50}" type="presParOf" srcId="{6447CE12-091B-4044-8A2C-82995E04D183}" destId="{E30DD05E-BC72-40D1-8492-0568692D218B}" srcOrd="0" destOrd="0" presId="urn:microsoft.com/office/officeart/2005/8/layout/process1"/>
    <dgm:cxn modelId="{5431B568-1D89-40C8-8CB3-C33CF5165E16}" type="presParOf" srcId="{13DAAAE9-BA54-4546-BEB8-EED2A34AB741}" destId="{7A6A1B9B-C00F-4B69-B0BE-8E14342E657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FDA5D-7EC0-42B2-AA58-A625F0141505}">
      <dsp:nvSpPr>
        <dsp:cNvPr id="0" name=""/>
        <dsp:cNvSpPr/>
      </dsp:nvSpPr>
      <dsp:spPr>
        <a:xfrm>
          <a:off x="2310" y="984169"/>
          <a:ext cx="1010226" cy="805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tx1"/>
              </a:solidFill>
            </a:rPr>
            <a:t>Calculate Relative Velocity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25888" y="1007747"/>
        <a:ext cx="963070" cy="757868"/>
      </dsp:txXfrm>
    </dsp:sp>
    <dsp:sp modelId="{C333F955-6139-4A03-8353-318AA48787E0}">
      <dsp:nvSpPr>
        <dsp:cNvPr id="0" name=""/>
        <dsp:cNvSpPr/>
      </dsp:nvSpPr>
      <dsp:spPr>
        <a:xfrm>
          <a:off x="1113559" y="1261413"/>
          <a:ext cx="214168" cy="250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1113559" y="1311520"/>
        <a:ext cx="149918" cy="150322"/>
      </dsp:txXfrm>
    </dsp:sp>
    <dsp:sp modelId="{3575863C-1B55-4FC4-87D1-7AC9D9EE7F90}">
      <dsp:nvSpPr>
        <dsp:cNvPr id="0" name=""/>
        <dsp:cNvSpPr/>
      </dsp:nvSpPr>
      <dsp:spPr>
        <a:xfrm>
          <a:off x="1416627" y="984169"/>
          <a:ext cx="1010226" cy="805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tx1"/>
              </a:solidFill>
            </a:rPr>
            <a:t>Calculate Stribeck Friction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1440205" y="1007747"/>
        <a:ext cx="963070" cy="757868"/>
      </dsp:txXfrm>
    </dsp:sp>
    <dsp:sp modelId="{2F92AE3A-3180-498E-900B-690952E89D21}">
      <dsp:nvSpPr>
        <dsp:cNvPr id="0" name=""/>
        <dsp:cNvSpPr/>
      </dsp:nvSpPr>
      <dsp:spPr>
        <a:xfrm>
          <a:off x="2527877" y="1261413"/>
          <a:ext cx="214168" cy="250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2527877" y="1311520"/>
        <a:ext cx="149918" cy="150322"/>
      </dsp:txXfrm>
    </dsp:sp>
    <dsp:sp modelId="{882DFEB5-646A-49EA-9061-482B335FC910}">
      <dsp:nvSpPr>
        <dsp:cNvPr id="0" name=""/>
        <dsp:cNvSpPr/>
      </dsp:nvSpPr>
      <dsp:spPr>
        <a:xfrm>
          <a:off x="2830945" y="984169"/>
          <a:ext cx="1010226" cy="805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tx1"/>
              </a:solidFill>
            </a:rPr>
            <a:t>Calculate Bristle Deflection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2854523" y="1007747"/>
        <a:ext cx="963070" cy="757868"/>
      </dsp:txXfrm>
    </dsp:sp>
    <dsp:sp modelId="{6447CE12-091B-4044-8A2C-82995E04D183}">
      <dsp:nvSpPr>
        <dsp:cNvPr id="0" name=""/>
        <dsp:cNvSpPr/>
      </dsp:nvSpPr>
      <dsp:spPr>
        <a:xfrm>
          <a:off x="3942194" y="1261413"/>
          <a:ext cx="214168" cy="25053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3942194" y="1311520"/>
        <a:ext cx="149918" cy="150322"/>
      </dsp:txXfrm>
    </dsp:sp>
    <dsp:sp modelId="{7A6A1B9B-C00F-4B69-B0BE-8E14342E657D}">
      <dsp:nvSpPr>
        <dsp:cNvPr id="0" name=""/>
        <dsp:cNvSpPr/>
      </dsp:nvSpPr>
      <dsp:spPr>
        <a:xfrm>
          <a:off x="4245262" y="984169"/>
          <a:ext cx="1010226" cy="80502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>
              <a:solidFill>
                <a:schemeClr val="tx1"/>
              </a:solidFill>
            </a:rPr>
            <a:t>Calculate Bristle Friction</a:t>
          </a:r>
          <a:endParaRPr lang="en-US" sz="1500" kern="1200" dirty="0">
            <a:solidFill>
              <a:schemeClr val="tx1"/>
            </a:solidFill>
          </a:endParaRPr>
        </a:p>
      </dsp:txBody>
      <dsp:txXfrm>
        <a:off x="4268840" y="1007747"/>
        <a:ext cx="963070" cy="7578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4" Type="http://schemas.openxmlformats.org/officeDocument/2006/relationships/image" Target="../media/image1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F5051EE-689B-43B4-8666-86DA0AFF9A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0354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F73C947-AC46-43B7-8E04-BB8D7C91CD96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8638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FF2641A-C2E1-4E88-87EC-60D9A1FB0F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817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491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B1EF2537-948D-487B-93CD-D517228E7EFE}" type="slidenum">
              <a:rPr lang="en-US" sz="1200" smtClean="0"/>
              <a:pPr eaLnBrk="1" hangingPunct="1"/>
              <a:t>0</a:t>
            </a:fld>
            <a:endParaRPr lang="en-US" sz="1200" smtClean="0"/>
          </a:p>
        </p:txBody>
      </p:sp>
    </p:spTree>
    <p:extLst>
      <p:ext uri="{BB962C8B-B14F-4D97-AF65-F5344CB8AC3E}">
        <p14:creationId xmlns:p14="http://schemas.microsoft.com/office/powerpoint/2010/main" val="1653266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9186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53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13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2641A-C2E1-4E88-87EC-60D9A1FB0FFE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198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A5C84-CE73-4FBA-8A42-7D5FAEFF310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0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2641A-C2E1-4E88-87EC-60D9A1FB0FFE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522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A5C84-CE73-4FBA-8A42-7D5FAEFF310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0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613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6A5C84-CE73-4FBA-8A42-7D5FAEFF310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840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2641A-C2E1-4E88-87EC-60D9A1FB0FFE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42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9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94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459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10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6303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2641A-C2E1-4E88-87EC-60D9A1FB0FFE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4651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5675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E1955-E4D0-4582-B569-68DA8A04E26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667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E1955-E4D0-4582-B569-68DA8A04E26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70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FF2641A-C2E1-4E88-87EC-60D9A1FB0FFE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104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1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092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5285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026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840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4006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310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241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24648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833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45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42948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872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DFFF384-F8BB-42DD-A663-3FA6FB5E7BD6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0985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09" indent="-285734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2937" indent="-22858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111" indent="-22858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287" indent="-228587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461" indent="-2285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635" indent="-2285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8811" indent="-2285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5985" indent="-228587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7D0B31DA-850E-4994-97A3-B8E5F2961F89}" type="slidenum">
              <a:rPr lang="en-US" sz="1200"/>
              <a:pPr eaLnBrk="1" hangingPunct="1"/>
              <a:t>41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1654972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54EFCA-1B85-4A01-98ED-30B758879534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4728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345659-8C63-4A08-B227-F41720DFD5E7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2C91BB-130E-45D1-B65B-4288AF7085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3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87D377-69D1-4033-9905-E92F668D7601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DB3E84-863F-4B50-9D1E-83EC08D4DB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320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506C3C-D141-4ADE-BE16-4A5DA95A4596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1D4C7A-F02C-44E2-8D05-8CF3CE320D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905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94AB8-6288-4BAE-AFDD-754766FB24E3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F8D44B-DFEE-4687-A323-07F5993503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40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FE25FF-07D3-485B-A1BB-B3173909F51A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B0CFF4-3F54-425D-8A2A-D74BDE146A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2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04C7D-E9A6-4094-BDEA-17DAB7173D8E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C09206-0AD8-4C53-A6B2-4CA8D2B230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0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757D2-A94E-4199-B27A-AC7B21FE332A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661CA7-C4C5-427E-87B3-6AFC6CE5CA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411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3CAFE8-A836-49C1-B6B1-4D94D2FF28A1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EAE385-16DF-42AE-9377-25B91D8FFB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379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E8AD9E-029A-4F3A-819A-635CEF84B654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8FB160-A8CA-4655-B983-A3B1006B4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12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A976B-D07A-45A8-8894-A6A075724B8D}" type="datetimeFigureOut">
              <a:rPr lang="en-US"/>
              <a:pPr>
                <a:defRPr/>
              </a:pPr>
              <a:t>3/20/2016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8C48B-410C-4964-BA4A-1912021EF0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96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11738" y="1909763"/>
            <a:ext cx="3903662" cy="21304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11738" y="4192588"/>
            <a:ext cx="3903662" cy="21320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38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500063"/>
            <a:ext cx="7378700" cy="838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57263" y="1909763"/>
            <a:ext cx="3902075" cy="4414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1738" y="1909763"/>
            <a:ext cx="3903662" cy="44148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25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433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" name="Text Box 112"/>
          <p:cNvSpPr txBox="1">
            <a:spLocks noChangeArrowheads="1"/>
          </p:cNvSpPr>
          <p:nvPr userDrawn="1"/>
        </p:nvSpPr>
        <p:spPr bwMode="auto">
          <a:xfrm>
            <a:off x="685800" y="6427788"/>
            <a:ext cx="190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000" dirty="0"/>
              <a:t>Automotive Vehicle Dynamics</a:t>
            </a:r>
          </a:p>
          <a:p>
            <a:pPr>
              <a:defRPr/>
            </a:pPr>
            <a:r>
              <a:rPr lang="en-US" sz="1000" dirty="0"/>
              <a:t>Copyright </a:t>
            </a:r>
            <a:r>
              <a:rPr lang="en-US" sz="1000">
                <a:cs typeface="Times New Roman" pitchFamily="18" charset="0"/>
              </a:rPr>
              <a:t>© </a:t>
            </a:r>
            <a:r>
              <a:rPr lang="en-US" sz="1000" smtClean="0">
                <a:cs typeface="Times New Roman" pitchFamily="18" charset="0"/>
              </a:rPr>
              <a:t>2016, </a:t>
            </a:r>
            <a:r>
              <a:rPr lang="en-US" sz="1000" dirty="0">
                <a:cs typeface="Times New Roman" pitchFamily="18" charset="0"/>
              </a:rPr>
              <a:t>Sean Brennan</a:t>
            </a:r>
            <a:endParaRPr lang="en-US" sz="1000" dirty="0"/>
          </a:p>
        </p:txBody>
      </p:sp>
      <p:sp>
        <p:nvSpPr>
          <p:cNvPr id="8" name="Text Box 113"/>
          <p:cNvSpPr txBox="1">
            <a:spLocks noChangeArrowheads="1"/>
          </p:cNvSpPr>
          <p:nvPr userDrawn="1"/>
        </p:nvSpPr>
        <p:spPr bwMode="auto">
          <a:xfrm>
            <a:off x="8288274" y="6427788"/>
            <a:ext cx="63030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000" dirty="0"/>
              <a:t>ME </a:t>
            </a:r>
            <a:r>
              <a:rPr lang="en-US" sz="1000" dirty="0" smtClean="0"/>
              <a:t>452</a:t>
            </a:r>
            <a:endParaRPr lang="en-US" sz="1000" dirty="0"/>
          </a:p>
          <a:p>
            <a:pPr algn="r">
              <a:defRPr/>
            </a:pPr>
            <a:r>
              <a:rPr lang="en-US" sz="1000" dirty="0"/>
              <a:t>Slide </a:t>
            </a:r>
            <a:fld id="{E7742DB7-E333-4851-8FBC-BC7351837D15}" type="slidenum">
              <a:rPr lang="en-US" sz="1000" smtClean="0"/>
              <a:pPr algn="r">
                <a:defRPr/>
              </a:pPr>
              <a:t>‹#›</a:t>
            </a:fld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9" name="Line 114"/>
          <p:cNvSpPr>
            <a:spLocks noChangeShapeType="1"/>
          </p:cNvSpPr>
          <p:nvPr userDrawn="1"/>
        </p:nvSpPr>
        <p:spPr bwMode="auto">
          <a:xfrm>
            <a:off x="685800" y="6410325"/>
            <a:ext cx="8153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1" r:id="rId12"/>
    <p:sldLayoutId id="2147483722" r:id="rId13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oleObject" Target="../embeddings/oleObject3.bin"/><Relationship Id="rId18" Type="http://schemas.openxmlformats.org/officeDocument/2006/relationships/image" Target="../media/image12.png"/><Relationship Id="rId26" Type="http://schemas.openxmlformats.org/officeDocument/2006/relationships/image" Target="../media/image20.png"/><Relationship Id="rId3" Type="http://schemas.openxmlformats.org/officeDocument/2006/relationships/notesSlide" Target="../notesSlides/notesSlide5.xml"/><Relationship Id="rId21" Type="http://schemas.openxmlformats.org/officeDocument/2006/relationships/image" Target="../media/image15.png"/><Relationship Id="rId7" Type="http://schemas.openxmlformats.org/officeDocument/2006/relationships/diagramColors" Target="../diagrams/colors1.xml"/><Relationship Id="rId12" Type="http://schemas.openxmlformats.org/officeDocument/2006/relationships/image" Target="../media/image13.wmf"/><Relationship Id="rId17" Type="http://schemas.openxmlformats.org/officeDocument/2006/relationships/image" Target="../media/image11.png"/><Relationship Id="rId25" Type="http://schemas.openxmlformats.org/officeDocument/2006/relationships/image" Target="../media/image19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20" Type="http://schemas.openxmlformats.org/officeDocument/2006/relationships/image" Target="../media/image14.png"/><Relationship Id="rId29" Type="http://schemas.openxmlformats.org/officeDocument/2006/relationships/image" Target="../media/image23.png"/><Relationship Id="rId1" Type="http://schemas.openxmlformats.org/officeDocument/2006/relationships/vmlDrawing" Target="../drawings/vmlDrawing1.vml"/><Relationship Id="rId6" Type="http://schemas.openxmlformats.org/officeDocument/2006/relationships/diagramQuickStyle" Target="../diagrams/quickStyle1.xml"/><Relationship Id="rId11" Type="http://schemas.openxmlformats.org/officeDocument/2006/relationships/oleObject" Target="../embeddings/oleObject2.bin"/><Relationship Id="rId24" Type="http://schemas.openxmlformats.org/officeDocument/2006/relationships/image" Target="../media/image18.png"/><Relationship Id="rId5" Type="http://schemas.openxmlformats.org/officeDocument/2006/relationships/diagramLayout" Target="../diagrams/layout1.xml"/><Relationship Id="rId15" Type="http://schemas.openxmlformats.org/officeDocument/2006/relationships/oleObject" Target="../embeddings/oleObject4.bin"/><Relationship Id="rId23" Type="http://schemas.openxmlformats.org/officeDocument/2006/relationships/image" Target="../media/image17.png"/><Relationship Id="rId28" Type="http://schemas.openxmlformats.org/officeDocument/2006/relationships/image" Target="../media/image22.png"/><Relationship Id="rId10" Type="http://schemas.openxmlformats.org/officeDocument/2006/relationships/image" Target="../media/image12.wmf"/><Relationship Id="rId19" Type="http://schemas.openxmlformats.org/officeDocument/2006/relationships/image" Target="../media/image13.png"/><Relationship Id="rId4" Type="http://schemas.openxmlformats.org/officeDocument/2006/relationships/diagramData" Target="../diagrams/data1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14.wmf"/><Relationship Id="rId22" Type="http://schemas.openxmlformats.org/officeDocument/2006/relationships/image" Target="../media/image16.png"/><Relationship Id="rId27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0.png"/><Relationship Id="rId5" Type="http://schemas.openxmlformats.org/officeDocument/2006/relationships/image" Target="../media/image47.png"/><Relationship Id="rId10" Type="http://schemas.openxmlformats.org/officeDocument/2006/relationships/image" Target="../media/image49.png"/><Relationship Id="rId4" Type="http://schemas.openxmlformats.org/officeDocument/2006/relationships/image" Target="../media/image46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e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0.png"/><Relationship Id="rId5" Type="http://schemas.openxmlformats.org/officeDocument/2006/relationships/image" Target="../media/image420.png"/><Relationship Id="rId4" Type="http://schemas.openxmlformats.org/officeDocument/2006/relationships/image" Target="../media/image6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Automotive Vehicle Dynamics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 fontScale="7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chemeClr val="tx1"/>
                </a:solidFill>
              </a:rPr>
              <a:t>Tire Modeling 3 – LuGre Tire Model</a:t>
            </a:r>
            <a:endParaRPr lang="en-US" sz="16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 smtClean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800" dirty="0" smtClean="0"/>
              <a:t>Sean Brennan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Department of Mechanical and Nuclear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Penn State University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2400" dirty="0" smtClean="0"/>
              <a:t>sbrennan@psu.edu</a:t>
            </a:r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 smtClean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16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486400" y="349503"/>
            <a:ext cx="29972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477000" y="4627305"/>
            <a:ext cx="1970333" cy="1163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" y="188975"/>
            <a:ext cx="3531175" cy="2217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A tire model is essential for vehicle dynamics simulation and control design.</a:t>
            </a:r>
            <a:endParaRPr lang="en-US" sz="3600" dirty="0"/>
          </a:p>
        </p:txBody>
      </p:sp>
      <p:sp>
        <p:nvSpPr>
          <p:cNvPr id="5" name="Plus 4"/>
          <p:cNvSpPr/>
          <p:nvPr/>
        </p:nvSpPr>
        <p:spPr>
          <a:xfrm>
            <a:off x="1775629" y="3471199"/>
            <a:ext cx="783562" cy="783562"/>
          </a:xfrm>
          <a:prstGeom prst="mathPlus">
            <a:avLst>
              <a:gd name="adj1" fmla="val 10187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qual 5"/>
          <p:cNvSpPr/>
          <p:nvPr/>
        </p:nvSpPr>
        <p:spPr>
          <a:xfrm>
            <a:off x="4006991" y="3307131"/>
            <a:ext cx="914400" cy="914400"/>
          </a:xfrm>
          <a:prstGeom prst="mathEqual">
            <a:avLst>
              <a:gd name="adj1" fmla="val 12409"/>
              <a:gd name="adj2" fmla="val 1176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5118688" y="1910131"/>
            <a:ext cx="3492375" cy="2932668"/>
            <a:chOff x="5226497" y="2096532"/>
            <a:chExt cx="3492375" cy="2932668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5226497" y="2122926"/>
              <a:ext cx="3386867" cy="23944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5867400" y="4572000"/>
              <a:ext cx="277832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 smtClean="0"/>
                <a:t>Interaction of both forces</a:t>
              </a:r>
              <a:endParaRPr lang="en-US" sz="20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273390" y="2096532"/>
              <a:ext cx="3445482" cy="293266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4419600" y="5105400"/>
            <a:ext cx="434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Reference: Gillespie (1992); NCHRP 1-43; Hamblin (2007)</a:t>
            </a:r>
            <a:endParaRPr lang="en-US" sz="14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838200" y="1524000"/>
            <a:ext cx="2992745" cy="4785203"/>
            <a:chOff x="512455" y="1639332"/>
            <a:chExt cx="3602345" cy="5208652"/>
          </a:xfrm>
        </p:grpSpPr>
        <p:grpSp>
          <p:nvGrpSpPr>
            <p:cNvPr id="11" name="Group 10"/>
            <p:cNvGrpSpPr/>
            <p:nvPr/>
          </p:nvGrpSpPr>
          <p:grpSpPr>
            <a:xfrm>
              <a:off x="512455" y="1639332"/>
              <a:ext cx="3602345" cy="5208652"/>
              <a:chOff x="512455" y="1639332"/>
              <a:chExt cx="3602345" cy="5208652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711197" y="4474427"/>
                <a:ext cx="3047999" cy="19296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8" name="TextBox 7"/>
              <p:cNvSpPr txBox="1"/>
              <p:nvPr/>
            </p:nvSpPr>
            <p:spPr>
              <a:xfrm>
                <a:off x="1219199" y="6412468"/>
                <a:ext cx="2593665" cy="435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 smtClean="0"/>
                  <a:t>Longitudinal Force</a:t>
                </a:r>
                <a:endParaRPr lang="en-US" sz="2000" dirty="0"/>
              </a:p>
            </p:txBody>
          </p:sp>
          <p:grpSp>
            <p:nvGrpSpPr>
              <p:cNvPr id="10" name="Group 9"/>
              <p:cNvGrpSpPr/>
              <p:nvPr/>
            </p:nvGrpSpPr>
            <p:grpSpPr>
              <a:xfrm>
                <a:off x="512455" y="1639332"/>
                <a:ext cx="3602345" cy="5142468"/>
                <a:chOff x="546772" y="1752600"/>
                <a:chExt cx="3602345" cy="5142468"/>
              </a:xfrm>
            </p:grpSpPr>
            <p:pic>
              <p:nvPicPr>
                <p:cNvPr id="1026" name="Picture 2"/>
                <p:cNvPicPr>
                  <a:picLocks noChangeAspect="1" noChangeArrowheads="1"/>
                </p:cNvPicPr>
                <p:nvPr/>
              </p:nvPicPr>
              <p:blipFill rotWithShape="1"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rcRect/>
                <a:stretch/>
              </p:blipFill>
              <p:spPr bwMode="auto">
                <a:xfrm>
                  <a:off x="593118" y="1905000"/>
                  <a:ext cx="3555999" cy="12192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sp>
              <p:nvSpPr>
                <p:cNvPr id="4" name="TextBox 3"/>
                <p:cNvSpPr txBox="1"/>
                <p:nvPr/>
              </p:nvSpPr>
              <p:spPr>
                <a:xfrm>
                  <a:off x="1482765" y="3124200"/>
                  <a:ext cx="1873952" cy="43551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000" dirty="0" smtClean="0"/>
                    <a:t>Lateral Force</a:t>
                  </a:r>
                  <a:endParaRPr lang="en-US" sz="2000" dirty="0"/>
                </a:p>
              </p:txBody>
            </p:sp>
            <p:sp>
              <p:nvSpPr>
                <p:cNvPr id="7" name="Rectangle 6"/>
                <p:cNvSpPr/>
                <p:nvPr/>
              </p:nvSpPr>
              <p:spPr>
                <a:xfrm>
                  <a:off x="593118" y="1752600"/>
                  <a:ext cx="3445482" cy="1828800"/>
                </a:xfrm>
                <a:prstGeom prst="rect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546772" y="4630630"/>
                  <a:ext cx="3445482" cy="2264438"/>
                </a:xfrm>
                <a:prstGeom prst="rect">
                  <a:avLst/>
                </a:prstGeom>
                <a:noFill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/>
                </a:p>
              </p:txBody>
            </p:sp>
          </p:grpSp>
        </p:grpSp>
        <p:sp>
          <p:nvSpPr>
            <p:cNvPr id="3" name="Rectangle 2"/>
            <p:cNvSpPr/>
            <p:nvPr/>
          </p:nvSpPr>
          <p:spPr>
            <a:xfrm>
              <a:off x="3429000" y="2096532"/>
              <a:ext cx="528937" cy="570468"/>
            </a:xfrm>
            <a:prstGeom prst="rect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03667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Tire models have different level of accuracy and complexity. They can be classified as: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458200" cy="4800600"/>
          </a:xfrm>
        </p:spPr>
        <p:txBody>
          <a:bodyPr>
            <a:noAutofit/>
          </a:bodyPr>
          <a:lstStyle/>
          <a:p>
            <a:r>
              <a:rPr lang="en-US" sz="1800" b="1" dirty="0" smtClean="0"/>
              <a:t>Empirical </a:t>
            </a:r>
            <a:r>
              <a:rPr lang="en-US" sz="1800" b="1" dirty="0"/>
              <a:t>models:</a:t>
            </a:r>
            <a:r>
              <a:rPr lang="en-US" sz="1800" dirty="0"/>
              <a:t> Fitting full scale tire test data by regression techniques e.g. magic tire model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 smtClean="0"/>
              <a:t>Similarity </a:t>
            </a:r>
            <a:r>
              <a:rPr lang="en-US" sz="1800" b="1" dirty="0"/>
              <a:t>method based model:</a:t>
            </a:r>
            <a:r>
              <a:rPr lang="en-US" sz="1800" dirty="0"/>
              <a:t> Using distortion, rescaling and multiplications of one measured curve, new relationships </a:t>
            </a:r>
            <a:r>
              <a:rPr lang="en-US" sz="1800" dirty="0" smtClean="0"/>
              <a:t>to </a:t>
            </a:r>
            <a:r>
              <a:rPr lang="en-US" sz="1800" dirty="0"/>
              <a:t>describe off-nominal conditions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 smtClean="0"/>
              <a:t>Simple </a:t>
            </a:r>
            <a:r>
              <a:rPr lang="en-US" sz="1800" b="1" dirty="0"/>
              <a:t>physics-based model:</a:t>
            </a:r>
            <a:r>
              <a:rPr lang="en-US" sz="1800" dirty="0"/>
              <a:t> Using simple mechanical representation, possibly closed form solution e.g. Dugoff model, LuGre model </a:t>
            </a:r>
            <a:endParaRPr lang="en-US" sz="1800" dirty="0" smtClean="0"/>
          </a:p>
          <a:p>
            <a:endParaRPr lang="en-US" sz="1800" dirty="0"/>
          </a:p>
          <a:p>
            <a:r>
              <a:rPr lang="en-US" sz="1800" b="1" dirty="0" smtClean="0"/>
              <a:t>Complex </a:t>
            </a:r>
            <a:r>
              <a:rPr lang="en-US" sz="1800" b="1" dirty="0"/>
              <a:t>physics-based model:</a:t>
            </a:r>
            <a:r>
              <a:rPr lang="en-US" sz="1800" dirty="0"/>
              <a:t> Describing tire in great detail, computer simulation and finite element method </a:t>
            </a:r>
            <a:endParaRPr lang="en-US" sz="1800" dirty="0" smtClean="0"/>
          </a:p>
          <a:p>
            <a:endParaRPr lang="en-US" sz="1800" dirty="0"/>
          </a:p>
          <a:p>
            <a:pPr marL="0" indent="0">
              <a:buNone/>
            </a:pPr>
            <a:r>
              <a:rPr lang="en-US" sz="1800" dirty="0" smtClean="0"/>
              <a:t>The choice of tire model depends on the application.</a:t>
            </a:r>
            <a:endParaRPr lang="en-US" sz="1800" dirty="0"/>
          </a:p>
          <a:p>
            <a:endParaRPr lang="en-US" sz="1800" dirty="0"/>
          </a:p>
        </p:txBody>
      </p:sp>
      <p:sp>
        <p:nvSpPr>
          <p:cNvPr id="4" name="Rectangle 3"/>
          <p:cNvSpPr/>
          <p:nvPr/>
        </p:nvSpPr>
        <p:spPr>
          <a:xfrm>
            <a:off x="406400" y="5867400"/>
            <a:ext cx="7747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/>
              <a:t>Reference: Pacejka</a:t>
            </a:r>
            <a:r>
              <a:rPr lang="en-US" sz="1600" dirty="0"/>
              <a:t>, H.B., </a:t>
            </a:r>
            <a:r>
              <a:rPr lang="en-US" sz="1600" i="1" dirty="0"/>
              <a:t>Tire and Vehicle Dynamics, </a:t>
            </a:r>
            <a:r>
              <a:rPr lang="en-US" sz="1600" dirty="0"/>
              <a:t>SAE International, 2006 </a:t>
            </a:r>
          </a:p>
        </p:txBody>
      </p:sp>
    </p:spTree>
    <p:extLst>
      <p:ext uri="{BB962C8B-B14F-4D97-AF65-F5344CB8AC3E}">
        <p14:creationId xmlns:p14="http://schemas.microsoft.com/office/powerpoint/2010/main" val="2315595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Ultimately, the goal of PHYSICAL modeling of tires is to capture friction effects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Let’s assume the tire is a spring pressing against the pavement. The spring will deform AND slide, and both effects produce force.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514600" y="5234940"/>
            <a:ext cx="36576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H="1">
            <a:off x="27432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28956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30480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32004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3528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35052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H="1">
            <a:off x="36576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>
            <a:off x="38100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>
            <a:off x="39624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1148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>
            <a:off x="42672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44196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H="1">
            <a:off x="45720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47244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48768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0292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51816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>
            <a:off x="53340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54864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>
            <a:off x="5638800" y="5234940"/>
            <a:ext cx="152400" cy="228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3352800" y="3657600"/>
            <a:ext cx="1600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Vehicle</a:t>
            </a:r>
            <a:endParaRPr lang="en-US" dirty="0"/>
          </a:p>
        </p:txBody>
      </p:sp>
      <p:cxnSp>
        <p:nvCxnSpPr>
          <p:cNvPr id="32" name="Straight Connector 31"/>
          <p:cNvCxnSpPr/>
          <p:nvPr/>
        </p:nvCxnSpPr>
        <p:spPr>
          <a:xfrm flipH="1">
            <a:off x="3962400" y="4267200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 flipH="1">
            <a:off x="3947160" y="4427220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 flipH="1" flipV="1">
            <a:off x="3962400" y="4343719"/>
            <a:ext cx="129540" cy="7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H="1" flipV="1">
            <a:off x="3939540" y="4511676"/>
            <a:ext cx="99060" cy="6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H="1">
            <a:off x="3882390" y="4587557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3867150" y="4747577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H="1" flipV="1">
            <a:off x="3882390" y="4664076"/>
            <a:ext cx="129540" cy="7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H="1" flipV="1">
            <a:off x="3859530" y="4832033"/>
            <a:ext cx="99060" cy="6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3817620" y="4907599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>
            <a:off x="3802380" y="5067619"/>
            <a:ext cx="15240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3817620" y="4984118"/>
            <a:ext cx="129540" cy="75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3794760" y="5152075"/>
            <a:ext cx="99060" cy="67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751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There are many types of friction!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987" y="1219200"/>
            <a:ext cx="7648025" cy="451362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29475" y="5841361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400" dirty="0" smtClean="0"/>
              <a:t>(This slide is modified from </a:t>
            </a:r>
            <a:r>
              <a:rPr lang="en-US" sz="1400" dirty="0" err="1"/>
              <a:t>Gurkan</a:t>
            </a:r>
            <a:r>
              <a:rPr lang="en-US" sz="1400" dirty="0"/>
              <a:t> </a:t>
            </a:r>
            <a:r>
              <a:rPr lang="en-US" sz="1400" dirty="0" smtClean="0"/>
              <a:t>Erdogan. His lecture is amazing!)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0636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The </a:t>
            </a:r>
            <a:r>
              <a:rPr lang="en-US" sz="3600" dirty="0" err="1" smtClean="0"/>
              <a:t>Stribeck</a:t>
            </a:r>
            <a:r>
              <a:rPr lang="en-US" sz="3600" dirty="0" smtClean="0"/>
              <a:t> effect (1902) explains that friction decreases with increasing velocity </a:t>
            </a:r>
            <a:r>
              <a:rPr lang="en-US" sz="3600" i="1" dirty="0" smtClean="0"/>
              <a:t>for small velocities</a:t>
            </a:r>
            <a:endParaRPr lang="en-US" sz="36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600200"/>
            <a:ext cx="2977311" cy="2655112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564855" y="2667000"/>
            <a:ext cx="609600" cy="4572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2133600" y="3048000"/>
            <a:ext cx="20574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2286000"/>
            <a:ext cx="4163551" cy="3718171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 flipH="1">
            <a:off x="6553200" y="3048000"/>
            <a:ext cx="3810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690743" y="2586335"/>
            <a:ext cx="1979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Stribeck</a:t>
            </a:r>
            <a:r>
              <a:rPr lang="en-US" dirty="0" smtClean="0"/>
              <a:t> effect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043477" y="3617167"/>
            <a:ext cx="13052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rgbClr val="0070C0"/>
                </a:solidFill>
              </a:rPr>
              <a:t>Zoom in, since interesting stuff is happening here</a:t>
            </a:r>
            <a:endParaRPr lang="en-US" sz="1600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9475" y="5841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400" dirty="0"/>
              <a:t>(this </a:t>
            </a:r>
            <a:r>
              <a:rPr lang="en-US" sz="1400" dirty="0" smtClean="0"/>
              <a:t>slide is also modified from </a:t>
            </a:r>
            <a:r>
              <a:rPr lang="en-US" sz="1400" dirty="0" err="1"/>
              <a:t>Gurkan</a:t>
            </a:r>
            <a:r>
              <a:rPr lang="en-US" sz="1400" dirty="0"/>
              <a:t> Erdogan)</a:t>
            </a:r>
          </a:p>
        </p:txBody>
      </p:sp>
    </p:spTree>
    <p:extLst>
      <p:ext uri="{BB962C8B-B14F-4D97-AF65-F5344CB8AC3E}">
        <p14:creationId xmlns:p14="http://schemas.microsoft.com/office/powerpoint/2010/main" val="374105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81000"/>
            <a:ext cx="8229600" cy="1143000"/>
          </a:xfrm>
        </p:spPr>
        <p:txBody>
          <a:bodyPr/>
          <a:lstStyle/>
          <a:p>
            <a:r>
              <a:rPr lang="en-US" sz="3600" dirty="0" smtClean="0"/>
              <a:t>Tire forces start with elasticity, which is governed by Hooke’s law. Tires are in general VERY elastic.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429475" y="5841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400" dirty="0"/>
              <a:t>(this </a:t>
            </a:r>
            <a:r>
              <a:rPr lang="en-US" sz="1400" dirty="0" smtClean="0"/>
              <a:t>slide is modified from </a:t>
            </a:r>
            <a:r>
              <a:rPr lang="en-US" sz="1400" dirty="0" err="1"/>
              <a:t>Gurkan</a:t>
            </a:r>
            <a:r>
              <a:rPr lang="en-US" sz="1400" dirty="0"/>
              <a:t> Erdogan)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7823" y="1857298"/>
            <a:ext cx="6567304" cy="3529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20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86" y="1842682"/>
            <a:ext cx="8324027" cy="35736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846138"/>
            <a:ext cx="8229600" cy="1143000"/>
          </a:xfrm>
        </p:spPr>
        <p:txBody>
          <a:bodyPr/>
          <a:lstStyle/>
          <a:p>
            <a:pPr algn="l"/>
            <a:r>
              <a:rPr lang="en-US" sz="3200" dirty="0" smtClean="0"/>
              <a:t>But if the spring is connected to something that allows relative velocity (sliding), we have elongation regimes (slip) and sliding </a:t>
            </a:r>
            <a:r>
              <a:rPr lang="en-US" sz="3200" dirty="0" smtClean="0"/>
              <a:t>regimes, e.g. a combination of elasticity and frictional slipping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429475" y="5841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buNone/>
            </a:pPr>
            <a:r>
              <a:rPr lang="en-US" sz="1400" dirty="0"/>
              <a:t>(this </a:t>
            </a:r>
            <a:r>
              <a:rPr lang="en-US" sz="1400" dirty="0" smtClean="0"/>
              <a:t>slide is modified from </a:t>
            </a:r>
            <a:r>
              <a:rPr lang="en-US" sz="1400" dirty="0" err="1"/>
              <a:t>Gurkan</a:t>
            </a:r>
            <a:r>
              <a:rPr lang="en-US" sz="1400" dirty="0"/>
              <a:t> Erdogan)</a:t>
            </a:r>
          </a:p>
        </p:txBody>
      </p:sp>
    </p:spTree>
    <p:extLst>
      <p:ext uri="{BB962C8B-B14F-4D97-AF65-F5344CB8AC3E}">
        <p14:creationId xmlns:p14="http://schemas.microsoft.com/office/powerpoint/2010/main" val="2585172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Dynamic friction model </a:t>
            </a:r>
            <a:r>
              <a:rPr lang="en-US" sz="2400" dirty="0" smtClean="0"/>
              <a:t>was originally developed </a:t>
            </a:r>
            <a:r>
              <a:rPr lang="en-US" sz="2400" dirty="0"/>
              <a:t>for control of systems with </a:t>
            </a:r>
            <a:r>
              <a:rPr lang="en-US" sz="2400" dirty="0" smtClean="0"/>
              <a:t>friction</a:t>
            </a:r>
            <a:endParaRPr lang="en-US" sz="2000" dirty="0" smtClean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There are two main insights </a:t>
            </a:r>
            <a:endParaRPr lang="en-US" sz="2400" dirty="0"/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Model forces by studying deflection </a:t>
            </a:r>
            <a:r>
              <a:rPr lang="en-US" sz="2000" dirty="0"/>
              <a:t>of bristles: </a:t>
            </a:r>
            <a:r>
              <a:rPr lang="en-US" sz="2000" dirty="0" smtClean="0"/>
              <a:t>z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000" dirty="0" smtClean="0"/>
              <a:t>Use a “stiction” model, a velocity- dependent blending of</a:t>
            </a:r>
            <a:br>
              <a:rPr lang="en-US" sz="2000" dirty="0" smtClean="0"/>
            </a:br>
            <a:r>
              <a:rPr lang="en-US" sz="2000" dirty="0" smtClean="0"/>
              <a:t>sliding and coulomb friction</a:t>
            </a:r>
          </a:p>
          <a:p>
            <a:pPr marL="0" indent="0">
              <a:buNone/>
            </a:pPr>
            <a:r>
              <a:rPr lang="en-US" sz="2400" dirty="0" smtClean="0"/>
              <a:t>Together, these take </a:t>
            </a:r>
            <a:r>
              <a:rPr lang="en-US" sz="2400" dirty="0"/>
              <a:t>into account</a:t>
            </a:r>
          </a:p>
          <a:p>
            <a:pPr lvl="1"/>
            <a:r>
              <a:rPr lang="en-US" sz="2000" b="1" dirty="0"/>
              <a:t>Coulomb </a:t>
            </a:r>
            <a:r>
              <a:rPr lang="en-US" sz="2000" b="1" dirty="0" smtClean="0"/>
              <a:t>Friction: </a:t>
            </a:r>
            <a:r>
              <a:rPr lang="en-US" sz="2000" dirty="0" smtClean="0"/>
              <a:t>Static friction of tire</a:t>
            </a:r>
            <a:endParaRPr lang="en-US" sz="2000" dirty="0"/>
          </a:p>
          <a:p>
            <a:pPr lvl="1"/>
            <a:r>
              <a:rPr lang="en-US" sz="2000" b="1" dirty="0"/>
              <a:t>Viscous Friction:</a:t>
            </a:r>
            <a:r>
              <a:rPr lang="en-US" sz="2000" dirty="0"/>
              <a:t> Friction component proportional to velocity</a:t>
            </a:r>
          </a:p>
          <a:p>
            <a:pPr lvl="1"/>
            <a:r>
              <a:rPr lang="en-US" sz="2000" b="1" dirty="0"/>
              <a:t>Stribeck Effect:</a:t>
            </a:r>
            <a:r>
              <a:rPr lang="en-US" sz="2000" dirty="0"/>
              <a:t> Friction reduction with velocity</a:t>
            </a:r>
          </a:p>
          <a:p>
            <a:pPr marL="514350" indent="-457200">
              <a:buFont typeface="+mj-lt"/>
              <a:buAutoNum type="arabicPeriod"/>
            </a:pPr>
            <a:endParaRPr lang="en-US" sz="2400" dirty="0" smtClean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The LuGre </a:t>
            </a:r>
            <a:r>
              <a:rPr lang="en-US" sz="2000" dirty="0">
                <a:solidFill>
                  <a:prstClr val="black"/>
                </a:solidFill>
              </a:rPr>
              <a:t>(</a:t>
            </a:r>
            <a:r>
              <a:rPr lang="en-US" sz="2000" b="1" dirty="0">
                <a:solidFill>
                  <a:prstClr val="black"/>
                </a:solidFill>
              </a:rPr>
              <a:t>Lu</a:t>
            </a:r>
            <a:r>
              <a:rPr lang="en-US" sz="2000" dirty="0">
                <a:solidFill>
                  <a:prstClr val="black"/>
                </a:solidFill>
              </a:rPr>
              <a:t>nd-</a:t>
            </a:r>
            <a:r>
              <a:rPr lang="en-US" sz="2000" b="1" dirty="0">
                <a:solidFill>
                  <a:prstClr val="black"/>
                </a:solidFill>
              </a:rPr>
              <a:t>Gre</a:t>
            </a:r>
            <a:r>
              <a:rPr lang="en-US" sz="2000" dirty="0">
                <a:solidFill>
                  <a:prstClr val="black"/>
                </a:solidFill>
              </a:rPr>
              <a:t>noble)</a:t>
            </a:r>
            <a:r>
              <a:rPr lang="en-US" sz="3600" dirty="0" smtClean="0"/>
              <a:t> tire model is a simple but widely used physics-based tire model.</a:t>
            </a:r>
            <a:endParaRPr 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147320" y="5971401"/>
            <a:ext cx="8839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Reference: De </a:t>
            </a:r>
            <a:r>
              <a:rPr lang="en-US" sz="1200" dirty="0"/>
              <a:t>Wit et al, </a:t>
            </a:r>
            <a:r>
              <a:rPr lang="en-US" sz="1200" i="1" dirty="0"/>
              <a:t>A New Model for Control of Systems with Friction, </a:t>
            </a:r>
            <a:r>
              <a:rPr lang="en-US" sz="1200" dirty="0"/>
              <a:t>IEEE transactions on Automatic Control, </a:t>
            </a:r>
            <a:r>
              <a:rPr lang="en-US" sz="1200" dirty="0" err="1"/>
              <a:t>Vol</a:t>
            </a:r>
            <a:r>
              <a:rPr lang="en-US" sz="1200" dirty="0"/>
              <a:t> 40, no. 3, 1995</a:t>
            </a:r>
          </a:p>
        </p:txBody>
      </p:sp>
    </p:spTree>
    <p:extLst>
      <p:ext uri="{BB962C8B-B14F-4D97-AF65-F5344CB8AC3E}">
        <p14:creationId xmlns:p14="http://schemas.microsoft.com/office/powerpoint/2010/main" val="589060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Procedure to calculate effective friction </a:t>
            </a:r>
            <a:br>
              <a:rPr lang="en-US" sz="3600" dirty="0" smtClean="0"/>
            </a:br>
            <a:r>
              <a:rPr lang="en-US" sz="3600" dirty="0" smtClean="0"/>
              <a:t>(1D case)</a:t>
            </a:r>
            <a:endParaRPr lang="en-US" sz="3600" dirty="0"/>
          </a:p>
        </p:txBody>
      </p:sp>
      <p:graphicFrame>
        <p:nvGraphicFramePr>
          <p:cNvPr id="18" name="Content Placeholder 1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185478"/>
              </p:ext>
            </p:extLst>
          </p:nvPr>
        </p:nvGraphicFramePr>
        <p:xfrm>
          <a:off x="1676400" y="1252218"/>
          <a:ext cx="5257800" cy="27733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1219200" y="2324212"/>
            <a:ext cx="457200" cy="201168"/>
            <a:chOff x="1371776" y="1346665"/>
            <a:chExt cx="263830" cy="308631"/>
          </a:xfrm>
        </p:grpSpPr>
        <p:sp>
          <p:nvSpPr>
            <p:cNvPr id="20" name="Right Arrow 19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1383800" y="2709043"/>
            <a:ext cx="263830" cy="201168"/>
            <a:chOff x="1371776" y="1346665"/>
            <a:chExt cx="263830" cy="308631"/>
          </a:xfrm>
        </p:grpSpPr>
        <p:sp>
          <p:nvSpPr>
            <p:cNvPr id="23" name="Right Arrow 22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4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7010400" y="2471418"/>
            <a:ext cx="263830" cy="308631"/>
            <a:chOff x="1371776" y="1346665"/>
            <a:chExt cx="263830" cy="308631"/>
          </a:xfrm>
        </p:grpSpPr>
        <p:sp>
          <p:nvSpPr>
            <p:cNvPr id="26" name="Right Arrow 25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sp>
        <p:nvSpPr>
          <p:cNvPr id="28" name="Rectangle 27"/>
          <p:cNvSpPr/>
          <p:nvPr/>
        </p:nvSpPr>
        <p:spPr>
          <a:xfrm>
            <a:off x="607545" y="2242818"/>
            <a:ext cx="4443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400" dirty="0" smtClean="0">
                <a:latin typeface="+mj-lt"/>
              </a:rPr>
              <a:t>Slip</a:t>
            </a:r>
            <a:endParaRPr lang="en-US" sz="1400" dirty="0">
              <a:latin typeface="+mj-lt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378945" y="2709716"/>
            <a:ext cx="7640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1400" dirty="0" smtClean="0">
                <a:latin typeface="+mj-lt"/>
              </a:rPr>
              <a:t>Velocity</a:t>
            </a:r>
            <a:endParaRPr lang="en-US" sz="1400" dirty="0">
              <a:latin typeface="+mj-lt"/>
            </a:endParaRPr>
          </a:p>
        </p:txBody>
      </p:sp>
      <p:graphicFrame>
        <p:nvGraphicFramePr>
          <p:cNvPr id="30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1422684"/>
              </p:ext>
            </p:extLst>
          </p:nvPr>
        </p:nvGraphicFramePr>
        <p:xfrm>
          <a:off x="607545" y="3233418"/>
          <a:ext cx="91422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6" name="Equation" r:id="rId9" imgW="609480" imgH="228600" progId="Equation.DSMT4">
                  <p:embed/>
                </p:oleObj>
              </mc:Choice>
              <mc:Fallback>
                <p:oleObj name="Equation" r:id="rId9" imgW="609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7545" y="3233418"/>
                        <a:ext cx="914220" cy="342900"/>
                      </a:xfrm>
                      <a:prstGeom prst="rect">
                        <a:avLst/>
                      </a:prstGeom>
                      <a:ln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2338085"/>
              </p:ext>
            </p:extLst>
          </p:nvPr>
        </p:nvGraphicFramePr>
        <p:xfrm>
          <a:off x="1017588" y="2249170"/>
          <a:ext cx="209520" cy="26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7" name="Equation" r:id="rId11" imgW="139680" imgH="177480" progId="Equation.DSMT4">
                  <p:embed/>
                </p:oleObj>
              </mc:Choice>
              <mc:Fallback>
                <p:oleObj name="Equation" r:id="rId11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017588" y="2249170"/>
                        <a:ext cx="209520" cy="26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03611"/>
              </p:ext>
            </p:extLst>
          </p:nvPr>
        </p:nvGraphicFramePr>
        <p:xfrm>
          <a:off x="1066717" y="2700020"/>
          <a:ext cx="247320" cy="2662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8" name="Equation" r:id="rId13" imgW="164880" imgH="177480" progId="Equation.DSMT4">
                  <p:embed/>
                </p:oleObj>
              </mc:Choice>
              <mc:Fallback>
                <p:oleObj name="Equation" r:id="rId13" imgW="1648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066717" y="2700020"/>
                        <a:ext cx="247320" cy="2662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6661269"/>
              </p:ext>
            </p:extLst>
          </p:nvPr>
        </p:nvGraphicFramePr>
        <p:xfrm>
          <a:off x="2743200" y="2209800"/>
          <a:ext cx="22842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649"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743200" y="2209800"/>
                        <a:ext cx="228420" cy="342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001780" y="5552428"/>
                <a:ext cx="3037177" cy="46737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16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16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1600" i="1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1600" i="1">
                                              <a:latin typeface="Cambria Math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600" i="1">
                                  <a:latin typeface="Cambria Math"/>
                                </a:rPr>
                                <m:t>𝛼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16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1780" y="5552428"/>
                <a:ext cx="3037177" cy="46737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3988148" y="2209800"/>
                <a:ext cx="660052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148" y="2209800"/>
                <a:ext cx="660052" cy="307777"/>
              </a:xfrm>
              <a:prstGeom prst="rect">
                <a:avLst/>
              </a:prstGeom>
              <a:blipFill rotWithShape="1">
                <a:blip r:embed="rId18"/>
                <a:stretch>
                  <a:fillRect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7" name="Group 36"/>
          <p:cNvGrpSpPr/>
          <p:nvPr/>
        </p:nvGrpSpPr>
        <p:grpSpPr>
          <a:xfrm rot="16200000">
            <a:off x="3070315" y="3134904"/>
            <a:ext cx="304800" cy="197029"/>
            <a:chOff x="1371776" y="1346665"/>
            <a:chExt cx="263830" cy="308631"/>
          </a:xfrm>
        </p:grpSpPr>
        <p:sp>
          <p:nvSpPr>
            <p:cNvPr id="38" name="Right Arrow 37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40" name="Group 39"/>
          <p:cNvGrpSpPr/>
          <p:nvPr/>
        </p:nvGrpSpPr>
        <p:grpSpPr>
          <a:xfrm rot="16200000">
            <a:off x="2919985" y="3590031"/>
            <a:ext cx="1219201" cy="201168"/>
            <a:chOff x="1371776" y="1346665"/>
            <a:chExt cx="263830" cy="308631"/>
          </a:xfrm>
        </p:grpSpPr>
        <p:sp>
          <p:nvSpPr>
            <p:cNvPr id="41" name="Right Arrow 40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43" name="Group 42"/>
          <p:cNvGrpSpPr/>
          <p:nvPr/>
        </p:nvGrpSpPr>
        <p:grpSpPr>
          <a:xfrm rot="16200000">
            <a:off x="2858045" y="3957863"/>
            <a:ext cx="2011680" cy="197029"/>
            <a:chOff x="1371776" y="1346665"/>
            <a:chExt cx="263830" cy="308631"/>
          </a:xfrm>
        </p:grpSpPr>
        <p:sp>
          <p:nvSpPr>
            <p:cNvPr id="44" name="Right Arrow 43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3004322" y="3352064"/>
                <a:ext cx="43678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322" y="3352064"/>
                <a:ext cx="436786" cy="338554"/>
              </a:xfrm>
              <a:prstGeom prst="rect">
                <a:avLst/>
              </a:prstGeom>
              <a:blipFill rotWithShape="1">
                <a:blip r:embed="rId19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3311558" y="4190264"/>
                <a:ext cx="43191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558" y="4190264"/>
                <a:ext cx="431913" cy="338554"/>
              </a:xfrm>
              <a:prstGeom prst="rect">
                <a:avLst/>
              </a:prstGeom>
              <a:blipFill rotWithShape="1">
                <a:blip r:embed="rId20"/>
                <a:stretch>
                  <a:fillRect b="-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tangle 47"/>
          <p:cNvSpPr/>
          <p:nvPr/>
        </p:nvSpPr>
        <p:spPr>
          <a:xfrm>
            <a:off x="2286000" y="3395998"/>
            <a:ext cx="8435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Coulomb</a:t>
            </a:r>
          </a:p>
          <a:p>
            <a:pPr lvl="0" algn="r"/>
            <a:r>
              <a:rPr lang="en-US" sz="1400" dirty="0" smtClean="0">
                <a:latin typeface="+mj-lt"/>
              </a:rPr>
              <a:t>Friction</a:t>
            </a:r>
            <a:endParaRPr lang="en-US" sz="1400" dirty="0">
              <a:latin typeface="+mj-lt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2667000" y="4234198"/>
            <a:ext cx="73770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Stiction</a:t>
            </a:r>
          </a:p>
          <a:p>
            <a:pPr lvl="0" algn="r"/>
            <a:r>
              <a:rPr lang="en-US" sz="1400" dirty="0" smtClean="0">
                <a:latin typeface="+mj-lt"/>
              </a:rPr>
              <a:t>Friction</a:t>
            </a:r>
            <a:endParaRPr lang="en-US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3657600" y="4952264"/>
                <a:ext cx="41992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  <a:ea typeface="Cambria Math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952264"/>
                <a:ext cx="419922" cy="338554"/>
              </a:xfrm>
              <a:prstGeom prst="rect">
                <a:avLst/>
              </a:prstGeom>
              <a:blipFill rotWithShape="1"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2960830" y="5029208"/>
            <a:ext cx="7729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Stribeck</a:t>
            </a:r>
          </a:p>
          <a:p>
            <a:pPr lvl="0" algn="r"/>
            <a:r>
              <a:rPr lang="en-US" sz="1400" dirty="0" smtClean="0">
                <a:latin typeface="+mj-lt"/>
              </a:rPr>
              <a:t>Velocity</a:t>
            </a:r>
            <a:endParaRPr lang="en-US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/>
              <p:cNvSpPr/>
              <p:nvPr/>
            </p:nvSpPr>
            <p:spPr>
              <a:xfrm>
                <a:off x="4101242" y="3810000"/>
                <a:ext cx="1757211" cy="610232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𝑍</m:t>
                      </m:r>
                      <m:r>
                        <a:rPr lang="en-US" sz="1600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/>
                            </a:rPr>
                            <m:t>𝑔</m:t>
                          </m:r>
                          <m:r>
                            <a:rPr lang="en-US" sz="1600" i="1">
                              <a:latin typeface="Cambria Math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  <m:r>
                            <a:rPr lang="en-US" sz="1600" i="1">
                              <a:latin typeface="Cambria Math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latin typeface="Cambria Math"/>
                                </a:rPr>
                                <m:t>𝑆</m:t>
                              </m:r>
                              <m:r>
                                <a:rPr lang="en-US" sz="1600" b="0" i="1" smtClean="0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/>
                                </a:rPr>
                                <m:t>𝑆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2" name="Rectangle 5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1242" y="3810000"/>
                <a:ext cx="1757211" cy="610232"/>
              </a:xfrm>
              <a:prstGeom prst="rect">
                <a:avLst/>
              </a:prstGeom>
              <a:blipFill rotWithShape="1">
                <a:blip r:embed="rId22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52"/>
          <p:cNvGrpSpPr/>
          <p:nvPr/>
        </p:nvGrpSpPr>
        <p:grpSpPr>
          <a:xfrm rot="16200000">
            <a:off x="4886557" y="3098328"/>
            <a:ext cx="304800" cy="197029"/>
            <a:chOff x="1371776" y="1346665"/>
            <a:chExt cx="263830" cy="308631"/>
          </a:xfrm>
        </p:grpSpPr>
        <p:sp>
          <p:nvSpPr>
            <p:cNvPr id="54" name="Right Arrow 53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5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4820564" y="3315488"/>
                <a:ext cx="43723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564" y="3315488"/>
                <a:ext cx="437236" cy="338554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/>
          <p:cNvSpPr/>
          <p:nvPr/>
        </p:nvSpPr>
        <p:spPr>
          <a:xfrm>
            <a:off x="4191000" y="3200400"/>
            <a:ext cx="8016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Bristle</a:t>
            </a:r>
          </a:p>
          <a:p>
            <a:pPr lvl="0" algn="r"/>
            <a:r>
              <a:rPr lang="en-US" sz="1400" dirty="0" smtClean="0">
                <a:latin typeface="+mj-lt"/>
              </a:rPr>
              <a:t>Stiffness</a:t>
            </a:r>
            <a:endParaRPr lang="en-US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562600" y="2206823"/>
                <a:ext cx="33970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/>
                        </a:rPr>
                        <m:t>𝑍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2206823"/>
                <a:ext cx="339708" cy="307777"/>
              </a:xfrm>
              <a:prstGeom prst="rect">
                <a:avLst/>
              </a:prstGeom>
              <a:blipFill rotWithShape="1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/>
          <p:cNvGrpSpPr/>
          <p:nvPr/>
        </p:nvGrpSpPr>
        <p:grpSpPr>
          <a:xfrm rot="16200000">
            <a:off x="1103306" y="2025256"/>
            <a:ext cx="548640" cy="197029"/>
            <a:chOff x="1371776" y="1346665"/>
            <a:chExt cx="263830" cy="308631"/>
          </a:xfrm>
        </p:grpSpPr>
        <p:sp>
          <p:nvSpPr>
            <p:cNvPr id="60" name="Right Arrow 59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1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339881" y="1804269"/>
            <a:ext cx="3749040" cy="201168"/>
            <a:chOff x="1371776" y="1346665"/>
            <a:chExt cx="263830" cy="308631"/>
          </a:xfrm>
        </p:grpSpPr>
        <p:sp>
          <p:nvSpPr>
            <p:cNvPr id="63" name="Right Arrow 62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4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65" name="Group 64"/>
          <p:cNvGrpSpPr/>
          <p:nvPr/>
        </p:nvGrpSpPr>
        <p:grpSpPr>
          <a:xfrm rot="5400000">
            <a:off x="4870704" y="1944114"/>
            <a:ext cx="365760" cy="201168"/>
            <a:chOff x="1371776" y="1346665"/>
            <a:chExt cx="263830" cy="308631"/>
          </a:xfrm>
        </p:grpSpPr>
        <p:sp>
          <p:nvSpPr>
            <p:cNvPr id="66" name="Right Arrow 65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7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6400800" y="1352279"/>
                <a:ext cx="2420471" cy="806183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>
                  <a:defRPr sz="1600" b="0" i="1">
                    <a:latin typeface="Cambria Math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latin typeface="Cambria Math"/>
                        </a:rPr>
                        <m:t>𝜇</m:t>
                      </m:r>
                      <m:r>
                        <a:rPr lang="en-US">
                          <a:latin typeface="Cambria Math"/>
                        </a:rPr>
                        <m:t>=</m:t>
                      </m:r>
                      <m:r>
                        <a:rPr lang="en-US">
                          <a:latin typeface="Cambria Math"/>
                        </a:rPr>
                        <m:t>𝑠𝑔𝑛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/>
                        </a:rPr>
                        <m:t>∙</m:t>
                      </m:r>
                      <m:r>
                        <a:rPr lang="en-US">
                          <a:latin typeface="Cambria Math"/>
                        </a:rPr>
                        <m:t>𝜃</m:t>
                      </m:r>
                      <m:r>
                        <a:rPr lang="en-US">
                          <a:latin typeface="Cambria Math"/>
                        </a:rPr>
                        <m:t>∙</m:t>
                      </m:r>
                      <m:r>
                        <a:rPr lang="en-US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>
                          <a:latin typeface="Cambria Math"/>
                        </a:rPr>
                        <m:t>∙</m:t>
                      </m:r>
                    </m:oMath>
                  </m:oMathPara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>
                              <a:latin typeface="Cambria Math"/>
                            </a:rPr>
                            <m:t>1−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>
                                  <a:latin typeface="Cambria Math"/>
                                </a:rPr>
                                <m:t>𝑍</m:t>
                              </m:r>
                            </m:num>
                            <m:den>
                              <m:r>
                                <a:rPr lang="en-US">
                                  <a:latin typeface="Cambria Math"/>
                                </a:rPr>
                                <m:t>𝐿</m:t>
                              </m:r>
                            </m:den>
                          </m:f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>
                                  <a:latin typeface="Cambria Math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>
                                      <a:latin typeface="Cambria Math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>
                                      <a:latin typeface="Cambria Math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>
                                          <a:latin typeface="Cambria Math"/>
                                        </a:rPr>
                                        <m:t>𝐿</m:t>
                                      </m:r>
                                    </m:num>
                                    <m:den>
                                      <m:r>
                                        <a:rPr lang="en-US">
                                          <a:latin typeface="Cambria Math"/>
                                        </a:rPr>
                                        <m:t>𝑍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>
                              <a:latin typeface="Cambria Math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0800" y="1352279"/>
                <a:ext cx="2420471" cy="806183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7239000" y="2362200"/>
                <a:ext cx="37523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  <a:ea typeface="Cambria Math"/>
                        </a:rPr>
                        <m:t>𝜇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9000" y="2362200"/>
                <a:ext cx="375231" cy="369332"/>
              </a:xfrm>
              <a:prstGeom prst="rect">
                <a:avLst/>
              </a:prstGeom>
              <a:blipFill rotWithShape="1">
                <a:blip r:embed="rId26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6537537" y="5681246"/>
                <a:ext cx="43723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/>
                              <a:ea typeface="Cambria Math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537" y="5681246"/>
                <a:ext cx="437235" cy="338554"/>
              </a:xfrm>
              <a:prstGeom prst="rect">
                <a:avLst/>
              </a:prstGeom>
              <a:blipFill rotWithShape="1"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Rectangle 73"/>
          <p:cNvSpPr/>
          <p:nvPr/>
        </p:nvSpPr>
        <p:spPr>
          <a:xfrm>
            <a:off x="5839927" y="5725180"/>
            <a:ext cx="82278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Bristle</a:t>
            </a:r>
          </a:p>
          <a:p>
            <a:pPr lvl="0" algn="r"/>
            <a:r>
              <a:rPr lang="en-US" sz="1400" dirty="0" smtClean="0">
                <a:latin typeface="+mj-lt"/>
              </a:rPr>
              <a:t>Viscosity</a:t>
            </a:r>
            <a:endParaRPr lang="en-US" sz="1400" dirty="0">
              <a:latin typeface="+mj-lt"/>
            </a:endParaRPr>
          </a:p>
        </p:txBody>
      </p:sp>
      <p:grpSp>
        <p:nvGrpSpPr>
          <p:cNvPr id="78" name="Group 77"/>
          <p:cNvGrpSpPr/>
          <p:nvPr/>
        </p:nvGrpSpPr>
        <p:grpSpPr>
          <a:xfrm rot="16200000">
            <a:off x="5586985" y="3587494"/>
            <a:ext cx="1219201" cy="201168"/>
            <a:chOff x="1371776" y="1346665"/>
            <a:chExt cx="263830" cy="308631"/>
          </a:xfrm>
        </p:grpSpPr>
        <p:sp>
          <p:nvSpPr>
            <p:cNvPr id="79" name="Right Arrow 78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0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81" name="Group 80"/>
          <p:cNvGrpSpPr/>
          <p:nvPr/>
        </p:nvGrpSpPr>
        <p:grpSpPr>
          <a:xfrm rot="16200000">
            <a:off x="5525045" y="3955326"/>
            <a:ext cx="2011680" cy="197029"/>
            <a:chOff x="1371776" y="1346665"/>
            <a:chExt cx="263830" cy="308631"/>
          </a:xfrm>
        </p:grpSpPr>
        <p:sp>
          <p:nvSpPr>
            <p:cNvPr id="82" name="Right Arrow 81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3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p:grpSp>
        <p:nvGrpSpPr>
          <p:cNvPr id="84" name="Group 83"/>
          <p:cNvGrpSpPr/>
          <p:nvPr/>
        </p:nvGrpSpPr>
        <p:grpSpPr>
          <a:xfrm rot="16200000">
            <a:off x="5509805" y="4290605"/>
            <a:ext cx="2651760" cy="197029"/>
            <a:chOff x="1371776" y="1346665"/>
            <a:chExt cx="263830" cy="308631"/>
          </a:xfrm>
        </p:grpSpPr>
        <p:sp>
          <p:nvSpPr>
            <p:cNvPr id="85" name="Right Arrow 84"/>
            <p:cNvSpPr/>
            <p:nvPr/>
          </p:nvSpPr>
          <p:spPr>
            <a:xfrm>
              <a:off x="1371776" y="1346665"/>
              <a:ext cx="263830" cy="308631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6" name="Right Arrow 4"/>
            <p:cNvSpPr/>
            <p:nvPr/>
          </p:nvSpPr>
          <p:spPr>
            <a:xfrm>
              <a:off x="1371776" y="1408391"/>
              <a:ext cx="184681" cy="18517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1300" kern="12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ectangle 86"/>
              <p:cNvSpPr/>
              <p:nvPr/>
            </p:nvSpPr>
            <p:spPr>
              <a:xfrm>
                <a:off x="6348194" y="5029208"/>
                <a:ext cx="357406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  <a:ea typeface="Cambria Math"/>
                        </a:rPr>
                        <m:t>𝜃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7" name="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8194" y="5029208"/>
                <a:ext cx="357406" cy="338554"/>
              </a:xfrm>
              <a:prstGeom prst="rect">
                <a:avLst/>
              </a:prstGeom>
              <a:blipFill rotWithShape="1"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Rectangle 87"/>
          <p:cNvSpPr/>
          <p:nvPr/>
        </p:nvSpPr>
        <p:spPr>
          <a:xfrm>
            <a:off x="5309400" y="5073142"/>
            <a:ext cx="1163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Hydroplaning</a:t>
            </a:r>
          </a:p>
          <a:p>
            <a:pPr lvl="0" algn="r"/>
            <a:r>
              <a:rPr lang="en-US" sz="1400" dirty="0" smtClean="0">
                <a:latin typeface="+mj-lt"/>
              </a:rPr>
              <a:t>Correction</a:t>
            </a:r>
            <a:endParaRPr lang="en-US" sz="14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6050026" y="4414065"/>
                <a:ext cx="34919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/>
                        </a:rPr>
                        <m:t>𝐿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026" y="4414065"/>
                <a:ext cx="349198" cy="338554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" name="Rectangle 89"/>
          <p:cNvSpPr/>
          <p:nvPr/>
        </p:nvSpPr>
        <p:spPr>
          <a:xfrm>
            <a:off x="5127739" y="4457999"/>
            <a:ext cx="104746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r"/>
            <a:r>
              <a:rPr lang="en-US" sz="1400" dirty="0" smtClean="0">
                <a:latin typeface="+mj-lt"/>
              </a:rPr>
              <a:t>Tire contact</a:t>
            </a:r>
          </a:p>
          <a:p>
            <a:pPr lvl="0" algn="r"/>
            <a:r>
              <a:rPr lang="en-US" sz="1400" dirty="0" smtClean="0">
                <a:latin typeface="+mj-lt"/>
              </a:rPr>
              <a:t>length</a:t>
            </a:r>
            <a:endParaRPr 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8538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dirty="0" smtClean="0"/>
              <a:t>To understand this model, we examine it term-by-term, starting with the Stribeck formula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The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 is chosen such that it will decrease monotonically with increasing velocity</a:t>
                </a:r>
                <a:r>
                  <a:rPr lang="en-US" sz="2400" dirty="0" smtClean="0"/>
                  <a:t>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000" dirty="0" smtClean="0"/>
                  <a:t>When relative velocity is zero, exponential becomes 1, and the friction is purely Stiction, </a:t>
                </a:r>
                <a:r>
                  <a:rPr lang="en-US" sz="2000" dirty="0" err="1" smtClean="0">
                    <a:latin typeface="Symbol" pitchFamily="18" charset="2"/>
                  </a:rPr>
                  <a:t>m</a:t>
                </a:r>
                <a:r>
                  <a:rPr lang="en-US" sz="2000" baseline="-25000" dirty="0" err="1" smtClean="0"/>
                  <a:t>S</a:t>
                </a:r>
                <a:endParaRPr lang="en-US" sz="2000" baseline="-25000" dirty="0" smtClean="0"/>
              </a:p>
              <a:p>
                <a:r>
                  <a:rPr lang="en-US" sz="2000" dirty="0" smtClean="0"/>
                  <a:t>When relative velocity is infinite, then friction is purely Coulomb,  </a:t>
                </a:r>
                <a:r>
                  <a:rPr lang="en-US" sz="2000" dirty="0" err="1" smtClean="0">
                    <a:latin typeface="Symbol" pitchFamily="18" charset="2"/>
                  </a:rPr>
                  <a:t>m</a:t>
                </a:r>
                <a:r>
                  <a:rPr lang="en-US" sz="2000" baseline="-25000" dirty="0" err="1" smtClean="0"/>
                  <a:t>C</a:t>
                </a:r>
                <a:endParaRPr lang="en-US" sz="2000" baseline="-25000" dirty="0"/>
              </a:p>
              <a:p>
                <a:r>
                  <a:rPr lang="en-US" sz="2000" dirty="0" err="1" smtClean="0"/>
                  <a:t>Stribeck’s</a:t>
                </a:r>
                <a:r>
                  <a:rPr lang="en-US" sz="2000" dirty="0" smtClean="0"/>
                  <a:t> insight is to capture the transition from no sliding to pure sliding using an exponential function.</a:t>
                </a: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11" t="-1078" r="-7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334000" y="2438400"/>
                <a:ext cx="3657599" cy="107721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 smtClean="0"/>
                  <a:t>: relative velocity between 2 surfaces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 smtClean="0"/>
                  <a:t>: normalized coulomb friction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 smtClean="0"/>
                  <a:t>: normalized stiction friction 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 smtClean="0"/>
                  <a:t>: Stribeck velocity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2438400"/>
                <a:ext cx="3657599" cy="1077218"/>
              </a:xfrm>
              <a:prstGeom prst="rect">
                <a:avLst/>
              </a:prstGeom>
              <a:blipFill rotWithShape="1">
                <a:blip r:embed="rId4"/>
                <a:stretch>
                  <a:fillRect t="-1695" b="-6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066800" y="2715549"/>
                <a:ext cx="3902479" cy="58952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/>
                              <a:ea typeface="Cambria Math"/>
                            </a:rPr>
                            <m:t>𝜇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  <a:ea typeface="Cambria Math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𝑐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/>
                            </a:rPr>
                            <m:t>𝑒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skw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𝑟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/>
                                            </a:rPr>
                                            <m:t>𝑠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latin typeface="Cambria Math"/>
                                </a:rPr>
                                <m:t>1/2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715549"/>
                <a:ext cx="3902479" cy="5895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52400" y="5638800"/>
            <a:ext cx="868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Reference:</a:t>
            </a:r>
            <a:br>
              <a:rPr lang="en-US" sz="1200" dirty="0" smtClean="0"/>
            </a:br>
            <a:r>
              <a:rPr lang="en-US" sz="1200" dirty="0" smtClean="0"/>
              <a:t>De Wit et al, </a:t>
            </a:r>
            <a:r>
              <a:rPr lang="en-US" sz="1200" i="1" dirty="0" smtClean="0"/>
              <a:t>A New Model for Control of Systems with Friction, </a:t>
            </a:r>
            <a:r>
              <a:rPr lang="en-US" sz="1200" dirty="0" smtClean="0"/>
              <a:t>IEEE Transactions on Automatic Control, Vol. 40, No. 3, 1995</a:t>
            </a:r>
          </a:p>
          <a:p>
            <a:r>
              <a:rPr lang="en-US" sz="1200" dirty="0"/>
              <a:t>De Wit et al, </a:t>
            </a:r>
            <a:r>
              <a:rPr lang="en-US" sz="1200" i="1" dirty="0"/>
              <a:t>Dynamic Tire Friction Models for Vehicle Traction </a:t>
            </a:r>
            <a:r>
              <a:rPr lang="en-US" sz="1200" i="1" dirty="0" smtClean="0"/>
              <a:t>Control</a:t>
            </a:r>
            <a:r>
              <a:rPr lang="en-US" sz="1200" dirty="0" smtClean="0"/>
              <a:t>, IEEE </a:t>
            </a:r>
            <a:r>
              <a:rPr lang="en-US" sz="1200" dirty="0" err="1" smtClean="0"/>
              <a:t>Conf</a:t>
            </a:r>
            <a:r>
              <a:rPr lang="en-US" sz="1200" dirty="0" smtClean="0"/>
              <a:t> on Decision and Control, 1999.</a:t>
            </a:r>
          </a:p>
        </p:txBody>
      </p:sp>
    </p:spTree>
    <p:extLst>
      <p:ext uri="{BB962C8B-B14F-4D97-AF65-F5344CB8AC3E}">
        <p14:creationId xmlns:p14="http://schemas.microsoft.com/office/powerpoint/2010/main" val="3515127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200" dirty="0" smtClean="0"/>
              <a:t>The </a:t>
            </a:r>
            <a:r>
              <a:rPr lang="en-US" sz="3200" dirty="0"/>
              <a:t>S</a:t>
            </a:r>
            <a:r>
              <a:rPr lang="en-US" sz="3200" dirty="0" smtClean="0"/>
              <a:t>tribeck velocity is a characteristic of a material-material interaction that predicts transition from stiction to coulomb behavior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endParaRPr lang="en-US" sz="2400" dirty="0" smtClean="0"/>
          </a:p>
          <a:p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sz="2400" dirty="0" smtClean="0"/>
              <a:t>For rigid materials (like steel), the </a:t>
            </a:r>
            <a:r>
              <a:rPr lang="en-US" sz="2400" dirty="0" err="1" smtClean="0"/>
              <a:t>stribeck</a:t>
            </a:r>
            <a:r>
              <a:rPr lang="en-US" sz="2400" dirty="0" smtClean="0"/>
              <a:t> velocity is so small that the coulomb model is usually sufficient. For flexible materials (like tires), the </a:t>
            </a:r>
            <a:r>
              <a:rPr lang="en-US" sz="2400" dirty="0" err="1" smtClean="0"/>
              <a:t>stribeck</a:t>
            </a:r>
            <a:r>
              <a:rPr lang="en-US" sz="2400" dirty="0" smtClean="0"/>
              <a:t> velocity is quite high and so one must model both </a:t>
            </a:r>
            <a:r>
              <a:rPr lang="en-US" sz="2400" dirty="0" err="1" smtClean="0"/>
              <a:t>stribeck</a:t>
            </a:r>
            <a:r>
              <a:rPr lang="en-US" sz="2400" dirty="0" smtClean="0"/>
              <a:t> and coulomb behaviors.</a:t>
            </a:r>
            <a:endParaRPr lang="en-US" sz="2400" dirty="0"/>
          </a:p>
        </p:txBody>
      </p:sp>
      <p:sp>
        <p:nvSpPr>
          <p:cNvPr id="5" name="Text Box 1"/>
          <p:cNvSpPr txBox="1"/>
          <p:nvPr/>
        </p:nvSpPr>
        <p:spPr>
          <a:xfrm>
            <a:off x="3498850" y="1748790"/>
            <a:ext cx="5568950" cy="2823210"/>
          </a:xfrm>
          <a:prstGeom prst="rect">
            <a:avLst/>
          </a:prstGeom>
          <a:solidFill>
            <a:schemeClr val="lt1"/>
          </a:solidFill>
          <a:ln w="6350">
            <a:solidFill>
              <a:prstClr val="black"/>
            </a:solidFill>
          </a:ln>
          <a:effectLst/>
        </p:spPr>
        <p:style>
          <a:lnRef idx="0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Stribeck Model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clear 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all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; close 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all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;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Friction Parameters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mu_C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=0.8;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Coulomb friction of tire, </a:t>
            </a:r>
            <a:r>
              <a:rPr lang="en-US" sz="800" dirty="0" err="1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unitless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mu_S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=1.5; 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Stribeck friction of tire, </a:t>
            </a:r>
            <a:r>
              <a:rPr lang="en-US" sz="800" dirty="0" err="1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unitless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v_r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= [0:0.2:10]';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Vector of relative velocities, in m/s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 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for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v_s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= [1:5] 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Vary </a:t>
            </a:r>
            <a:r>
              <a:rPr lang="en-US" sz="800" dirty="0" err="1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stribeck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 velocities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  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Calculate </a:t>
            </a:r>
            <a:r>
              <a:rPr lang="en-US" sz="800" dirty="0" err="1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stribeck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 curve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   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g_v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=(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mu_C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+(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mu_S-mu_C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)*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exp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(-(abs(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v_r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./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v_s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)).^0.5));    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   plot(</a:t>
            </a: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v_r,g_v,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'k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); hold 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on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;     </a:t>
            </a: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Plot results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FF"/>
                </a:solidFill>
                <a:effectLst/>
                <a:latin typeface="Courier New"/>
                <a:ea typeface="Calibri"/>
                <a:cs typeface="Times New Roman"/>
              </a:rPr>
              <a:t>end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228B22"/>
                </a:solidFill>
                <a:effectLst/>
                <a:latin typeface="Courier New"/>
                <a:ea typeface="Calibri"/>
                <a:cs typeface="Times New Roman"/>
              </a:rPr>
              <a:t>% Label everything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title(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'Stribeck friction with changing 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stribeck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 velocities, \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mu_C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 = 0.8, \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mu_S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 = 1.5'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);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xlabel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(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'Relative velocity, 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v_r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 (m/s)'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);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 err="1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ylabel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(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'Stribeck friction, g(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v_r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) (</a:t>
            </a:r>
            <a:r>
              <a:rPr lang="en-US" sz="800" dirty="0" err="1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unitless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)'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text(2,0.9,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'v_s = 1'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);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text(6,1.07,</a:t>
            </a:r>
            <a:r>
              <a:rPr lang="en-US" sz="800" dirty="0">
                <a:solidFill>
                  <a:srgbClr val="A020F0"/>
                </a:solidFill>
                <a:effectLst/>
                <a:latin typeface="Courier New"/>
                <a:ea typeface="Calibri"/>
                <a:cs typeface="Times New Roman"/>
              </a:rPr>
              <a:t>'v_s = 5'</a:t>
            </a: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);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dirty="0">
                <a:solidFill>
                  <a:srgbClr val="000000"/>
                </a:solidFill>
                <a:effectLst/>
                <a:latin typeface="Courier New"/>
                <a:ea typeface="Calibri"/>
                <a:cs typeface="Times New Roman"/>
              </a:rPr>
              <a:t> 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dirty="0">
                <a:effectLst/>
                <a:latin typeface="Courier New"/>
                <a:ea typeface="Calibri"/>
                <a:cs typeface="Times New Roman"/>
              </a:rPr>
              <a:t> </a:t>
            </a:r>
            <a:endParaRPr lang="en-US" sz="1100" dirty="0">
              <a:effectLst/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900" dirty="0">
                <a:effectLst/>
                <a:ea typeface="Calibri"/>
                <a:cs typeface="Times New Roman"/>
              </a:rPr>
              <a:t> </a:t>
            </a:r>
            <a:endParaRPr lang="en-US" sz="1100" dirty="0">
              <a:effectLst/>
              <a:ea typeface="Calibri"/>
              <a:cs typeface="Times New Roman"/>
            </a:endParaRPr>
          </a:p>
        </p:txBody>
      </p:sp>
      <p:pic>
        <p:nvPicPr>
          <p:cNvPr id="110595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748790"/>
            <a:ext cx="3733800" cy="280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9760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The next step is to calculate bristle </a:t>
            </a:r>
            <a:r>
              <a:rPr lang="en-US" sz="3600" dirty="0"/>
              <a:t>deflection </a:t>
            </a:r>
            <a:r>
              <a:rPr lang="en-US" sz="3600" dirty="0" smtClean="0"/>
              <a:t>due to relative velocity…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 smtClean="0"/>
                  <a:t>Bristle deflection dynamics:</a:t>
                </a:r>
              </a:p>
              <a:p>
                <a:pPr marL="0" indent="0">
                  <a:buNone/>
                </a:pPr>
                <a:r>
                  <a:rPr lang="en-US" sz="2400" dirty="0"/>
                  <a:t>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/>
                          </a:rPr>
                          <m:t>𝑑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𝑑𝑡</m:t>
                        </m:r>
                      </m:den>
                    </m:f>
                    <m:r>
                      <a:rPr lang="en-US" sz="2400" i="1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−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  <a:ea typeface="Cambria Math"/>
                              </a:rPr>
                              <m:t>𝜎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/>
                          </a:rPr>
                          <m:t>𝑔</m:t>
                        </m:r>
                        <m:r>
                          <a:rPr lang="en-US" sz="2400" i="1">
                            <a:latin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  <m:r>
                          <a:rPr lang="en-US" sz="2400" i="1">
                            <a:latin typeface="Cambria Math"/>
                          </a:rPr>
                          <m:t>)</m:t>
                        </m:r>
                      </m:den>
                    </m:f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/>
                </a:r>
                <a:br>
                  <a:rPr lang="en-US" sz="2400" dirty="0" smtClean="0"/>
                </a:br>
                <a:r>
                  <a:rPr lang="en-US" sz="2400" dirty="0" smtClean="0"/>
                  <a:t>At </a:t>
                </a:r>
                <a:r>
                  <a:rPr lang="en-US" sz="2400" dirty="0"/>
                  <a:t>steady </a:t>
                </a:r>
                <a:r>
                  <a:rPr lang="en-US" sz="2400" dirty="0" smtClean="0"/>
                  <a:t>state, derivative is zero</a:t>
                </a:r>
                <a:br>
                  <a:rPr lang="en-US" sz="2400" dirty="0" smtClean="0"/>
                </a:br>
                <a:r>
                  <a:rPr lang="en-US" sz="2400" dirty="0" smtClean="0"/>
                  <a:t>and the friction force gives expected value:</a:t>
                </a: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𝑠𝑠</m:t>
                        </m:r>
                      </m:sub>
                    </m:sSub>
                    <m:r>
                      <a:rPr lang="en-US" sz="2400" i="1">
                        <a:latin typeface="Cambria Math"/>
                        <a:ea typeface="Cambria Math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/>
                                  </a:rPr>
                                  <m:t>𝑟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2400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i="1">
                                <a:latin typeface="Cambria Math"/>
                              </a:rPr>
                              <m:t>𝑟</m:t>
                            </m:r>
                          </m:sub>
                        </m:sSub>
                      </m:e>
                    </m:d>
                    <m:r>
                      <a:rPr lang="en-US" sz="2400" i="1">
                        <a:latin typeface="Cambria Math"/>
                      </a:rPr>
                      <m:t>𝑠𝑔𝑛</m:t>
                    </m:r>
                    <m:r>
                      <a:rPr lang="en-US" sz="2400" i="1"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𝑟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We see that the term,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 smtClean="0"/>
                  <a:t>, is chosen to give the eigenvalues for describing how quickly bristles can react to external forces…</a:t>
                </a:r>
                <a:endParaRPr lang="en-US" sz="24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334000" y="1447800"/>
                <a:ext cx="3657599" cy="18158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 smtClean="0"/>
                  <a:t>: 	relative velocity between 2 surfaces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600" dirty="0" smtClean="0"/>
                  <a:t>: 	normalized coulomb friction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 smtClean="0"/>
                  <a:t>: 	normalized stiction friction 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sz="16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1600" dirty="0" smtClean="0"/>
                  <a:t>: 	Stribeck velocity</a:t>
                </a:r>
              </a:p>
              <a:p>
                <a:pPr marL="398463" indent="-398463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>
                            <a:latin typeface="Cambria Math"/>
                          </a:rPr>
                          <m:t>𝑧</m:t>
                        </m:r>
                      </m:e>
                    </m:acc>
                  </m:oMath>
                </a14:m>
                <a:r>
                  <a:rPr lang="en-US" sz="1600" dirty="0"/>
                  <a:t>: </a:t>
                </a:r>
                <a:r>
                  <a:rPr lang="en-US" sz="1600" dirty="0" smtClean="0"/>
                  <a:t>	Average </a:t>
                </a:r>
                <a:r>
                  <a:rPr lang="en-US" sz="1600" dirty="0"/>
                  <a:t>bristle deflection</a:t>
                </a:r>
              </a:p>
              <a:p>
                <a:pPr marL="398463" indent="-398463"/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/>
                            <a:ea typeface="Cambria Math"/>
                          </a:rPr>
                          <m:t>𝑠𝑠</m:t>
                        </m:r>
                      </m:sub>
                    </m:sSub>
                  </m:oMath>
                </a14:m>
                <a:r>
                  <a:rPr lang="en-US" sz="1600" dirty="0"/>
                  <a:t>: </a:t>
                </a:r>
                <a:r>
                  <a:rPr lang="en-US" sz="1600" dirty="0" smtClean="0"/>
                  <a:t>	Average </a:t>
                </a:r>
                <a:r>
                  <a:rPr lang="en-US" sz="1600" dirty="0"/>
                  <a:t>bristle deflection in </a:t>
                </a:r>
                <a:r>
                  <a:rPr lang="en-US" sz="1600" dirty="0" smtClean="0"/>
                  <a:t>steady-state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447800"/>
                <a:ext cx="3657599" cy="1815882"/>
              </a:xfrm>
              <a:prstGeom prst="rect">
                <a:avLst/>
              </a:prstGeom>
              <a:blipFill rotWithShape="1">
                <a:blip r:embed="rId4"/>
                <a:stretch>
                  <a:fillRect t="-1010" b="-3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/>
          <p:cNvSpPr txBox="1"/>
          <p:nvPr/>
        </p:nvSpPr>
        <p:spPr>
          <a:xfrm>
            <a:off x="152400" y="5449669"/>
            <a:ext cx="868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Reference: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De Wit et al, </a:t>
            </a:r>
            <a:r>
              <a:rPr lang="en-US" sz="1200" i="1" dirty="0"/>
              <a:t>Dynamic Tire Friction Models for Vehicle Traction Control</a:t>
            </a:r>
            <a:r>
              <a:rPr lang="en-US" sz="1200" dirty="0"/>
              <a:t>, IEEE </a:t>
            </a:r>
            <a:r>
              <a:rPr lang="en-US" sz="1200" dirty="0" err="1"/>
              <a:t>Conf</a:t>
            </a:r>
            <a:r>
              <a:rPr lang="en-US" sz="1200" dirty="0"/>
              <a:t> on Decision and Control, 1999.</a:t>
            </a:r>
          </a:p>
        </p:txBody>
      </p:sp>
    </p:spTree>
    <p:extLst>
      <p:ext uri="{BB962C8B-B14F-4D97-AF65-F5344CB8AC3E}">
        <p14:creationId xmlns:p14="http://schemas.microsoft.com/office/powerpoint/2010/main" val="239561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The Bristle deflection</a:t>
            </a:r>
            <a:br>
              <a:rPr lang="en-US" sz="3600" dirty="0" smtClean="0"/>
            </a:br>
            <a:r>
              <a:rPr lang="en-US" sz="3600" dirty="0" smtClean="0"/>
              <a:t>give the tire force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7150" indent="0">
              <a:buNone/>
            </a:pPr>
            <a:endParaRPr lang="en-US" sz="2400" dirty="0" smtClean="0"/>
          </a:p>
          <a:p>
            <a:pPr marL="57150" indent="0">
              <a:buNone/>
            </a:pPr>
            <a:r>
              <a:rPr lang="en-US" sz="2400" dirty="0" smtClean="0"/>
              <a:t>The </a:t>
            </a:r>
            <a:r>
              <a:rPr lang="en-US" sz="2400" u="sng" dirty="0" smtClean="0"/>
              <a:t>bristle force</a:t>
            </a:r>
            <a:r>
              <a:rPr lang="en-US" sz="2400" dirty="0" smtClean="0"/>
              <a:t> is given by:</a:t>
            </a:r>
          </a:p>
          <a:p>
            <a:pPr lvl="1"/>
            <a:endParaRPr lang="en-US" sz="2000" dirty="0"/>
          </a:p>
          <a:p>
            <a:pPr lvl="1"/>
            <a:endParaRPr lang="en-US" sz="2000" dirty="0" smtClean="0"/>
          </a:p>
          <a:p>
            <a:endParaRPr lang="en-US" sz="2000" dirty="0"/>
          </a:p>
          <a:p>
            <a:endParaRPr lang="en-US" sz="2000" dirty="0" smtClean="0"/>
          </a:p>
          <a:p>
            <a:endParaRPr lang="en-US" sz="2000" dirty="0" smtClean="0"/>
          </a:p>
          <a:p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</p:txBody>
      </p:sp>
      <p:sp>
        <p:nvSpPr>
          <p:cNvPr id="5" name="Rectangle 4"/>
          <p:cNvSpPr/>
          <p:nvPr/>
        </p:nvSpPr>
        <p:spPr>
          <a:xfrm>
            <a:off x="147320" y="5410200"/>
            <a:ext cx="8839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References: </a:t>
            </a:r>
            <a:br>
              <a:rPr lang="en-US" sz="1200" dirty="0" smtClean="0"/>
            </a:br>
            <a:r>
              <a:rPr lang="en-US" sz="1200" dirty="0" smtClean="0"/>
              <a:t>De </a:t>
            </a:r>
            <a:r>
              <a:rPr lang="en-US" sz="1200" dirty="0"/>
              <a:t>Wit et al, </a:t>
            </a:r>
            <a:r>
              <a:rPr lang="en-US" sz="1200" i="1" dirty="0"/>
              <a:t>A New Model for Control of Systems with Friction, </a:t>
            </a:r>
            <a:r>
              <a:rPr lang="en-US" sz="1200" dirty="0"/>
              <a:t>IEEE transactions on Automatic Control, </a:t>
            </a:r>
            <a:r>
              <a:rPr lang="en-US" sz="1200" dirty="0" err="1"/>
              <a:t>Vol</a:t>
            </a:r>
            <a:r>
              <a:rPr lang="en-US" sz="1200" dirty="0"/>
              <a:t> 40, no. 3, </a:t>
            </a:r>
            <a:r>
              <a:rPr lang="en-US" sz="1200" dirty="0" smtClean="0"/>
              <a:t>1995</a:t>
            </a:r>
          </a:p>
          <a:p>
            <a:r>
              <a:rPr lang="en-US" sz="1200" dirty="0"/>
              <a:t>De Wit et al, </a:t>
            </a:r>
            <a:r>
              <a:rPr lang="en-US" sz="1200" i="1" dirty="0"/>
              <a:t>Dynamic Tire Friction Models for Vehicle Traction Control</a:t>
            </a:r>
            <a:r>
              <a:rPr lang="en-US" sz="1200" dirty="0"/>
              <a:t>, IEEE </a:t>
            </a:r>
            <a:r>
              <a:rPr lang="en-US" sz="1200" dirty="0" err="1"/>
              <a:t>Conf</a:t>
            </a:r>
            <a:r>
              <a:rPr lang="en-US" sz="1200" dirty="0"/>
              <a:t> on Decision and Control, 1999.</a:t>
            </a:r>
          </a:p>
          <a:p>
            <a:r>
              <a:rPr lang="en-US" sz="1200" dirty="0" smtClean="0"/>
              <a:t>De </a:t>
            </a:r>
            <a:r>
              <a:rPr lang="en-US" sz="1200" dirty="0"/>
              <a:t>Wit et al, </a:t>
            </a:r>
            <a:r>
              <a:rPr lang="en-US" sz="1200" i="1" dirty="0"/>
              <a:t>Dynamic Friction Models for Road/Tire Longitudinal </a:t>
            </a:r>
            <a:r>
              <a:rPr lang="en-US" sz="1200" i="1" dirty="0" smtClean="0"/>
              <a:t>Interaction, </a:t>
            </a:r>
            <a:r>
              <a:rPr lang="en-US" sz="1200" dirty="0" smtClean="0"/>
              <a:t>Vehicle System Dynamics, </a:t>
            </a:r>
            <a:r>
              <a:rPr lang="en-US" sz="1200" dirty="0" err="1" smtClean="0"/>
              <a:t>Vol</a:t>
            </a:r>
            <a:r>
              <a:rPr lang="en-US" sz="1200" dirty="0" smtClean="0"/>
              <a:t> 39, no 3, 2003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58857" y="2895600"/>
                <a:ext cx="4303742" cy="11269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i="1" smtClean="0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0</m:t>
                                      </m:r>
                                    </m:sub>
                                  </m:sSub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𝑧</m:t>
                                      </m:r>
                                    </m:e>
                                  </m:acc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𝑆𝑡𝑖𝑓𝑓𝑛𝑒𝑠𝑠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𝐸𝑓𝑓𝑒𝑐𝑡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𝑑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/>
                                            </a:rPr>
                                            <m:t>𝑧</m:t>
                                          </m:r>
                                        </m:e>
                                      </m:acc>
                                    </m:num>
                                    <m:den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𝐷𝑎𝑚𝑝𝑖𝑛𝑔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𝐸𝑓𝑓𝑒𝑐𝑡</m:t>
                                  </m:r>
                                </m:e>
                              </m:eqArr>
                            </m:lim>
                          </m:limLow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groupChr>
                                <m:groupChrPr>
                                  <m:chr m:val="⏟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groupChr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  <a:ea typeface="Cambria Math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/>
                                        </a:rPr>
                                        <m:t>𝑟</m:t>
                                      </m:r>
                                    </m:sub>
                                  </m:sSub>
                                </m:e>
                              </m:groupChr>
                            </m:e>
                            <m:lim>
                              <m:eqArr>
                                <m:eqArr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𝑉𝑖𝑠𝑐𝑜𝑢𝑠</m:t>
                                  </m:r>
                                </m:e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𝐸𝑓𝑓𝑒𝑐𝑡</m:t>
                                  </m:r>
                                </m:e>
                              </m:eqArr>
                            </m:lim>
                          </m:limLow>
                          <m:r>
                            <m:rPr>
                              <m:nor/>
                            </m:rPr>
                            <a:rPr lang="en-US" dirty="0"/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857" y="2895600"/>
                <a:ext cx="4303742" cy="1126975"/>
              </a:xfrm>
              <a:prstGeom prst="rect">
                <a:avLst/>
              </a:prstGeom>
              <a:blipFill rotWithShape="1">
                <a:blip r:embed="rId3"/>
                <a:stretch>
                  <a:fillRect r="-26667" b="-254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62599" y="914400"/>
            <a:ext cx="3128387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2837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The dynamics of bristle deflection are usually small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4465764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The steady-state friction force is</a:t>
                </a:r>
                <a:r>
                  <a:rPr lang="en-US" sz="2400" dirty="0" smtClean="0"/>
                  <a:t>:</a:t>
                </a:r>
                <a:endParaRPr lang="en-US" sz="2400" i="1" dirty="0" smtClean="0">
                  <a:latin typeface="Cambria Math"/>
                </a:endParaRPr>
              </a:p>
              <a:p>
                <a:pPr marL="0" indent="0">
                  <a:buNone/>
                </a:pPr>
                <a:endParaRPr lang="en-US" sz="2400" i="1" dirty="0" smtClean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𝑥</m:t>
                          </m:r>
                          <m:r>
                            <a:rPr lang="en-US" sz="2400" i="1">
                              <a:latin typeface="Cambria Math"/>
                            </a:rPr>
                            <m:t>,</m:t>
                          </m:r>
                          <m:r>
                            <a:rPr lang="en-US" sz="2400" i="1">
                              <a:latin typeface="Cambria Math"/>
                            </a:rPr>
                            <m:t>𝑠𝑠</m:t>
                          </m:r>
                        </m:sub>
                      </m:sSub>
                      <m:r>
                        <a:rPr lang="en-US" sz="24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400" i="1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/>
                          <a:ea typeface="Cambria Math"/>
                        </a:rPr>
                        <m:t>∙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i="1">
                                      <a:latin typeface="Cambria Math"/>
                                    </a:rPr>
                                    <m:t>𝑧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𝑠𝑠</m:t>
                              </m:r>
                            </m:sub>
                          </m:sSub>
                          <m:r>
                            <a:rPr lang="en-US" sz="2400" i="1">
                              <a:latin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400" dirty="0"/>
              </a:p>
              <a:p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Even ignoring the bristle dynamics, the steady-state behavior closely matches the dynamic behavior.</a:t>
                </a:r>
                <a:endParaRPr lang="en-US" sz="2400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4465764" cy="4525963"/>
              </a:xfrm>
              <a:blipFill rotWithShape="1">
                <a:blip r:embed="rId3"/>
                <a:stretch>
                  <a:fillRect l="-2046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52400" y="5638800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Reference: </a:t>
            </a:r>
          </a:p>
          <a:p>
            <a:r>
              <a:rPr lang="en-US" sz="1200" dirty="0" smtClean="0"/>
              <a:t>De Wit et al, </a:t>
            </a:r>
            <a:r>
              <a:rPr lang="en-US" sz="1200" i="1" dirty="0" smtClean="0"/>
              <a:t>Dynamic Friction Models for Road/Tire Longitudinal Interaction, </a:t>
            </a:r>
            <a:r>
              <a:rPr lang="en-US" sz="1200" dirty="0" smtClean="0"/>
              <a:t>IEEE transactions on Automatic Control, 1999</a:t>
            </a:r>
          </a:p>
          <a:p>
            <a:r>
              <a:rPr lang="en-US" sz="1200" dirty="0" smtClean="0"/>
              <a:t>(plot) De </a:t>
            </a:r>
            <a:r>
              <a:rPr lang="en-US" sz="1200" dirty="0"/>
              <a:t>Wit et al, </a:t>
            </a:r>
            <a:r>
              <a:rPr lang="en-US" sz="1200" i="1" dirty="0"/>
              <a:t>Dynamic Tire Friction Models for Vehicle Traction Control</a:t>
            </a:r>
            <a:r>
              <a:rPr lang="en-US" sz="1200" dirty="0"/>
              <a:t>, IEEE </a:t>
            </a:r>
            <a:r>
              <a:rPr lang="en-US" sz="1200" dirty="0" err="1"/>
              <a:t>Conf</a:t>
            </a:r>
            <a:r>
              <a:rPr lang="en-US" sz="1200" dirty="0"/>
              <a:t> on Decision and Control, 1999.</a:t>
            </a:r>
          </a:p>
          <a:p>
            <a:endParaRPr lang="en-US" sz="1200" dirty="0"/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22964" y="990600"/>
            <a:ext cx="3946716" cy="4678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16497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Measurement of LuGre parameters is relatively easy (don’t need a tire!)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5029200" cy="4525963"/>
              </a:xfrm>
            </p:spPr>
            <p:txBody>
              <a:bodyPr/>
              <a:lstStyle/>
              <a:p>
                <a:r>
                  <a:rPr lang="en-US" sz="2400" dirty="0"/>
                  <a:t>Skid/sliding friction force measurements at different velocities can be used to find the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𝑐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,</m:t>
                        </m:r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𝑁𝑂𝑇𝐸</m:t>
                    </m:r>
                    <m:r>
                      <a:rPr lang="en-US" sz="2400" i="1">
                        <a:latin typeface="Cambria Math"/>
                      </a:rPr>
                      <m:t>: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u="sng" dirty="0"/>
                  <a:t>not needed </a:t>
                </a:r>
                <a:r>
                  <a:rPr lang="en-US" sz="2400" dirty="0"/>
                  <a:t>for finding steady-state force</a:t>
                </a:r>
                <a:r>
                  <a:rPr lang="en-US" sz="2400" dirty="0" smtClean="0"/>
                  <a:t>.</a:t>
                </a:r>
                <a:endParaRPr lang="en-US" sz="2400" dirty="0"/>
              </a:p>
              <a:p>
                <a:r>
                  <a:rPr lang="en-US" sz="2400" dirty="0"/>
                  <a:t>These parameters will be different for a distributed model since the expression for the friction force will be different.</a:t>
                </a: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5029200" cy="4525963"/>
              </a:xfrm>
              <a:blipFill rotWithShape="0">
                <a:blip r:embed="rId3"/>
                <a:stretch>
                  <a:fillRect l="-1576" t="-1078" r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554287" y="1905000"/>
            <a:ext cx="3495675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5303693" y="3880658"/>
            <a:ext cx="3733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Reference: </a:t>
            </a:r>
          </a:p>
          <a:p>
            <a:r>
              <a:rPr lang="en-US" sz="1200" dirty="0" smtClean="0"/>
              <a:t>De </a:t>
            </a:r>
            <a:r>
              <a:rPr lang="en-US" sz="1200" dirty="0"/>
              <a:t>Wit et al, </a:t>
            </a:r>
            <a:r>
              <a:rPr lang="en-US" sz="1200" i="1" dirty="0"/>
              <a:t>Dynamic Tire Friction Models for Vehicle Traction Control</a:t>
            </a:r>
            <a:r>
              <a:rPr lang="en-US" sz="1200" dirty="0"/>
              <a:t>, IEEE </a:t>
            </a:r>
            <a:r>
              <a:rPr lang="en-US" sz="1200" dirty="0" err="1"/>
              <a:t>Conf</a:t>
            </a:r>
            <a:r>
              <a:rPr lang="en-US" sz="1200" dirty="0"/>
              <a:t> on Decision and Control, 1999.</a:t>
            </a:r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96504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/>
              <a:t>Coefficient of road adhesion/friction on a wet road depends on vehicle velocity and water film depth (WFT).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Friction </a:t>
                </a:r>
                <a:r>
                  <a:rPr lang="en-US" sz="2400" dirty="0"/>
                  <a:t>is usually reported in </a:t>
                </a:r>
                <a:r>
                  <a:rPr lang="en-US" sz="2400" dirty="0" smtClean="0"/>
                  <a:t>Skid Number,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/>
                      </a:rPr>
                      <m:t>SN</m:t>
                    </m:r>
                    <m:r>
                      <a:rPr lang="en-US" sz="2400" b="0" i="0" smtClean="0">
                        <a:latin typeface="Cambria Math"/>
                      </a:rPr>
                      <m:t>=100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∙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𝜇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 smtClean="0"/>
                  <a:t>We can add water depth friction loss via correction term to g(v):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04080" y="1611284"/>
            <a:ext cx="3068320" cy="1938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143000" y="1600200"/>
            <a:ext cx="2821112" cy="214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52400" y="5638800"/>
            <a:ext cx="883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Reference: </a:t>
            </a:r>
            <a:r>
              <a:rPr lang="en-US" sz="1400" dirty="0" err="1" smtClean="0"/>
              <a:t>Flintsch</a:t>
            </a:r>
            <a:r>
              <a:rPr lang="en-US" sz="1400" dirty="0"/>
              <a:t>, G.W. et al., </a:t>
            </a:r>
            <a:r>
              <a:rPr lang="en-US" sz="1400" i="1" dirty="0"/>
              <a:t>Speed Adjustment Factors for Locked-Wheel Skid Trailer Measurements, </a:t>
            </a:r>
            <a:r>
              <a:rPr lang="en-US" sz="1400" dirty="0"/>
              <a:t>Transportation Research Record 2155, P. 117-13, Washington D.C., </a:t>
            </a:r>
            <a:r>
              <a:rPr lang="en-US" sz="1400" dirty="0" smtClean="0"/>
              <a:t>2010; NCHRP 1-43.</a:t>
            </a:r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209800" y="4800600"/>
                <a:ext cx="2895473" cy="40011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𝑔</m:t>
                      </m:r>
                      <m:r>
                        <a:rPr lang="en-US" sz="2000" b="0" i="1" baseline="-25000" smtClean="0">
                          <a:latin typeface="Cambria Math"/>
                        </a:rPr>
                        <m:t>𝑐𝑜𝑟𝑟𝑒𝑐𝑡𝑒𝑑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i="1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4800600"/>
                <a:ext cx="2895473" cy="400110"/>
              </a:xfrm>
              <a:prstGeom prst="rect">
                <a:avLst/>
              </a:prstGeom>
              <a:blipFill rotWithShape="1">
                <a:blip r:embed="rId6"/>
                <a:stretch>
                  <a:fillRect b="-597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0391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200" dirty="0" smtClean="0"/>
              <a:t>Correcting for water depth is as simple as changing g(</a:t>
            </a:r>
            <a:r>
              <a:rPr lang="en-US" sz="3200" dirty="0" err="1" smtClean="0"/>
              <a:t>v</a:t>
            </a:r>
            <a:r>
              <a:rPr lang="en-US" sz="3200" baseline="-25000" dirty="0" err="1" smtClean="0"/>
              <a:t>r</a:t>
            </a:r>
            <a:r>
              <a:rPr lang="en-US" sz="3200" dirty="0" smtClean="0"/>
              <a:t>)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dirty="0" smtClean="0"/>
                  <a:t>We can add water depth friction loss via correction term to g(v):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r>
                  <a:rPr lang="en-US" sz="2400" dirty="0"/>
                  <a:t>Factor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sz="2400" dirty="0"/>
                  <a:t> represents reduction in friction coefficient</a:t>
                </a:r>
              </a:p>
              <a:p>
                <a:pPr marL="0" indent="0">
                  <a:buNone/>
                </a:pPr>
                <a:endParaRPr lang="en-US" sz="2400" dirty="0" smtClean="0"/>
              </a:p>
              <a:p>
                <a:pPr marL="0" indent="0">
                  <a:buNone/>
                </a:pPr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152400" y="5638800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Reference: </a:t>
            </a:r>
          </a:p>
          <a:p>
            <a:r>
              <a:rPr lang="en-US" sz="1200" dirty="0" err="1" smtClean="0"/>
              <a:t>Flintsch</a:t>
            </a:r>
            <a:r>
              <a:rPr lang="en-US" sz="1200" dirty="0"/>
              <a:t>, G.W. et al., </a:t>
            </a:r>
            <a:r>
              <a:rPr lang="en-US" sz="1200" i="1" dirty="0"/>
              <a:t>Speed Adjustment Factors for Locked-Wheel Skid Trailer Measurements, </a:t>
            </a:r>
            <a:r>
              <a:rPr lang="en-US" sz="1200" dirty="0"/>
              <a:t>Transportation Research Record 2155, P. 117-13, Washington D.C., </a:t>
            </a:r>
            <a:r>
              <a:rPr lang="en-US" sz="1200" dirty="0" smtClean="0"/>
              <a:t>2010; NCHRP 1-43.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276600" y="2209800"/>
                <a:ext cx="2895473" cy="400110"/>
              </a:xfrm>
              <a:prstGeom prst="rect">
                <a:avLst/>
              </a:prstGeom>
              <a:ln>
                <a:solidFill>
                  <a:schemeClr val="accent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/>
                        </a:rPr>
                        <m:t>𝑔</m:t>
                      </m:r>
                      <m:r>
                        <a:rPr lang="en-US" sz="2000" b="0" i="1" baseline="-25000" smtClean="0">
                          <a:latin typeface="Cambria Math"/>
                        </a:rPr>
                        <m:t>𝑐𝑜𝑟𝑟𝑒𝑐𝑡𝑒𝑑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/>
                        </a:rPr>
                        <m:t>=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𝜃</m:t>
                      </m:r>
                      <m:r>
                        <a:rPr lang="en-US" sz="2000" b="0" i="1" smtClean="0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sz="2000" i="1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2209800"/>
                <a:ext cx="2895473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5970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6040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pPr algn="l"/>
                <a:r>
                  <a:rPr lang="en-US" dirty="0" smtClean="0">
                    <a:solidFill>
                      <a:schemeClr val="tx1"/>
                    </a:solidFill>
                  </a:rPr>
                  <a:t>Lower values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𝜃</m:t>
                    </m:r>
                  </m:oMath>
                </a14:m>
                <a:r>
                  <a:rPr lang="en-US" dirty="0" smtClean="0">
                    <a:solidFill>
                      <a:schemeClr val="tx1"/>
                    </a:solidFill>
                  </a:rPr>
                  <a:t> represent low friction surfaces (e.g. wet roads)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0">
                <a:blip r:embed="rId3"/>
                <a:stretch>
                  <a:fillRect l="-2593" t="-17021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57200" y="1524000"/>
            <a:ext cx="8173413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457200" y="5181600"/>
            <a:ext cx="835062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Reference: 2003, De Wit et al., </a:t>
            </a:r>
            <a:r>
              <a:rPr lang="en-US" sz="1200" i="1" dirty="0" smtClean="0"/>
              <a:t>Dynamic </a:t>
            </a:r>
            <a:r>
              <a:rPr lang="en-US" sz="1200" i="1" dirty="0"/>
              <a:t>Friction Models for Road-Tire Longitudinal Interactio</a:t>
            </a:r>
            <a:r>
              <a:rPr lang="en-US" sz="1200" dirty="0"/>
              <a:t>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58599"/>
            <a:ext cx="79825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road friction constant with speed, for wet roads?</a:t>
            </a:r>
          </a:p>
          <a:p>
            <a:r>
              <a:rPr lang="en-US" dirty="0" smtClean="0"/>
              <a:t>What </a:t>
            </a:r>
            <a:r>
              <a:rPr lang="en-US" dirty="0" smtClean="0"/>
              <a:t>do you notice about the cornering stiffness for each case?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948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lang="en-US" dirty="0" smtClean="0"/>
              <a:t>1D </a:t>
            </a:r>
            <a:r>
              <a:rPr lang="en-US" dirty="0" err="1" smtClean="0"/>
              <a:t>LuGre</a:t>
            </a:r>
            <a:r>
              <a:rPr lang="en-US" dirty="0" smtClean="0"/>
              <a:t> model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2D/Combined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Results from combined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72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Distributed LuGre model assumes existence of a contact patch, unlike lumped model</a:t>
            </a:r>
            <a:endParaRPr lang="en-US" sz="3600" dirty="0"/>
          </a:p>
        </p:txBody>
      </p:sp>
      <p:sp>
        <p:nvSpPr>
          <p:cNvPr id="4" name="Rectangle 3"/>
          <p:cNvSpPr/>
          <p:nvPr/>
        </p:nvSpPr>
        <p:spPr>
          <a:xfrm>
            <a:off x="457200" y="5562600"/>
            <a:ext cx="8350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Reference: </a:t>
            </a:r>
            <a:endParaRPr lang="en-US" sz="1200" dirty="0"/>
          </a:p>
          <a:p>
            <a:r>
              <a:rPr lang="en-US" sz="1200" dirty="0" smtClean="0"/>
              <a:t>De Wit et al., </a:t>
            </a:r>
            <a:r>
              <a:rPr lang="en-US" sz="1200" i="1" dirty="0" smtClean="0"/>
              <a:t>Dynamic </a:t>
            </a:r>
            <a:r>
              <a:rPr lang="en-US" sz="1200" i="1" dirty="0"/>
              <a:t>Friction Models for Road-Tire Longitudinal </a:t>
            </a:r>
            <a:r>
              <a:rPr lang="en-US" sz="1200" i="1" dirty="0" smtClean="0"/>
              <a:t>Interaction</a:t>
            </a:r>
            <a:r>
              <a:rPr lang="en-US" sz="1200" dirty="0" smtClean="0"/>
              <a:t>, Vehicle System Dynamics, </a:t>
            </a:r>
            <a:r>
              <a:rPr lang="en-US" sz="1200" dirty="0" err="1" smtClean="0"/>
              <a:t>Vol</a:t>
            </a:r>
            <a:r>
              <a:rPr lang="en-US" sz="1200" dirty="0" smtClean="0"/>
              <a:t> 39, No 3, </a:t>
            </a:r>
            <a:r>
              <a:rPr lang="en-US" sz="1200" dirty="0" err="1" smtClean="0"/>
              <a:t>pg</a:t>
            </a:r>
            <a:r>
              <a:rPr lang="en-US" sz="1200" dirty="0" smtClean="0"/>
              <a:t> 189-226. 2003.</a:t>
            </a:r>
            <a:endParaRPr lang="en-US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5000" y="1905000"/>
            <a:ext cx="5105400" cy="3519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3157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Slip in driving versus braking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Given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𝑆</m:t>
                      </m:r>
                      <m:r>
                        <a:rPr lang="en-US" b="0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n-US" b="0" i="1" baseline="-25000" smtClean="0"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=</m:t>
                                </m:r>
                                <m:box>
                                  <m:box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𝑟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∙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𝜔</m:t>
                                        </m:r>
                                        <m:r>
                                          <a:rPr lang="en-US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/>
                                            <a:ea typeface="Cambria Math"/>
                                          </a:rPr>
                                          <m:t>𝑣</m:t>
                                        </m:r>
                                      </m:num>
                                      <m:den>
                                        <m:r>
                                          <a:rPr lang="en-US" b="0" i="1" smtClean="0">
                                            <a:latin typeface="Cambria Math"/>
                                          </a:rPr>
                                          <m:t>𝑣</m:t>
                                        </m:r>
                                      </m:den>
                                    </m:f>
                                  </m:e>
                                </m:box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𝑓𝑜𝑟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&gt;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, 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𝑔</m:t>
                                </m:r>
                                <m:r>
                                  <a:rPr lang="en-US" b="0" i="1" smtClean="0">
                                    <a:latin typeface="Cambria Math"/>
                                    <a:ea typeface="Cambria Math"/>
                                  </a:rPr>
                                  <m:t>. </m:t>
                                </m:r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𝑟𝑎𝑘𝑖𝑛𝑔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𝑠</m:t>
                                </m:r>
                                <m:r>
                                  <a:rPr lang="en-US" b="0" i="1" baseline="-25000" smtClean="0">
                                    <a:latin typeface="Cambria Math"/>
                                  </a:rPr>
                                  <m:t>𝑑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=</m:t>
                                </m:r>
                                <m:box>
                                  <m:box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𝑟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∙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𝜔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−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𝑣</m:t>
                                        </m:r>
                                      </m:num>
                                      <m:den>
                                        <m:r>
                                          <a:rPr lang="en-US" i="1">
                                            <a:latin typeface="Cambria Math"/>
                                          </a:rPr>
                                          <m:t>𝑟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∙</m:t>
                                        </m:r>
                                        <m:r>
                                          <a:rPr lang="en-US" i="1">
                                            <a:latin typeface="Cambria Math"/>
                                            <a:ea typeface="Cambria Math"/>
                                          </a:rPr>
                                          <m:t>𝜔</m:t>
                                        </m:r>
                                      </m:den>
                                    </m:f>
                                  </m:e>
                                </m:box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/>
                                  </a:rPr>
                                  <m:t>𝑓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𝑜𝑟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𝑣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/>
                                  </a:rPr>
                                  <m:t>𝑟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∙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𝜔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, 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𝑒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.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𝑔</m:t>
                                </m:r>
                                <m:r>
                                  <a:rPr lang="en-US" i="1">
                                    <a:latin typeface="Cambria Math"/>
                                    <a:ea typeface="Cambria Math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/>
                                  </a:rPr>
                                  <m:t>𝑑𝑟𝑖𝑣𝑖𝑛𝑔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r>
                  <a:rPr lang="en-US" dirty="0" smtClean="0"/>
                  <a:t>The </a:t>
                </a:r>
                <a:r>
                  <a:rPr lang="en-US" dirty="0"/>
                  <a:t>following relations hold between the braking </a:t>
                </a:r>
                <a:r>
                  <a:rPr lang="en-US" dirty="0" err="1" smtClean="0"/>
                  <a:t>S</a:t>
                </a:r>
                <a:r>
                  <a:rPr lang="en-US" baseline="-25000" dirty="0" err="1" smtClean="0"/>
                  <a:t>b</a:t>
                </a:r>
                <a:r>
                  <a:rPr lang="en-US" dirty="0" smtClean="0"/>
                  <a:t> </a:t>
                </a:r>
                <a:r>
                  <a:rPr lang="en-US" dirty="0"/>
                  <a:t>and the driving </a:t>
                </a:r>
                <a:r>
                  <a:rPr lang="en-US" dirty="0" err="1" smtClean="0"/>
                  <a:t>S</a:t>
                </a:r>
                <a:r>
                  <a:rPr lang="en-US" baseline="-25000" dirty="0" err="1" smtClean="0"/>
                  <a:t>d</a:t>
                </a:r>
                <a:r>
                  <a:rPr lang="en-US" dirty="0" smtClean="0"/>
                  <a:t> slip </a:t>
                </a:r>
                <a:r>
                  <a:rPr lang="en-US" dirty="0"/>
                  <a:t>definitions</a:t>
                </a:r>
                <a:r>
                  <a:rPr lang="en-US" dirty="0" smtClean="0"/>
                  <a:t>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So: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l="-1852" t="-1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743200" y="4511603"/>
                <a:ext cx="2452145" cy="4531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</a:rPr>
                        <m:t>𝑟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∙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𝜔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𝑑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𝑣</m:t>
                      </m:r>
                      <m:r>
                        <a:rPr lang="en-US" i="1">
                          <a:latin typeface="Cambria Math"/>
                          <a:ea typeface="Cambria Math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511603"/>
                <a:ext cx="2452145" cy="453137"/>
              </a:xfrm>
              <a:prstGeom prst="rect">
                <a:avLst/>
              </a:prstGeom>
              <a:blipFill rotWithShape="0">
                <a:blip r:embed="rId4"/>
                <a:stretch>
                  <a:fillRect b="-6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953789" y="5105400"/>
                <a:ext cx="1703159" cy="7309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𝑠</m:t>
                      </m:r>
                      <m:r>
                        <a:rPr lang="en-US" i="1" baseline="-25000">
                          <a:latin typeface="Cambria Math"/>
                          <a:ea typeface="Cambria Math"/>
                        </a:rPr>
                        <m:t>𝑑</m:t>
                      </m:r>
                      <m:r>
                        <a:rPr lang="en-US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i="1" baseline="-25000">
                              <a:latin typeface="Cambria Math"/>
                              <a:ea typeface="Cambria Math"/>
                            </a:rPr>
                            <m:t>𝑏</m:t>
                          </m:r>
                        </m:num>
                        <m:den>
                          <m:r>
                            <a:rPr lang="en-US" b="0" i="1" smtClean="0">
                              <a:latin typeface="Cambria Math"/>
                            </a:rPr>
                            <m:t>1+</m:t>
                          </m:r>
                          <m:r>
                            <a:rPr lang="en-US" i="1">
                              <a:latin typeface="Cambria Math"/>
                              <a:ea typeface="Cambria Math"/>
                            </a:rPr>
                            <m:t>𝑠</m:t>
                          </m:r>
                          <m:r>
                            <a:rPr lang="en-US" i="1" baseline="-25000">
                              <a:latin typeface="Cambria Math"/>
                              <a:ea typeface="Cambria Math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baseline="-250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89" y="5105400"/>
                <a:ext cx="1703159" cy="730906"/>
              </a:xfrm>
              <a:prstGeom prst="rect">
                <a:avLst/>
              </a:prstGeom>
              <a:blipFill rotWithShape="1">
                <a:blip r:embed="rId5"/>
                <a:stretch>
                  <a:fillRect b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615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6106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Net force can be obtained by integrating force at each bristle along tire contact patch.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5867400" cy="42941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The steady-state result for </a:t>
            </a:r>
            <a:r>
              <a:rPr lang="en-US" sz="2800" b="1" i="1" dirty="0" smtClean="0"/>
              <a:t>distributed</a:t>
            </a:r>
            <a:r>
              <a:rPr lang="en-US" sz="2800" dirty="0" smtClean="0"/>
              <a:t> model, assuming a constant normal load distribution over the contact patch, is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with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05000" y="2895600"/>
                <a:ext cx="4827924" cy="65768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den>
                      </m:f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𝑠𝑔𝑛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/>
                                      <a:ea typeface="Cambria Math"/>
                                    </a:rPr>
                                    <m:t>𝑟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𝑍</m:t>
                                  </m:r>
                                </m:num>
                                <m:den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𝐿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800" b="0" i="1" smtClean="0">
                                      <a:latin typeface="Cambria Math"/>
                                      <a:ea typeface="Cambria Math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800" b="0" i="1" smtClean="0">
                                          <a:latin typeface="Cambria Math"/>
                                          <a:ea typeface="Cambria Math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sz="1800" b="0" i="1" smtClean="0">
                                          <a:latin typeface="Cambria Math"/>
                                          <a:ea typeface="Cambria Math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𝐿</m:t>
                                          </m:r>
                                        </m:num>
                                        <m:den>
                                          <m:r>
                                            <a:rPr lang="en-US" sz="1800" b="0" i="1" smtClean="0">
                                              <a:latin typeface="Cambria Math"/>
                                              <a:ea typeface="Cambria Math"/>
                                            </a:rPr>
                                            <m:t>𝑍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</m:e>
                          </m:d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 smtClean="0">
                                  <a:latin typeface="Cambria Math"/>
                                  <a:ea typeface="Cambria Math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800" b="0" i="1" smtClean="0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95600"/>
                <a:ext cx="4827924" cy="65768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72637" y="4800600"/>
                <a:ext cx="3691460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  <a:ea typeface="Cambria Math"/>
                      </a:rPr>
                      <m:t>𝐿</m:t>
                    </m:r>
                  </m:oMath>
                </a14:m>
                <a:r>
                  <a:rPr lang="en-US" sz="1600" dirty="0" smtClean="0"/>
                  <a:t>: Contact patch length (0.2 m value used)</a:t>
                </a:r>
              </a:p>
              <a:p>
                <a:r>
                  <a:rPr lang="en-US" sz="1600" dirty="0"/>
                  <a:t>𝜔 : Wheel rotation velocity, 𝑟: tire </a:t>
                </a:r>
                <a:r>
                  <a:rPr lang="en-US" sz="1600" dirty="0" smtClean="0"/>
                  <a:t>radius</a:t>
                </a:r>
                <a:endParaRPr lang="en-US" sz="1600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2637" y="4800600"/>
                <a:ext cx="3691460" cy="584775"/>
              </a:xfrm>
              <a:prstGeom prst="rect">
                <a:avLst/>
              </a:prstGeom>
              <a:blipFill rotWithShape="1">
                <a:blip r:embed="rId4"/>
                <a:stretch>
                  <a:fillRect l="-992" t="-3158" b="-1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6619240" y="1371600"/>
            <a:ext cx="2372360" cy="2983745"/>
            <a:chOff x="6619240" y="1371600"/>
            <a:chExt cx="2372360" cy="298374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 rotWithShape="1"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>
              <a:off x="6619240" y="1371600"/>
              <a:ext cx="2372360" cy="29837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6684301" y="3700046"/>
                  <a:ext cx="334066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1" smtClean="0">
                            <a:latin typeface="Cambria Math"/>
                            <a:ea typeface="Cambria Math"/>
                          </a:rPr>
                          <m:t>𝒛</m:t>
                        </m:r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84301" y="3700046"/>
                  <a:ext cx="334066" cy="338554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0"/>
          <p:cNvSpPr/>
          <p:nvPr/>
        </p:nvSpPr>
        <p:spPr>
          <a:xfrm>
            <a:off x="457200" y="5562600"/>
            <a:ext cx="8350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Reference: </a:t>
            </a:r>
            <a:endParaRPr lang="en-US" sz="1200" dirty="0"/>
          </a:p>
          <a:p>
            <a:r>
              <a:rPr lang="en-US" sz="1200" dirty="0" smtClean="0"/>
              <a:t>De Wit et al., </a:t>
            </a:r>
            <a:r>
              <a:rPr lang="en-US" sz="1200" i="1" dirty="0" smtClean="0"/>
              <a:t>Dynamic </a:t>
            </a:r>
            <a:r>
              <a:rPr lang="en-US" sz="1200" i="1" dirty="0"/>
              <a:t>Friction Models for Road-Tire Longitudinal </a:t>
            </a:r>
            <a:r>
              <a:rPr lang="en-US" sz="1200" i="1" dirty="0" smtClean="0"/>
              <a:t>Interaction</a:t>
            </a:r>
            <a:r>
              <a:rPr lang="en-US" sz="1200" dirty="0" smtClean="0"/>
              <a:t>, Vehicle System Dynamics, </a:t>
            </a:r>
            <a:r>
              <a:rPr lang="en-US" sz="1200" dirty="0" err="1" smtClean="0"/>
              <a:t>Vol</a:t>
            </a:r>
            <a:r>
              <a:rPr lang="en-US" sz="1200" dirty="0" smtClean="0"/>
              <a:t> 39, No 3, </a:t>
            </a:r>
            <a:r>
              <a:rPr lang="en-US" sz="1200" dirty="0" err="1" smtClean="0"/>
              <a:t>pg</a:t>
            </a:r>
            <a:r>
              <a:rPr lang="en-US" sz="1200" dirty="0" smtClean="0"/>
              <a:t> 189-226. 2003. (see equations 49 and 50)</a:t>
            </a:r>
            <a:endParaRPr 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507375" y="3870730"/>
                <a:ext cx="1980670" cy="6299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/>
                        </a:rPr>
                        <m:t>𝑍</m:t>
                      </m:r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𝜔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𝑣</m:t>
                              </m:r>
                              <m:r>
                                <a:rPr lang="en-US" sz="1800" i="1" baseline="-2500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den>
                          </m:f>
                        </m:e>
                      </m:d>
                      <m:r>
                        <a:rPr lang="en-US" sz="1800" b="0" i="1" smtClean="0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/>
                              <a:ea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dPr>
                            <m:e>
                              <m:r>
                                <a:rPr lang="en-US" sz="1800" i="1">
                                  <a:latin typeface="Cambria Math"/>
                                  <a:ea typeface="Cambria Math"/>
                                </a:rPr>
                                <m:t>𝑣</m:t>
                              </m:r>
                              <m:r>
                                <a:rPr lang="en-US" sz="1800" i="1" baseline="-25000">
                                  <a:latin typeface="Cambria Math"/>
                                  <a:ea typeface="Cambria Math"/>
                                </a:rPr>
                                <m:t>𝑟</m:t>
                              </m:r>
                            </m:e>
                          </m:d>
                        </m:num>
                        <m:den>
                          <m:r>
                            <a:rPr lang="en-US" sz="1800" i="1" smtClean="0">
                              <a:latin typeface="Cambria Math"/>
                              <a:ea typeface="Cambria Math"/>
                            </a:rPr>
                            <m:t>𝜎</m:t>
                          </m:r>
                          <m:r>
                            <a:rPr lang="en-US" sz="1800" b="0" i="1" baseline="-25000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375" y="3870730"/>
                <a:ext cx="1980670" cy="629981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46306" y="4504616"/>
                <a:ext cx="2292294" cy="5107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  <m:r>
                              <a:rPr lang="en-US" sz="1800" i="1" baseline="-25000">
                                <a:latin typeface="Cambria Math"/>
                                <a:ea typeface="Cambria Math"/>
                              </a:rPr>
                              <m:t>𝑟</m:t>
                            </m:r>
                          </m:e>
                        </m:d>
                      </m:num>
                      <m:den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𝜎</m:t>
                        </m:r>
                        <m:r>
                          <a:rPr lang="en-US" sz="1800" b="0" i="1" baseline="-25000" smtClean="0">
                            <a:latin typeface="Cambria Math"/>
                            <a:ea typeface="Cambria Math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800" dirty="0" smtClean="0"/>
                  <a:t> for driving</a:t>
                </a:r>
                <a:endParaRPr lang="en-US" sz="1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06" y="4504616"/>
                <a:ext cx="2292294" cy="510781"/>
              </a:xfrm>
              <a:prstGeom prst="rect">
                <a:avLst/>
              </a:prstGeom>
              <a:blipFill rotWithShape="1">
                <a:blip r:embed="rId10"/>
                <a:stretch>
                  <a:fillRect r="-1326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746306" y="5015397"/>
                <a:ext cx="2548839" cy="5107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1+</m:t>
                            </m:r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num>
                          <m:den>
                            <m:r>
                              <a:rPr lang="en-US" sz="1800" b="0" i="1" smtClean="0">
                                <a:latin typeface="Cambria Math"/>
                                <a:ea typeface="Cambria Math"/>
                              </a:rPr>
                              <m:t>𝑆</m:t>
                            </m:r>
                          </m:den>
                        </m:f>
                      </m:e>
                    </m:d>
                    <m:r>
                      <a:rPr lang="en-US" sz="1800" b="0" i="1" smtClean="0">
                        <a:latin typeface="Cambria Math"/>
                        <a:ea typeface="Cambria Math"/>
                      </a:rPr>
                      <m:t>∙</m:t>
                    </m:r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/>
                            <a:ea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1800" i="1">
                                <a:latin typeface="Cambria Math"/>
                                <a:ea typeface="Cambria Math"/>
                              </a:rPr>
                              <m:t>𝑣</m:t>
                            </m:r>
                            <m:r>
                              <a:rPr lang="en-US" sz="1800" i="1" baseline="-25000">
                                <a:latin typeface="Cambria Math"/>
                                <a:ea typeface="Cambria Math"/>
                              </a:rPr>
                              <m:t>𝑟</m:t>
                            </m:r>
                          </m:e>
                        </m:d>
                      </m:num>
                      <m:den>
                        <m:r>
                          <a:rPr lang="en-US" sz="1800" i="1" smtClean="0">
                            <a:latin typeface="Cambria Math"/>
                            <a:ea typeface="Cambria Math"/>
                          </a:rPr>
                          <m:t>𝜎</m:t>
                        </m:r>
                        <m:r>
                          <a:rPr lang="en-US" sz="1800" b="0" i="1" baseline="-25000" smtClean="0">
                            <a:latin typeface="Cambria Math"/>
                            <a:ea typeface="Cambria Math"/>
                          </a:rPr>
                          <m:t>0</m:t>
                        </m:r>
                      </m:den>
                    </m:f>
                  </m:oMath>
                </a14:m>
                <a:r>
                  <a:rPr lang="en-US" sz="1800" dirty="0" smtClean="0"/>
                  <a:t> for braking</a:t>
                </a:r>
                <a:endParaRPr lang="en-US" sz="18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306" y="5015397"/>
                <a:ext cx="2548839" cy="510781"/>
              </a:xfrm>
              <a:prstGeom prst="rect">
                <a:avLst/>
              </a:prstGeom>
              <a:blipFill rotWithShape="1">
                <a:blip r:embed="rId11"/>
                <a:stretch>
                  <a:fillRect r="-1193" b="-47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7384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916" y="152400"/>
            <a:ext cx="8229600" cy="944562"/>
          </a:xfrm>
        </p:spPr>
        <p:txBody>
          <a:bodyPr/>
          <a:lstStyle/>
          <a:p>
            <a:r>
              <a:rPr lang="en-US" sz="3600" dirty="0" err="1" smtClean="0"/>
              <a:t>LuGre</a:t>
            </a:r>
            <a:r>
              <a:rPr lang="en-US" sz="3600" dirty="0" smtClean="0"/>
              <a:t> parameters from tire materials match tire data EXTREMELY well. </a:t>
            </a:r>
            <a:endParaRPr lang="en-US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06973" y="3064948"/>
            <a:ext cx="3276600" cy="205201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4822371" y="2516038"/>
            <a:ext cx="3900487" cy="3149832"/>
            <a:chOff x="4876800" y="2438400"/>
            <a:chExt cx="3900487" cy="3149832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76800" y="2438400"/>
              <a:ext cx="3900487" cy="29833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" name="TextBox 4"/>
            <p:cNvSpPr txBox="1"/>
            <p:nvPr/>
          </p:nvSpPr>
          <p:spPr>
            <a:xfrm>
              <a:off x="7106192" y="5218900"/>
              <a:ext cx="2920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l-GR" dirty="0" smtClean="0"/>
                <a:t>λ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62600" y="5175357"/>
              <a:ext cx="29206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v</a:t>
              </a:r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937118" y="5210216"/>
                <a:ext cx="21409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800" dirty="0" smtClean="0">
                    <a:ea typeface="Cambria Math"/>
                  </a:rPr>
                  <a:t>Use: L=0.2 m, </a:t>
                </a:r>
                <a14:m>
                  <m:oMath xmlns:m="http://schemas.openxmlformats.org/officeDocument/2006/math">
                    <m:r>
                      <a:rPr lang="en-US" sz="1800" i="1">
                        <a:latin typeface="Cambria Math"/>
                        <a:ea typeface="Cambria Math"/>
                      </a:rPr>
                      <m:t>𝛼</m:t>
                    </m:r>
                  </m:oMath>
                </a14:m>
                <a:r>
                  <a:rPr lang="en-US" sz="1800" dirty="0"/>
                  <a:t>=0.5</a:t>
                </a: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118" y="5210216"/>
                <a:ext cx="2140907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564" t="-10000" r="-170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57200" y="5562600"/>
            <a:ext cx="83506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Reference: </a:t>
            </a:r>
            <a:endParaRPr lang="en-US" sz="1200" dirty="0"/>
          </a:p>
          <a:p>
            <a:r>
              <a:rPr lang="en-US" sz="1200" dirty="0" smtClean="0"/>
              <a:t>De Wit et al., </a:t>
            </a:r>
            <a:r>
              <a:rPr lang="en-US" sz="1200" i="1" dirty="0" smtClean="0"/>
              <a:t>Dynamic </a:t>
            </a:r>
            <a:r>
              <a:rPr lang="en-US" sz="1200" i="1" dirty="0"/>
              <a:t>Friction Models for Road-Tire Longitudinal </a:t>
            </a:r>
            <a:r>
              <a:rPr lang="en-US" sz="1200" i="1" dirty="0" smtClean="0"/>
              <a:t>Interaction</a:t>
            </a:r>
            <a:r>
              <a:rPr lang="en-US" sz="1200" dirty="0" smtClean="0"/>
              <a:t>, Vehicle System Dynamics, </a:t>
            </a:r>
            <a:r>
              <a:rPr lang="en-US" sz="1200" dirty="0" err="1" smtClean="0"/>
              <a:t>Vol</a:t>
            </a:r>
            <a:r>
              <a:rPr lang="en-US" sz="1200" dirty="0" smtClean="0"/>
              <a:t> 39, No 3, </a:t>
            </a:r>
            <a:r>
              <a:rPr lang="en-US" sz="1200" dirty="0" err="1" smtClean="0"/>
              <a:t>pg</a:t>
            </a:r>
            <a:r>
              <a:rPr lang="en-US" sz="1200" dirty="0" smtClean="0"/>
              <a:t> 189-226. 2003.</a:t>
            </a:r>
            <a:endParaRPr lang="en-US" sz="1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3258" y="1219200"/>
            <a:ext cx="8229600" cy="1676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Below parameters obtained from comparison with experimental data, but we regularly use friction testing devices (Circular Texture Meters and Dynamic Friction measurement, or CTM / DF)</a:t>
            </a:r>
          </a:p>
          <a:p>
            <a:pPr marL="0" indent="0">
              <a:buNone/>
            </a:pPr>
            <a:r>
              <a:rPr lang="en-US" sz="2000" dirty="0" smtClean="0"/>
              <a:t>For LuGre model, braking force depends on velocity! (which REALLY happens but is ignored in other models)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004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638800" cy="762000"/>
          </a:xfrm>
        </p:spPr>
        <p:txBody>
          <a:bodyPr>
            <a:normAutofit/>
          </a:bodyPr>
          <a:lstStyle/>
          <a:p>
            <a:r>
              <a:rPr lang="en-US" dirty="0" smtClean="0"/>
              <a:t>MATLAB Code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80328" y="1676400"/>
            <a:ext cx="8686800" cy="461664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 LuGre Model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clear </a:t>
            </a:r>
            <a:r>
              <a:rPr lang="en-US" sz="1400" dirty="0" smtClean="0">
                <a:solidFill>
                  <a:srgbClr val="A020F0"/>
                </a:solidFill>
                <a:latin typeface="Courier New"/>
              </a:rPr>
              <a:t>all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v=10;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%Linear Velocity, m/s</a:t>
            </a:r>
          </a:p>
          <a:p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%LuGre Parameters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sigma_0=178;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%1/m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sigma_2=0;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%s/m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mu_C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=0.8; 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mu_S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=1.5;</a:t>
            </a:r>
          </a:p>
          <a:p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v_s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=5.5;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%Stribeck velocity in m/s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L=0.2;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%contact patch length (assume 0.2 m for ALL cases)</a:t>
            </a:r>
          </a:p>
          <a:p>
            <a:r>
              <a:rPr lang="en-US" sz="1400" b="1" dirty="0" smtClean="0">
                <a:solidFill>
                  <a:srgbClr val="000000"/>
                </a:solidFill>
                <a:latin typeface="Courier New"/>
              </a:rPr>
              <a:t>theta=1;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urier New"/>
              </a:rPr>
              <a:t>for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i=1:1:100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   s=-i*0.01;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%slip defined negative for braking in the model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v_r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=-s*v;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%relative velocity</a:t>
            </a:r>
          </a:p>
          <a:p>
            <a:r>
              <a:rPr lang="pl-PL" sz="1400" dirty="0" smtClean="0">
                <a:solidFill>
                  <a:srgbClr val="000000"/>
                </a:solidFill>
                <a:latin typeface="Courier New"/>
              </a:rPr>
              <a:t>    g_v=(mu_C+(mu_S-mu_C)*exp(-(abs(v_r/v_s))^0.5));       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%for wet pavement: 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g_v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=theta*(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mu_C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+(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mu_S-mu_C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)*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exp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(-(abs(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v_r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/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v_s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))^0.5));   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   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%g(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v_r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):calling it </a:t>
            </a:r>
            <a:r>
              <a:rPr lang="en-US" sz="1400" dirty="0" err="1" smtClean="0">
                <a:solidFill>
                  <a:srgbClr val="228B22"/>
                </a:solidFill>
                <a:latin typeface="Courier New"/>
              </a:rPr>
              <a:t>g_v</a:t>
            </a:r>
            <a:r>
              <a:rPr lang="en-US" sz="1400" dirty="0" smtClean="0">
                <a:solidFill>
                  <a:srgbClr val="228B22"/>
                </a:solidFill>
                <a:latin typeface="Courier New"/>
              </a:rPr>
              <a:t> so that no confusion with gravity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    Z=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g_v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*abs(1+s)/sigma_0/abs(s);</a:t>
            </a:r>
          </a:p>
          <a:p>
            <a:r>
              <a:rPr lang="pl-PL" sz="1400" dirty="0" smtClean="0">
                <a:solidFill>
                  <a:srgbClr val="000000"/>
                </a:solidFill>
                <a:latin typeface="Courier New"/>
              </a:rPr>
              <a:t>    mu_x(i)=sign(v_r)*</a:t>
            </a:r>
            <a:r>
              <a:rPr lang="en-US" sz="1400" b="1" dirty="0" smtClean="0">
                <a:solidFill>
                  <a:srgbClr val="000000"/>
                </a:solidFill>
                <a:latin typeface="Courier New"/>
              </a:rPr>
              <a:t> theta 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*</a:t>
            </a:r>
            <a:r>
              <a:rPr lang="pl-PL" sz="1400" dirty="0" smtClean="0">
                <a:solidFill>
                  <a:srgbClr val="000000"/>
                </a:solidFill>
                <a:latin typeface="Courier New"/>
              </a:rPr>
              <a:t>g_v*(1-Z/L*(1-exp(-L/Z)))+sigma_2*v_r; </a:t>
            </a:r>
            <a:r>
              <a:rPr lang="pl-PL" sz="1400" dirty="0" smtClean="0">
                <a:solidFill>
                  <a:srgbClr val="228B22"/>
                </a:solidFill>
                <a:latin typeface="Courier New"/>
              </a:rPr>
              <a:t>%mu=Fx/Fn</a:t>
            </a:r>
          </a:p>
          <a:p>
            <a:r>
              <a:rPr lang="en-US" sz="1400" dirty="0" smtClean="0">
                <a:solidFill>
                  <a:srgbClr val="0000FF"/>
                </a:solidFill>
                <a:latin typeface="Courier New"/>
              </a:rPr>
              <a:t>end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slip=0.01:0.01:1;</a:t>
            </a:r>
          </a:p>
          <a:p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plot(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slip,mu_x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); 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xlabel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400" dirty="0" smtClean="0">
                <a:solidFill>
                  <a:srgbClr val="A020F0"/>
                </a:solidFill>
                <a:latin typeface="Courier New"/>
              </a:rPr>
              <a:t>'longitudinal slip'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);</a:t>
            </a:r>
            <a:r>
              <a:rPr lang="en-US" sz="1400" dirty="0" err="1" smtClean="0">
                <a:solidFill>
                  <a:srgbClr val="000000"/>
                </a:solidFill>
                <a:latin typeface="Courier New"/>
              </a:rPr>
              <a:t>ylabel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sz="1400" dirty="0" smtClean="0">
                <a:solidFill>
                  <a:srgbClr val="A020F0"/>
                </a:solidFill>
                <a:latin typeface="Courier New"/>
              </a:rPr>
              <a:t>'</a:t>
            </a:r>
            <a:r>
              <a:rPr lang="en-US" sz="1400" dirty="0" err="1" smtClean="0">
                <a:solidFill>
                  <a:srgbClr val="A020F0"/>
                </a:solidFill>
                <a:latin typeface="Courier New"/>
              </a:rPr>
              <a:t>mu_x</a:t>
            </a:r>
            <a:r>
              <a:rPr lang="en-US" sz="1400" dirty="0" smtClean="0">
                <a:solidFill>
                  <a:srgbClr val="A020F0"/>
                </a:solidFill>
                <a:latin typeface="Courier New"/>
              </a:rPr>
              <a:t>'</a:t>
            </a:r>
            <a:r>
              <a:rPr lang="en-US" sz="1400" dirty="0" smtClean="0">
                <a:solidFill>
                  <a:srgbClr val="000000"/>
                </a:solidFill>
                <a:latin typeface="Courier New"/>
              </a:rPr>
              <a:t>);</a:t>
            </a:r>
            <a:endParaRPr lang="en-US" sz="1400" dirty="0"/>
          </a:p>
        </p:txBody>
      </p:sp>
      <p:grpSp>
        <p:nvGrpSpPr>
          <p:cNvPr id="4" name="Group 3"/>
          <p:cNvGrpSpPr/>
          <p:nvPr/>
        </p:nvGrpSpPr>
        <p:grpSpPr>
          <a:xfrm>
            <a:off x="5029200" y="288520"/>
            <a:ext cx="3962400" cy="3079866"/>
            <a:chOff x="1143000" y="1295400"/>
            <a:chExt cx="6629400" cy="5152852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3000" y="1295400"/>
              <a:ext cx="6629400" cy="51528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4800600" y="1960080"/>
              <a:ext cx="11035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 smtClean="0"/>
                <a:t>v</a:t>
              </a:r>
              <a:r>
                <a:rPr lang="en-US" dirty="0" smtClean="0"/>
                <a:t>= 10 m/s</a:t>
              </a:r>
              <a:endParaRPr lang="en-US" dirty="0"/>
            </a:p>
          </p:txBody>
        </p:sp>
      </p:grpSp>
      <p:sp>
        <p:nvSpPr>
          <p:cNvPr id="8" name="Left Arrow 7"/>
          <p:cNvSpPr/>
          <p:nvPr/>
        </p:nvSpPr>
        <p:spPr>
          <a:xfrm>
            <a:off x="1143000" y="3581400"/>
            <a:ext cx="489204" cy="24231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481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Velocity dependence matches what we see in field measurements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smtClean="0"/>
              <a:t>One can easily modify the previous code to plot velocities at [10, 20, 30, 40, 50 m/s] at left, or at fixed slip (0.1) for speeds 0:50 m/s at right…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Both follow trends seen in field measurements of friction</a:t>
            </a:r>
            <a:endParaRPr lang="en-US" sz="2400" dirty="0"/>
          </a:p>
        </p:txBody>
      </p:sp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3400" y="2708275"/>
            <a:ext cx="4110567" cy="3082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3669" name="Picture 5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48200" y="2743200"/>
            <a:ext cx="39624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405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1D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</a:p>
          <a:p>
            <a:r>
              <a:rPr lang="en-US" dirty="0" smtClean="0"/>
              <a:t>2D/Combined </a:t>
            </a:r>
            <a:r>
              <a:rPr lang="en-US" dirty="0" err="1" smtClean="0"/>
              <a:t>LuGre</a:t>
            </a:r>
            <a:r>
              <a:rPr lang="en-US" dirty="0" smtClean="0"/>
              <a:t> model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Results from combined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352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81000" y="2209800"/>
            <a:ext cx="8229600" cy="1143000"/>
          </a:xfrm>
        </p:spPr>
        <p:txBody>
          <a:bodyPr/>
          <a:lstStyle/>
          <a:p>
            <a:r>
              <a:rPr lang="en-US" dirty="0" smtClean="0"/>
              <a:t>I’m not going to lie… the combined 2-D </a:t>
            </a:r>
            <a:r>
              <a:rPr lang="en-US" dirty="0" err="1" smtClean="0"/>
              <a:t>LuGre</a:t>
            </a:r>
            <a:r>
              <a:rPr lang="en-US" dirty="0" smtClean="0"/>
              <a:t> model is </a:t>
            </a:r>
            <a:r>
              <a:rPr lang="en-US" dirty="0" smtClean="0">
                <a:solidFill>
                  <a:srgbClr val="FF0000"/>
                </a:solidFill>
              </a:rPr>
              <a:t>HARD</a:t>
            </a:r>
            <a:r>
              <a:rPr lang="en-US" dirty="0" smtClean="0"/>
              <a:t>. You are not expected to follow every detail that follows, but if you use this model, you will find these slides helpful.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51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Combined </a:t>
            </a:r>
            <a:r>
              <a:rPr lang="en-US" dirty="0" err="1" smtClean="0"/>
              <a:t>LuGre</a:t>
            </a:r>
            <a:r>
              <a:rPr lang="en-US" dirty="0" smtClean="0"/>
              <a:t> considers coupling of X,Y forces as well as anisotropic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7259434"/>
                  </p:ext>
                </p:extLst>
              </p:nvPr>
            </p:nvGraphicFramePr>
            <p:xfrm>
              <a:off x="457200" y="1519745"/>
              <a:ext cx="8229600" cy="17568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43200"/>
                    <a:gridCol w="2743200"/>
                    <a:gridCol w="27432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1-D model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2-D model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 smtClean="0"/>
                            <a:t>Static friction coefficient</a:t>
                          </a:r>
                          <a:endParaRPr 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2000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𝑠𝑥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2000" dirty="0"/>
                                            <m:t> </m:t>
                                          </m:r>
                                        </m:e>
                                        <m:e>
                                          <m:r>
                                            <a:rPr lang="en-US" sz="2000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𝑠𝑦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2000" dirty="0"/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/>
                            <a:t>Kinetic friction coefficient</a:t>
                          </a:r>
                          <a:endParaRPr 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2000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2000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20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𝑘𝑥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2000" dirty="0"/>
                                            <m:t> </m:t>
                                          </m:r>
                                        </m:e>
                                        <m:e>
                                          <m:r>
                                            <a:rPr lang="en-US" sz="2000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2000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0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000" smtClean="0">
                                                  <a:latin typeface="Cambria Math"/>
                                                </a:rPr>
                                                <m:t>𝑘𝑦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2000" dirty="0"/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587259434"/>
                  </p:ext>
                </p:extLst>
              </p:nvPr>
            </p:nvGraphicFramePr>
            <p:xfrm>
              <a:off x="457200" y="1519745"/>
              <a:ext cx="8229600" cy="1756855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43200"/>
                    <a:gridCol w="2743200"/>
                    <a:gridCol w="2743200"/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1-D model</a:t>
                          </a:r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/>
                            <a:t>2-D model</a:t>
                          </a:r>
                          <a:endParaRPr lang="en-US" b="1" dirty="0"/>
                        </a:p>
                      </a:txBody>
                      <a:tcPr/>
                    </a:tc>
                  </a:tr>
                  <a:tr h="69297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800" b="1" dirty="0" smtClean="0"/>
                            <a:t>Static friction coefficient</a:t>
                          </a:r>
                          <a:endParaRPr 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57895" r="-100000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57895" b="-100000"/>
                          </a:stretch>
                        </a:blipFill>
                      </a:tcPr>
                    </a:tc>
                  </a:tr>
                  <a:tr h="69303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1" dirty="0" smtClean="0"/>
                            <a:t>Kinetic friction coefficient</a:t>
                          </a:r>
                          <a:endParaRPr lang="en-US" sz="18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100000" t="-157895" r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000" t="-157895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42011" y="3429000"/>
            <a:ext cx="3368589" cy="2811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57200" y="3505200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Anisotropic effect: Friction coefficients in x and y direction can be chosen differently.</a:t>
            </a:r>
            <a:endParaRPr lang="en-US" sz="20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4964249"/>
            <a:ext cx="39226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Reference: </a:t>
            </a:r>
            <a:r>
              <a:rPr lang="en-US" sz="1600" dirty="0" err="1" smtClean="0"/>
              <a:t>Velenis</a:t>
            </a:r>
            <a:r>
              <a:rPr lang="en-US" sz="1600" dirty="0" smtClean="0"/>
              <a:t> et al., Extension of the </a:t>
            </a:r>
            <a:r>
              <a:rPr lang="en-US" sz="1600" dirty="0" err="1" smtClean="0"/>
              <a:t>LuGre</a:t>
            </a:r>
            <a:r>
              <a:rPr lang="en-US" sz="1600" dirty="0" smtClean="0"/>
              <a:t> model to 2D motion, 2002.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1306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28600"/>
            <a:ext cx="7620000" cy="1143000"/>
          </a:xfrm>
        </p:spPr>
        <p:txBody>
          <a:bodyPr>
            <a:noAutofit/>
          </a:bodyPr>
          <a:lstStyle/>
          <a:p>
            <a:pPr algn="l"/>
            <a:r>
              <a:rPr lang="en-US" sz="3600" dirty="0" smtClean="0"/>
              <a:t>For combined model, all parameters are represented in vector (2D) form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3906228"/>
                  </p:ext>
                </p:extLst>
              </p:nvPr>
            </p:nvGraphicFramePr>
            <p:xfrm>
              <a:off x="685800" y="1609278"/>
              <a:ext cx="6664036" cy="45629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73288"/>
                    <a:gridCol w="4490748"/>
                  </a:tblGrid>
                  <a:tr h="769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Static friction coefficient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𝑠𝑥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dirty="0"/>
                                            <m:t> 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𝑠𝑦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dirty="0"/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</a:tr>
                  <a:tr h="76909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Asymptotic (kinetic) friction coefficient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𝑀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𝑘𝑥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dirty="0"/>
                                            <m:t> </m:t>
                                          </m:r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𝜇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𝑘𝑦</m:t>
                                              </m:r>
                                            </m:sub>
                                          </m:sSub>
                                          <m:r>
                                            <m:rPr>
                                              <m:nor/>
                                            </m:rPr>
                                            <a:rPr lang="en-US" sz="1600" dirty="0"/>
                                            <m:t> </m:t>
                                          </m:r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</a:tr>
                  <a:tr h="521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Bristle deflection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/>
                    </a:tc>
                  </a:tr>
                  <a:tr h="72475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Relative velocity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</m:acc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𝑟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1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𝑟𝑥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𝑟𝑦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</a:tr>
                  <a:tr h="769315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 smtClean="0"/>
                            <a:t>Bristle stiffness</a:t>
                          </a:r>
                        </a:p>
                        <a:p>
                          <a:pPr algn="ctr"/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𝐾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𝑛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</a:tr>
                  <a:tr h="76931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Friction coefficient vector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smtClean="0">
                                    <a:latin typeface="Cambria Math"/>
                                    <a:ea typeface="Cambria Math"/>
                                  </a:rPr>
                                  <m:t>𝜇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=−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0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1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acc>
                                  <m:accPr>
                                    <m:chr m:val="̇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𝑧</m:t>
                                    </m:r>
                                  </m:e>
                                </m:acc>
                                <m:r>
                                  <a:rPr lang="en-US" sz="1600" b="0" i="1" smtClean="0">
                                    <a:latin typeface="Cambria Math"/>
                                  </a:rPr>
                                  <m:t>−</m:t>
                                </m:r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lang="en-US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𝑥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lang="en-US" sz="1600" b="0" i="1" smtClean="0">
                                              <a:latin typeface="Cambria Math"/>
                                            </a:rPr>
                                            <m:t>0</m:t>
                                          </m:r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16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  <a:ea typeface="Cambria Math"/>
                                                </a:rPr>
                                                <m:t>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2</m:t>
                                              </m:r>
                                              <m:r>
                                                <a:rPr lang="en-US" sz="1600" b="0" i="1" smtClean="0">
                                                  <a:latin typeface="Cambria Math"/>
                                                </a:rPr>
                                                <m:t>𝑦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  <m:acc>
                                  <m:accPr>
                                    <m:chr m:val="̇"/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b="0" i="1" smtClean="0">
                                        <a:latin typeface="Cambria Math"/>
                                      </a:rPr>
                                      <m:t>𝑢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n-US" sz="1600" dirty="0"/>
                        </a:p>
                        <a:p>
                          <a:pPr algn="ctr"/>
                          <a:endParaRPr lang="en-US" sz="16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63906228"/>
                  </p:ext>
                </p:extLst>
              </p:nvPr>
            </p:nvGraphicFramePr>
            <p:xfrm>
              <a:off x="685800" y="1609278"/>
              <a:ext cx="6664036" cy="4562922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173288"/>
                    <a:gridCol w="4490748"/>
                  </a:tblGrid>
                  <a:tr h="816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Static friction coefficient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2239" b="-458955"/>
                          </a:stretch>
                        </a:blipFill>
                      </a:tcPr>
                    </a:tc>
                  </a:tr>
                  <a:tr h="81667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Asymptotic (kinetic) friction coefficient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102239" b="-358955"/>
                          </a:stretch>
                        </a:blipFill>
                      </a:tcPr>
                    </a:tc>
                  </a:tr>
                  <a:tr h="52546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Bristle deflection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315116" b="-459302"/>
                          </a:stretch>
                        </a:blipFill>
                      </a:tcPr>
                    </a:tc>
                  </a:tr>
                  <a:tr h="7702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Relative velocity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281102" b="-211024"/>
                          </a:stretch>
                        </a:blipFill>
                      </a:tcPr>
                    </a:tc>
                  </a:tr>
                  <a:tr h="816928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600" b="1" dirty="0" smtClean="0"/>
                            <a:t>Bristle stiffness</a:t>
                          </a:r>
                        </a:p>
                        <a:p>
                          <a:pPr algn="ctr"/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361194" b="-100000"/>
                          </a:stretch>
                        </a:blipFill>
                      </a:tcPr>
                    </a:tc>
                  </a:tr>
                  <a:tr h="816928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b="1" dirty="0" smtClean="0"/>
                            <a:t>Friction coefficient vector</a:t>
                          </a:r>
                          <a:endParaRPr lang="en-US" sz="1600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48440" t="-461194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07851" y="76200"/>
            <a:ext cx="1259949" cy="19094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1219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 smtClean="0"/>
              <a:t>A trapezoidal normal force distribution is considered for the tire contact patch.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5212772" y="2227098"/>
            <a:ext cx="3855028" cy="2617368"/>
            <a:chOff x="5212772" y="3535782"/>
            <a:chExt cx="3855028" cy="2617368"/>
          </a:xfrm>
        </p:grpSpPr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4728" y="4572000"/>
              <a:ext cx="3619500" cy="619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1428" y="5486400"/>
              <a:ext cx="3086100" cy="666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3077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2772" y="3535782"/>
              <a:ext cx="3855028" cy="8076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/>
          <p:cNvGrpSpPr/>
          <p:nvPr/>
        </p:nvGrpSpPr>
        <p:grpSpPr>
          <a:xfrm>
            <a:off x="152400" y="1676400"/>
            <a:ext cx="5112328" cy="4496782"/>
            <a:chOff x="152400" y="1968550"/>
            <a:chExt cx="5112328" cy="4496782"/>
          </a:xfrm>
        </p:grpSpPr>
        <p:grpSp>
          <p:nvGrpSpPr>
            <p:cNvPr id="5" name="Group 4"/>
            <p:cNvGrpSpPr/>
            <p:nvPr/>
          </p:nvGrpSpPr>
          <p:grpSpPr>
            <a:xfrm>
              <a:off x="533400" y="1968550"/>
              <a:ext cx="4731328" cy="3775663"/>
              <a:chOff x="533400" y="1968550"/>
              <a:chExt cx="4731328" cy="3775663"/>
            </a:xfrm>
          </p:grpSpPr>
          <p:pic>
            <p:nvPicPr>
              <p:cNvPr id="3074" name="Picture 2"/>
              <p:cNvPicPr>
                <a:picLocks noChangeAspect="1" noChangeArrowheads="1"/>
              </p:cNvPicPr>
              <p:nvPr/>
            </p:nvPicPr>
            <p:blipFill rotWithShape="1"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 bwMode="auto">
              <a:xfrm>
                <a:off x="533400" y="1968550"/>
                <a:ext cx="4731328" cy="37756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3" name="TextBox 2"/>
              <p:cNvSpPr txBox="1"/>
              <p:nvPr/>
            </p:nvSpPr>
            <p:spPr>
              <a:xfrm>
                <a:off x="4343400" y="5334000"/>
                <a:ext cx="2712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 smtClean="0"/>
                  <a:t>L</a:t>
                </a:r>
                <a:endParaRPr lang="en-US" sz="1600" dirty="0"/>
              </a:p>
            </p:txBody>
          </p:sp>
        </p:grpSp>
        <p:sp>
          <p:nvSpPr>
            <p:cNvPr id="6" name="Right Brace 5"/>
            <p:cNvSpPr/>
            <p:nvPr/>
          </p:nvSpPr>
          <p:spPr>
            <a:xfrm rot="5400000">
              <a:off x="2558746" y="4213625"/>
              <a:ext cx="389680" cy="3450858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76400" y="6096000"/>
              <a:ext cx="21334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Contact patch length</a:t>
              </a:r>
              <a:endParaRPr 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52400" y="5487888"/>
              <a:ext cx="685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Front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419600" y="5498068"/>
              <a:ext cx="6118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Rear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4244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Parameters are obtained by comparing with experimental data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362200" y="1524000"/>
            <a:ext cx="4724400" cy="1716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52400" y="3429000"/>
            <a:ext cx="4162425" cy="3152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86300" y="3476625"/>
            <a:ext cx="4152900" cy="307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23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Steady-state forces are obtained for distributed </a:t>
            </a:r>
            <a:r>
              <a:rPr lang="en-US" dirty="0" err="1" smtClean="0"/>
              <a:t>LuGre</a:t>
            </a:r>
            <a:r>
              <a:rPr lang="en-US" dirty="0" smtClean="0"/>
              <a:t> model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38200" y="2057400"/>
            <a:ext cx="7587243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03535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Introduction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1D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</a:p>
          <a:p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2D/Combined </a:t>
            </a:r>
            <a:r>
              <a:rPr lang="en-US" dirty="0" err="1" smtClean="0">
                <a:solidFill>
                  <a:schemeClr val="bg1">
                    <a:lumMod val="65000"/>
                  </a:schemeClr>
                </a:solidFill>
              </a:rPr>
              <a:t>LuGre</a:t>
            </a:r>
            <a:r>
              <a:rPr lang="en-US" dirty="0" smtClean="0">
                <a:solidFill>
                  <a:schemeClr val="bg1">
                    <a:lumMod val="65000"/>
                  </a:schemeClr>
                </a:solidFill>
              </a:rPr>
              <a:t> model</a:t>
            </a:r>
          </a:p>
          <a:p>
            <a:r>
              <a:rPr lang="en-US" dirty="0" smtClean="0"/>
              <a:t>Results from combined </a:t>
            </a:r>
            <a:r>
              <a:rPr lang="en-US" dirty="0" err="1" smtClean="0"/>
              <a:t>LuGre</a:t>
            </a:r>
            <a:r>
              <a:rPr lang="en-US" dirty="0" smtClean="0"/>
              <a:t>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61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Combined </a:t>
            </a:r>
            <a:r>
              <a:rPr lang="en-US" dirty="0" err="1" smtClean="0"/>
              <a:t>LuGre</a:t>
            </a:r>
            <a:r>
              <a:rPr lang="en-US" dirty="0" smtClean="0"/>
              <a:t> model can be used to produce friction ellipse plot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37924" y="1410473"/>
            <a:ext cx="4827661" cy="5447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9532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Autofit/>
          </a:bodyPr>
          <a:lstStyle/>
          <a:p>
            <a:pPr algn="l"/>
            <a:r>
              <a:rPr lang="en-US" sz="3200" dirty="0" smtClean="0"/>
              <a:t>Shape of longitudinal friction force curve changes depending on the lateral force and vice-versa</a:t>
            </a:r>
            <a:endParaRPr lang="en-US" sz="3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828800"/>
            <a:ext cx="4800600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95800" y="1885950"/>
            <a:ext cx="4724400" cy="3543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37961" y="5530334"/>
                <a:ext cx="92467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7961" y="5530334"/>
                <a:ext cx="924677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6248400" y="5541138"/>
                <a:ext cx="10529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/>
                          <a:ea typeface="Cambria Math"/>
                        </a:rPr>
                        <m:t>𝛼</m:t>
                      </m:r>
                      <m:r>
                        <a:rPr lang="en-US" b="0" i="1" smtClean="0">
                          <a:latin typeface="Cambria Math"/>
                          <a:ea typeface="Cambria Math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  <a:ea typeface="Cambria Math"/>
                            </a:rPr>
                            <m:t>𝑜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8400" y="5541138"/>
                <a:ext cx="1052917" cy="369332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039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Lateral and longitudinal force curves have similar shapes over full range of slip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76200" y="2057400"/>
            <a:ext cx="6135757" cy="460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86911" y="1358933"/>
            <a:ext cx="4080889" cy="306066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762000" y="2362200"/>
            <a:ext cx="990600" cy="36576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1752600" y="1358933"/>
            <a:ext cx="3234311" cy="10032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1752600" y="4419600"/>
            <a:ext cx="3234311" cy="1590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645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Insights: cornering stiffness does not change with the friction coefficient (e.g. on a wet road)</a:t>
            </a:r>
            <a:endParaRPr lang="en-US" sz="36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43000" y="1447799"/>
            <a:ext cx="70104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 flipH="1">
            <a:off x="4800600" y="3260899"/>
            <a:ext cx="251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0.75*Nominal friction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 flipH="1">
            <a:off x="5257800" y="2362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Nominal friction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 flipH="1">
            <a:off x="4827104" y="4267200"/>
            <a:ext cx="2133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0.5*Nominal friction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60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38800" y="1295400"/>
            <a:ext cx="3296528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Why do we need a physics-based model with Stribeck effect?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029200" cy="4876799"/>
          </a:xfrm>
        </p:spPr>
        <p:txBody>
          <a:bodyPr>
            <a:normAutofit lnSpcReduction="10000"/>
          </a:bodyPr>
          <a:lstStyle/>
          <a:p>
            <a:r>
              <a:rPr lang="en-US" sz="2800" dirty="0" smtClean="0">
                <a:solidFill>
                  <a:srgbClr val="00B050"/>
                </a:solidFill>
              </a:rPr>
              <a:t>Vehicle </a:t>
            </a:r>
            <a:r>
              <a:rPr lang="en-US" sz="2800" dirty="0" err="1" smtClean="0">
                <a:solidFill>
                  <a:srgbClr val="00B050"/>
                </a:solidFill>
              </a:rPr>
              <a:t>dynamicists</a:t>
            </a:r>
            <a:r>
              <a:rPr lang="en-US" sz="2800" dirty="0" smtClean="0">
                <a:solidFill>
                  <a:srgbClr val="00B050"/>
                </a:solidFill>
              </a:rPr>
              <a:t> </a:t>
            </a:r>
            <a:r>
              <a:rPr lang="en-US" sz="2800" dirty="0" smtClean="0"/>
              <a:t>typically use dry road friction for simulations and hence assume that coefficient of friction is constant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Highway </a:t>
            </a:r>
            <a:r>
              <a:rPr lang="en-US" sz="2800" dirty="0">
                <a:solidFill>
                  <a:srgbClr val="FF0000"/>
                </a:solidFill>
              </a:rPr>
              <a:t>design </a:t>
            </a:r>
            <a:r>
              <a:rPr lang="en-US" sz="2800" dirty="0"/>
              <a:t>involves wet road </a:t>
            </a:r>
            <a:r>
              <a:rPr lang="en-US" sz="2800" dirty="0" smtClean="0"/>
              <a:t>friction. Civil engineers report friction on wet road which decreases with velocity</a:t>
            </a:r>
          </a:p>
          <a:p>
            <a:r>
              <a:rPr lang="en-US" sz="2800" dirty="0" smtClean="0"/>
              <a:t>Stribeck effect captures both situations, as well as velocity dependence!</a:t>
            </a:r>
            <a:endParaRPr lang="en-US" sz="2800" dirty="0"/>
          </a:p>
        </p:txBody>
      </p:sp>
      <p:sp>
        <p:nvSpPr>
          <p:cNvPr id="4" name="TextBox 3"/>
          <p:cNvSpPr txBox="1"/>
          <p:nvPr/>
        </p:nvSpPr>
        <p:spPr>
          <a:xfrm>
            <a:off x="5791200" y="4114800"/>
            <a:ext cx="314412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Figure: Coefficient of road adhesion with longitudinal slip</a:t>
            </a:r>
          </a:p>
          <a:p>
            <a:endParaRPr lang="en-US" dirty="0"/>
          </a:p>
          <a:p>
            <a:pPr lvl="0"/>
            <a:r>
              <a:rPr lang="en-US" sz="1200" i="1" dirty="0" smtClean="0">
                <a:solidFill>
                  <a:srgbClr val="FF3300"/>
                </a:solidFill>
              </a:rPr>
              <a:t>(Reference</a:t>
            </a:r>
            <a:r>
              <a:rPr lang="en-US" sz="1200" dirty="0">
                <a:solidFill>
                  <a:srgbClr val="FF3300"/>
                </a:solidFill>
              </a:rPr>
              <a:t>: De Wit et al, </a:t>
            </a:r>
            <a:r>
              <a:rPr lang="en-US" sz="1200" i="1" dirty="0">
                <a:solidFill>
                  <a:srgbClr val="FF3300"/>
                </a:solidFill>
              </a:rPr>
              <a:t>Dynamic Friction Models for Road/Tire Longitudinal Interaction, </a:t>
            </a:r>
            <a:r>
              <a:rPr lang="en-US" sz="1200" dirty="0">
                <a:solidFill>
                  <a:srgbClr val="FF3300"/>
                </a:solidFill>
              </a:rPr>
              <a:t>IEEE transactions on Automatic Control, </a:t>
            </a:r>
            <a:r>
              <a:rPr lang="en-US" sz="1200" dirty="0" smtClean="0">
                <a:solidFill>
                  <a:srgbClr val="FF3300"/>
                </a:solidFill>
              </a:rPr>
              <a:t>1999</a:t>
            </a:r>
            <a:r>
              <a:rPr lang="en-US" sz="1200" dirty="0" smtClean="0">
                <a:solidFill>
                  <a:prstClr val="black"/>
                </a:solidFill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501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3600" dirty="0" smtClean="0"/>
              <a:t>Sliding friction goes down with velocity on wet road, </a:t>
            </a:r>
            <a:r>
              <a:rPr lang="en-US" sz="3600" dirty="0" smtClean="0"/>
              <a:t>an </a:t>
            </a:r>
            <a:r>
              <a:rPr lang="en-US" sz="3600" dirty="0" smtClean="0"/>
              <a:t>effect that is captured by </a:t>
            </a:r>
            <a:r>
              <a:rPr lang="en-US" sz="3600" dirty="0" err="1" smtClean="0"/>
              <a:t>LuGre</a:t>
            </a:r>
            <a:r>
              <a:rPr lang="en-US" sz="3600" dirty="0" smtClean="0"/>
              <a:t> tire models</a:t>
            </a:r>
            <a:r>
              <a:rPr lang="en-US" sz="3600" dirty="0" smtClean="0"/>
              <a:t>! (but not by Magic Tire)</a:t>
            </a:r>
            <a:endParaRPr lang="en-US" sz="36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05000" y="1656522"/>
            <a:ext cx="6019800" cy="451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1790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>Longitudinal (or lateral) tire stiffness changes with normal load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1636643" y="1676400"/>
            <a:ext cx="6059557" cy="4688943"/>
            <a:chOff x="1828800" y="1600200"/>
            <a:chExt cx="5334000" cy="4000500"/>
          </a:xfrm>
        </p:grpSpPr>
        <p:pic>
          <p:nvPicPr>
            <p:cNvPr id="5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28800" y="1600200"/>
              <a:ext cx="5334000" cy="40005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6" name="TextBox 5"/>
            <p:cNvSpPr txBox="1"/>
            <p:nvPr/>
          </p:nvSpPr>
          <p:spPr>
            <a:xfrm>
              <a:off x="3962400" y="1981200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chemeClr val="accent1"/>
                  </a:solidFill>
                </a:rPr>
                <a:t>Fn</a:t>
              </a:r>
              <a:r>
                <a:rPr lang="en-US" dirty="0" smtClean="0">
                  <a:solidFill>
                    <a:schemeClr val="accent1"/>
                  </a:solidFill>
                </a:rPr>
                <a:t>= 3000 N</a:t>
              </a:r>
              <a:endParaRPr lang="en-US" dirty="0">
                <a:solidFill>
                  <a:schemeClr val="accent1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343400" y="2438400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>
                  <a:solidFill>
                    <a:srgbClr val="FF0000"/>
                  </a:solidFill>
                </a:rPr>
                <a:t>Fn</a:t>
              </a:r>
              <a:r>
                <a:rPr lang="en-US" dirty="0" smtClean="0">
                  <a:solidFill>
                    <a:srgbClr val="FF0000"/>
                  </a:solidFill>
                </a:rPr>
                <a:t>= 2000 N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038600" y="3048000"/>
              <a:ext cx="12506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Fn</a:t>
              </a:r>
              <a:r>
                <a:rPr lang="en-US" dirty="0" smtClean="0"/>
                <a:t>= 1000 N</a:t>
              </a:r>
              <a:endParaRPr lang="en-US" dirty="0"/>
            </a:p>
          </p:txBody>
        </p:sp>
        <p:cxnSp>
          <p:nvCxnSpPr>
            <p:cNvPr id="9" name="Straight Connector 8"/>
            <p:cNvCxnSpPr>
              <a:stCxn id="6" idx="1"/>
            </p:cNvCxnSpPr>
            <p:nvPr/>
          </p:nvCxnSpPr>
          <p:spPr>
            <a:xfrm flipH="1">
              <a:off x="3048000" y="2165866"/>
              <a:ext cx="914400" cy="4393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 flipV="1">
              <a:off x="2895600" y="2350532"/>
              <a:ext cx="1447800" cy="27253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>
              <a:stCxn id="8" idx="1"/>
            </p:cNvCxnSpPr>
            <p:nvPr/>
          </p:nvCxnSpPr>
          <p:spPr>
            <a:xfrm flipH="1" flipV="1">
              <a:off x="3124200" y="2623066"/>
              <a:ext cx="914400" cy="60960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15041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shows EXCELLENT agreement between models</a:t>
            </a:r>
          </a:p>
        </p:txBody>
      </p:sp>
      <p:pic>
        <p:nvPicPr>
          <p:cNvPr id="44035" name="Picture 4" descr="brushmagic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4400" y="1600200"/>
            <a:ext cx="4135438" cy="4751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6" name="Text Box 5"/>
          <p:cNvSpPr txBox="1">
            <a:spLocks noChangeArrowheads="1"/>
          </p:cNvSpPr>
          <p:nvPr/>
        </p:nvSpPr>
        <p:spPr bwMode="auto">
          <a:xfrm>
            <a:off x="5165725" y="1946275"/>
            <a:ext cx="28857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dirty="0"/>
              <a:t>Brush </a:t>
            </a:r>
            <a:r>
              <a:rPr lang="en-US" dirty="0" smtClean="0"/>
              <a:t>Model (</a:t>
            </a:r>
            <a:r>
              <a:rPr lang="en-US" dirty="0" err="1" smtClean="0"/>
              <a:t>LuGre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4037" name="Text Box 6"/>
          <p:cNvSpPr txBox="1">
            <a:spLocks noChangeArrowheads="1"/>
          </p:cNvSpPr>
          <p:nvPr/>
        </p:nvSpPr>
        <p:spPr bwMode="auto">
          <a:xfrm>
            <a:off x="5105400" y="4724400"/>
            <a:ext cx="2941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/>
              <a:t>Magic Formula Model</a:t>
            </a:r>
          </a:p>
        </p:txBody>
      </p:sp>
      <p:sp>
        <p:nvSpPr>
          <p:cNvPr id="44038" name="Text Box 8"/>
          <p:cNvSpPr txBox="1">
            <a:spLocks noChangeArrowheads="1"/>
          </p:cNvSpPr>
          <p:nvPr/>
        </p:nvSpPr>
        <p:spPr bwMode="auto">
          <a:xfrm>
            <a:off x="5638800" y="3581400"/>
            <a:ext cx="314642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US" sz="1200"/>
              <a:t>ref. P. Zegelaar, “The dynamic response of tyres</a:t>
            </a:r>
          </a:p>
          <a:p>
            <a:pPr eaLnBrk="1" hangingPunct="1"/>
            <a:r>
              <a:rPr lang="en-US" sz="1200"/>
              <a:t>to brake torque variations and road uneveness,”</a:t>
            </a:r>
          </a:p>
          <a:p>
            <a:pPr eaLnBrk="1" hangingPunct="1"/>
            <a:r>
              <a:rPr lang="en-US" sz="1200"/>
              <a:t>Ph.D. TUDelft, 1998.</a:t>
            </a:r>
          </a:p>
        </p:txBody>
      </p:sp>
    </p:spTree>
    <p:extLst>
      <p:ext uri="{BB962C8B-B14F-4D97-AF65-F5344CB8AC3E}">
        <p14:creationId xmlns:p14="http://schemas.microsoft.com/office/powerpoint/2010/main" val="13732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For most of my advanced research work on vehicle dynamics, I prefer </a:t>
            </a:r>
            <a:r>
              <a:rPr lang="en-US" sz="3600" dirty="0" err="1" smtClean="0"/>
              <a:t>LuGre</a:t>
            </a:r>
            <a:r>
              <a:rPr lang="en-US" sz="3600" dirty="0" smtClean="0"/>
              <a:t>…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24000"/>
            <a:ext cx="9144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2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21" ma:contentTypeDescription="Create a new document." ma:contentTypeScope="" ma:versionID="3affe9f3ad662f7041dbcf2c454b5892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91f30fe7832be7f590b5986e49d89340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_Flow_SignoffStatus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LengthInSeconds" minOccurs="0"/>
                <xsd:element ref="ns2:Size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Not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Flow_SignoffStatus" ma:index="12" nillable="true" ma:displayName="Sign-off status" ma:internalName="Sign_x002d_off_x0020_status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Size" ma:index="22" nillable="true" ma:displayName="Size " ma:format="Dropdown" ma:internalName="Size" ma:percentage="FALSE">
      <xsd:simpleType>
        <xsd:restriction base="dms:Number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Notes" ma:index="28" nillable="true" ma:displayName="Notes" ma:format="Dropdown" ma:internalName="Notes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79eca24d-24b6-4c23-abe4-d1cce8e5186c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c7c738f6-68ec-422e-b0e4-3523873f7adf" xsi:nil="true"/>
    <Size xmlns="c7c738f6-68ec-422e-b0e4-3523873f7adf" xsi:nil="true"/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  <Notes xmlns="c7c738f6-68ec-422e-b0e4-3523873f7adf" xsi:nil="true"/>
  </documentManagement>
</p:properties>
</file>

<file path=customXml/itemProps1.xml><?xml version="1.0" encoding="utf-8"?>
<ds:datastoreItem xmlns:ds="http://schemas.openxmlformats.org/officeDocument/2006/customXml" ds:itemID="{8B35703B-321F-405B-949A-CE305E5B0841}"/>
</file>

<file path=customXml/itemProps2.xml><?xml version="1.0" encoding="utf-8"?>
<ds:datastoreItem xmlns:ds="http://schemas.openxmlformats.org/officeDocument/2006/customXml" ds:itemID="{3BC04DD8-94AF-4E11-8174-A578B6DA92B8}"/>
</file>

<file path=customXml/itemProps3.xml><?xml version="1.0" encoding="utf-8"?>
<ds:datastoreItem xmlns:ds="http://schemas.openxmlformats.org/officeDocument/2006/customXml" ds:itemID="{678E70A7-4E1F-4AAE-9F9F-73461D94996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1778</TotalTime>
  <Words>2049</Words>
  <Application>Microsoft Office PowerPoint</Application>
  <PresentationFormat>On-screen Show (4:3)</PresentationFormat>
  <Paragraphs>378</Paragraphs>
  <Slides>43</Slides>
  <Notes>36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Cambria Math</vt:lpstr>
      <vt:lpstr>Courier New</vt:lpstr>
      <vt:lpstr>Symbol</vt:lpstr>
      <vt:lpstr>Times New Roman</vt:lpstr>
      <vt:lpstr>Office Theme</vt:lpstr>
      <vt:lpstr>Equation</vt:lpstr>
      <vt:lpstr>Automotive Vehicle Dynamics</vt:lpstr>
      <vt:lpstr>A tire model is essential for vehicle dynamics simulation and control design.</vt:lpstr>
      <vt:lpstr>Tire models have different level of accuracy and complexity. They can be classified as:</vt:lpstr>
      <vt:lpstr>Ultimately, the goal of PHYSICAL modeling of tires is to capture friction effects</vt:lpstr>
      <vt:lpstr>There are many types of friction!</vt:lpstr>
      <vt:lpstr>The Stribeck effect (1902) explains that friction decreases with increasing velocity for small velocities</vt:lpstr>
      <vt:lpstr>Tire forces start with elasticity, which is governed by Hooke’s law. Tires are in general VERY elastic.</vt:lpstr>
      <vt:lpstr>But if the spring is connected to something that allows relative velocity (sliding), we have elongation regimes (slip) and sliding regimes, e.g. a combination of elasticity and frictional slipping</vt:lpstr>
      <vt:lpstr>The LuGre (Lund-Grenoble) tire model is a simple but widely used physics-based tire model.</vt:lpstr>
      <vt:lpstr>Procedure to calculate effective friction  (1D case)</vt:lpstr>
      <vt:lpstr>To understand this model, we examine it term-by-term, starting with the Stribeck formula</vt:lpstr>
      <vt:lpstr>The Stribeck velocity is a characteristic of a material-material interaction that predicts transition from stiction to coulomb behavior</vt:lpstr>
      <vt:lpstr>The next step is to calculate bristle deflection due to relative velocity…</vt:lpstr>
      <vt:lpstr>The Bristle deflection give the tire force</vt:lpstr>
      <vt:lpstr>The dynamics of bristle deflection are usually small</vt:lpstr>
      <vt:lpstr>Measurement of LuGre parameters is relatively easy (don’t need a tire!)</vt:lpstr>
      <vt:lpstr>Coefficient of road adhesion/friction on a wet road depends on vehicle velocity and water film depth (WFT).</vt:lpstr>
      <vt:lpstr>Correcting for water depth is as simple as changing g(vr)</vt:lpstr>
      <vt:lpstr>Lower values of θ represent low friction surfaces (e.g. wet roads)</vt:lpstr>
      <vt:lpstr>Outline</vt:lpstr>
      <vt:lpstr>Distributed LuGre model assumes existence of a contact patch, unlike lumped model</vt:lpstr>
      <vt:lpstr>Slip in driving versus braking</vt:lpstr>
      <vt:lpstr>Net force can be obtained by integrating force at each bristle along tire contact patch.</vt:lpstr>
      <vt:lpstr>LuGre parameters from tire materials match tire data EXTREMELY well. </vt:lpstr>
      <vt:lpstr>MATLAB Code</vt:lpstr>
      <vt:lpstr>Velocity dependence matches what we see in field measurements</vt:lpstr>
      <vt:lpstr>Outline</vt:lpstr>
      <vt:lpstr>I’m not going to lie… the combined 2-D LuGre model is HARD. You are not expected to follow every detail that follows, but if you use this model, you will find these slides helpful.</vt:lpstr>
      <vt:lpstr>Combined LuGre considers coupling of X,Y forces as well as anisotropic effect</vt:lpstr>
      <vt:lpstr>For combined model, all parameters are represented in vector (2D) form</vt:lpstr>
      <vt:lpstr>A trapezoidal normal force distribution is considered for the tire contact patch.</vt:lpstr>
      <vt:lpstr>Parameters are obtained by comparing with experimental data</vt:lpstr>
      <vt:lpstr>Steady-state forces are obtained for distributed LuGre model</vt:lpstr>
      <vt:lpstr>Outline</vt:lpstr>
      <vt:lpstr>Combined LuGre model can be used to produce friction ellipse plot</vt:lpstr>
      <vt:lpstr>Shape of longitudinal friction force curve changes depending on the lateral force and vice-versa</vt:lpstr>
      <vt:lpstr>Lateral and longitudinal force curves have similar shapes over full range of slip</vt:lpstr>
      <vt:lpstr>Insights: cornering stiffness does not change with the friction coefficient (e.g. on a wet road)</vt:lpstr>
      <vt:lpstr>Why do we need a physics-based model with Stribeck effect?</vt:lpstr>
      <vt:lpstr>Sliding friction goes down with velocity on wet road, an effect that is captured by LuGre tire models! (but not by Magic Tire)</vt:lpstr>
      <vt:lpstr>Longitudinal (or lateral) tire stiffness changes with normal load</vt:lpstr>
      <vt:lpstr>Comparison shows EXCELLENT agreement between models</vt:lpstr>
      <vt:lpstr>For most of my advanced research work on vehicle dynamics, I prefer LuGre…</vt:lpstr>
    </vt:vector>
  </TitlesOfParts>
  <Company>University of Illinois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452</dc:title>
  <dc:creator>Sean Brennan</dc:creator>
  <cp:lastModifiedBy>Sean Brennan</cp:lastModifiedBy>
  <cp:revision>72</cp:revision>
  <dcterms:created xsi:type="dcterms:W3CDTF">2000-02-10T16:24:52Z</dcterms:created>
  <dcterms:modified xsi:type="dcterms:W3CDTF">2016-03-20T21:02:30Z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0x0101009204A49901785041AF741C157FF60EBA</vt:lpwstr>
  </property>
</Properties>
</file>