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mp4" ContentType="video/mp4"/>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85" r:id="rId4"/>
  </p:sldMasterIdLst>
  <p:notesMasterIdLst>
    <p:notesMasterId r:id="rId57"/>
  </p:notesMasterIdLst>
  <p:handoutMasterIdLst>
    <p:handoutMasterId r:id="rId58"/>
  </p:handoutMasterIdLst>
  <p:sldIdLst>
    <p:sldId id="256" r:id="rId5"/>
    <p:sldId id="268" r:id="rId6"/>
    <p:sldId id="313" r:id="rId7"/>
    <p:sldId id="314" r:id="rId8"/>
    <p:sldId id="315" r:id="rId9"/>
    <p:sldId id="322" r:id="rId10"/>
    <p:sldId id="324" r:id="rId11"/>
    <p:sldId id="325" r:id="rId12"/>
    <p:sldId id="326" r:id="rId13"/>
    <p:sldId id="318" r:id="rId14"/>
    <p:sldId id="270" r:id="rId15"/>
    <p:sldId id="271" r:id="rId16"/>
    <p:sldId id="272" r:id="rId17"/>
    <p:sldId id="273" r:id="rId18"/>
    <p:sldId id="319" r:id="rId19"/>
    <p:sldId id="276" r:id="rId20"/>
    <p:sldId id="316" r:id="rId21"/>
    <p:sldId id="275" r:id="rId22"/>
    <p:sldId id="311" r:id="rId23"/>
    <p:sldId id="312" r:id="rId24"/>
    <p:sldId id="277" r:id="rId25"/>
    <p:sldId id="327" r:id="rId26"/>
    <p:sldId id="279" r:id="rId27"/>
    <p:sldId id="280" r:id="rId28"/>
    <p:sldId id="306" r:id="rId29"/>
    <p:sldId id="283" r:id="rId30"/>
    <p:sldId id="317" r:id="rId31"/>
    <p:sldId id="284" r:id="rId32"/>
    <p:sldId id="285" r:id="rId33"/>
    <p:sldId id="286" r:id="rId34"/>
    <p:sldId id="320" r:id="rId35"/>
    <p:sldId id="287" r:id="rId36"/>
    <p:sldId id="288" r:id="rId37"/>
    <p:sldId id="290" r:id="rId38"/>
    <p:sldId id="289" r:id="rId39"/>
    <p:sldId id="310" r:id="rId40"/>
    <p:sldId id="291" r:id="rId41"/>
    <p:sldId id="309" r:id="rId42"/>
    <p:sldId id="292" r:id="rId43"/>
    <p:sldId id="293" r:id="rId44"/>
    <p:sldId id="294" r:id="rId45"/>
    <p:sldId id="308" r:id="rId46"/>
    <p:sldId id="296" r:id="rId47"/>
    <p:sldId id="297" r:id="rId48"/>
    <p:sldId id="298" r:id="rId49"/>
    <p:sldId id="321" r:id="rId50"/>
    <p:sldId id="299" r:id="rId51"/>
    <p:sldId id="300" r:id="rId52"/>
    <p:sldId id="301" r:id="rId53"/>
    <p:sldId id="302" r:id="rId54"/>
    <p:sldId id="307" r:id="rId55"/>
    <p:sldId id="304" r:id="rId56"/>
  </p:sldIdLst>
  <p:sldSz cx="9144000" cy="6858000" type="screen4x3"/>
  <p:notesSz cx="7315200" cy="96012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00"/>
    <a:srgbClr val="D9D8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63B106-1590-104B-A47E-769C4A0188B0}" vWet="4" dt="2023-06-28T19:35:28.438"/>
    <p1510:client id="{F1670146-FF13-4A6A-B594-FA9B6685584C}" v="1" dt="2023-06-28T19:36:11.8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4632" y="13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tchu, Aneesh" userId="S::abb6486@psu.edu::9f03613f-2ea8-4e8b-b354-0627afcc7962" providerId="AD" clId="Web-{F1670146-FF13-4A6A-B594-FA9B6685584C}"/>
    <pc:docChg chg="modSld">
      <pc:chgData name="Batchu, Aneesh" userId="S::abb6486@psu.edu::9f03613f-2ea8-4e8b-b354-0627afcc7962" providerId="AD" clId="Web-{F1670146-FF13-4A6A-B594-FA9B6685584C}" dt="2023-06-28T19:36:11.845" v="0" actId="1076"/>
      <pc:docMkLst>
        <pc:docMk/>
      </pc:docMkLst>
      <pc:sldChg chg="modSp">
        <pc:chgData name="Batchu, Aneesh" userId="S::abb6486@psu.edu::9f03613f-2ea8-4e8b-b354-0627afcc7962" providerId="AD" clId="Web-{F1670146-FF13-4A6A-B594-FA9B6685584C}" dt="2023-06-28T19:36:11.845" v="0" actId="1076"/>
        <pc:sldMkLst>
          <pc:docMk/>
          <pc:sldMk cId="4163731323" sldId="323"/>
        </pc:sldMkLst>
        <pc:picChg chg="mod">
          <ac:chgData name="Batchu, Aneesh" userId="S::abb6486@psu.edu::9f03613f-2ea8-4e8b-b354-0627afcc7962" providerId="AD" clId="Web-{F1670146-FF13-4A6A-B594-FA9B6685584C}" dt="2023-06-28T19:36:11.845" v="0" actId="1076"/>
          <ac:picMkLst>
            <pc:docMk/>
            <pc:sldMk cId="4163731323" sldId="323"/>
            <ac:picMk id="3"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4851" tIns="47425" rIns="94851" bIns="47425" rtlCol="0"/>
          <a:lstStyle>
            <a:lvl1pPr algn="l">
              <a:defRPr sz="1200"/>
            </a:lvl1pPr>
          </a:lstStyle>
          <a:p>
            <a:pPr>
              <a:defRPr/>
            </a:pPr>
            <a:endParaRPr lang="en-US"/>
          </a:p>
        </p:txBody>
      </p:sp>
      <p:sp>
        <p:nvSpPr>
          <p:cNvPr id="3" name="Date Placeholder 2"/>
          <p:cNvSpPr>
            <a:spLocks noGrp="1"/>
          </p:cNvSpPr>
          <p:nvPr>
            <p:ph type="dt" sz="quarter" idx="1"/>
          </p:nvPr>
        </p:nvSpPr>
        <p:spPr>
          <a:xfrm>
            <a:off x="4143375" y="0"/>
            <a:ext cx="3170238" cy="481013"/>
          </a:xfrm>
          <a:prstGeom prst="rect">
            <a:avLst/>
          </a:prstGeom>
        </p:spPr>
        <p:txBody>
          <a:bodyPr vert="horz" lIns="94851" tIns="47425" rIns="94851" bIns="47425" rtlCol="0"/>
          <a:lstStyle>
            <a:lvl1pPr algn="r">
              <a:defRPr sz="1200"/>
            </a:lvl1pPr>
          </a:lstStyle>
          <a:p>
            <a:pPr>
              <a:defRPr/>
            </a:pPr>
            <a:fld id="{E38E9A46-53B5-41E5-A196-44CFB746B3A7}" type="datetimeFigureOut">
              <a:rPr lang="en-US"/>
              <a:pPr>
                <a:defRPr/>
              </a:pPr>
              <a:t>2/2/2026</a:t>
            </a:fld>
            <a:endParaRPr lang="en-US"/>
          </a:p>
        </p:txBody>
      </p:sp>
      <p:sp>
        <p:nvSpPr>
          <p:cNvPr id="4" name="Footer Placeholder 3"/>
          <p:cNvSpPr>
            <a:spLocks noGrp="1"/>
          </p:cNvSpPr>
          <p:nvPr>
            <p:ph type="ftr" sz="quarter" idx="2"/>
          </p:nvPr>
        </p:nvSpPr>
        <p:spPr>
          <a:xfrm>
            <a:off x="0" y="9118600"/>
            <a:ext cx="3170238" cy="481013"/>
          </a:xfrm>
          <a:prstGeom prst="rect">
            <a:avLst/>
          </a:prstGeom>
        </p:spPr>
        <p:txBody>
          <a:bodyPr vert="horz" lIns="94851" tIns="47425" rIns="94851" bIns="47425"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4143375" y="9118600"/>
            <a:ext cx="3170238" cy="481013"/>
          </a:xfrm>
          <a:prstGeom prst="rect">
            <a:avLst/>
          </a:prstGeom>
        </p:spPr>
        <p:txBody>
          <a:bodyPr vert="horz" lIns="94851" tIns="47425" rIns="94851" bIns="47425" rtlCol="0" anchor="b"/>
          <a:lstStyle>
            <a:lvl1pPr algn="r">
              <a:defRPr sz="1200"/>
            </a:lvl1pPr>
          </a:lstStyle>
          <a:p>
            <a:pPr>
              <a:defRPr/>
            </a:pPr>
            <a:fld id="{7CE2E2F9-5CD7-4091-9D87-899C3CA2C40B}" type="slidenum">
              <a:rPr lang="en-US"/>
              <a:pPr>
                <a:defRPr/>
              </a:pPr>
              <a:t>‹#›</a:t>
            </a:fld>
            <a:endParaRPr lang="en-US"/>
          </a:p>
        </p:txBody>
      </p:sp>
    </p:spTree>
    <p:extLst>
      <p:ext uri="{BB962C8B-B14F-4D97-AF65-F5344CB8AC3E}">
        <p14:creationId xmlns:p14="http://schemas.microsoft.com/office/powerpoint/2010/main" val="9364875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6653" tIns="48327" rIns="96653" bIns="48327" rtlCol="0"/>
          <a:lstStyle>
            <a:lvl1pPr algn="l">
              <a:defRPr sz="1200"/>
            </a:lvl1pPr>
          </a:lstStyle>
          <a:p>
            <a:pPr>
              <a:defRPr/>
            </a:pPr>
            <a:endParaRPr lang="en-US"/>
          </a:p>
        </p:txBody>
      </p:sp>
      <p:sp>
        <p:nvSpPr>
          <p:cNvPr id="3" name="Date Placeholder 2"/>
          <p:cNvSpPr>
            <a:spLocks noGrp="1"/>
          </p:cNvSpPr>
          <p:nvPr>
            <p:ph type="dt" idx="1"/>
          </p:nvPr>
        </p:nvSpPr>
        <p:spPr>
          <a:xfrm>
            <a:off x="4143375" y="0"/>
            <a:ext cx="3170238" cy="481013"/>
          </a:xfrm>
          <a:prstGeom prst="rect">
            <a:avLst/>
          </a:prstGeom>
        </p:spPr>
        <p:txBody>
          <a:bodyPr vert="horz" lIns="96653" tIns="48327" rIns="96653" bIns="48327" rtlCol="0"/>
          <a:lstStyle>
            <a:lvl1pPr algn="r">
              <a:defRPr sz="1200"/>
            </a:lvl1pPr>
          </a:lstStyle>
          <a:p>
            <a:pPr>
              <a:defRPr/>
            </a:pPr>
            <a:fld id="{90FFBA14-423C-45E1-A70D-61108D532442}" type="datetimeFigureOut">
              <a:rPr lang="en-US"/>
              <a:pPr>
                <a:defRPr/>
              </a:pPr>
              <a:t>2/2/2026</a:t>
            </a:fld>
            <a:endParaRPr lang="en-US"/>
          </a:p>
        </p:txBody>
      </p:sp>
      <p:sp>
        <p:nvSpPr>
          <p:cNvPr id="4" name="Slide Image Placeholder 3"/>
          <p:cNvSpPr>
            <a:spLocks noGrp="1" noRot="1" noChangeAspect="1"/>
          </p:cNvSpPr>
          <p:nvPr>
            <p:ph type="sldImg" idx="2"/>
          </p:nvPr>
        </p:nvSpPr>
        <p:spPr>
          <a:xfrm>
            <a:off x="1257300" y="719138"/>
            <a:ext cx="4800600" cy="3600450"/>
          </a:xfrm>
          <a:prstGeom prst="rect">
            <a:avLst/>
          </a:prstGeom>
          <a:noFill/>
          <a:ln w="12700">
            <a:solidFill>
              <a:prstClr val="black"/>
            </a:solidFill>
          </a:ln>
        </p:spPr>
        <p:txBody>
          <a:bodyPr vert="horz" lIns="96653" tIns="48327" rIns="96653" bIns="48327" rtlCol="0" anchor="ctr"/>
          <a:lstStyle/>
          <a:p>
            <a:pPr lvl="0"/>
            <a:endParaRPr lang="en-US" noProof="0"/>
          </a:p>
        </p:txBody>
      </p:sp>
      <p:sp>
        <p:nvSpPr>
          <p:cNvPr id="5" name="Notes Placeholder 4"/>
          <p:cNvSpPr>
            <a:spLocks noGrp="1"/>
          </p:cNvSpPr>
          <p:nvPr>
            <p:ph type="body" sz="quarter" idx="3"/>
          </p:nvPr>
        </p:nvSpPr>
        <p:spPr>
          <a:xfrm>
            <a:off x="731838" y="4560888"/>
            <a:ext cx="5851525" cy="4321175"/>
          </a:xfrm>
          <a:prstGeom prst="rect">
            <a:avLst/>
          </a:prstGeom>
        </p:spPr>
        <p:txBody>
          <a:bodyPr vert="horz" lIns="96653" tIns="48327" rIns="96653" bIns="48327"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18600"/>
            <a:ext cx="3170238" cy="481013"/>
          </a:xfrm>
          <a:prstGeom prst="rect">
            <a:avLst/>
          </a:prstGeom>
        </p:spPr>
        <p:txBody>
          <a:bodyPr vert="horz" lIns="96653" tIns="48327" rIns="96653" bIns="48327"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4143375" y="9118600"/>
            <a:ext cx="3170238" cy="481013"/>
          </a:xfrm>
          <a:prstGeom prst="rect">
            <a:avLst/>
          </a:prstGeom>
        </p:spPr>
        <p:txBody>
          <a:bodyPr vert="horz" lIns="96653" tIns="48327" rIns="96653" bIns="48327" rtlCol="0" anchor="b"/>
          <a:lstStyle>
            <a:lvl1pPr algn="r">
              <a:defRPr sz="1200"/>
            </a:lvl1pPr>
          </a:lstStyle>
          <a:p>
            <a:pPr>
              <a:defRPr/>
            </a:pPr>
            <a:fld id="{127A4475-B075-4299-BB86-77751C2F797F}" type="slidenum">
              <a:rPr lang="en-US"/>
              <a:pPr>
                <a:defRPr/>
              </a:pPr>
              <a:t>‹#›</a:t>
            </a:fld>
            <a:endParaRPr lang="en-US"/>
          </a:p>
        </p:txBody>
      </p:sp>
    </p:spTree>
    <p:extLst>
      <p:ext uri="{BB962C8B-B14F-4D97-AF65-F5344CB8AC3E}">
        <p14:creationId xmlns:p14="http://schemas.microsoft.com/office/powerpoint/2010/main" val="24677166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p:spPr>
      </p:sp>
      <p:sp>
        <p:nvSpPr>
          <p:cNvPr id="4710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4710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14A9E5A-2415-4127-BDB9-AADFAF9BFC0C}" type="slidenum">
              <a:rPr lang="en-US" smtClean="0"/>
              <a:pPr/>
              <a:t>0</a:t>
            </a:fld>
            <a:endParaRPr lang="en-US"/>
          </a:p>
        </p:txBody>
      </p:sp>
    </p:spTree>
    <p:extLst>
      <p:ext uri="{BB962C8B-B14F-4D97-AF65-F5344CB8AC3E}">
        <p14:creationId xmlns:p14="http://schemas.microsoft.com/office/powerpoint/2010/main" val="2351716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p:spPr>
      </p:sp>
      <p:sp>
        <p:nvSpPr>
          <p:cNvPr id="4813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4813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A76FE02-551C-47B7-8BBC-397D67C870AB}" type="slidenum">
              <a:rPr lang="en-US" smtClean="0"/>
              <a:pPr/>
              <a:t>1</a:t>
            </a:fld>
            <a:endParaRPr lang="en-US"/>
          </a:p>
        </p:txBody>
      </p:sp>
    </p:spTree>
    <p:extLst>
      <p:ext uri="{BB962C8B-B14F-4D97-AF65-F5344CB8AC3E}">
        <p14:creationId xmlns:p14="http://schemas.microsoft.com/office/powerpoint/2010/main" val="990404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noFill/>
          <a:ln>
            <a:solidFill>
              <a:srgbClr val="000000"/>
            </a:solidFill>
            <a:miter lim="800000"/>
            <a:headEnd/>
            <a:tailEnd/>
          </a:ln>
        </p:spPr>
      </p:sp>
      <p:sp>
        <p:nvSpPr>
          <p:cNvPr id="4915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4915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E1F4D92-8434-4A6D-816B-6DD3881C2326}" type="slidenum">
              <a:rPr lang="en-US" smtClean="0"/>
              <a:pPr/>
              <a:t>9</a:t>
            </a:fld>
            <a:endParaRPr lang="en-US"/>
          </a:p>
        </p:txBody>
      </p:sp>
    </p:spTree>
    <p:extLst>
      <p:ext uri="{BB962C8B-B14F-4D97-AF65-F5344CB8AC3E}">
        <p14:creationId xmlns:p14="http://schemas.microsoft.com/office/powerpoint/2010/main" val="20803912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p:spPr>
      </p:sp>
      <p:sp>
        <p:nvSpPr>
          <p:cNvPr id="5017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5018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E42BA17-137B-4A4E-A813-B6E2B88203F3}" type="slidenum">
              <a:rPr lang="en-US" smtClean="0"/>
              <a:pPr/>
              <a:t>10</a:t>
            </a:fld>
            <a:endParaRPr lang="en-US"/>
          </a:p>
        </p:txBody>
      </p:sp>
    </p:spTree>
    <p:extLst>
      <p:ext uri="{BB962C8B-B14F-4D97-AF65-F5344CB8AC3E}">
        <p14:creationId xmlns:p14="http://schemas.microsoft.com/office/powerpoint/2010/main" val="32591613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p:spPr>
      </p:sp>
      <p:sp>
        <p:nvSpPr>
          <p:cNvPr id="5120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5120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869E771-A434-46BE-9770-8D8039987D79}" type="slidenum">
              <a:rPr lang="en-US" smtClean="0"/>
              <a:pPr/>
              <a:t>11</a:t>
            </a:fld>
            <a:endParaRPr lang="en-US"/>
          </a:p>
        </p:txBody>
      </p:sp>
    </p:spTree>
    <p:extLst>
      <p:ext uri="{BB962C8B-B14F-4D97-AF65-F5344CB8AC3E}">
        <p14:creationId xmlns:p14="http://schemas.microsoft.com/office/powerpoint/2010/main" val="1198205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bwMode="auto">
          <a:noFill/>
          <a:ln>
            <a:solidFill>
              <a:srgbClr val="000000"/>
            </a:solidFill>
            <a:miter lim="800000"/>
            <a:headEnd/>
            <a:tailEnd/>
          </a:ln>
        </p:spPr>
      </p:sp>
      <p:sp>
        <p:nvSpPr>
          <p:cNvPr id="5222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5222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D550DA6-E2EE-441A-9F64-CD046AB9BA41}" type="slidenum">
              <a:rPr lang="en-US" smtClean="0"/>
              <a:pPr/>
              <a:t>12</a:t>
            </a:fld>
            <a:endParaRPr lang="en-US"/>
          </a:p>
        </p:txBody>
      </p:sp>
    </p:spTree>
    <p:extLst>
      <p:ext uri="{BB962C8B-B14F-4D97-AF65-F5344CB8AC3E}">
        <p14:creationId xmlns:p14="http://schemas.microsoft.com/office/powerpoint/2010/main" val="8966045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bwMode="auto">
          <a:noFill/>
          <a:ln>
            <a:solidFill>
              <a:srgbClr val="000000"/>
            </a:solidFill>
            <a:miter lim="800000"/>
            <a:headEnd/>
            <a:tailEnd/>
          </a:ln>
        </p:spPr>
      </p:sp>
      <p:sp>
        <p:nvSpPr>
          <p:cNvPr id="5325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5325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068A8E7-3E8E-47E7-B036-86854F07B440}" type="slidenum">
              <a:rPr lang="en-US" smtClean="0"/>
              <a:pPr/>
              <a:t>13</a:t>
            </a:fld>
            <a:endParaRPr lang="en-US"/>
          </a:p>
        </p:txBody>
      </p:sp>
    </p:spTree>
    <p:extLst>
      <p:ext uri="{BB962C8B-B14F-4D97-AF65-F5344CB8AC3E}">
        <p14:creationId xmlns:p14="http://schemas.microsoft.com/office/powerpoint/2010/main" val="19295216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bwMode="auto">
          <a:noFill/>
          <a:ln>
            <a:solidFill>
              <a:srgbClr val="000000"/>
            </a:solidFill>
            <a:miter lim="800000"/>
            <a:headEnd/>
            <a:tailEnd/>
          </a:ln>
        </p:spPr>
      </p:sp>
      <p:sp>
        <p:nvSpPr>
          <p:cNvPr id="5427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5427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9268B4F-CF13-412A-9178-73ED77EC98A3}" type="slidenum">
              <a:rPr lang="en-US" smtClean="0"/>
              <a:pPr/>
              <a:t>14</a:t>
            </a:fld>
            <a:endParaRPr lang="en-US"/>
          </a:p>
        </p:txBody>
      </p:sp>
    </p:spTree>
    <p:extLst>
      <p:ext uri="{BB962C8B-B14F-4D97-AF65-F5344CB8AC3E}">
        <p14:creationId xmlns:p14="http://schemas.microsoft.com/office/powerpoint/2010/main" val="10653027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noFill/>
          <a:ln>
            <a:solidFill>
              <a:srgbClr val="000000"/>
            </a:solidFill>
            <a:miter lim="800000"/>
            <a:headEnd/>
            <a:tailEnd/>
          </a:ln>
        </p:spPr>
      </p:sp>
      <p:sp>
        <p:nvSpPr>
          <p:cNvPr id="5529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5530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780956D-937F-48E2-9AE0-7C9D37CBFD62}" type="slidenum">
              <a:rPr lang="en-US" smtClean="0"/>
              <a:pPr/>
              <a:t>15</a:t>
            </a:fld>
            <a:endParaRPr lang="en-US"/>
          </a:p>
        </p:txBody>
      </p:sp>
    </p:spTree>
    <p:extLst>
      <p:ext uri="{BB962C8B-B14F-4D97-AF65-F5344CB8AC3E}">
        <p14:creationId xmlns:p14="http://schemas.microsoft.com/office/powerpoint/2010/main" val="38517824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p:spPr>
      </p:sp>
      <p:sp>
        <p:nvSpPr>
          <p:cNvPr id="5632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5632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30F5AA0-8A11-4226-9A88-F96A7FAE86BE}" type="slidenum">
              <a:rPr lang="en-US" smtClean="0"/>
              <a:pPr/>
              <a:t>17</a:t>
            </a:fld>
            <a:endParaRPr lang="en-US"/>
          </a:p>
        </p:txBody>
      </p:sp>
    </p:spTree>
    <p:extLst>
      <p:ext uri="{BB962C8B-B14F-4D97-AF65-F5344CB8AC3E}">
        <p14:creationId xmlns:p14="http://schemas.microsoft.com/office/powerpoint/2010/main" val="29875046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p:spPr>
      </p:sp>
      <p:sp>
        <p:nvSpPr>
          <p:cNvPr id="5734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5734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D0C93CA-05BF-4ED4-A276-7880A6A85329}" type="slidenum">
              <a:rPr lang="en-US" smtClean="0"/>
              <a:pPr/>
              <a:t>18</a:t>
            </a:fld>
            <a:endParaRPr lang="en-US"/>
          </a:p>
        </p:txBody>
      </p:sp>
    </p:spTree>
    <p:extLst>
      <p:ext uri="{BB962C8B-B14F-4D97-AF65-F5344CB8AC3E}">
        <p14:creationId xmlns:p14="http://schemas.microsoft.com/office/powerpoint/2010/main" val="29247694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bwMode="auto">
          <a:noFill/>
          <a:ln>
            <a:solidFill>
              <a:srgbClr val="000000"/>
            </a:solidFill>
            <a:miter lim="800000"/>
            <a:headEnd/>
            <a:tailEnd/>
          </a:ln>
        </p:spPr>
      </p:sp>
      <p:sp>
        <p:nvSpPr>
          <p:cNvPr id="5837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583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B8FFF0E-A1A8-4461-8AE1-2451AEBF0848}" type="slidenum">
              <a:rPr lang="en-US" smtClean="0"/>
              <a:pPr/>
              <a:t>19</a:t>
            </a:fld>
            <a:endParaRPr lang="en-US"/>
          </a:p>
        </p:txBody>
      </p:sp>
    </p:spTree>
    <p:extLst>
      <p:ext uri="{BB962C8B-B14F-4D97-AF65-F5344CB8AC3E}">
        <p14:creationId xmlns:p14="http://schemas.microsoft.com/office/powerpoint/2010/main" val="9876912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bwMode="auto">
          <a:noFill/>
          <a:ln>
            <a:solidFill>
              <a:srgbClr val="000000"/>
            </a:solidFill>
            <a:miter lim="800000"/>
            <a:headEnd/>
            <a:tailEnd/>
          </a:ln>
        </p:spPr>
      </p:sp>
      <p:sp>
        <p:nvSpPr>
          <p:cNvPr id="5939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5939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6EEE35B-D21E-4790-8898-4D4625D83E61}" type="slidenum">
              <a:rPr lang="en-US" smtClean="0"/>
              <a:pPr/>
              <a:t>20</a:t>
            </a:fld>
            <a:endParaRPr lang="en-US"/>
          </a:p>
        </p:txBody>
      </p:sp>
    </p:spTree>
    <p:extLst>
      <p:ext uri="{BB962C8B-B14F-4D97-AF65-F5344CB8AC3E}">
        <p14:creationId xmlns:p14="http://schemas.microsoft.com/office/powerpoint/2010/main" val="33956358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In the video, as the motorcycle turns on the hill, the sprung mass’s center of gravity shifts to the right and causes the motorcycle to roll.   The sprung mass’s center of gravity is then shifted back over top of the front wheel and the right rear tire to maintain its balance on the two tires, keeping the bike from rolling completely over.  Then, at the end of the video, the driver shifts the center of gravity to the other side of the motorcycle to bring the bike back down. Video</a:t>
            </a:r>
            <a:r>
              <a:rPr lang="en-US" sz="1200" kern="1200" baseline="0">
                <a:solidFill>
                  <a:schemeClr val="tx1"/>
                </a:solidFill>
                <a:effectLst/>
                <a:latin typeface="+mn-lt"/>
                <a:ea typeface="+mn-ea"/>
                <a:cs typeface="+mn-cs"/>
              </a:rPr>
              <a:t> by </a:t>
            </a:r>
            <a:r>
              <a:rPr lang="en-US" sz="1200" kern="1200">
                <a:solidFill>
                  <a:schemeClr val="tx1"/>
                </a:solidFill>
                <a:effectLst/>
                <a:latin typeface="+mn-lt"/>
                <a:ea typeface="+mn-ea"/>
                <a:cs typeface="+mn-cs"/>
              </a:rPr>
              <a:t>Nick Williams and Nathan </a:t>
            </a:r>
            <a:r>
              <a:rPr lang="en-US" sz="1200" kern="1200" err="1">
                <a:solidFill>
                  <a:schemeClr val="tx1"/>
                </a:solidFill>
                <a:effectLst/>
                <a:latin typeface="+mn-lt"/>
                <a:ea typeface="+mn-ea"/>
                <a:cs typeface="+mn-cs"/>
              </a:rPr>
              <a:t>Vitacco</a:t>
            </a:r>
            <a:r>
              <a:rPr lang="en-US" sz="1200" kern="1200">
                <a:solidFill>
                  <a:schemeClr val="tx1"/>
                </a:solidFill>
                <a:effectLst/>
                <a:latin typeface="+mn-lt"/>
                <a:ea typeface="+mn-ea"/>
                <a:cs typeface="+mn-cs"/>
              </a:rPr>
              <a:t> in Spring</a:t>
            </a:r>
            <a:r>
              <a:rPr lang="en-US" sz="1200" kern="1200" baseline="0">
                <a:solidFill>
                  <a:schemeClr val="tx1"/>
                </a:solidFill>
                <a:effectLst/>
                <a:latin typeface="+mn-lt"/>
                <a:ea typeface="+mn-ea"/>
                <a:cs typeface="+mn-cs"/>
              </a:rPr>
              <a:t> 2016 class.</a:t>
            </a:r>
            <a:endParaRPr lang="en-US" sz="1200" kern="120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10"/>
          </p:nvPr>
        </p:nvSpPr>
        <p:spPr/>
        <p:txBody>
          <a:bodyPr/>
          <a:lstStyle/>
          <a:p>
            <a:pPr>
              <a:defRPr/>
            </a:pPr>
            <a:fld id="{127A4475-B075-4299-BB86-77751C2F797F}" type="slidenum">
              <a:rPr lang="en-US" smtClean="0"/>
              <a:pPr>
                <a:defRPr/>
              </a:pPr>
              <a:t>21</a:t>
            </a:fld>
            <a:endParaRPr lang="en-US"/>
          </a:p>
        </p:txBody>
      </p:sp>
    </p:spTree>
    <p:extLst>
      <p:ext uri="{BB962C8B-B14F-4D97-AF65-F5344CB8AC3E}">
        <p14:creationId xmlns:p14="http://schemas.microsoft.com/office/powerpoint/2010/main" val="28994839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bwMode="auto">
          <a:noFill/>
          <a:ln>
            <a:solidFill>
              <a:srgbClr val="000000"/>
            </a:solidFill>
            <a:miter lim="800000"/>
            <a:headEnd/>
            <a:tailEnd/>
          </a:ln>
        </p:spPr>
      </p:sp>
      <p:sp>
        <p:nvSpPr>
          <p:cNvPr id="6041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6042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7A16DD1-E2C6-48AE-88F6-B15AAD50E329}" type="slidenum">
              <a:rPr lang="en-US" smtClean="0"/>
              <a:pPr/>
              <a:t>22</a:t>
            </a:fld>
            <a:endParaRPr lang="en-US"/>
          </a:p>
        </p:txBody>
      </p:sp>
    </p:spTree>
    <p:extLst>
      <p:ext uri="{BB962C8B-B14F-4D97-AF65-F5344CB8AC3E}">
        <p14:creationId xmlns:p14="http://schemas.microsoft.com/office/powerpoint/2010/main" val="39832698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headEnd/>
            <a:tailEnd/>
          </a:ln>
        </p:spPr>
      </p:sp>
      <p:sp>
        <p:nvSpPr>
          <p:cNvPr id="6144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6144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D02E2F47-7DEB-4790-A90C-E2E8D83DECBC}" type="slidenum">
              <a:rPr lang="en-US" smtClean="0"/>
              <a:pPr/>
              <a:t>23</a:t>
            </a:fld>
            <a:endParaRPr lang="en-US"/>
          </a:p>
        </p:txBody>
      </p:sp>
    </p:spTree>
    <p:extLst>
      <p:ext uri="{BB962C8B-B14F-4D97-AF65-F5344CB8AC3E}">
        <p14:creationId xmlns:p14="http://schemas.microsoft.com/office/powerpoint/2010/main" val="21394675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p:spPr>
      </p:sp>
      <p:sp>
        <p:nvSpPr>
          <p:cNvPr id="6246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6246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11EF738-7ED3-4C63-9227-56B1C7B6E9AF}" type="slidenum">
              <a:rPr lang="en-US" smtClean="0"/>
              <a:pPr/>
              <a:t>24</a:t>
            </a:fld>
            <a:endParaRPr lang="en-US"/>
          </a:p>
        </p:txBody>
      </p:sp>
    </p:spTree>
    <p:extLst>
      <p:ext uri="{BB962C8B-B14F-4D97-AF65-F5344CB8AC3E}">
        <p14:creationId xmlns:p14="http://schemas.microsoft.com/office/powerpoint/2010/main" val="28892654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headEnd/>
            <a:tailEnd/>
          </a:ln>
        </p:spPr>
      </p:sp>
      <p:sp>
        <p:nvSpPr>
          <p:cNvPr id="6349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6349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31CDDB26-870F-4939-AF8E-056EBD8775A8}" type="slidenum">
              <a:rPr lang="en-US" smtClean="0"/>
              <a:pPr/>
              <a:t>25</a:t>
            </a:fld>
            <a:endParaRPr lang="en-US"/>
          </a:p>
        </p:txBody>
      </p:sp>
    </p:spTree>
    <p:extLst>
      <p:ext uri="{BB962C8B-B14F-4D97-AF65-F5344CB8AC3E}">
        <p14:creationId xmlns:p14="http://schemas.microsoft.com/office/powerpoint/2010/main" val="20020605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p:spPr>
      </p:sp>
      <p:sp>
        <p:nvSpPr>
          <p:cNvPr id="6451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645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4842B43-5734-44B0-914B-2D43A1140E65}" type="slidenum">
              <a:rPr lang="en-US" smtClean="0"/>
              <a:pPr/>
              <a:t>27</a:t>
            </a:fld>
            <a:endParaRPr lang="en-US"/>
          </a:p>
        </p:txBody>
      </p:sp>
    </p:spTree>
    <p:extLst>
      <p:ext uri="{BB962C8B-B14F-4D97-AF65-F5344CB8AC3E}">
        <p14:creationId xmlns:p14="http://schemas.microsoft.com/office/powerpoint/2010/main" val="22115024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p:spPr>
      </p:sp>
      <p:sp>
        <p:nvSpPr>
          <p:cNvPr id="6553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6554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D908B53-CEB3-4783-93FE-796E88147185}" type="slidenum">
              <a:rPr lang="en-US" smtClean="0"/>
              <a:pPr/>
              <a:t>28</a:t>
            </a:fld>
            <a:endParaRPr lang="en-US"/>
          </a:p>
        </p:txBody>
      </p:sp>
    </p:spTree>
    <p:extLst>
      <p:ext uri="{BB962C8B-B14F-4D97-AF65-F5344CB8AC3E}">
        <p14:creationId xmlns:p14="http://schemas.microsoft.com/office/powerpoint/2010/main" val="28836211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bwMode="auto">
          <a:noFill/>
          <a:ln>
            <a:solidFill>
              <a:srgbClr val="000000"/>
            </a:solidFill>
            <a:miter lim="800000"/>
            <a:headEnd/>
            <a:tailEnd/>
          </a:ln>
        </p:spPr>
      </p:sp>
      <p:sp>
        <p:nvSpPr>
          <p:cNvPr id="6656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6656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F8EE3A0-B6F4-47E5-8DCD-75411E2B5259}" type="slidenum">
              <a:rPr lang="en-US" smtClean="0"/>
              <a:pPr/>
              <a:t>29</a:t>
            </a:fld>
            <a:endParaRPr lang="en-US"/>
          </a:p>
        </p:txBody>
      </p:sp>
    </p:spTree>
    <p:extLst>
      <p:ext uri="{BB962C8B-B14F-4D97-AF65-F5344CB8AC3E}">
        <p14:creationId xmlns:p14="http://schemas.microsoft.com/office/powerpoint/2010/main" val="6870295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27A4475-B075-4299-BB86-77751C2F797F}" type="slidenum">
              <a:rPr lang="en-US" smtClean="0"/>
              <a:pPr>
                <a:defRPr/>
              </a:pPr>
              <a:t>30</a:t>
            </a:fld>
            <a:endParaRPr lang="en-US"/>
          </a:p>
        </p:txBody>
      </p:sp>
    </p:spTree>
    <p:extLst>
      <p:ext uri="{BB962C8B-B14F-4D97-AF65-F5344CB8AC3E}">
        <p14:creationId xmlns:p14="http://schemas.microsoft.com/office/powerpoint/2010/main" val="28941786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bwMode="auto">
          <a:noFill/>
          <a:ln>
            <a:solidFill>
              <a:srgbClr val="000000"/>
            </a:solidFill>
            <a:miter lim="800000"/>
            <a:headEnd/>
            <a:tailEnd/>
          </a:ln>
        </p:spPr>
      </p:sp>
      <p:sp>
        <p:nvSpPr>
          <p:cNvPr id="6758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6758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9787760-2B72-41A9-A8A3-AF57EDCC3D5A}" type="slidenum">
              <a:rPr lang="en-US" smtClean="0"/>
              <a:pPr/>
              <a:t>31</a:t>
            </a:fld>
            <a:endParaRPr lang="en-US"/>
          </a:p>
        </p:txBody>
      </p:sp>
    </p:spTree>
    <p:extLst>
      <p:ext uri="{BB962C8B-B14F-4D97-AF65-F5344CB8AC3E}">
        <p14:creationId xmlns:p14="http://schemas.microsoft.com/office/powerpoint/2010/main" val="18959183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bwMode="auto">
          <a:noFill/>
          <a:ln>
            <a:solidFill>
              <a:srgbClr val="000000"/>
            </a:solidFill>
            <a:miter lim="800000"/>
            <a:headEnd/>
            <a:tailEnd/>
          </a:ln>
        </p:spPr>
      </p:sp>
      <p:sp>
        <p:nvSpPr>
          <p:cNvPr id="6861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6861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7D6426E-A9ED-4626-AD1E-55EE96918C2D}" type="slidenum">
              <a:rPr lang="en-US" smtClean="0"/>
              <a:pPr/>
              <a:t>32</a:t>
            </a:fld>
            <a:endParaRPr lang="en-US"/>
          </a:p>
        </p:txBody>
      </p:sp>
    </p:spTree>
    <p:extLst>
      <p:ext uri="{BB962C8B-B14F-4D97-AF65-F5344CB8AC3E}">
        <p14:creationId xmlns:p14="http://schemas.microsoft.com/office/powerpoint/2010/main" val="41541448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headEnd/>
            <a:tailEnd/>
          </a:ln>
        </p:spPr>
      </p:sp>
      <p:sp>
        <p:nvSpPr>
          <p:cNvPr id="6963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696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797B9C3-550A-4837-80C8-75D21A370FFA}" type="slidenum">
              <a:rPr lang="en-US" smtClean="0"/>
              <a:pPr/>
              <a:t>33</a:t>
            </a:fld>
            <a:endParaRPr lang="en-US"/>
          </a:p>
        </p:txBody>
      </p:sp>
    </p:spTree>
    <p:extLst>
      <p:ext uri="{BB962C8B-B14F-4D97-AF65-F5344CB8AC3E}">
        <p14:creationId xmlns:p14="http://schemas.microsoft.com/office/powerpoint/2010/main" val="34362003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noFill/>
          <a:ln>
            <a:solidFill>
              <a:srgbClr val="000000"/>
            </a:solidFill>
            <a:miter lim="800000"/>
            <a:headEnd/>
            <a:tailEnd/>
          </a:ln>
        </p:spPr>
      </p:sp>
      <p:sp>
        <p:nvSpPr>
          <p:cNvPr id="7065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7066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0E125B2-2C37-4C42-8D60-892CAE0577DF}" type="slidenum">
              <a:rPr lang="en-US" smtClean="0"/>
              <a:pPr/>
              <a:t>34</a:t>
            </a:fld>
            <a:endParaRPr lang="en-US"/>
          </a:p>
        </p:txBody>
      </p:sp>
    </p:spTree>
    <p:extLst>
      <p:ext uri="{BB962C8B-B14F-4D97-AF65-F5344CB8AC3E}">
        <p14:creationId xmlns:p14="http://schemas.microsoft.com/office/powerpoint/2010/main" val="31561228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bwMode="auto">
          <a:noFill/>
          <a:ln>
            <a:solidFill>
              <a:srgbClr val="000000"/>
            </a:solidFill>
            <a:miter lim="800000"/>
            <a:headEnd/>
            <a:tailEnd/>
          </a:ln>
        </p:spPr>
      </p:sp>
      <p:sp>
        <p:nvSpPr>
          <p:cNvPr id="7168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7168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DF7DCF3D-09AB-457A-B8A7-49011D4C1E4F}" type="slidenum">
              <a:rPr lang="en-US" smtClean="0"/>
              <a:pPr/>
              <a:t>35</a:t>
            </a:fld>
            <a:endParaRPr lang="en-US"/>
          </a:p>
        </p:txBody>
      </p:sp>
    </p:spTree>
    <p:extLst>
      <p:ext uri="{BB962C8B-B14F-4D97-AF65-F5344CB8AC3E}">
        <p14:creationId xmlns:p14="http://schemas.microsoft.com/office/powerpoint/2010/main" val="23430784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bwMode="auto">
          <a:noFill/>
          <a:ln>
            <a:solidFill>
              <a:srgbClr val="000000"/>
            </a:solidFill>
            <a:miter lim="800000"/>
            <a:headEnd/>
            <a:tailEnd/>
          </a:ln>
        </p:spPr>
      </p:sp>
      <p:sp>
        <p:nvSpPr>
          <p:cNvPr id="7270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7270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9FEF0B0-24C6-4634-8E01-F1B496F745A9}" type="slidenum">
              <a:rPr lang="en-US" smtClean="0"/>
              <a:pPr/>
              <a:t>36</a:t>
            </a:fld>
            <a:endParaRPr lang="en-US"/>
          </a:p>
        </p:txBody>
      </p:sp>
    </p:spTree>
    <p:extLst>
      <p:ext uri="{BB962C8B-B14F-4D97-AF65-F5344CB8AC3E}">
        <p14:creationId xmlns:p14="http://schemas.microsoft.com/office/powerpoint/2010/main" val="11450827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headEnd/>
            <a:tailEnd/>
          </a:ln>
        </p:spPr>
      </p:sp>
      <p:sp>
        <p:nvSpPr>
          <p:cNvPr id="7373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7373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1262AA7-D8CE-4964-A3C2-C7AD994BC8EA}" type="slidenum">
              <a:rPr lang="en-US" smtClean="0"/>
              <a:pPr/>
              <a:t>37</a:t>
            </a:fld>
            <a:endParaRPr lang="en-US"/>
          </a:p>
        </p:txBody>
      </p:sp>
    </p:spTree>
    <p:extLst>
      <p:ext uri="{BB962C8B-B14F-4D97-AF65-F5344CB8AC3E}">
        <p14:creationId xmlns:p14="http://schemas.microsoft.com/office/powerpoint/2010/main" val="20074124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p:spPr>
      </p:sp>
      <p:sp>
        <p:nvSpPr>
          <p:cNvPr id="7475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7475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CCE58CD-1C56-477B-98AC-91168B28AD4A}" type="slidenum">
              <a:rPr lang="en-US" smtClean="0"/>
              <a:pPr/>
              <a:t>38</a:t>
            </a:fld>
            <a:endParaRPr lang="en-US"/>
          </a:p>
        </p:txBody>
      </p:sp>
    </p:spTree>
    <p:extLst>
      <p:ext uri="{BB962C8B-B14F-4D97-AF65-F5344CB8AC3E}">
        <p14:creationId xmlns:p14="http://schemas.microsoft.com/office/powerpoint/2010/main" val="26875649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bwMode="auto">
          <a:noFill/>
          <a:ln>
            <a:solidFill>
              <a:srgbClr val="000000"/>
            </a:solidFill>
            <a:miter lim="800000"/>
            <a:headEnd/>
            <a:tailEnd/>
          </a:ln>
        </p:spPr>
      </p:sp>
      <p:sp>
        <p:nvSpPr>
          <p:cNvPr id="7577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7578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06C36CF-B631-4A02-AD40-E641353BCA8D}" type="slidenum">
              <a:rPr lang="en-US" smtClean="0"/>
              <a:pPr/>
              <a:t>39</a:t>
            </a:fld>
            <a:endParaRPr lang="en-US"/>
          </a:p>
        </p:txBody>
      </p:sp>
    </p:spTree>
    <p:extLst>
      <p:ext uri="{BB962C8B-B14F-4D97-AF65-F5344CB8AC3E}">
        <p14:creationId xmlns:p14="http://schemas.microsoft.com/office/powerpoint/2010/main" val="21704294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bwMode="auto">
          <a:noFill/>
          <a:ln>
            <a:solidFill>
              <a:srgbClr val="000000"/>
            </a:solidFill>
            <a:miter lim="800000"/>
            <a:headEnd/>
            <a:tailEnd/>
          </a:ln>
        </p:spPr>
      </p:sp>
      <p:sp>
        <p:nvSpPr>
          <p:cNvPr id="7680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7680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B16EF8F-6F01-4C14-9389-914854D4F48F}" type="slidenum">
              <a:rPr lang="en-US" smtClean="0"/>
              <a:pPr/>
              <a:t>40</a:t>
            </a:fld>
            <a:endParaRPr lang="en-US"/>
          </a:p>
        </p:txBody>
      </p:sp>
    </p:spTree>
    <p:extLst>
      <p:ext uri="{BB962C8B-B14F-4D97-AF65-F5344CB8AC3E}">
        <p14:creationId xmlns:p14="http://schemas.microsoft.com/office/powerpoint/2010/main" val="22123034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bwMode="auto">
          <a:noFill/>
          <a:ln>
            <a:solidFill>
              <a:srgbClr val="000000"/>
            </a:solidFill>
            <a:miter lim="800000"/>
            <a:headEnd/>
            <a:tailEnd/>
          </a:ln>
        </p:spPr>
      </p:sp>
      <p:sp>
        <p:nvSpPr>
          <p:cNvPr id="7782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7782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F2B783F8-A3D8-4F4F-ADA0-79B5FF2A5685}" type="slidenum">
              <a:rPr lang="en-US" smtClean="0"/>
              <a:pPr/>
              <a:t>41</a:t>
            </a:fld>
            <a:endParaRPr lang="en-US"/>
          </a:p>
        </p:txBody>
      </p:sp>
    </p:spTree>
    <p:extLst>
      <p:ext uri="{BB962C8B-B14F-4D97-AF65-F5344CB8AC3E}">
        <p14:creationId xmlns:p14="http://schemas.microsoft.com/office/powerpoint/2010/main" val="16943001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p:spPr>
      </p:sp>
      <p:sp>
        <p:nvSpPr>
          <p:cNvPr id="8089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8090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71914A8-EE72-4C8F-A6F5-D2BD94292C92}" type="slidenum">
              <a:rPr lang="en-US" smtClean="0"/>
              <a:pPr/>
              <a:t>42</a:t>
            </a:fld>
            <a:endParaRPr lang="en-US"/>
          </a:p>
        </p:txBody>
      </p:sp>
    </p:spTree>
    <p:extLst>
      <p:ext uri="{BB962C8B-B14F-4D97-AF65-F5344CB8AC3E}">
        <p14:creationId xmlns:p14="http://schemas.microsoft.com/office/powerpoint/2010/main" val="15508753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p:spPr>
      </p:sp>
      <p:sp>
        <p:nvSpPr>
          <p:cNvPr id="8192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8192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44B81F4-0C98-47E3-94F1-D27F51FA7889}" type="slidenum">
              <a:rPr lang="en-US" smtClean="0"/>
              <a:pPr/>
              <a:t>43</a:t>
            </a:fld>
            <a:endParaRPr lang="en-US"/>
          </a:p>
        </p:txBody>
      </p:sp>
    </p:spTree>
    <p:extLst>
      <p:ext uri="{BB962C8B-B14F-4D97-AF65-F5344CB8AC3E}">
        <p14:creationId xmlns:p14="http://schemas.microsoft.com/office/powerpoint/2010/main" val="17182306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headEnd/>
            <a:tailEnd/>
          </a:ln>
        </p:spPr>
      </p:sp>
      <p:sp>
        <p:nvSpPr>
          <p:cNvPr id="8294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8294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7705033-0E35-4931-BDD2-EE4AFFFC50DB}" type="slidenum">
              <a:rPr lang="en-US" smtClean="0"/>
              <a:pPr/>
              <a:t>44</a:t>
            </a:fld>
            <a:endParaRPr lang="en-US"/>
          </a:p>
        </p:txBody>
      </p:sp>
    </p:spTree>
    <p:extLst>
      <p:ext uri="{BB962C8B-B14F-4D97-AF65-F5344CB8AC3E}">
        <p14:creationId xmlns:p14="http://schemas.microsoft.com/office/powerpoint/2010/main" val="42180399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headEnd/>
            <a:tailEnd/>
          </a:ln>
        </p:spPr>
      </p:sp>
      <p:sp>
        <p:nvSpPr>
          <p:cNvPr id="8294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8294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7705033-0E35-4931-BDD2-EE4AFFFC50DB}" type="slidenum">
              <a:rPr lang="en-US" smtClean="0"/>
              <a:pPr/>
              <a:t>45</a:t>
            </a:fld>
            <a:endParaRPr lang="en-US"/>
          </a:p>
        </p:txBody>
      </p:sp>
    </p:spTree>
    <p:extLst>
      <p:ext uri="{BB962C8B-B14F-4D97-AF65-F5344CB8AC3E}">
        <p14:creationId xmlns:p14="http://schemas.microsoft.com/office/powerpoint/2010/main" val="30313111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bwMode="auto">
          <a:noFill/>
          <a:ln>
            <a:solidFill>
              <a:srgbClr val="000000"/>
            </a:solidFill>
            <a:miter lim="800000"/>
            <a:headEnd/>
            <a:tailEnd/>
          </a:ln>
        </p:spPr>
      </p:sp>
      <p:sp>
        <p:nvSpPr>
          <p:cNvPr id="8397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839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45C992C-3C8E-45CF-B004-6CA435FF04E8}" type="slidenum">
              <a:rPr lang="en-US" smtClean="0"/>
              <a:pPr/>
              <a:t>46</a:t>
            </a:fld>
            <a:endParaRPr lang="en-US"/>
          </a:p>
        </p:txBody>
      </p:sp>
    </p:spTree>
    <p:extLst>
      <p:ext uri="{BB962C8B-B14F-4D97-AF65-F5344CB8AC3E}">
        <p14:creationId xmlns:p14="http://schemas.microsoft.com/office/powerpoint/2010/main" val="148009268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bwMode="auto">
          <a:noFill/>
          <a:ln>
            <a:solidFill>
              <a:srgbClr val="000000"/>
            </a:solidFill>
            <a:miter lim="800000"/>
            <a:headEnd/>
            <a:tailEnd/>
          </a:ln>
        </p:spPr>
      </p:sp>
      <p:sp>
        <p:nvSpPr>
          <p:cNvPr id="8499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8499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EC702CC-9C9B-489A-BB3B-C62C38BEFDCC}" type="slidenum">
              <a:rPr lang="en-US" smtClean="0"/>
              <a:pPr/>
              <a:t>47</a:t>
            </a:fld>
            <a:endParaRPr lang="en-US"/>
          </a:p>
        </p:txBody>
      </p:sp>
    </p:spTree>
    <p:extLst>
      <p:ext uri="{BB962C8B-B14F-4D97-AF65-F5344CB8AC3E}">
        <p14:creationId xmlns:p14="http://schemas.microsoft.com/office/powerpoint/2010/main" val="254135126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p:spPr>
      </p:sp>
      <p:sp>
        <p:nvSpPr>
          <p:cNvPr id="8601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8602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3B57655-C424-41C2-A0FB-F733236C2FF7}" type="slidenum">
              <a:rPr lang="en-US" smtClean="0"/>
              <a:pPr/>
              <a:t>48</a:t>
            </a:fld>
            <a:endParaRPr lang="en-US"/>
          </a:p>
        </p:txBody>
      </p:sp>
    </p:spTree>
    <p:extLst>
      <p:ext uri="{BB962C8B-B14F-4D97-AF65-F5344CB8AC3E}">
        <p14:creationId xmlns:p14="http://schemas.microsoft.com/office/powerpoint/2010/main" val="2354281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8704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C26EC65-C85B-40DD-9459-D1541E075A0B}" type="slidenum">
              <a:rPr lang="en-US" smtClean="0"/>
              <a:pPr/>
              <a:t>49</a:t>
            </a:fld>
            <a:endParaRPr lang="en-US"/>
          </a:p>
        </p:txBody>
      </p:sp>
    </p:spTree>
    <p:extLst>
      <p:ext uri="{BB962C8B-B14F-4D97-AF65-F5344CB8AC3E}">
        <p14:creationId xmlns:p14="http://schemas.microsoft.com/office/powerpoint/2010/main" val="356376520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bwMode="auto">
          <a:noFill/>
          <a:ln>
            <a:solidFill>
              <a:srgbClr val="000000"/>
            </a:solidFill>
            <a:miter lim="800000"/>
            <a:headEnd/>
            <a:tailEnd/>
          </a:ln>
        </p:spPr>
      </p:sp>
      <p:sp>
        <p:nvSpPr>
          <p:cNvPr id="88067"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Lesson 4, Slide 34</a:t>
            </a:r>
          </a:p>
        </p:txBody>
      </p:sp>
      <p:sp>
        <p:nvSpPr>
          <p:cNvPr id="8806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6A8288E-D8F4-4D57-8C73-B8F612183A50}" type="slidenum">
              <a:rPr lang="en-US" smtClean="0"/>
              <a:pPr/>
              <a:t>50</a:t>
            </a:fld>
            <a:endParaRPr lang="en-US"/>
          </a:p>
        </p:txBody>
      </p:sp>
    </p:spTree>
    <p:extLst>
      <p:ext uri="{BB962C8B-B14F-4D97-AF65-F5344CB8AC3E}">
        <p14:creationId xmlns:p14="http://schemas.microsoft.com/office/powerpoint/2010/main" val="33963111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noFill/>
          <a:ln>
            <a:solidFill>
              <a:srgbClr val="000000"/>
            </a:solidFill>
            <a:miter lim="800000"/>
            <a:headEnd/>
            <a:tailEnd/>
          </a:ln>
        </p:spPr>
      </p:sp>
      <p:sp>
        <p:nvSpPr>
          <p:cNvPr id="8909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8909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DA27AFA2-2032-4E57-AB8B-08760BB347CC}" type="slidenum">
              <a:rPr lang="en-US" smtClean="0"/>
              <a:pPr/>
              <a:t>51</a:t>
            </a:fld>
            <a:endParaRPr lang="en-US"/>
          </a:p>
        </p:txBody>
      </p:sp>
    </p:spTree>
    <p:extLst>
      <p:ext uri="{BB962C8B-B14F-4D97-AF65-F5344CB8AC3E}">
        <p14:creationId xmlns:p14="http://schemas.microsoft.com/office/powerpoint/2010/main" val="23256648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5484E438-6085-4B5F-A551-3804789D0D93}" type="datetimeFigureOut">
              <a:rPr lang="en-US"/>
              <a:pPr>
                <a:defRPr/>
              </a:pPr>
              <a:t>2/2/2026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79D7D148-5737-42A0-8C0C-CD3E73572754}"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D59B8903-0D62-437C-959B-8AD27ABC49FD}" type="datetimeFigureOut">
              <a:rPr lang="en-US"/>
              <a:pPr>
                <a:defRPr/>
              </a:pPr>
              <a:t>2/2/2026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AEFE18E4-1CE9-4393-B545-228D00B66E58}"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0"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05C98B66-8F78-4F6B-BD34-8FCCA1DF1760}" type="datetimeFigureOut">
              <a:rPr lang="en-US"/>
              <a:pPr>
                <a:defRPr/>
              </a:pPr>
              <a:t>2/2/2026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ACF7C252-BAC3-466D-ADA8-5651391B87E6}"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19E7A569-BC68-489A-872A-99B0CEE00787}" type="datetimeFigureOut">
              <a:rPr lang="en-US"/>
              <a:pPr>
                <a:defRPr/>
              </a:pPr>
              <a:t>2/2/2026</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6E085C14-1DBE-4A01-A1A9-6B0688FE18B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D9BF9740-6919-4837-B025-F1BB57BCC24D}" type="datetimeFigureOut">
              <a:rPr lang="en-US"/>
              <a:pPr>
                <a:defRPr/>
              </a:pPr>
              <a:t>2/2/2026</a:t>
            </a:fld>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9"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65470F27-E048-4BF7-A009-814E93D07838}"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72CD9E17-6A98-4BF8-85C1-F219242E8AD7}" type="datetimeFigureOut">
              <a:rPr lang="en-US"/>
              <a:pPr>
                <a:defRPr/>
              </a:pPr>
              <a:t>2/2/2026</a:t>
            </a:fld>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5"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11F9416-C8BA-4BB4-8A38-DD26C3967EBC}"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98510172-A769-4D65-90A4-B1899108E327}" type="datetimeFigureOut">
              <a:rPr lang="en-US"/>
              <a:pPr>
                <a:defRPr/>
              </a:pPr>
              <a:t>2/2/2026</a:t>
            </a:fld>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4"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FA84F854-6DAE-4402-A963-FCAAE660899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91F2776C-DE6A-4C88-A16E-A68D331B4FD9}" type="datetimeFigureOut">
              <a:rPr lang="en-US"/>
              <a:pPr>
                <a:defRPr/>
              </a:pPr>
              <a:t>2/2/2026</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454BBF4-586A-4840-88FB-FE866D823F0D}"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4FDE28B2-BE2F-4BD7-8683-7335561BAB43}" type="datetimeFigureOut">
              <a:rPr lang="en-US"/>
              <a:pPr>
                <a:defRPr/>
              </a:pPr>
              <a:t>2/2/2026</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0152EA19-0DDF-4620-B3CB-329E8D9BECD4}"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735CB86D-F92F-4FBF-A4A5-93876B1C1CE5}" type="datetimeFigureOut">
              <a:rPr lang="en-US"/>
              <a:pPr>
                <a:defRPr/>
              </a:pPr>
              <a:t>2/2/2026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18D2F4D3-D9ED-48D0-9DEB-8F7882820767}"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47B0AB63-FBDB-40CD-9D3E-3CE67535141B}" type="datetimeFigureOut">
              <a:rPr lang="en-US"/>
              <a:pPr>
                <a:defRPr/>
              </a:pPr>
              <a:t>2/2/2026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1F9C0970-9C4E-49B1-BFC2-5A94D7BB0121}"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31" name="Text Box 112"/>
          <p:cNvSpPr txBox="1">
            <a:spLocks noChangeArrowheads="1"/>
          </p:cNvSpPr>
          <p:nvPr userDrawn="1"/>
        </p:nvSpPr>
        <p:spPr bwMode="auto">
          <a:xfrm>
            <a:off x="685800" y="6427788"/>
            <a:ext cx="1905000" cy="400050"/>
          </a:xfrm>
          <a:prstGeom prst="rect">
            <a:avLst/>
          </a:prstGeom>
          <a:noFill/>
          <a:ln w="9525">
            <a:noFill/>
            <a:miter lim="800000"/>
            <a:headEnd/>
            <a:tailEnd/>
          </a:ln>
        </p:spPr>
        <p:txBody>
          <a:bodyPr wrap="none">
            <a:spAutoFit/>
          </a:bodyPr>
          <a:lstStyle/>
          <a:p>
            <a:r>
              <a:rPr lang="en-US" sz="1000" dirty="0"/>
              <a:t>Automotive Vehicle Dynamics</a:t>
            </a:r>
          </a:p>
          <a:p>
            <a:r>
              <a:rPr lang="en-US" sz="1000" dirty="0"/>
              <a:t>Copyright </a:t>
            </a:r>
            <a:r>
              <a:rPr lang="en-US" sz="1000" dirty="0">
                <a:cs typeface="Times New Roman" pitchFamily="18" charset="0"/>
              </a:rPr>
              <a:t>© 2026, Sean Brennan</a:t>
            </a:r>
            <a:endParaRPr lang="en-US" sz="1000" dirty="0"/>
          </a:p>
        </p:txBody>
      </p:sp>
      <p:sp>
        <p:nvSpPr>
          <p:cNvPr id="1032" name="Text Box 113"/>
          <p:cNvSpPr txBox="1">
            <a:spLocks noChangeArrowheads="1"/>
          </p:cNvSpPr>
          <p:nvPr userDrawn="1"/>
        </p:nvSpPr>
        <p:spPr bwMode="auto">
          <a:xfrm>
            <a:off x="7602188" y="6427788"/>
            <a:ext cx="1316387" cy="400110"/>
          </a:xfrm>
          <a:prstGeom prst="rect">
            <a:avLst/>
          </a:prstGeom>
          <a:noFill/>
          <a:ln w="9525">
            <a:noFill/>
            <a:miter lim="800000"/>
            <a:headEnd/>
            <a:tailEnd/>
          </a:ln>
        </p:spPr>
        <p:txBody>
          <a:bodyPr wrap="none">
            <a:spAutoFit/>
          </a:bodyPr>
          <a:lstStyle/>
          <a:p>
            <a:pPr algn="r"/>
            <a:r>
              <a:rPr lang="en-US" sz="1000"/>
              <a:t>ME 452  – Lecture 05</a:t>
            </a:r>
          </a:p>
          <a:p>
            <a:pPr algn="r"/>
            <a:r>
              <a:rPr lang="en-US" sz="1000"/>
              <a:t>Slide </a:t>
            </a:r>
            <a:fld id="{5C11F29A-6467-4EC7-A7F8-D748DE618D7F}" type="slidenum">
              <a:rPr lang="en-US" sz="1000" smtClean="0"/>
              <a:pPr algn="r"/>
              <a:t>‹#›</a:t>
            </a:fld>
            <a:endParaRPr lang="en-US" sz="1000">
              <a:solidFill>
                <a:srgbClr val="FF0000"/>
              </a:solidFill>
            </a:endParaRPr>
          </a:p>
        </p:txBody>
      </p:sp>
      <p:sp>
        <p:nvSpPr>
          <p:cNvPr id="1033" name="Line 114"/>
          <p:cNvSpPr>
            <a:spLocks noChangeShapeType="1"/>
          </p:cNvSpPr>
          <p:nvPr userDrawn="1"/>
        </p:nvSpPr>
        <p:spPr bwMode="auto">
          <a:xfrm>
            <a:off x="685800" y="6410325"/>
            <a:ext cx="8153400" cy="0"/>
          </a:xfrm>
          <a:prstGeom prst="line">
            <a:avLst/>
          </a:prstGeom>
          <a:noFill/>
          <a:ln w="38100">
            <a:solidFill>
              <a:srgbClr val="000000"/>
            </a:solidFill>
            <a:round/>
            <a:headEnd/>
            <a:tailEnd/>
          </a:ln>
        </p:spPr>
        <p:txBody>
          <a:bodyPr wrap="none"/>
          <a:lstStyle/>
          <a:p>
            <a:endParaRPr lang="en-US"/>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1.xml"/><Relationship Id="rId5" Type="http://schemas.openxmlformats.org/officeDocument/2006/relationships/image" Target="../media/image19.jpe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2.jpeg"/><Relationship Id="rId4" Type="http://schemas.openxmlformats.org/officeDocument/2006/relationships/image" Target="../media/image21.jpeg"/></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2.jpeg"/><Relationship Id="rId4" Type="http://schemas.openxmlformats.org/officeDocument/2006/relationships/image" Target="../media/image21.jpeg"/></Relationships>
</file>

<file path=ppt/slides/_rels/slide1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0.png"/><Relationship Id="rId4"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8.gi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9.w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0.w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upload.wikimedia.org/wikipedia/commons/c/c5/Euler2.gif"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1.gi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42.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3.w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44.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5.wmf"/></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hyperlink" Target="http://en.wikipedia.org/wiki/Euler_angles" TargetMode="External"/><Relationship Id="rId4" Type="http://schemas.openxmlformats.org/officeDocument/2006/relationships/image" Target="../media/image46.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7.wmf"/></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hyperlink" Target="https://www.youtube.com/watch?v=QcdlGjAP0xs" TargetMode="Externa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9.wmf"/></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50.wmf"/></Relationships>
</file>

<file path=ppt/slides/_rels/slide5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5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pPr eaLnBrk="1" hangingPunct="1"/>
            <a:r>
              <a:rPr lang="en-US"/>
              <a:t>Automotive Vehicle Dynamics</a:t>
            </a:r>
          </a:p>
        </p:txBody>
      </p:sp>
      <p:sp>
        <p:nvSpPr>
          <p:cNvPr id="2051" name="Rectangle 3"/>
          <p:cNvSpPr>
            <a:spLocks noGrp="1" noChangeArrowheads="1"/>
          </p:cNvSpPr>
          <p:nvPr>
            <p:ph type="subTitle" idx="1"/>
          </p:nvPr>
        </p:nvSpPr>
        <p:spPr/>
        <p:txBody>
          <a:bodyPr rtlCol="0">
            <a:normAutofit fontScale="62500" lnSpcReduction="20000"/>
          </a:bodyPr>
          <a:lstStyle/>
          <a:p>
            <a:pPr eaLnBrk="1" fontAlgn="auto" hangingPunct="1">
              <a:spcAft>
                <a:spcPts val="0"/>
              </a:spcAft>
              <a:buFont typeface="Arial" pitchFamily="34" charset="0"/>
              <a:buNone/>
              <a:defRPr/>
            </a:pPr>
            <a:r>
              <a:rPr lang="en-US" sz="3600" b="1" dirty="0">
                <a:solidFill>
                  <a:schemeClr val="tx1"/>
                </a:solidFill>
              </a:rPr>
              <a:t>Lecture 05 – Vehicle Coordinate Systems</a:t>
            </a:r>
          </a:p>
          <a:p>
            <a:pPr eaLnBrk="1" fontAlgn="auto" hangingPunct="1">
              <a:spcAft>
                <a:spcPts val="0"/>
              </a:spcAft>
              <a:buFont typeface="Arial" pitchFamily="34" charset="0"/>
              <a:buNone/>
              <a:defRPr/>
            </a:pPr>
            <a:endParaRPr lang="en-US" sz="1600" dirty="0"/>
          </a:p>
          <a:p>
            <a:pPr eaLnBrk="1" fontAlgn="auto" hangingPunct="1">
              <a:spcAft>
                <a:spcPts val="0"/>
              </a:spcAft>
              <a:buFont typeface="Arial" pitchFamily="34" charset="0"/>
              <a:buNone/>
              <a:defRPr/>
            </a:pPr>
            <a:endParaRPr lang="en-US" sz="1600" dirty="0"/>
          </a:p>
          <a:p>
            <a:pPr eaLnBrk="1" fontAlgn="auto" hangingPunct="1">
              <a:spcAft>
                <a:spcPts val="0"/>
              </a:spcAft>
              <a:buFont typeface="Arial" pitchFamily="34" charset="0"/>
              <a:buNone/>
              <a:defRPr/>
            </a:pPr>
            <a:r>
              <a:rPr lang="en-US" sz="2800" dirty="0"/>
              <a:t>Sean Brennan</a:t>
            </a:r>
          </a:p>
          <a:p>
            <a:pPr eaLnBrk="1" fontAlgn="auto" hangingPunct="1">
              <a:spcAft>
                <a:spcPts val="0"/>
              </a:spcAft>
              <a:buFont typeface="Arial" pitchFamily="34" charset="0"/>
              <a:buNone/>
              <a:defRPr/>
            </a:pPr>
            <a:r>
              <a:rPr lang="en-US" sz="2400" dirty="0"/>
              <a:t>Department of Mechanical Engineering</a:t>
            </a:r>
          </a:p>
          <a:p>
            <a:pPr eaLnBrk="1" fontAlgn="auto" hangingPunct="1">
              <a:spcAft>
                <a:spcPts val="0"/>
              </a:spcAft>
              <a:buFont typeface="Arial" pitchFamily="34" charset="0"/>
              <a:buNone/>
              <a:defRPr/>
            </a:pPr>
            <a:r>
              <a:rPr lang="en-US" sz="2400" dirty="0"/>
              <a:t>Penn State University</a:t>
            </a:r>
          </a:p>
          <a:p>
            <a:pPr eaLnBrk="1" fontAlgn="auto" hangingPunct="1">
              <a:spcAft>
                <a:spcPts val="0"/>
              </a:spcAft>
              <a:buFont typeface="Arial" pitchFamily="34" charset="0"/>
              <a:buNone/>
              <a:defRPr/>
            </a:pPr>
            <a:r>
              <a:rPr lang="en-US" sz="2400" dirty="0"/>
              <a:t>sbrennan@psu.edu</a:t>
            </a:r>
          </a:p>
          <a:p>
            <a:pPr eaLnBrk="1" fontAlgn="auto" hangingPunct="1">
              <a:spcAft>
                <a:spcPts val="0"/>
              </a:spcAft>
              <a:buFont typeface="Arial" pitchFamily="34" charset="0"/>
              <a:buNone/>
              <a:defRPr/>
            </a:pPr>
            <a:endParaRPr lang="en-US" sz="1600" dirty="0"/>
          </a:p>
          <a:p>
            <a:pPr eaLnBrk="1" fontAlgn="auto" hangingPunct="1">
              <a:spcAft>
                <a:spcPts val="0"/>
              </a:spcAft>
              <a:buFont typeface="Arial" pitchFamily="34" charset="0"/>
              <a:buNone/>
              <a:defRPr/>
            </a:pPr>
            <a:endParaRPr lang="en-US" sz="1600" dirty="0"/>
          </a:p>
        </p:txBody>
      </p:sp>
      <p:pic>
        <p:nvPicPr>
          <p:cNvPr id="2052" name="Picture 6" descr="CSMdiagram"/>
          <p:cNvPicPr>
            <a:picLocks noChangeAspect="1" noChangeArrowheads="1"/>
          </p:cNvPicPr>
          <p:nvPr/>
        </p:nvPicPr>
        <p:blipFill>
          <a:blip r:embed="rId3" cstate="email">
            <a:extLst>
              <a:ext uri="{28A0092B-C50C-407E-A947-70E740481C1C}">
                <a14:useLocalDpi xmlns:a14="http://schemas.microsoft.com/office/drawing/2010/main"/>
              </a:ext>
            </a:extLst>
          </a:blip>
          <a:srcRect b="14934"/>
          <a:stretch>
            <a:fillRect/>
          </a:stretch>
        </p:blipFill>
        <p:spPr bwMode="auto">
          <a:xfrm>
            <a:off x="1752600" y="457200"/>
            <a:ext cx="3086100" cy="1962150"/>
          </a:xfrm>
          <a:prstGeom prst="rect">
            <a:avLst/>
          </a:prstGeom>
          <a:noFill/>
          <a:ln w="9525">
            <a:noFill/>
            <a:miter lim="800000"/>
            <a:headEnd/>
            <a:tailEnd/>
          </a:ln>
        </p:spPr>
      </p:pic>
      <p:pic>
        <p:nvPicPr>
          <p:cNvPr id="2053" name="Picture 7" descr="Z:\Publications\Conferences\2010\Lapapong_2010_ACC_TerrainAwareRollover\Figures\RollModelOnTerrain\RollModelOnTerrainPositiveRollAngle.jpg"/>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5410200" y="457200"/>
            <a:ext cx="2667000" cy="1768475"/>
          </a:xfrm>
          <a:prstGeom prst="rect">
            <a:avLst/>
          </a:prstGeom>
          <a:noFill/>
          <a:ln w="9525">
            <a:noFill/>
            <a:miter lim="8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5"/>
          <p:cNvSpPr>
            <a:spLocks noGrp="1" noChangeArrowheads="1"/>
          </p:cNvSpPr>
          <p:nvPr>
            <p:ph type="title"/>
          </p:nvPr>
        </p:nvSpPr>
        <p:spPr>
          <a:noFill/>
        </p:spPr>
        <p:txBody>
          <a:bodyPr/>
          <a:lstStyle/>
          <a:p>
            <a:pPr eaLnBrk="1" hangingPunct="1"/>
            <a:r>
              <a:rPr lang="en-US"/>
              <a:t>Goals of this lecture?</a:t>
            </a:r>
          </a:p>
        </p:txBody>
      </p:sp>
      <p:sp>
        <p:nvSpPr>
          <p:cNvPr id="2" name="Content Placeholder 1"/>
          <p:cNvSpPr>
            <a:spLocks noGrp="1"/>
          </p:cNvSpPr>
          <p:nvPr>
            <p:ph idx="1"/>
          </p:nvPr>
        </p:nvSpPr>
        <p:spPr>
          <a:xfrm>
            <a:off x="457200" y="1600200"/>
            <a:ext cx="4763214" cy="4525963"/>
          </a:xfrm>
        </p:spPr>
        <p:txBody>
          <a:bodyPr>
            <a:normAutofit fontScale="92500"/>
          </a:bodyPr>
          <a:lstStyle/>
          <a:p>
            <a:r>
              <a:rPr lang="en-US"/>
              <a:t>Understand directions of X, Y, and Z for vehicles</a:t>
            </a:r>
          </a:p>
          <a:p>
            <a:r>
              <a:rPr lang="en-US"/>
              <a:t>Understand SAE and ISO coordinate conventions (should be able to draw them on the vehicle here)</a:t>
            </a:r>
          </a:p>
          <a:p>
            <a:r>
              <a:rPr lang="en-US"/>
              <a:t>Know how to undergo rotations from earth to body-fixed (planar motion)</a:t>
            </a:r>
          </a:p>
          <a:p>
            <a:endParaRPr lang="en-US"/>
          </a:p>
        </p:txBody>
      </p:sp>
      <p:pic>
        <p:nvPicPr>
          <p:cNvPr id="3076" name="Picture 5" descr="Z:\Classes\Brennan_Classes_Current\2010_ME452\Lesson 01 - Introduction\bar-2001-09-01-villeneuve-spa-02.jp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334000" y="2286000"/>
            <a:ext cx="3466386" cy="2309813"/>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94489"/>
            <a:ext cx="8229600" cy="1143000"/>
          </a:xfrm>
        </p:spPr>
        <p:txBody>
          <a:bodyPr/>
          <a:lstStyle/>
          <a:p>
            <a:pPr algn="l"/>
            <a:r>
              <a:rPr lang="en-US" sz="3600"/>
              <a:t>The definition of body-fixed X, Y, and Z are obvious from fact that ordering is arranged by magnitude of typical velocities</a:t>
            </a:r>
          </a:p>
        </p:txBody>
      </p:sp>
      <p:sp>
        <p:nvSpPr>
          <p:cNvPr id="3" name="Content Placeholder 2"/>
          <p:cNvSpPr>
            <a:spLocks noGrp="1"/>
          </p:cNvSpPr>
          <p:nvPr>
            <p:ph idx="1"/>
          </p:nvPr>
        </p:nvSpPr>
        <p:spPr>
          <a:xfrm>
            <a:off x="457200" y="2209800"/>
            <a:ext cx="5334000" cy="3916363"/>
          </a:xfrm>
        </p:spPr>
        <p:txBody>
          <a:bodyPr/>
          <a:lstStyle/>
          <a:p>
            <a:r>
              <a:rPr lang="en-US"/>
              <a:t>Which direction moves most? This is X!</a:t>
            </a:r>
          </a:p>
          <a:p>
            <a:r>
              <a:rPr lang="en-US"/>
              <a:t>Second most? This is Y.</a:t>
            </a:r>
          </a:p>
          <a:p>
            <a:r>
              <a:rPr lang="en-US"/>
              <a:t>Least? This is Z.</a:t>
            </a:r>
          </a:p>
        </p:txBody>
      </p:sp>
      <p:pic>
        <p:nvPicPr>
          <p:cNvPr id="46" name="Picture 4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191000" y="2895600"/>
            <a:ext cx="3589175" cy="2743200"/>
          </a:xfrm>
          <a:prstGeom prst="rect">
            <a:avLst/>
          </a:prstGeom>
        </p:spPr>
      </p:pic>
    </p:spTree>
    <p:extLst>
      <p:ext uri="{BB962C8B-B14F-4D97-AF65-F5344CB8AC3E}">
        <p14:creationId xmlns:p14="http://schemas.microsoft.com/office/powerpoint/2010/main" val="3181067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Given that, what would be obvious coordinate directions for…?</a:t>
            </a:r>
          </a:p>
        </p:txBody>
      </p:sp>
      <p:pic>
        <p:nvPicPr>
          <p:cNvPr id="4" name="Content Placeholder 3"/>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445851" y="1927698"/>
            <a:ext cx="2404672" cy="1600200"/>
          </a:xfrm>
          <a:prstGeom prst="rect">
            <a:avLst/>
          </a:prstGeom>
        </p:spPr>
      </p:pic>
      <p:pic>
        <p:nvPicPr>
          <p:cNvPr id="5" name="Picture 4"/>
          <p:cNvPicPr>
            <a:picLocks noChangeAspect="1"/>
          </p:cNvPicPr>
          <p:nvPr/>
        </p:nvPicPr>
        <p:blipFill>
          <a:blip r:embed="rId3"/>
          <a:stretch>
            <a:fillRect/>
          </a:stretch>
        </p:blipFill>
        <p:spPr>
          <a:xfrm>
            <a:off x="3143427" y="1927698"/>
            <a:ext cx="2857500" cy="1600200"/>
          </a:xfrm>
          <a:prstGeom prst="rect">
            <a:avLst/>
          </a:prstGeom>
        </p:spPr>
      </p:pic>
      <p:pic>
        <p:nvPicPr>
          <p:cNvPr id="6" name="Picture 5"/>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079100" y="1927698"/>
            <a:ext cx="2544139" cy="1600200"/>
          </a:xfrm>
          <a:prstGeom prst="rect">
            <a:avLst/>
          </a:prstGeom>
        </p:spPr>
      </p:pic>
      <p:pic>
        <p:nvPicPr>
          <p:cNvPr id="7" name="Picture 6"/>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524000" y="3810000"/>
            <a:ext cx="2404672" cy="1600200"/>
          </a:xfrm>
          <a:prstGeom prst="rect">
            <a:avLst/>
          </a:prstGeom>
        </p:spPr>
      </p:pic>
      <p:pic>
        <p:nvPicPr>
          <p:cNvPr id="8" name="Picture 7"/>
          <p:cNvPicPr>
            <a:picLocks noChangeAspect="1"/>
          </p:cNvPicPr>
          <p:nvPr/>
        </p:nvPicPr>
        <p:blipFill>
          <a:blip r:embed="rId6"/>
          <a:stretch>
            <a:fillRect/>
          </a:stretch>
        </p:blipFill>
        <p:spPr>
          <a:xfrm>
            <a:off x="4343400" y="3785681"/>
            <a:ext cx="2857143" cy="1600000"/>
          </a:xfrm>
          <a:prstGeom prst="rect">
            <a:avLst/>
          </a:prstGeom>
        </p:spPr>
      </p:pic>
    </p:spTree>
    <p:extLst>
      <p:ext uri="{BB962C8B-B14F-4D97-AF65-F5344CB8AC3E}">
        <p14:creationId xmlns:p14="http://schemas.microsoft.com/office/powerpoint/2010/main" val="2314624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4000"/>
              <a:t>It can be harder to remember directions and words for rotation.</a:t>
            </a:r>
          </a:p>
        </p:txBody>
      </p:sp>
      <p:pic>
        <p:nvPicPr>
          <p:cNvPr id="43010" name="Picture 2" descr="http://upload.wikimedia.org/wikipedia/commons/7/7e/Rollpitchyawplain.p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524000" y="1417638"/>
            <a:ext cx="6391275" cy="418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0744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1545" y="304800"/>
            <a:ext cx="9155545" cy="1200329"/>
          </a:xfrm>
        </p:spPr>
        <p:txBody>
          <a:bodyPr/>
          <a:lstStyle/>
          <a:p>
            <a:pPr algn="l"/>
            <a:r>
              <a:rPr lang="en-US"/>
              <a:t>It can be hard to remember directions and words for rotation.</a:t>
            </a:r>
          </a:p>
        </p:txBody>
      </p:sp>
      <p:sp>
        <p:nvSpPr>
          <p:cNvPr id="2" name="Slide Number Placeholder 1"/>
          <p:cNvSpPr>
            <a:spLocks noGrp="1"/>
          </p:cNvSpPr>
          <p:nvPr>
            <p:ph type="sldNum" sz="quarter" idx="4294967295"/>
          </p:nvPr>
        </p:nvSpPr>
        <p:spPr>
          <a:xfrm>
            <a:off x="0" y="6356350"/>
            <a:ext cx="2133600" cy="365125"/>
          </a:xfrm>
          <a:prstGeom prst="rect">
            <a:avLst/>
          </a:prstGeom>
        </p:spPr>
        <p:txBody>
          <a:bodyPr/>
          <a:lstStyle/>
          <a:p>
            <a:fld id="{0DAF4B8F-2CB2-4D4A-936A-0528D4CE1465}" type="slidenum">
              <a:rPr lang="en-US" altLang="en-US" smtClean="0"/>
              <a:pPr/>
              <a:t>5</a:t>
            </a:fld>
            <a:endParaRPr lang="en-US" altLang="en-US"/>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66800" y="1752600"/>
            <a:ext cx="7162800" cy="4267200"/>
          </a:xfrm>
          <a:prstGeom prst="rect">
            <a:avLst/>
          </a:prstGeom>
        </p:spPr>
      </p:pic>
    </p:spTree>
    <p:extLst>
      <p:ext uri="{BB962C8B-B14F-4D97-AF65-F5344CB8AC3E}">
        <p14:creationId xmlns:p14="http://schemas.microsoft.com/office/powerpoint/2010/main" val="2401475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1545" y="304800"/>
            <a:ext cx="9155545" cy="646331"/>
          </a:xfrm>
        </p:spPr>
        <p:txBody>
          <a:bodyPr/>
          <a:lstStyle/>
          <a:p>
            <a:r>
              <a:rPr lang="en-US"/>
              <a:t>In roll, rotation occurs about the x-axis</a:t>
            </a:r>
          </a:p>
        </p:txBody>
      </p:sp>
      <p:sp>
        <p:nvSpPr>
          <p:cNvPr id="2" name="Slide Number Placeholder 1"/>
          <p:cNvSpPr>
            <a:spLocks noGrp="1"/>
          </p:cNvSpPr>
          <p:nvPr>
            <p:ph type="sldNum" sz="quarter" idx="4294967295"/>
          </p:nvPr>
        </p:nvSpPr>
        <p:spPr>
          <a:xfrm>
            <a:off x="0" y="6356350"/>
            <a:ext cx="2133600" cy="365125"/>
          </a:xfrm>
          <a:prstGeom prst="rect">
            <a:avLst/>
          </a:prstGeom>
        </p:spPr>
        <p:txBody>
          <a:bodyPr/>
          <a:lstStyle/>
          <a:p>
            <a:fld id="{0DAF4B8F-2CB2-4D4A-936A-0528D4CE1465}" type="slidenum">
              <a:rPr lang="en-US" altLang="en-US" smtClean="0"/>
              <a:pPr/>
              <a:t>6</a:t>
            </a:fld>
            <a:endParaRPr lang="en-US" altLang="en-US"/>
          </a:p>
        </p:txBody>
      </p:sp>
      <p:pic>
        <p:nvPicPr>
          <p:cNvPr id="7" name="Picture 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81000" y="1794991"/>
            <a:ext cx="4341091" cy="3012103"/>
          </a:xfrm>
          <a:prstGeom prst="rect">
            <a:avLst/>
          </a:prstGeom>
        </p:spPr>
      </p:pic>
      <p:sp>
        <p:nvSpPr>
          <p:cNvPr id="5" name="Text Box 6"/>
          <p:cNvSpPr txBox="1">
            <a:spLocks noChangeArrowheads="1"/>
          </p:cNvSpPr>
          <p:nvPr/>
        </p:nvSpPr>
        <p:spPr bwMode="auto">
          <a:xfrm>
            <a:off x="5791200" y="4150772"/>
            <a:ext cx="2047099" cy="646331"/>
          </a:xfrm>
          <a:prstGeom prst="rect">
            <a:avLst/>
          </a:prstGeom>
          <a:noFill/>
          <a:ln w="9525">
            <a:noFill/>
            <a:miter lim="800000"/>
            <a:headEnd/>
            <a:tailEnd/>
          </a:ln>
        </p:spPr>
        <p:txBody>
          <a:bodyPr wrap="none">
            <a:spAutoFit/>
          </a:bodyPr>
          <a:lstStyle/>
          <a:p>
            <a:r>
              <a:rPr lang="en-US"/>
              <a:t>Positive Roll in SAE</a:t>
            </a:r>
          </a:p>
          <a:p>
            <a:r>
              <a:rPr lang="en-US"/>
              <a:t>(crushes passenger)</a:t>
            </a:r>
          </a:p>
        </p:txBody>
      </p:sp>
      <p:pic>
        <p:nvPicPr>
          <p:cNvPr id="10" name="Picture 8" descr="blueprint_front.jpg"/>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rot="-540869">
            <a:off x="5739651" y="2581112"/>
            <a:ext cx="1935163" cy="1439862"/>
          </a:xfrm>
          <a:prstGeom prst="rect">
            <a:avLst/>
          </a:prstGeom>
          <a:noFill/>
          <a:ln w="9525">
            <a:noFill/>
            <a:miter lim="800000"/>
            <a:headEnd/>
            <a:tailEnd/>
          </a:ln>
        </p:spPr>
      </p:pic>
      <p:sp>
        <p:nvSpPr>
          <p:cNvPr id="15" name="Oval 11"/>
          <p:cNvSpPr>
            <a:spLocks noChangeArrowheads="1"/>
          </p:cNvSpPr>
          <p:nvPr/>
        </p:nvSpPr>
        <p:spPr bwMode="auto">
          <a:xfrm>
            <a:off x="6627425" y="3301043"/>
            <a:ext cx="154376" cy="216314"/>
          </a:xfrm>
          <a:prstGeom prst="ellipse">
            <a:avLst/>
          </a:prstGeom>
          <a:solidFill>
            <a:srgbClr val="FF0000"/>
          </a:solidFill>
          <a:ln w="9525" algn="ctr">
            <a:solidFill>
              <a:schemeClr val="tx1"/>
            </a:solidFill>
            <a:round/>
            <a:headEnd/>
            <a:tailEnd/>
          </a:ln>
        </p:spPr>
        <p:txBody>
          <a:bodyPr wrap="none"/>
          <a:lstStyle/>
          <a:p>
            <a:endParaRPr lang="en-US"/>
          </a:p>
        </p:txBody>
      </p:sp>
    </p:spTree>
    <p:extLst>
      <p:ext uri="{BB962C8B-B14F-4D97-AF65-F5344CB8AC3E}">
        <p14:creationId xmlns:p14="http://schemas.microsoft.com/office/powerpoint/2010/main" val="993877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1545" y="304800"/>
            <a:ext cx="9155545" cy="646331"/>
          </a:xfrm>
        </p:spPr>
        <p:txBody>
          <a:bodyPr/>
          <a:lstStyle/>
          <a:p>
            <a:r>
              <a:rPr lang="en-US"/>
              <a:t>In pitch, rotation occurs about the y-axis</a:t>
            </a:r>
          </a:p>
        </p:txBody>
      </p:sp>
      <p:sp>
        <p:nvSpPr>
          <p:cNvPr id="2" name="Slide Number Placeholder 1"/>
          <p:cNvSpPr>
            <a:spLocks noGrp="1"/>
          </p:cNvSpPr>
          <p:nvPr>
            <p:ph type="sldNum" sz="quarter" idx="4294967295"/>
          </p:nvPr>
        </p:nvSpPr>
        <p:spPr>
          <a:xfrm>
            <a:off x="0" y="6356350"/>
            <a:ext cx="2133600" cy="365125"/>
          </a:xfrm>
          <a:prstGeom prst="rect">
            <a:avLst/>
          </a:prstGeom>
        </p:spPr>
        <p:txBody>
          <a:bodyPr/>
          <a:lstStyle/>
          <a:p>
            <a:fld id="{0DAF4B8F-2CB2-4D4A-936A-0528D4CE1465}" type="slidenum">
              <a:rPr lang="en-US" altLang="en-US" smtClean="0"/>
              <a:pPr/>
              <a:t>7</a:t>
            </a:fld>
            <a:endParaRPr lang="en-US" altLang="en-US"/>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28600" y="1899987"/>
            <a:ext cx="4648200" cy="2896557"/>
          </a:xfrm>
          <a:prstGeom prst="rect">
            <a:avLst/>
          </a:prstGeom>
        </p:spPr>
      </p:pic>
      <p:sp>
        <p:nvSpPr>
          <p:cNvPr id="8" name="Text Box 6"/>
          <p:cNvSpPr txBox="1">
            <a:spLocks noChangeArrowheads="1"/>
          </p:cNvSpPr>
          <p:nvPr/>
        </p:nvSpPr>
        <p:spPr bwMode="auto">
          <a:xfrm>
            <a:off x="5943600" y="3999981"/>
            <a:ext cx="2589170" cy="830997"/>
          </a:xfrm>
          <a:prstGeom prst="rect">
            <a:avLst/>
          </a:prstGeom>
          <a:noFill/>
          <a:ln w="9525">
            <a:noFill/>
            <a:miter lim="800000"/>
            <a:headEnd/>
            <a:tailEnd/>
          </a:ln>
        </p:spPr>
        <p:txBody>
          <a:bodyPr wrap="none">
            <a:spAutoFit/>
          </a:bodyPr>
          <a:lstStyle/>
          <a:p>
            <a:r>
              <a:rPr lang="en-US"/>
              <a:t>Positive Pitch</a:t>
            </a:r>
          </a:p>
          <a:p>
            <a:r>
              <a:rPr lang="en-US"/>
              <a:t>(likes to accelerate)</a:t>
            </a:r>
          </a:p>
        </p:txBody>
      </p:sp>
      <p:pic>
        <p:nvPicPr>
          <p:cNvPr id="9" name="Picture 6" descr="blueprint_side.jpg"/>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rot="21218566" flipH="1">
            <a:off x="5459188" y="2818835"/>
            <a:ext cx="3133725" cy="1058862"/>
          </a:xfrm>
          <a:prstGeom prst="rect">
            <a:avLst/>
          </a:prstGeom>
          <a:noFill/>
          <a:ln w="9525">
            <a:noFill/>
            <a:miter lim="800000"/>
            <a:headEnd/>
            <a:tailEnd/>
          </a:ln>
        </p:spPr>
      </p:pic>
      <p:sp>
        <p:nvSpPr>
          <p:cNvPr id="12" name="Multiply 11"/>
          <p:cNvSpPr/>
          <p:nvPr/>
        </p:nvSpPr>
        <p:spPr>
          <a:xfrm>
            <a:off x="6172200" y="3216939"/>
            <a:ext cx="457200" cy="381000"/>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3965768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1545" y="304800"/>
            <a:ext cx="9155545" cy="646331"/>
          </a:xfrm>
        </p:spPr>
        <p:txBody>
          <a:bodyPr/>
          <a:lstStyle/>
          <a:p>
            <a:r>
              <a:rPr lang="en-US"/>
              <a:t>In yaw, rotation occurs about the z-axis</a:t>
            </a:r>
          </a:p>
        </p:txBody>
      </p:sp>
      <p:sp>
        <p:nvSpPr>
          <p:cNvPr id="2" name="Slide Number Placeholder 1"/>
          <p:cNvSpPr>
            <a:spLocks noGrp="1"/>
          </p:cNvSpPr>
          <p:nvPr>
            <p:ph type="sldNum" sz="quarter" idx="4294967295"/>
          </p:nvPr>
        </p:nvSpPr>
        <p:spPr>
          <a:xfrm>
            <a:off x="0" y="6356350"/>
            <a:ext cx="2133600" cy="365125"/>
          </a:xfrm>
          <a:prstGeom prst="rect">
            <a:avLst/>
          </a:prstGeom>
        </p:spPr>
        <p:txBody>
          <a:bodyPr/>
          <a:lstStyle/>
          <a:p>
            <a:fld id="{0DAF4B8F-2CB2-4D4A-936A-0528D4CE1465}" type="slidenum">
              <a:rPr lang="en-US" altLang="en-US" smtClean="0"/>
              <a:pPr/>
              <a:t>8</a:t>
            </a:fld>
            <a:endParaRPr lang="en-US" altLang="en-US"/>
          </a:p>
        </p:txBody>
      </p:sp>
      <p:sp>
        <p:nvSpPr>
          <p:cNvPr id="7" name="Text Box 6"/>
          <p:cNvSpPr txBox="1">
            <a:spLocks noChangeArrowheads="1"/>
          </p:cNvSpPr>
          <p:nvPr/>
        </p:nvSpPr>
        <p:spPr bwMode="auto">
          <a:xfrm>
            <a:off x="3304279" y="5710019"/>
            <a:ext cx="2563121" cy="646331"/>
          </a:xfrm>
          <a:prstGeom prst="rect">
            <a:avLst/>
          </a:prstGeom>
          <a:noFill/>
          <a:ln w="9525">
            <a:noFill/>
            <a:miter lim="800000"/>
            <a:headEnd/>
            <a:tailEnd/>
          </a:ln>
        </p:spPr>
        <p:txBody>
          <a:bodyPr wrap="square">
            <a:spAutoFit/>
          </a:bodyPr>
          <a:lstStyle/>
          <a:p>
            <a:r>
              <a:rPr lang="en-US"/>
              <a:t>Positive Yaw in SAE</a:t>
            </a:r>
          </a:p>
          <a:p>
            <a:r>
              <a:rPr lang="en-US"/>
              <a:t>(gives driver better view)</a:t>
            </a:r>
          </a:p>
        </p:txBody>
      </p:sp>
      <p:pic>
        <p:nvPicPr>
          <p:cNvPr id="10" name="Picture 8" descr="blueprint_top.jpg"/>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1066800" y="4490716"/>
            <a:ext cx="1766888" cy="947616"/>
          </a:xfrm>
          <a:prstGeom prst="rect">
            <a:avLst/>
          </a:prstGeom>
          <a:noFill/>
          <a:ln w="9525">
            <a:noFill/>
            <a:miter lim="800000"/>
            <a:headEnd/>
            <a:tailEnd/>
          </a:ln>
        </p:spPr>
      </p:pic>
      <p:sp>
        <p:nvSpPr>
          <p:cNvPr id="11" name="Multiply 10"/>
          <p:cNvSpPr/>
          <p:nvPr/>
        </p:nvSpPr>
        <p:spPr>
          <a:xfrm>
            <a:off x="1676400" y="4735712"/>
            <a:ext cx="457200" cy="4689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5" name="Picture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681221" y="1519318"/>
            <a:ext cx="4343400" cy="2298376"/>
          </a:xfrm>
          <a:prstGeom prst="rect">
            <a:avLst/>
          </a:prstGeom>
        </p:spPr>
      </p:pic>
      <p:pic>
        <p:nvPicPr>
          <p:cNvPr id="12" name="Picture 1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52400" y="1519318"/>
            <a:ext cx="4334486" cy="2298376"/>
          </a:xfrm>
          <a:prstGeom prst="rect">
            <a:avLst/>
          </a:prstGeom>
        </p:spPr>
      </p:pic>
      <p:pic>
        <p:nvPicPr>
          <p:cNvPr id="13" name="Picture 8" descr="blueprint_top.jpg"/>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bwMode="auto">
          <a:xfrm rot="1006991">
            <a:off x="6232383" y="4427728"/>
            <a:ext cx="1766888" cy="862382"/>
          </a:xfrm>
          <a:prstGeom prst="rect">
            <a:avLst/>
          </a:prstGeom>
          <a:noFill/>
          <a:ln w="9525">
            <a:noFill/>
            <a:miter lim="800000"/>
            <a:headEnd/>
            <a:tailEnd/>
          </a:ln>
        </p:spPr>
      </p:pic>
      <p:sp>
        <p:nvSpPr>
          <p:cNvPr id="14" name="Multiply 13"/>
          <p:cNvSpPr/>
          <p:nvPr/>
        </p:nvSpPr>
        <p:spPr>
          <a:xfrm rot="1006991">
            <a:off x="6887226" y="4668419"/>
            <a:ext cx="457200" cy="381000"/>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7" name="Right Arrow 16"/>
          <p:cNvSpPr/>
          <p:nvPr/>
        </p:nvSpPr>
        <p:spPr>
          <a:xfrm>
            <a:off x="3707550" y="4615591"/>
            <a:ext cx="1717353" cy="7392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99996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5"/>
          <p:cNvSpPr>
            <a:spLocks noGrp="1" noChangeArrowheads="1"/>
          </p:cNvSpPr>
          <p:nvPr>
            <p:ph type="title"/>
          </p:nvPr>
        </p:nvSpPr>
        <p:spPr>
          <a:noFill/>
        </p:spPr>
        <p:txBody>
          <a:bodyPr/>
          <a:lstStyle/>
          <a:p>
            <a:pPr eaLnBrk="1" hangingPunct="1"/>
            <a:r>
              <a:rPr lang="en-US"/>
              <a:t>Vehicle Axis Systems? –  SAE Pitch</a:t>
            </a:r>
          </a:p>
        </p:txBody>
      </p:sp>
      <p:sp>
        <p:nvSpPr>
          <p:cNvPr id="4099" name="Text Box 6"/>
          <p:cNvSpPr txBox="1">
            <a:spLocks noChangeArrowheads="1"/>
          </p:cNvSpPr>
          <p:nvPr/>
        </p:nvSpPr>
        <p:spPr bwMode="auto">
          <a:xfrm>
            <a:off x="1655763" y="5037138"/>
            <a:ext cx="3998210" cy="830997"/>
          </a:xfrm>
          <a:prstGeom prst="rect">
            <a:avLst/>
          </a:prstGeom>
          <a:noFill/>
          <a:ln w="9525">
            <a:noFill/>
            <a:miter lim="800000"/>
            <a:headEnd/>
            <a:tailEnd/>
          </a:ln>
        </p:spPr>
        <p:txBody>
          <a:bodyPr wrap="none">
            <a:spAutoFit/>
          </a:bodyPr>
          <a:lstStyle/>
          <a:p>
            <a:r>
              <a:rPr lang="en-US"/>
              <a:t>Positive Pitch</a:t>
            </a:r>
          </a:p>
          <a:p>
            <a:r>
              <a:rPr lang="en-US"/>
              <a:t>(Americans like to accelerate)</a:t>
            </a:r>
          </a:p>
        </p:txBody>
      </p:sp>
      <p:sp>
        <p:nvSpPr>
          <p:cNvPr id="4100" name="Text Box 7"/>
          <p:cNvSpPr txBox="1">
            <a:spLocks noChangeArrowheads="1"/>
          </p:cNvSpPr>
          <p:nvPr/>
        </p:nvSpPr>
        <p:spPr bwMode="auto">
          <a:xfrm>
            <a:off x="6656388" y="6018213"/>
            <a:ext cx="1754187" cy="276225"/>
          </a:xfrm>
          <a:prstGeom prst="rect">
            <a:avLst/>
          </a:prstGeom>
          <a:noFill/>
          <a:ln w="9525">
            <a:noFill/>
            <a:miter lim="800000"/>
            <a:headEnd/>
            <a:tailEnd/>
          </a:ln>
        </p:spPr>
        <p:txBody>
          <a:bodyPr wrap="none">
            <a:spAutoFit/>
          </a:bodyPr>
          <a:lstStyle/>
          <a:p>
            <a:r>
              <a:rPr lang="en-US" sz="1200"/>
              <a:t>Fig. Ref. Highend3d.com</a:t>
            </a:r>
          </a:p>
        </p:txBody>
      </p:sp>
      <p:pic>
        <p:nvPicPr>
          <p:cNvPr id="4101" name="Picture 5" descr="blueprint_side.jpg"/>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3155950" y="1787525"/>
            <a:ext cx="3133725" cy="1058863"/>
          </a:xfrm>
          <a:prstGeom prst="rect">
            <a:avLst/>
          </a:prstGeom>
          <a:noFill/>
          <a:ln w="9525">
            <a:noFill/>
            <a:miter lim="800000"/>
            <a:headEnd/>
            <a:tailEnd/>
          </a:ln>
        </p:spPr>
      </p:pic>
      <p:pic>
        <p:nvPicPr>
          <p:cNvPr id="4102" name="Picture 6" descr="blueprint_side.jpg"/>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rot="381434">
            <a:off x="944124" y="3874225"/>
            <a:ext cx="3133725" cy="1058862"/>
          </a:xfrm>
          <a:prstGeom prst="rect">
            <a:avLst/>
          </a:prstGeom>
          <a:noFill/>
          <a:ln w="9525">
            <a:noFill/>
            <a:miter lim="800000"/>
            <a:headEnd/>
            <a:tailEnd/>
          </a:ln>
        </p:spPr>
      </p:pic>
      <p:pic>
        <p:nvPicPr>
          <p:cNvPr id="4103" name="Picture 7" descr="blueprint_side.jpg"/>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rot="-381965">
            <a:off x="5089526" y="3847612"/>
            <a:ext cx="3133725" cy="1057275"/>
          </a:xfrm>
          <a:prstGeom prst="rect">
            <a:avLst/>
          </a:prstGeom>
          <a:noFill/>
          <a:ln w="9525">
            <a:noFill/>
            <a:miter lim="800000"/>
            <a:headEnd/>
            <a:tailEnd/>
          </a:ln>
        </p:spPr>
      </p:pic>
      <p:sp>
        <p:nvSpPr>
          <p:cNvPr id="4104" name="Text Box 6"/>
          <p:cNvSpPr txBox="1">
            <a:spLocks noChangeArrowheads="1"/>
          </p:cNvSpPr>
          <p:nvPr/>
        </p:nvSpPr>
        <p:spPr bwMode="auto">
          <a:xfrm>
            <a:off x="5784850" y="4995863"/>
            <a:ext cx="2001838" cy="460375"/>
          </a:xfrm>
          <a:prstGeom prst="rect">
            <a:avLst/>
          </a:prstGeom>
          <a:noFill/>
          <a:ln w="9525">
            <a:noFill/>
            <a:miter lim="800000"/>
            <a:headEnd/>
            <a:tailEnd/>
          </a:ln>
        </p:spPr>
        <p:txBody>
          <a:bodyPr wrap="none">
            <a:spAutoFit/>
          </a:bodyPr>
          <a:lstStyle/>
          <a:p>
            <a:r>
              <a:rPr lang="en-US"/>
              <a:t>Negative Pitch</a:t>
            </a:r>
          </a:p>
        </p:txBody>
      </p:sp>
      <p:sp>
        <p:nvSpPr>
          <p:cNvPr id="4105" name="Text Box 6"/>
          <p:cNvSpPr txBox="1">
            <a:spLocks noChangeArrowheads="1"/>
          </p:cNvSpPr>
          <p:nvPr/>
        </p:nvSpPr>
        <p:spPr bwMode="auto">
          <a:xfrm>
            <a:off x="792162" y="2947500"/>
            <a:ext cx="7712075" cy="830263"/>
          </a:xfrm>
          <a:prstGeom prst="rect">
            <a:avLst/>
          </a:prstGeom>
          <a:noFill/>
          <a:ln w="9525">
            <a:noFill/>
            <a:miter lim="800000"/>
            <a:headEnd/>
            <a:tailEnd/>
          </a:ln>
        </p:spPr>
        <p:txBody>
          <a:bodyPr wrap="none">
            <a:spAutoFit/>
          </a:bodyPr>
          <a:lstStyle/>
          <a:p>
            <a:r>
              <a:rPr lang="en-US"/>
              <a:t>Vehicle pitches around the y-axis, which points laterally to </a:t>
            </a:r>
          </a:p>
          <a:p>
            <a:r>
              <a:rPr lang="en-US"/>
              <a:t>the right of the vehicle. Note: X indicates tail of axis “arrow”</a:t>
            </a:r>
          </a:p>
        </p:txBody>
      </p:sp>
      <p:sp>
        <p:nvSpPr>
          <p:cNvPr id="13" name="Multiply 12"/>
          <p:cNvSpPr/>
          <p:nvPr/>
        </p:nvSpPr>
        <p:spPr>
          <a:xfrm>
            <a:off x="4648200" y="2133600"/>
            <a:ext cx="457200" cy="381000"/>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Multiply 13"/>
          <p:cNvSpPr/>
          <p:nvPr/>
        </p:nvSpPr>
        <p:spPr>
          <a:xfrm>
            <a:off x="2819400" y="4267200"/>
            <a:ext cx="457200" cy="381000"/>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5" name="Multiply 14"/>
          <p:cNvSpPr/>
          <p:nvPr/>
        </p:nvSpPr>
        <p:spPr>
          <a:xfrm>
            <a:off x="6477000" y="4114800"/>
            <a:ext cx="457200" cy="381000"/>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2289040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5"/>
          <p:cNvSpPr>
            <a:spLocks noGrp="1" noChangeArrowheads="1"/>
          </p:cNvSpPr>
          <p:nvPr>
            <p:ph type="title"/>
          </p:nvPr>
        </p:nvSpPr>
        <p:spPr>
          <a:noFill/>
        </p:spPr>
        <p:txBody>
          <a:bodyPr/>
          <a:lstStyle/>
          <a:p>
            <a:pPr eaLnBrk="1" hangingPunct="1"/>
            <a:r>
              <a:rPr lang="en-US"/>
              <a:t>Vehicle Axis Systems? –  ISO Pitch</a:t>
            </a:r>
          </a:p>
        </p:txBody>
      </p:sp>
      <p:sp>
        <p:nvSpPr>
          <p:cNvPr id="5123" name="Text Box 6"/>
          <p:cNvSpPr txBox="1">
            <a:spLocks noChangeArrowheads="1"/>
          </p:cNvSpPr>
          <p:nvPr/>
        </p:nvSpPr>
        <p:spPr bwMode="auto">
          <a:xfrm>
            <a:off x="1655763" y="5105400"/>
            <a:ext cx="3300904" cy="830997"/>
          </a:xfrm>
          <a:prstGeom prst="rect">
            <a:avLst/>
          </a:prstGeom>
          <a:noFill/>
          <a:ln w="9525">
            <a:noFill/>
            <a:miter lim="800000"/>
            <a:headEnd/>
            <a:tailEnd/>
          </a:ln>
        </p:spPr>
        <p:txBody>
          <a:bodyPr wrap="none">
            <a:spAutoFit/>
          </a:bodyPr>
          <a:lstStyle/>
          <a:p>
            <a:r>
              <a:rPr lang="en-US"/>
              <a:t>Positive Pitch</a:t>
            </a:r>
          </a:p>
          <a:p>
            <a:r>
              <a:rPr lang="en-US"/>
              <a:t>(Europeans like to brake)</a:t>
            </a:r>
          </a:p>
        </p:txBody>
      </p:sp>
      <p:sp>
        <p:nvSpPr>
          <p:cNvPr id="5124" name="Text Box 7"/>
          <p:cNvSpPr txBox="1">
            <a:spLocks noChangeArrowheads="1"/>
          </p:cNvSpPr>
          <p:nvPr/>
        </p:nvSpPr>
        <p:spPr bwMode="auto">
          <a:xfrm>
            <a:off x="6656388" y="6018213"/>
            <a:ext cx="1754187" cy="276225"/>
          </a:xfrm>
          <a:prstGeom prst="rect">
            <a:avLst/>
          </a:prstGeom>
          <a:noFill/>
          <a:ln w="9525">
            <a:noFill/>
            <a:miter lim="800000"/>
            <a:headEnd/>
            <a:tailEnd/>
          </a:ln>
        </p:spPr>
        <p:txBody>
          <a:bodyPr wrap="none">
            <a:spAutoFit/>
          </a:bodyPr>
          <a:lstStyle/>
          <a:p>
            <a:r>
              <a:rPr lang="en-US" sz="1200"/>
              <a:t>Fig. Ref. Highend3d.com</a:t>
            </a:r>
          </a:p>
        </p:txBody>
      </p:sp>
      <p:pic>
        <p:nvPicPr>
          <p:cNvPr id="5125" name="Picture 5" descr="blueprint_side.jpg"/>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3155950" y="1787525"/>
            <a:ext cx="3133725" cy="1058863"/>
          </a:xfrm>
          <a:prstGeom prst="rect">
            <a:avLst/>
          </a:prstGeom>
          <a:noFill/>
          <a:ln w="9525">
            <a:noFill/>
            <a:miter lim="800000"/>
            <a:headEnd/>
            <a:tailEnd/>
          </a:ln>
        </p:spPr>
      </p:pic>
      <p:pic>
        <p:nvPicPr>
          <p:cNvPr id="5126" name="Picture 6" descr="blueprint_side.jpg"/>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rot="-434098">
            <a:off x="1271588" y="3963988"/>
            <a:ext cx="3133725" cy="1057275"/>
          </a:xfrm>
          <a:prstGeom prst="rect">
            <a:avLst/>
          </a:prstGeom>
          <a:noFill/>
          <a:ln w="9525">
            <a:noFill/>
            <a:miter lim="800000"/>
            <a:headEnd/>
            <a:tailEnd/>
          </a:ln>
        </p:spPr>
      </p:pic>
      <p:pic>
        <p:nvPicPr>
          <p:cNvPr id="5127" name="Picture 7" descr="blueprint_side.jpg"/>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rot="448628">
            <a:off x="5026025" y="3879850"/>
            <a:ext cx="3133725" cy="1058863"/>
          </a:xfrm>
          <a:prstGeom prst="rect">
            <a:avLst/>
          </a:prstGeom>
          <a:noFill/>
          <a:ln w="9525">
            <a:noFill/>
            <a:miter lim="800000"/>
            <a:headEnd/>
            <a:tailEnd/>
          </a:ln>
        </p:spPr>
      </p:pic>
      <p:sp>
        <p:nvSpPr>
          <p:cNvPr id="5128" name="Text Box 6"/>
          <p:cNvSpPr txBox="1">
            <a:spLocks noChangeArrowheads="1"/>
          </p:cNvSpPr>
          <p:nvPr/>
        </p:nvSpPr>
        <p:spPr bwMode="auto">
          <a:xfrm>
            <a:off x="5784850" y="5064125"/>
            <a:ext cx="2001838" cy="461963"/>
          </a:xfrm>
          <a:prstGeom prst="rect">
            <a:avLst/>
          </a:prstGeom>
          <a:noFill/>
          <a:ln w="9525">
            <a:noFill/>
            <a:miter lim="800000"/>
            <a:headEnd/>
            <a:tailEnd/>
          </a:ln>
        </p:spPr>
        <p:txBody>
          <a:bodyPr wrap="none">
            <a:spAutoFit/>
          </a:bodyPr>
          <a:lstStyle/>
          <a:p>
            <a:r>
              <a:rPr lang="en-US"/>
              <a:t>Negative Pitch</a:t>
            </a:r>
          </a:p>
        </p:txBody>
      </p:sp>
      <p:sp>
        <p:nvSpPr>
          <p:cNvPr id="5129" name="Oval 9"/>
          <p:cNvSpPr>
            <a:spLocks noChangeArrowheads="1"/>
          </p:cNvSpPr>
          <p:nvPr/>
        </p:nvSpPr>
        <p:spPr bwMode="auto">
          <a:xfrm>
            <a:off x="4806950" y="2300288"/>
            <a:ext cx="125413" cy="138112"/>
          </a:xfrm>
          <a:prstGeom prst="ellipse">
            <a:avLst/>
          </a:prstGeom>
          <a:solidFill>
            <a:srgbClr val="FF0000"/>
          </a:solidFill>
          <a:ln w="9525" algn="ctr">
            <a:solidFill>
              <a:schemeClr val="tx1"/>
            </a:solidFill>
            <a:round/>
            <a:headEnd/>
            <a:tailEnd/>
          </a:ln>
        </p:spPr>
        <p:txBody>
          <a:bodyPr wrap="none"/>
          <a:lstStyle/>
          <a:p>
            <a:endParaRPr lang="en-US"/>
          </a:p>
        </p:txBody>
      </p:sp>
      <p:sp>
        <p:nvSpPr>
          <p:cNvPr id="5130" name="Oval 10"/>
          <p:cNvSpPr>
            <a:spLocks noChangeArrowheads="1"/>
          </p:cNvSpPr>
          <p:nvPr/>
        </p:nvSpPr>
        <p:spPr bwMode="auto">
          <a:xfrm>
            <a:off x="2868613" y="4516438"/>
            <a:ext cx="123825" cy="138112"/>
          </a:xfrm>
          <a:prstGeom prst="ellipse">
            <a:avLst/>
          </a:prstGeom>
          <a:solidFill>
            <a:srgbClr val="FF0000"/>
          </a:solidFill>
          <a:ln w="9525" algn="ctr">
            <a:solidFill>
              <a:schemeClr val="tx1"/>
            </a:solidFill>
            <a:round/>
            <a:headEnd/>
            <a:tailEnd/>
          </a:ln>
        </p:spPr>
        <p:txBody>
          <a:bodyPr wrap="none"/>
          <a:lstStyle/>
          <a:p>
            <a:endParaRPr lang="en-US"/>
          </a:p>
        </p:txBody>
      </p:sp>
      <p:sp>
        <p:nvSpPr>
          <p:cNvPr id="5131" name="Oval 11"/>
          <p:cNvSpPr>
            <a:spLocks noChangeArrowheads="1"/>
          </p:cNvSpPr>
          <p:nvPr/>
        </p:nvSpPr>
        <p:spPr bwMode="auto">
          <a:xfrm>
            <a:off x="6650038" y="4446588"/>
            <a:ext cx="125412" cy="139700"/>
          </a:xfrm>
          <a:prstGeom prst="ellipse">
            <a:avLst/>
          </a:prstGeom>
          <a:solidFill>
            <a:srgbClr val="FF0000"/>
          </a:solidFill>
          <a:ln w="9525" algn="ctr">
            <a:solidFill>
              <a:schemeClr val="tx1"/>
            </a:solidFill>
            <a:round/>
            <a:headEnd/>
            <a:tailEnd/>
          </a:ln>
        </p:spPr>
        <p:txBody>
          <a:bodyPr wrap="none"/>
          <a:lstStyle/>
          <a:p>
            <a:endParaRPr lang="en-US"/>
          </a:p>
        </p:txBody>
      </p:sp>
      <p:sp>
        <p:nvSpPr>
          <p:cNvPr id="5132" name="Text Box 6"/>
          <p:cNvSpPr txBox="1">
            <a:spLocks noChangeArrowheads="1"/>
          </p:cNvSpPr>
          <p:nvPr/>
        </p:nvSpPr>
        <p:spPr bwMode="auto">
          <a:xfrm>
            <a:off x="1781175" y="2709863"/>
            <a:ext cx="6170613" cy="830262"/>
          </a:xfrm>
          <a:prstGeom prst="rect">
            <a:avLst/>
          </a:prstGeom>
          <a:noFill/>
          <a:ln w="9525">
            <a:noFill/>
            <a:miter lim="800000"/>
            <a:headEnd/>
            <a:tailEnd/>
          </a:ln>
        </p:spPr>
        <p:txBody>
          <a:bodyPr wrap="none">
            <a:spAutoFit/>
          </a:bodyPr>
          <a:lstStyle/>
          <a:p>
            <a:r>
              <a:rPr lang="en-US"/>
              <a:t>Vehicle pitches around the y-axis. The y-axis is</a:t>
            </a:r>
          </a:p>
          <a:p>
            <a:r>
              <a:rPr lang="en-US"/>
              <a:t>now to the left of the vehicle in ISO coordinates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5"/>
          <p:cNvSpPr>
            <a:spLocks noGrp="1" noChangeArrowheads="1"/>
          </p:cNvSpPr>
          <p:nvPr>
            <p:ph type="title"/>
          </p:nvPr>
        </p:nvSpPr>
        <p:spPr>
          <a:noFill/>
        </p:spPr>
        <p:txBody>
          <a:bodyPr/>
          <a:lstStyle/>
          <a:p>
            <a:pPr eaLnBrk="1" hangingPunct="1"/>
            <a:r>
              <a:rPr lang="en-US"/>
              <a:t>Vehicle Axis Systems? – SAE Yaw</a:t>
            </a:r>
          </a:p>
        </p:txBody>
      </p:sp>
      <p:sp>
        <p:nvSpPr>
          <p:cNvPr id="6147" name="Text Box 6"/>
          <p:cNvSpPr txBox="1">
            <a:spLocks noChangeArrowheads="1"/>
          </p:cNvSpPr>
          <p:nvPr/>
        </p:nvSpPr>
        <p:spPr bwMode="auto">
          <a:xfrm>
            <a:off x="1558925" y="5453063"/>
            <a:ext cx="3300904" cy="830997"/>
          </a:xfrm>
          <a:prstGeom prst="rect">
            <a:avLst/>
          </a:prstGeom>
          <a:noFill/>
          <a:ln w="9525">
            <a:noFill/>
            <a:miter lim="800000"/>
            <a:headEnd/>
            <a:tailEnd/>
          </a:ln>
        </p:spPr>
        <p:txBody>
          <a:bodyPr wrap="none">
            <a:spAutoFit/>
          </a:bodyPr>
          <a:lstStyle/>
          <a:p>
            <a:r>
              <a:rPr lang="en-US"/>
              <a:t>Positive Yaw</a:t>
            </a:r>
          </a:p>
          <a:p>
            <a:r>
              <a:rPr lang="en-US"/>
              <a:t>(gives driver better view)</a:t>
            </a:r>
          </a:p>
        </p:txBody>
      </p:sp>
      <p:pic>
        <p:nvPicPr>
          <p:cNvPr id="6148" name="Picture 5" descr="blueprint_top.jpg"/>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4341813" y="1604963"/>
            <a:ext cx="757237" cy="1733550"/>
          </a:xfrm>
          <a:prstGeom prst="rect">
            <a:avLst/>
          </a:prstGeom>
          <a:noFill/>
          <a:ln w="9525">
            <a:noFill/>
            <a:miter lim="800000"/>
            <a:headEnd/>
            <a:tailEnd/>
          </a:ln>
        </p:spPr>
      </p:pic>
      <p:pic>
        <p:nvPicPr>
          <p:cNvPr id="6149" name="Picture 8" descr="blueprint_top.jpg"/>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bwMode="auto">
          <a:xfrm rot="6798977">
            <a:off x="1709738" y="4191000"/>
            <a:ext cx="1766888" cy="769937"/>
          </a:xfrm>
          <a:prstGeom prst="rect">
            <a:avLst/>
          </a:prstGeom>
          <a:noFill/>
          <a:ln w="9525">
            <a:noFill/>
            <a:miter lim="800000"/>
            <a:headEnd/>
            <a:tailEnd/>
          </a:ln>
        </p:spPr>
      </p:pic>
      <p:pic>
        <p:nvPicPr>
          <p:cNvPr id="6150" name="Picture 9" descr="blueprint_top.jpg"/>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bwMode="auto">
          <a:xfrm rot="4265770">
            <a:off x="6323012" y="4117976"/>
            <a:ext cx="1770063" cy="773112"/>
          </a:xfrm>
          <a:prstGeom prst="rect">
            <a:avLst/>
          </a:prstGeom>
          <a:noFill/>
          <a:ln w="9525">
            <a:noFill/>
            <a:miter lim="800000"/>
            <a:headEnd/>
            <a:tailEnd/>
          </a:ln>
        </p:spPr>
      </p:pic>
      <p:sp>
        <p:nvSpPr>
          <p:cNvPr id="6151" name="Text Box 6"/>
          <p:cNvSpPr txBox="1">
            <a:spLocks noChangeArrowheads="1"/>
          </p:cNvSpPr>
          <p:nvPr/>
        </p:nvSpPr>
        <p:spPr bwMode="auto">
          <a:xfrm>
            <a:off x="6324600" y="5368925"/>
            <a:ext cx="1911350" cy="461963"/>
          </a:xfrm>
          <a:prstGeom prst="rect">
            <a:avLst/>
          </a:prstGeom>
          <a:noFill/>
          <a:ln w="9525">
            <a:noFill/>
            <a:miter lim="800000"/>
            <a:headEnd/>
            <a:tailEnd/>
          </a:ln>
        </p:spPr>
        <p:txBody>
          <a:bodyPr wrap="none">
            <a:spAutoFit/>
          </a:bodyPr>
          <a:lstStyle/>
          <a:p>
            <a:r>
              <a:rPr lang="en-US"/>
              <a:t>Negative Yaw</a:t>
            </a:r>
          </a:p>
        </p:txBody>
      </p:sp>
      <p:sp>
        <p:nvSpPr>
          <p:cNvPr id="6152" name="Text Box 6"/>
          <p:cNvSpPr txBox="1">
            <a:spLocks noChangeArrowheads="1"/>
          </p:cNvSpPr>
          <p:nvPr/>
        </p:nvSpPr>
        <p:spPr bwMode="auto">
          <a:xfrm>
            <a:off x="1558925" y="3208338"/>
            <a:ext cx="6346825" cy="461962"/>
          </a:xfrm>
          <a:prstGeom prst="rect">
            <a:avLst/>
          </a:prstGeom>
          <a:noFill/>
          <a:ln w="9525">
            <a:noFill/>
            <a:miter lim="800000"/>
            <a:headEnd/>
            <a:tailEnd/>
          </a:ln>
        </p:spPr>
        <p:txBody>
          <a:bodyPr wrap="none">
            <a:spAutoFit/>
          </a:bodyPr>
          <a:lstStyle/>
          <a:p>
            <a:r>
              <a:rPr lang="en-US"/>
              <a:t>Yaw is around z-axis.  Z-axis points into the page.</a:t>
            </a:r>
          </a:p>
        </p:txBody>
      </p:sp>
      <p:sp>
        <p:nvSpPr>
          <p:cNvPr id="6153" name="Text Box 7"/>
          <p:cNvSpPr txBox="1">
            <a:spLocks noChangeArrowheads="1"/>
          </p:cNvSpPr>
          <p:nvPr/>
        </p:nvSpPr>
        <p:spPr bwMode="auto">
          <a:xfrm>
            <a:off x="6656388" y="6018213"/>
            <a:ext cx="1754187" cy="276225"/>
          </a:xfrm>
          <a:prstGeom prst="rect">
            <a:avLst/>
          </a:prstGeom>
          <a:noFill/>
          <a:ln w="9525">
            <a:noFill/>
            <a:miter lim="800000"/>
            <a:headEnd/>
            <a:tailEnd/>
          </a:ln>
        </p:spPr>
        <p:txBody>
          <a:bodyPr wrap="none">
            <a:spAutoFit/>
          </a:bodyPr>
          <a:lstStyle/>
          <a:p>
            <a:r>
              <a:rPr lang="en-US" sz="1200"/>
              <a:t>Fig. Ref. Highend3d.com</a:t>
            </a:r>
          </a:p>
        </p:txBody>
      </p:sp>
      <p:sp>
        <p:nvSpPr>
          <p:cNvPr id="13" name="Multiply 12"/>
          <p:cNvSpPr/>
          <p:nvPr/>
        </p:nvSpPr>
        <p:spPr>
          <a:xfrm>
            <a:off x="4495800" y="2286000"/>
            <a:ext cx="457200" cy="381000"/>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Multiply 13"/>
          <p:cNvSpPr/>
          <p:nvPr/>
        </p:nvSpPr>
        <p:spPr>
          <a:xfrm>
            <a:off x="6934200" y="4267200"/>
            <a:ext cx="457200" cy="381000"/>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5" name="Multiply 14"/>
          <p:cNvSpPr/>
          <p:nvPr/>
        </p:nvSpPr>
        <p:spPr>
          <a:xfrm>
            <a:off x="2362200" y="4343400"/>
            <a:ext cx="457200" cy="381000"/>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5"/>
          <p:cNvSpPr>
            <a:spLocks noGrp="1" noChangeArrowheads="1"/>
          </p:cNvSpPr>
          <p:nvPr>
            <p:ph type="title"/>
          </p:nvPr>
        </p:nvSpPr>
        <p:spPr>
          <a:noFill/>
        </p:spPr>
        <p:txBody>
          <a:bodyPr/>
          <a:lstStyle/>
          <a:p>
            <a:pPr eaLnBrk="1" hangingPunct="1"/>
            <a:r>
              <a:rPr lang="en-US"/>
              <a:t>Vehicle Axis Systems? – ISO Yaw</a:t>
            </a:r>
          </a:p>
        </p:txBody>
      </p:sp>
      <p:sp>
        <p:nvSpPr>
          <p:cNvPr id="7171" name="Text Box 6"/>
          <p:cNvSpPr txBox="1">
            <a:spLocks noChangeArrowheads="1"/>
          </p:cNvSpPr>
          <p:nvPr/>
        </p:nvSpPr>
        <p:spPr bwMode="auto">
          <a:xfrm>
            <a:off x="1558925" y="5453063"/>
            <a:ext cx="4948791" cy="830997"/>
          </a:xfrm>
          <a:prstGeom prst="rect">
            <a:avLst/>
          </a:prstGeom>
          <a:noFill/>
          <a:ln w="9525">
            <a:noFill/>
            <a:miter lim="800000"/>
            <a:headEnd/>
            <a:tailEnd/>
          </a:ln>
        </p:spPr>
        <p:txBody>
          <a:bodyPr wrap="none">
            <a:spAutoFit/>
          </a:bodyPr>
          <a:lstStyle/>
          <a:p>
            <a:r>
              <a:rPr lang="en-US"/>
              <a:t>Positive Yaw</a:t>
            </a:r>
          </a:p>
          <a:p>
            <a:r>
              <a:rPr lang="en-US"/>
              <a:t>(gives driver better view – in England)</a:t>
            </a:r>
          </a:p>
        </p:txBody>
      </p:sp>
      <p:pic>
        <p:nvPicPr>
          <p:cNvPr id="7172" name="Picture 5" descr="blueprint_top.jpg"/>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4341813" y="1604963"/>
            <a:ext cx="757237" cy="1733550"/>
          </a:xfrm>
          <a:prstGeom prst="rect">
            <a:avLst/>
          </a:prstGeom>
          <a:noFill/>
          <a:ln w="9525">
            <a:noFill/>
            <a:miter lim="800000"/>
            <a:headEnd/>
            <a:tailEnd/>
          </a:ln>
        </p:spPr>
      </p:pic>
      <p:pic>
        <p:nvPicPr>
          <p:cNvPr id="7173" name="Picture 8" descr="blueprint_top.jpg"/>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bwMode="auto">
          <a:xfrm rot="4515803">
            <a:off x="1709738" y="4191000"/>
            <a:ext cx="1766888" cy="769937"/>
          </a:xfrm>
          <a:prstGeom prst="rect">
            <a:avLst/>
          </a:prstGeom>
          <a:noFill/>
          <a:ln w="9525">
            <a:noFill/>
            <a:miter lim="800000"/>
            <a:headEnd/>
            <a:tailEnd/>
          </a:ln>
        </p:spPr>
      </p:pic>
      <p:pic>
        <p:nvPicPr>
          <p:cNvPr id="7174" name="Picture 9" descr="blueprint_top.jpg"/>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bwMode="auto">
          <a:xfrm rot="6587688">
            <a:off x="6323012" y="4117976"/>
            <a:ext cx="1770063" cy="773112"/>
          </a:xfrm>
          <a:prstGeom prst="rect">
            <a:avLst/>
          </a:prstGeom>
          <a:noFill/>
          <a:ln w="9525">
            <a:noFill/>
            <a:miter lim="800000"/>
            <a:headEnd/>
            <a:tailEnd/>
          </a:ln>
        </p:spPr>
      </p:pic>
      <p:sp>
        <p:nvSpPr>
          <p:cNvPr id="7175" name="Text Box 6"/>
          <p:cNvSpPr txBox="1">
            <a:spLocks noChangeArrowheads="1"/>
          </p:cNvSpPr>
          <p:nvPr/>
        </p:nvSpPr>
        <p:spPr bwMode="auto">
          <a:xfrm>
            <a:off x="6324600" y="5368925"/>
            <a:ext cx="1911350" cy="461963"/>
          </a:xfrm>
          <a:prstGeom prst="rect">
            <a:avLst/>
          </a:prstGeom>
          <a:noFill/>
          <a:ln w="9525">
            <a:noFill/>
            <a:miter lim="800000"/>
            <a:headEnd/>
            <a:tailEnd/>
          </a:ln>
        </p:spPr>
        <p:txBody>
          <a:bodyPr wrap="none">
            <a:spAutoFit/>
          </a:bodyPr>
          <a:lstStyle/>
          <a:p>
            <a:r>
              <a:rPr lang="en-US"/>
              <a:t>Negative Yaw</a:t>
            </a:r>
          </a:p>
        </p:txBody>
      </p:sp>
      <p:sp>
        <p:nvSpPr>
          <p:cNvPr id="7176" name="Text Box 6"/>
          <p:cNvSpPr txBox="1">
            <a:spLocks noChangeArrowheads="1"/>
          </p:cNvSpPr>
          <p:nvPr/>
        </p:nvSpPr>
        <p:spPr bwMode="auto">
          <a:xfrm>
            <a:off x="555625" y="3249613"/>
            <a:ext cx="8310563" cy="830262"/>
          </a:xfrm>
          <a:prstGeom prst="rect">
            <a:avLst/>
          </a:prstGeom>
          <a:noFill/>
          <a:ln w="9525">
            <a:noFill/>
            <a:miter lim="800000"/>
            <a:headEnd/>
            <a:tailEnd/>
          </a:ln>
        </p:spPr>
        <p:txBody>
          <a:bodyPr>
            <a:spAutoFit/>
          </a:bodyPr>
          <a:lstStyle/>
          <a:p>
            <a:r>
              <a:rPr lang="en-US"/>
              <a:t>Yaw is around z-axis.  Z-axis is now pointing up out of the page, 		        so yaw is reversed from SAE</a:t>
            </a:r>
          </a:p>
        </p:txBody>
      </p:sp>
      <p:sp>
        <p:nvSpPr>
          <p:cNvPr id="7177" name="Oval 12"/>
          <p:cNvSpPr>
            <a:spLocks noChangeArrowheads="1"/>
          </p:cNvSpPr>
          <p:nvPr/>
        </p:nvSpPr>
        <p:spPr bwMode="auto">
          <a:xfrm>
            <a:off x="4654550" y="2563813"/>
            <a:ext cx="125413" cy="138112"/>
          </a:xfrm>
          <a:prstGeom prst="ellipse">
            <a:avLst/>
          </a:prstGeom>
          <a:solidFill>
            <a:srgbClr val="FF0000"/>
          </a:solidFill>
          <a:ln w="9525" algn="ctr">
            <a:solidFill>
              <a:schemeClr val="tx1"/>
            </a:solidFill>
            <a:round/>
            <a:headEnd/>
            <a:tailEnd/>
          </a:ln>
        </p:spPr>
        <p:txBody>
          <a:bodyPr wrap="none"/>
          <a:lstStyle/>
          <a:p>
            <a:endParaRPr lang="en-US"/>
          </a:p>
        </p:txBody>
      </p:sp>
      <p:sp>
        <p:nvSpPr>
          <p:cNvPr id="7178" name="Oval 13"/>
          <p:cNvSpPr>
            <a:spLocks noChangeArrowheads="1"/>
          </p:cNvSpPr>
          <p:nvPr/>
        </p:nvSpPr>
        <p:spPr bwMode="auto">
          <a:xfrm>
            <a:off x="2576513" y="4654550"/>
            <a:ext cx="125412" cy="139700"/>
          </a:xfrm>
          <a:prstGeom prst="ellipse">
            <a:avLst/>
          </a:prstGeom>
          <a:solidFill>
            <a:srgbClr val="FF0000"/>
          </a:solidFill>
          <a:ln w="9525" algn="ctr">
            <a:solidFill>
              <a:schemeClr val="tx1"/>
            </a:solidFill>
            <a:round/>
            <a:headEnd/>
            <a:tailEnd/>
          </a:ln>
        </p:spPr>
        <p:txBody>
          <a:bodyPr wrap="none"/>
          <a:lstStyle/>
          <a:p>
            <a:endParaRPr lang="en-US"/>
          </a:p>
        </p:txBody>
      </p:sp>
      <p:sp>
        <p:nvSpPr>
          <p:cNvPr id="7179" name="Oval 14"/>
          <p:cNvSpPr>
            <a:spLocks noChangeArrowheads="1"/>
          </p:cNvSpPr>
          <p:nvPr/>
        </p:nvSpPr>
        <p:spPr bwMode="auto">
          <a:xfrm>
            <a:off x="7092950" y="4586288"/>
            <a:ext cx="125413" cy="138112"/>
          </a:xfrm>
          <a:prstGeom prst="ellipse">
            <a:avLst/>
          </a:prstGeom>
          <a:solidFill>
            <a:srgbClr val="FF0000"/>
          </a:solidFill>
          <a:ln w="9525" algn="ctr">
            <a:solidFill>
              <a:schemeClr val="tx1"/>
            </a:solidFill>
            <a:round/>
            <a:headEnd/>
            <a:tailEnd/>
          </a:ln>
        </p:spPr>
        <p:txBody>
          <a:bodyPr wrap="none"/>
          <a:lstStyle/>
          <a:p>
            <a:endParaRPr lang="en-US"/>
          </a:p>
        </p:txBody>
      </p:sp>
      <p:sp>
        <p:nvSpPr>
          <p:cNvPr id="7180" name="Text Box 7"/>
          <p:cNvSpPr txBox="1">
            <a:spLocks noChangeArrowheads="1"/>
          </p:cNvSpPr>
          <p:nvPr/>
        </p:nvSpPr>
        <p:spPr bwMode="auto">
          <a:xfrm>
            <a:off x="6656388" y="6018213"/>
            <a:ext cx="1754187" cy="276225"/>
          </a:xfrm>
          <a:prstGeom prst="rect">
            <a:avLst/>
          </a:prstGeom>
          <a:noFill/>
          <a:ln w="9525">
            <a:noFill/>
            <a:miter lim="800000"/>
            <a:headEnd/>
            <a:tailEnd/>
          </a:ln>
        </p:spPr>
        <p:txBody>
          <a:bodyPr wrap="none">
            <a:spAutoFit/>
          </a:bodyPr>
          <a:lstStyle/>
          <a:p>
            <a:r>
              <a:rPr lang="en-US" sz="1200"/>
              <a:t>Fig. Ref. Highend3d.com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5"/>
          <p:cNvSpPr>
            <a:spLocks noGrp="1" noChangeArrowheads="1"/>
          </p:cNvSpPr>
          <p:nvPr>
            <p:ph type="title"/>
          </p:nvPr>
        </p:nvSpPr>
        <p:spPr>
          <a:noFill/>
        </p:spPr>
        <p:txBody>
          <a:bodyPr/>
          <a:lstStyle/>
          <a:p>
            <a:pPr eaLnBrk="1" hangingPunct="1"/>
            <a:r>
              <a:rPr lang="en-US"/>
              <a:t>Vehicle Axis Systems? – SAE Roll</a:t>
            </a:r>
          </a:p>
        </p:txBody>
      </p:sp>
      <p:sp>
        <p:nvSpPr>
          <p:cNvPr id="8195" name="Text Box 6"/>
          <p:cNvSpPr txBox="1">
            <a:spLocks noChangeArrowheads="1"/>
          </p:cNvSpPr>
          <p:nvPr/>
        </p:nvSpPr>
        <p:spPr bwMode="auto">
          <a:xfrm>
            <a:off x="1392238" y="5341938"/>
            <a:ext cx="2603598" cy="830997"/>
          </a:xfrm>
          <a:prstGeom prst="rect">
            <a:avLst/>
          </a:prstGeom>
          <a:noFill/>
          <a:ln w="9525">
            <a:noFill/>
            <a:miter lim="800000"/>
            <a:headEnd/>
            <a:tailEnd/>
          </a:ln>
        </p:spPr>
        <p:txBody>
          <a:bodyPr wrap="none">
            <a:spAutoFit/>
          </a:bodyPr>
          <a:lstStyle/>
          <a:p>
            <a:r>
              <a:rPr lang="en-US"/>
              <a:t>Positive Roll</a:t>
            </a:r>
          </a:p>
          <a:p>
            <a:r>
              <a:rPr lang="en-US"/>
              <a:t>(crushes passenger)</a:t>
            </a:r>
          </a:p>
        </p:txBody>
      </p:sp>
      <p:sp>
        <p:nvSpPr>
          <p:cNvPr id="8196" name="Text Box 6"/>
          <p:cNvSpPr txBox="1">
            <a:spLocks noChangeArrowheads="1"/>
          </p:cNvSpPr>
          <p:nvPr/>
        </p:nvSpPr>
        <p:spPr bwMode="auto">
          <a:xfrm>
            <a:off x="6048375" y="5245100"/>
            <a:ext cx="1900238" cy="461963"/>
          </a:xfrm>
          <a:prstGeom prst="rect">
            <a:avLst/>
          </a:prstGeom>
          <a:noFill/>
          <a:ln w="9525">
            <a:noFill/>
            <a:miter lim="800000"/>
            <a:headEnd/>
            <a:tailEnd/>
          </a:ln>
        </p:spPr>
        <p:txBody>
          <a:bodyPr wrap="none">
            <a:spAutoFit/>
          </a:bodyPr>
          <a:lstStyle/>
          <a:p>
            <a:r>
              <a:rPr lang="en-US"/>
              <a:t>Negative Roll</a:t>
            </a:r>
          </a:p>
        </p:txBody>
      </p:sp>
      <p:sp>
        <p:nvSpPr>
          <p:cNvPr id="8197" name="Text Box 6"/>
          <p:cNvSpPr txBox="1">
            <a:spLocks noChangeArrowheads="1"/>
          </p:cNvSpPr>
          <p:nvPr/>
        </p:nvSpPr>
        <p:spPr bwMode="auto">
          <a:xfrm>
            <a:off x="2654300" y="3027363"/>
            <a:ext cx="3854450" cy="461962"/>
          </a:xfrm>
          <a:prstGeom prst="rect">
            <a:avLst/>
          </a:prstGeom>
          <a:noFill/>
          <a:ln w="9525">
            <a:noFill/>
            <a:miter lim="800000"/>
            <a:headEnd/>
            <a:tailEnd/>
          </a:ln>
        </p:spPr>
        <p:txBody>
          <a:bodyPr wrap="none">
            <a:spAutoFit/>
          </a:bodyPr>
          <a:lstStyle/>
          <a:p>
            <a:r>
              <a:rPr lang="en-US"/>
              <a:t>Vehicle rolls about the x-axis</a:t>
            </a:r>
          </a:p>
        </p:txBody>
      </p:sp>
      <p:pic>
        <p:nvPicPr>
          <p:cNvPr id="8198" name="Picture 7" descr="blueprint_front.jpg"/>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3757613" y="1627188"/>
            <a:ext cx="1936750" cy="1438275"/>
          </a:xfrm>
          <a:prstGeom prst="rect">
            <a:avLst/>
          </a:prstGeom>
          <a:noFill/>
          <a:ln w="9525">
            <a:noFill/>
            <a:miter lim="800000"/>
            <a:headEnd/>
            <a:tailEnd/>
          </a:ln>
        </p:spPr>
      </p:pic>
      <p:pic>
        <p:nvPicPr>
          <p:cNvPr id="8199" name="Picture 8" descr="blueprint_front.jpg"/>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bwMode="auto">
          <a:xfrm rot="-540869">
            <a:off x="1250950" y="3732213"/>
            <a:ext cx="1935163" cy="1439862"/>
          </a:xfrm>
          <a:prstGeom prst="rect">
            <a:avLst/>
          </a:prstGeom>
          <a:noFill/>
          <a:ln w="9525">
            <a:noFill/>
            <a:miter lim="800000"/>
            <a:headEnd/>
            <a:tailEnd/>
          </a:ln>
        </p:spPr>
      </p:pic>
      <p:pic>
        <p:nvPicPr>
          <p:cNvPr id="8200" name="Picture 9" descr="blueprint_front.jpg"/>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bwMode="auto">
          <a:xfrm rot="715000">
            <a:off x="6127750" y="3622675"/>
            <a:ext cx="1935163" cy="1438275"/>
          </a:xfrm>
          <a:prstGeom prst="rect">
            <a:avLst/>
          </a:prstGeom>
          <a:noFill/>
          <a:ln w="9525">
            <a:noFill/>
            <a:miter lim="800000"/>
            <a:headEnd/>
            <a:tailEnd/>
          </a:ln>
        </p:spPr>
      </p:pic>
      <p:sp>
        <p:nvSpPr>
          <p:cNvPr id="8201" name="Oval 10"/>
          <p:cNvSpPr>
            <a:spLocks noChangeArrowheads="1"/>
          </p:cNvSpPr>
          <p:nvPr/>
        </p:nvSpPr>
        <p:spPr bwMode="auto">
          <a:xfrm>
            <a:off x="4654550" y="2382838"/>
            <a:ext cx="125413" cy="138112"/>
          </a:xfrm>
          <a:prstGeom prst="ellipse">
            <a:avLst/>
          </a:prstGeom>
          <a:solidFill>
            <a:srgbClr val="FF0000"/>
          </a:solidFill>
          <a:ln w="9525" algn="ctr">
            <a:solidFill>
              <a:schemeClr val="tx1"/>
            </a:solidFill>
            <a:round/>
            <a:headEnd/>
            <a:tailEnd/>
          </a:ln>
        </p:spPr>
        <p:txBody>
          <a:bodyPr wrap="none"/>
          <a:lstStyle/>
          <a:p>
            <a:endParaRPr lang="en-US"/>
          </a:p>
        </p:txBody>
      </p:sp>
      <p:sp>
        <p:nvSpPr>
          <p:cNvPr id="8202" name="Oval 11"/>
          <p:cNvSpPr>
            <a:spLocks noChangeArrowheads="1"/>
          </p:cNvSpPr>
          <p:nvPr/>
        </p:nvSpPr>
        <p:spPr bwMode="auto">
          <a:xfrm>
            <a:off x="2174875" y="4502150"/>
            <a:ext cx="125413" cy="139700"/>
          </a:xfrm>
          <a:prstGeom prst="ellipse">
            <a:avLst/>
          </a:prstGeom>
          <a:solidFill>
            <a:srgbClr val="FF0000"/>
          </a:solidFill>
          <a:ln w="9525" algn="ctr">
            <a:solidFill>
              <a:schemeClr val="tx1"/>
            </a:solidFill>
            <a:round/>
            <a:headEnd/>
            <a:tailEnd/>
          </a:ln>
        </p:spPr>
        <p:txBody>
          <a:bodyPr wrap="none"/>
          <a:lstStyle/>
          <a:p>
            <a:endParaRPr lang="en-US"/>
          </a:p>
        </p:txBody>
      </p:sp>
      <p:sp>
        <p:nvSpPr>
          <p:cNvPr id="8203" name="Oval 12"/>
          <p:cNvSpPr>
            <a:spLocks noChangeArrowheads="1"/>
          </p:cNvSpPr>
          <p:nvPr/>
        </p:nvSpPr>
        <p:spPr bwMode="auto">
          <a:xfrm>
            <a:off x="7010400" y="4419600"/>
            <a:ext cx="125413" cy="138113"/>
          </a:xfrm>
          <a:prstGeom prst="ellipse">
            <a:avLst/>
          </a:prstGeom>
          <a:solidFill>
            <a:srgbClr val="FF0000"/>
          </a:solidFill>
          <a:ln w="9525" algn="ctr">
            <a:solidFill>
              <a:schemeClr val="tx1"/>
            </a:solidFill>
            <a:round/>
            <a:headEnd/>
            <a:tailEnd/>
          </a:ln>
        </p:spPr>
        <p:txBody>
          <a:bodyPr wrap="none"/>
          <a:lstStyle/>
          <a:p>
            <a:endParaRPr lang="en-US"/>
          </a:p>
        </p:txBody>
      </p:sp>
      <p:sp>
        <p:nvSpPr>
          <p:cNvPr id="8204" name="Text Box 7"/>
          <p:cNvSpPr txBox="1">
            <a:spLocks noChangeArrowheads="1"/>
          </p:cNvSpPr>
          <p:nvPr/>
        </p:nvSpPr>
        <p:spPr bwMode="auto">
          <a:xfrm>
            <a:off x="6656388" y="6018213"/>
            <a:ext cx="1754187" cy="276225"/>
          </a:xfrm>
          <a:prstGeom prst="rect">
            <a:avLst/>
          </a:prstGeom>
          <a:noFill/>
          <a:ln w="9525">
            <a:noFill/>
            <a:miter lim="800000"/>
            <a:headEnd/>
            <a:tailEnd/>
          </a:ln>
        </p:spPr>
        <p:txBody>
          <a:bodyPr wrap="none">
            <a:spAutoFit/>
          </a:bodyPr>
          <a:lstStyle/>
          <a:p>
            <a:r>
              <a:rPr lang="en-US" sz="1200"/>
              <a:t>Fig. Ref. Highend3d.com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5"/>
          <p:cNvSpPr>
            <a:spLocks noGrp="1" noChangeArrowheads="1"/>
          </p:cNvSpPr>
          <p:nvPr>
            <p:ph type="title"/>
          </p:nvPr>
        </p:nvSpPr>
        <p:spPr>
          <a:noFill/>
        </p:spPr>
        <p:txBody>
          <a:bodyPr/>
          <a:lstStyle/>
          <a:p>
            <a:pPr eaLnBrk="1" hangingPunct="1"/>
            <a:r>
              <a:rPr lang="en-US"/>
              <a:t>Vehicle Axis Systems? – ISO Roll</a:t>
            </a:r>
          </a:p>
        </p:txBody>
      </p:sp>
      <p:sp>
        <p:nvSpPr>
          <p:cNvPr id="9219" name="Text Box 6"/>
          <p:cNvSpPr txBox="1">
            <a:spLocks noChangeArrowheads="1"/>
          </p:cNvSpPr>
          <p:nvPr/>
        </p:nvSpPr>
        <p:spPr bwMode="auto">
          <a:xfrm>
            <a:off x="1379920" y="5508631"/>
            <a:ext cx="4251485" cy="830997"/>
          </a:xfrm>
          <a:prstGeom prst="rect">
            <a:avLst/>
          </a:prstGeom>
          <a:noFill/>
          <a:ln w="9525">
            <a:noFill/>
            <a:miter lim="800000"/>
            <a:headEnd/>
            <a:tailEnd/>
          </a:ln>
        </p:spPr>
        <p:txBody>
          <a:bodyPr wrap="none">
            <a:spAutoFit/>
          </a:bodyPr>
          <a:lstStyle/>
          <a:p>
            <a:r>
              <a:rPr lang="en-US"/>
              <a:t>Positive Roll</a:t>
            </a:r>
          </a:p>
          <a:p>
            <a:r>
              <a:rPr lang="en-US"/>
              <a:t>(crushes passenger – in England)</a:t>
            </a:r>
          </a:p>
        </p:txBody>
      </p:sp>
      <p:sp>
        <p:nvSpPr>
          <p:cNvPr id="9220" name="Text Box 6"/>
          <p:cNvSpPr txBox="1">
            <a:spLocks noChangeArrowheads="1"/>
          </p:cNvSpPr>
          <p:nvPr/>
        </p:nvSpPr>
        <p:spPr bwMode="auto">
          <a:xfrm>
            <a:off x="5633243" y="5508630"/>
            <a:ext cx="1900238" cy="461963"/>
          </a:xfrm>
          <a:prstGeom prst="rect">
            <a:avLst/>
          </a:prstGeom>
          <a:noFill/>
          <a:ln w="9525">
            <a:noFill/>
            <a:miter lim="800000"/>
            <a:headEnd/>
            <a:tailEnd/>
          </a:ln>
        </p:spPr>
        <p:txBody>
          <a:bodyPr wrap="none">
            <a:spAutoFit/>
          </a:bodyPr>
          <a:lstStyle/>
          <a:p>
            <a:r>
              <a:rPr lang="en-US"/>
              <a:t>Negative Roll</a:t>
            </a:r>
          </a:p>
        </p:txBody>
      </p:sp>
      <p:sp>
        <p:nvSpPr>
          <p:cNvPr id="9221" name="Text Box 6"/>
          <p:cNvSpPr txBox="1">
            <a:spLocks noChangeArrowheads="1"/>
          </p:cNvSpPr>
          <p:nvPr/>
        </p:nvSpPr>
        <p:spPr bwMode="auto">
          <a:xfrm>
            <a:off x="402653" y="2971935"/>
            <a:ext cx="8131747" cy="830997"/>
          </a:xfrm>
          <a:prstGeom prst="rect">
            <a:avLst/>
          </a:prstGeom>
          <a:noFill/>
          <a:ln w="9525">
            <a:noFill/>
            <a:miter lim="800000"/>
            <a:headEnd/>
            <a:tailEnd/>
          </a:ln>
        </p:spPr>
        <p:txBody>
          <a:bodyPr wrap="square">
            <a:spAutoFit/>
          </a:bodyPr>
          <a:lstStyle/>
          <a:p>
            <a:r>
              <a:rPr lang="en-US"/>
              <a:t>Vehicle rolls about the x-axis, same as SAE roll, but the positive roll direction is reversed from SAE </a:t>
            </a:r>
          </a:p>
        </p:txBody>
      </p:sp>
      <p:pic>
        <p:nvPicPr>
          <p:cNvPr id="9222" name="Picture 7" descr="blueprint_front.jpg"/>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3757613" y="1627188"/>
            <a:ext cx="1936750" cy="1438275"/>
          </a:xfrm>
          <a:prstGeom prst="rect">
            <a:avLst/>
          </a:prstGeom>
          <a:noFill/>
          <a:ln w="9525">
            <a:noFill/>
            <a:miter lim="800000"/>
            <a:headEnd/>
            <a:tailEnd/>
          </a:ln>
        </p:spPr>
      </p:pic>
      <p:pic>
        <p:nvPicPr>
          <p:cNvPr id="9223" name="Picture 8" descr="blueprint_front.jpg"/>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bwMode="auto">
          <a:xfrm rot="-540869">
            <a:off x="5499258" y="3945645"/>
            <a:ext cx="1935163" cy="1439862"/>
          </a:xfrm>
          <a:prstGeom prst="rect">
            <a:avLst/>
          </a:prstGeom>
          <a:noFill/>
          <a:ln w="9525">
            <a:noFill/>
            <a:miter lim="800000"/>
            <a:headEnd/>
            <a:tailEnd/>
          </a:ln>
        </p:spPr>
      </p:pic>
      <p:pic>
        <p:nvPicPr>
          <p:cNvPr id="9224" name="Picture 9" descr="blueprint_front.jpg"/>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bwMode="auto">
          <a:xfrm rot="715000">
            <a:off x="1303719" y="3987230"/>
            <a:ext cx="1935163" cy="1438275"/>
          </a:xfrm>
          <a:prstGeom prst="rect">
            <a:avLst/>
          </a:prstGeom>
          <a:noFill/>
          <a:ln w="9525">
            <a:noFill/>
            <a:miter lim="800000"/>
            <a:headEnd/>
            <a:tailEnd/>
          </a:ln>
        </p:spPr>
      </p:pic>
      <p:sp>
        <p:nvSpPr>
          <p:cNvPr id="9225" name="Oval 10"/>
          <p:cNvSpPr>
            <a:spLocks noChangeArrowheads="1"/>
          </p:cNvSpPr>
          <p:nvPr/>
        </p:nvSpPr>
        <p:spPr bwMode="auto">
          <a:xfrm>
            <a:off x="4654550" y="2382838"/>
            <a:ext cx="125413" cy="138112"/>
          </a:xfrm>
          <a:prstGeom prst="ellipse">
            <a:avLst/>
          </a:prstGeom>
          <a:solidFill>
            <a:srgbClr val="FF0000"/>
          </a:solidFill>
          <a:ln w="9525" algn="ctr">
            <a:solidFill>
              <a:schemeClr val="tx1"/>
            </a:solidFill>
            <a:round/>
            <a:headEnd/>
            <a:tailEnd/>
          </a:ln>
        </p:spPr>
        <p:txBody>
          <a:bodyPr wrap="none"/>
          <a:lstStyle/>
          <a:p>
            <a:endParaRPr lang="en-US"/>
          </a:p>
        </p:txBody>
      </p:sp>
      <p:sp>
        <p:nvSpPr>
          <p:cNvPr id="9226" name="Oval 11"/>
          <p:cNvSpPr>
            <a:spLocks noChangeArrowheads="1"/>
          </p:cNvSpPr>
          <p:nvPr/>
        </p:nvSpPr>
        <p:spPr bwMode="auto">
          <a:xfrm>
            <a:off x="2145888" y="4701022"/>
            <a:ext cx="125413" cy="139700"/>
          </a:xfrm>
          <a:prstGeom prst="ellipse">
            <a:avLst/>
          </a:prstGeom>
          <a:solidFill>
            <a:srgbClr val="FF0000"/>
          </a:solidFill>
          <a:ln w="9525" algn="ctr">
            <a:solidFill>
              <a:schemeClr val="tx1"/>
            </a:solidFill>
            <a:round/>
            <a:headEnd/>
            <a:tailEnd/>
          </a:ln>
        </p:spPr>
        <p:txBody>
          <a:bodyPr wrap="none"/>
          <a:lstStyle/>
          <a:p>
            <a:endParaRPr lang="en-US"/>
          </a:p>
        </p:txBody>
      </p:sp>
      <p:sp>
        <p:nvSpPr>
          <p:cNvPr id="9227" name="Oval 12"/>
          <p:cNvSpPr>
            <a:spLocks noChangeArrowheads="1"/>
          </p:cNvSpPr>
          <p:nvPr/>
        </p:nvSpPr>
        <p:spPr bwMode="auto">
          <a:xfrm>
            <a:off x="6404134" y="4701022"/>
            <a:ext cx="125413" cy="138113"/>
          </a:xfrm>
          <a:prstGeom prst="ellipse">
            <a:avLst/>
          </a:prstGeom>
          <a:solidFill>
            <a:srgbClr val="FF0000"/>
          </a:solidFill>
          <a:ln w="9525" algn="ctr">
            <a:solidFill>
              <a:schemeClr val="tx1"/>
            </a:solidFill>
            <a:round/>
            <a:headEnd/>
            <a:tailEnd/>
          </a:ln>
        </p:spPr>
        <p:txBody>
          <a:bodyPr wrap="none"/>
          <a:lstStyle/>
          <a:p>
            <a:endParaRPr lang="en-US"/>
          </a:p>
        </p:txBody>
      </p:sp>
      <p:sp>
        <p:nvSpPr>
          <p:cNvPr id="9228" name="Text Box 7"/>
          <p:cNvSpPr txBox="1">
            <a:spLocks noChangeArrowheads="1"/>
          </p:cNvSpPr>
          <p:nvPr/>
        </p:nvSpPr>
        <p:spPr bwMode="auto">
          <a:xfrm>
            <a:off x="6656388" y="6018213"/>
            <a:ext cx="1754187" cy="276225"/>
          </a:xfrm>
          <a:prstGeom prst="rect">
            <a:avLst/>
          </a:prstGeom>
          <a:noFill/>
          <a:ln w="9525">
            <a:noFill/>
            <a:miter lim="800000"/>
            <a:headEnd/>
            <a:tailEnd/>
          </a:ln>
        </p:spPr>
        <p:txBody>
          <a:bodyPr wrap="none">
            <a:spAutoFit/>
          </a:bodyPr>
          <a:lstStyle/>
          <a:p>
            <a:r>
              <a:rPr lang="en-US" sz="1200"/>
              <a:t>Fig. Ref. Highend3d.com</a:t>
            </a:r>
          </a:p>
        </p:txBody>
      </p:sp>
    </p:spTree>
    <p:extLst>
      <p:ext uri="{BB962C8B-B14F-4D97-AF65-F5344CB8AC3E}">
        <p14:creationId xmlns:p14="http://schemas.microsoft.com/office/powerpoint/2010/main" val="40927869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noFill/>
        </p:spPr>
        <p:txBody>
          <a:bodyPr/>
          <a:lstStyle/>
          <a:p>
            <a:pPr algn="l" eaLnBrk="1" hangingPunct="1"/>
            <a:r>
              <a:rPr lang="en-US" sz="3200"/>
              <a:t>Where is this defined?</a:t>
            </a:r>
          </a:p>
        </p:txBody>
      </p:sp>
      <p:sp>
        <p:nvSpPr>
          <p:cNvPr id="10243" name="Rectangle 4"/>
          <p:cNvSpPr>
            <a:spLocks noGrp="1" noChangeArrowheads="1"/>
          </p:cNvSpPr>
          <p:nvPr>
            <p:ph type="body" idx="1"/>
          </p:nvPr>
        </p:nvSpPr>
        <p:spPr>
          <a:noFill/>
        </p:spPr>
        <p:txBody>
          <a:bodyPr/>
          <a:lstStyle/>
          <a:p>
            <a:pPr marL="0" indent="0" eaLnBrk="1" hangingPunct="1">
              <a:buNone/>
            </a:pPr>
            <a:endParaRPr lang="en-US" sz="2000"/>
          </a:p>
          <a:p>
            <a:pPr marL="0" indent="0" eaLnBrk="1" hangingPunct="1">
              <a:buNone/>
            </a:pPr>
            <a:endParaRPr lang="en-US" sz="2000"/>
          </a:p>
          <a:p>
            <a:pPr marL="0" indent="0" eaLnBrk="1" hangingPunct="1">
              <a:buNone/>
            </a:pPr>
            <a:r>
              <a:rPr lang="en-US" sz="2000"/>
              <a:t>References:</a:t>
            </a:r>
          </a:p>
          <a:p>
            <a:pPr eaLnBrk="1" hangingPunct="1"/>
            <a:r>
              <a:rPr lang="en-US" sz="2000"/>
              <a:t>Definition of SAE: “Vehicle Dynamics Terminology,” SAE J670e, Society of Automotive Engineers, </a:t>
            </a:r>
            <a:r>
              <a:rPr lang="en-US" sz="2000" err="1"/>
              <a:t>Warrendale</a:t>
            </a:r>
            <a:r>
              <a:rPr lang="en-US" sz="2000"/>
              <a:t>, PA.</a:t>
            </a:r>
          </a:p>
          <a:p>
            <a:pPr eaLnBrk="1" hangingPunct="1"/>
            <a:r>
              <a:rPr lang="en-US" sz="2000"/>
              <a:t>Definition of ISO: ISO 8855: 1991, “Road Vehicles – Vehicle Dynamics and Road-Holding Ability – Vocabulary,” The International Organization for Standardization, Geneva, Switzerland, 1991 (also available as BS AU 244: 1992, “Glossary of Terms for Road Vehicle Dynamics and Road Holding Ability,” British Standards Institution, Milton Keynes, England, 1992).</a:t>
            </a:r>
          </a:p>
          <a:p>
            <a:pPr eaLnBrk="1" hangingPunct="1"/>
            <a:r>
              <a:rPr lang="en-US" sz="2000"/>
              <a:t>Both documents available on the Box account</a:t>
            </a:r>
          </a:p>
          <a:p>
            <a:pPr eaLnBrk="1" hangingPunct="1"/>
            <a:endParaRPr lang="en-US" sz="16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Watch out for mix-ups!</a:t>
            </a:r>
          </a:p>
        </p:txBody>
      </p:sp>
      <p:sp>
        <p:nvSpPr>
          <p:cNvPr id="3" name="Content Placeholder 2"/>
          <p:cNvSpPr>
            <a:spLocks noGrp="1"/>
          </p:cNvSpPr>
          <p:nvPr>
            <p:ph idx="1"/>
          </p:nvPr>
        </p:nvSpPr>
        <p:spPr>
          <a:xfrm>
            <a:off x="457200" y="1295400"/>
            <a:ext cx="8229600" cy="4830763"/>
          </a:xfrm>
        </p:spPr>
        <p:txBody>
          <a:bodyPr/>
          <a:lstStyle/>
          <a:p>
            <a:pPr marL="0" indent="0">
              <a:buNone/>
            </a:pPr>
            <a:r>
              <a:rPr lang="en-US"/>
              <a:t>Many – particularly on the internet – often impose their OWN coordinate systems (and units) and this can cause huge problems in understanding the resulting equations</a:t>
            </a:r>
          </a:p>
        </p:txBody>
      </p:sp>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019800" y="3276600"/>
            <a:ext cx="2799876" cy="2026041"/>
          </a:xfrm>
          <a:prstGeom prst="rect">
            <a:avLst/>
          </a:prstGeom>
        </p:spPr>
      </p:pic>
      <p:pic>
        <p:nvPicPr>
          <p:cNvPr id="5" name="Picture 4"/>
          <p:cNvPicPr>
            <a:picLocks noChangeAspect="1"/>
          </p:cNvPicPr>
          <p:nvPr/>
        </p:nvPicPr>
        <p:blipFill>
          <a:blip r:embed="rId3"/>
          <a:stretch>
            <a:fillRect/>
          </a:stretch>
        </p:blipFill>
        <p:spPr>
          <a:xfrm>
            <a:off x="410367" y="3581400"/>
            <a:ext cx="5485714" cy="1933333"/>
          </a:xfrm>
          <a:prstGeom prst="rect">
            <a:avLst/>
          </a:prstGeom>
        </p:spPr>
      </p:pic>
      <p:sp>
        <p:nvSpPr>
          <p:cNvPr id="6" name="TextBox 5"/>
          <p:cNvSpPr txBox="1"/>
          <p:nvPr/>
        </p:nvSpPr>
        <p:spPr>
          <a:xfrm>
            <a:off x="645165" y="5566532"/>
            <a:ext cx="5016117" cy="253916"/>
          </a:xfrm>
          <a:prstGeom prst="rect">
            <a:avLst/>
          </a:prstGeom>
          <a:noFill/>
        </p:spPr>
        <p:txBody>
          <a:bodyPr wrap="none" rtlCol="0">
            <a:spAutoFit/>
          </a:bodyPr>
          <a:lstStyle/>
          <a:p>
            <a:r>
              <a:rPr lang="en-US" sz="1050"/>
              <a:t>http://edndoc.esri.com/arcobjects/9.2/NET/b0e91ce8-c180-47dc-8323-06cac5d77064.htm</a:t>
            </a:r>
          </a:p>
        </p:txBody>
      </p:sp>
    </p:spTree>
    <p:extLst>
      <p:ext uri="{BB962C8B-B14F-4D97-AF65-F5344CB8AC3E}">
        <p14:creationId xmlns:p14="http://schemas.microsoft.com/office/powerpoint/2010/main" val="3461847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p:cNvSpPr>
            <a:spLocks noGrp="1" noChangeArrowheads="1"/>
          </p:cNvSpPr>
          <p:nvPr>
            <p:ph type="title"/>
          </p:nvPr>
        </p:nvSpPr>
        <p:spPr>
          <a:noFill/>
        </p:spPr>
        <p:txBody>
          <a:bodyPr/>
          <a:lstStyle/>
          <a:p>
            <a:pPr algn="l" eaLnBrk="1" hangingPunct="1"/>
            <a:r>
              <a:rPr lang="en-US"/>
              <a:t>Velocities are what we are most interested in…</a:t>
            </a:r>
          </a:p>
        </p:txBody>
      </p:sp>
      <p:sp>
        <p:nvSpPr>
          <p:cNvPr id="11268" name="Rectangle 6"/>
          <p:cNvSpPr>
            <a:spLocks noGrp="1" noChangeArrowheads="1"/>
          </p:cNvSpPr>
          <p:nvPr>
            <p:ph type="body" idx="1"/>
          </p:nvPr>
        </p:nvSpPr>
        <p:spPr>
          <a:noFill/>
        </p:spPr>
        <p:txBody>
          <a:bodyPr/>
          <a:lstStyle/>
          <a:p>
            <a:pPr eaLnBrk="1" hangingPunct="1"/>
            <a:r>
              <a:rPr lang="en-US"/>
              <a:t>Lateral velocity of vehicle to the right = positive, along positive y-axis</a:t>
            </a:r>
          </a:p>
          <a:p>
            <a:pPr eaLnBrk="1" hangingPunct="1"/>
            <a:r>
              <a:rPr lang="en-US"/>
              <a:t>So, for a high-speed right-hand turn, lateral velocity is to the left and vehicle experiences negative lateral velocity</a:t>
            </a:r>
            <a:br>
              <a:rPr lang="en-US"/>
            </a:br>
            <a:r>
              <a:rPr lang="en-US"/>
              <a:t>and positive yaw rate </a:t>
            </a:r>
          </a:p>
          <a:p>
            <a:pPr eaLnBrk="1" hangingPunct="1"/>
            <a:endParaRPr lang="en-US"/>
          </a:p>
          <a:p>
            <a:pPr lvl="1" eaLnBrk="1" hangingPunct="1"/>
            <a:endParaRPr lang="en-US"/>
          </a:p>
          <a:p>
            <a:pPr lvl="1" eaLnBrk="1" hangingPunct="1"/>
            <a:endParaRPr lang="en-US" sz="2000"/>
          </a:p>
        </p:txBody>
      </p:sp>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a:off x="4953000" y="3861626"/>
            <a:ext cx="3673650" cy="223357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defRPr/>
            </a:pPr>
            <a:r>
              <a:rPr lang="en-US"/>
              <a:t>Measurement of sideslip, tire slip, and steer angle can be tricky</a:t>
            </a:r>
          </a:p>
        </p:txBody>
      </p:sp>
      <p:sp>
        <p:nvSpPr>
          <p:cNvPr id="12291" name="Content Placeholder 2"/>
          <p:cNvSpPr>
            <a:spLocks noGrp="1"/>
          </p:cNvSpPr>
          <p:nvPr>
            <p:ph idx="1"/>
          </p:nvPr>
        </p:nvSpPr>
        <p:spPr>
          <a:xfrm>
            <a:off x="228600" y="1447800"/>
            <a:ext cx="8610600" cy="5410200"/>
          </a:xfrm>
        </p:spPr>
        <p:txBody>
          <a:bodyPr/>
          <a:lstStyle/>
          <a:p>
            <a:r>
              <a:rPr lang="en-US"/>
              <a:t>SAE Convention considers overhead view</a:t>
            </a:r>
          </a:p>
          <a:p>
            <a:pPr lvl="1"/>
            <a:r>
              <a:rPr lang="en-US"/>
              <a:t>clockwise  = positive direction (CW+), and </a:t>
            </a:r>
          </a:p>
          <a:p>
            <a:pPr lvl="1"/>
            <a:r>
              <a:rPr lang="en-US"/>
              <a:t>counterclockwise negative (CCW-).</a:t>
            </a:r>
          </a:p>
          <a:p>
            <a:r>
              <a:rPr lang="en-US"/>
              <a:t>Always measure the angle from </a:t>
            </a:r>
            <a:r>
              <a:rPr lang="en-US" u="sng"/>
              <a:t>real to imaginary</a:t>
            </a:r>
            <a:r>
              <a:rPr lang="en-US"/>
              <a:t> </a:t>
            </a:r>
          </a:p>
          <a:p>
            <a:pPr lvl="1"/>
            <a:r>
              <a:rPr lang="en-US"/>
              <a:t>Sideslip Angle </a:t>
            </a:r>
            <a:r>
              <a:rPr lang="el-GR"/>
              <a:t>β</a:t>
            </a:r>
            <a:r>
              <a:rPr lang="en-US"/>
              <a:t>: from body to travel path of CG</a:t>
            </a:r>
          </a:p>
          <a:p>
            <a:pPr lvl="1"/>
            <a:r>
              <a:rPr lang="en-US"/>
              <a:t>Tire Slip Angle </a:t>
            </a:r>
            <a:r>
              <a:rPr lang="el-GR"/>
              <a:t>α</a:t>
            </a:r>
            <a:r>
              <a:rPr lang="en-US" baseline="-25000"/>
              <a:t>f</a:t>
            </a:r>
            <a:r>
              <a:rPr lang="en-US"/>
              <a:t>,</a:t>
            </a:r>
            <a:r>
              <a:rPr lang="el-GR"/>
              <a:t> α</a:t>
            </a:r>
            <a:r>
              <a:rPr lang="en-US" baseline="-25000"/>
              <a:t>r</a:t>
            </a:r>
            <a:r>
              <a:rPr lang="en-US"/>
              <a:t> : from tire to tire travel path</a:t>
            </a:r>
          </a:p>
          <a:p>
            <a:r>
              <a:rPr lang="en-US"/>
              <a:t>Or from </a:t>
            </a:r>
            <a:r>
              <a:rPr lang="en-US" u="sng"/>
              <a:t>larger component to smaller</a:t>
            </a:r>
          </a:p>
          <a:p>
            <a:pPr lvl="1"/>
            <a:r>
              <a:rPr lang="en-US"/>
              <a:t>Steer Angle </a:t>
            </a:r>
            <a:r>
              <a:rPr lang="el-GR"/>
              <a:t>δ</a:t>
            </a:r>
            <a:r>
              <a:rPr lang="en-US"/>
              <a:t>: from body to tire</a:t>
            </a:r>
          </a:p>
          <a:p>
            <a:pPr lvl="1"/>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457200" y="76200"/>
            <a:ext cx="8229600" cy="1143000"/>
          </a:xfrm>
        </p:spPr>
        <p:txBody>
          <a:bodyPr/>
          <a:lstStyle/>
          <a:p>
            <a:pPr algn="l"/>
            <a:r>
              <a:rPr lang="en-US"/>
              <a:t>Example: what are typical signs for a high-speed turn?</a:t>
            </a:r>
          </a:p>
        </p:txBody>
      </p:sp>
      <p:pic>
        <p:nvPicPr>
          <p:cNvPr id="13315" name="Picture 2" descr="C:\Users\Mark Miccio\Desktop\high speed 1.pn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4876800" y="1222214"/>
            <a:ext cx="2898170" cy="5114925"/>
          </a:xfrm>
          <a:prstGeom prst="rect">
            <a:avLst/>
          </a:prstGeom>
          <a:noFill/>
          <a:ln w="9525">
            <a:noFill/>
            <a:miter lim="800000"/>
            <a:headEnd/>
            <a:tailEnd/>
          </a:ln>
        </p:spPr>
      </p:pic>
      <p:pic>
        <p:nvPicPr>
          <p:cNvPr id="13316" name="Picture 3" descr="C:\Users\Mark Miccio\Desktop\high speed 2.png"/>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432513" y="1179513"/>
            <a:ext cx="3011969" cy="5145087"/>
          </a:xfrm>
          <a:prstGeom prst="rect">
            <a:avLst/>
          </a:prstGeom>
          <a:noFill/>
          <a:ln w="9525">
            <a:noFill/>
            <a:miter lim="800000"/>
            <a:headEnd/>
            <a:tailEnd/>
          </a:ln>
        </p:spPr>
      </p:pic>
      <p:cxnSp>
        <p:nvCxnSpPr>
          <p:cNvPr id="7" name="Straight Connector 6"/>
          <p:cNvCxnSpPr/>
          <p:nvPr/>
        </p:nvCxnSpPr>
        <p:spPr>
          <a:xfrm rot="5400000">
            <a:off x="1905000" y="3886200"/>
            <a:ext cx="51816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noFill/>
        </p:spPr>
        <p:txBody>
          <a:bodyPr/>
          <a:lstStyle/>
          <a:p>
            <a:pPr eaLnBrk="1" hangingPunct="1"/>
            <a:r>
              <a:rPr lang="en-US"/>
              <a:t>What if the body rolls? We use 2 different coordinate systems then</a:t>
            </a:r>
          </a:p>
        </p:txBody>
      </p:sp>
      <p:sp>
        <p:nvSpPr>
          <p:cNvPr id="14339" name="Text Box 3"/>
          <p:cNvSpPr txBox="1">
            <a:spLocks noChangeArrowheads="1"/>
          </p:cNvSpPr>
          <p:nvPr/>
        </p:nvSpPr>
        <p:spPr bwMode="auto">
          <a:xfrm>
            <a:off x="304800" y="1524000"/>
            <a:ext cx="3830637" cy="3785652"/>
          </a:xfrm>
          <a:prstGeom prst="rect">
            <a:avLst/>
          </a:prstGeom>
          <a:noFill/>
          <a:ln w="9525">
            <a:noFill/>
            <a:miter lim="800000"/>
            <a:headEnd/>
            <a:tailEnd/>
          </a:ln>
        </p:spPr>
        <p:txBody>
          <a:bodyPr wrap="square">
            <a:spAutoFit/>
          </a:bodyPr>
          <a:lstStyle/>
          <a:p>
            <a:pPr marL="165100" indent="-165100">
              <a:buFontTx/>
              <a:buChar char="•"/>
            </a:pPr>
            <a:r>
              <a:rPr lang="en-US" i="1"/>
              <a:t>Unsprung Mass</a:t>
            </a:r>
            <a:r>
              <a:rPr lang="en-US"/>
              <a:t> is a rigid frame with steerable wheels</a:t>
            </a:r>
          </a:p>
          <a:p>
            <a:pPr marL="165100" indent="-165100">
              <a:buFontTx/>
              <a:buChar char="•"/>
            </a:pPr>
            <a:r>
              <a:rPr lang="en-US" i="1"/>
              <a:t>Sprung Mass</a:t>
            </a:r>
            <a:r>
              <a:rPr lang="en-US"/>
              <a:t> is a rigid body</a:t>
            </a:r>
          </a:p>
          <a:p>
            <a:pPr marL="165100" indent="-165100">
              <a:buFontTx/>
              <a:buChar char="•"/>
            </a:pPr>
            <a:r>
              <a:rPr lang="en-US"/>
              <a:t>Two are “hinged” together at roll axis</a:t>
            </a:r>
          </a:p>
          <a:p>
            <a:pPr marL="165100" indent="-165100">
              <a:buFontTx/>
              <a:buChar char="•"/>
            </a:pPr>
            <a:r>
              <a:rPr lang="en-US"/>
              <a:t> Vehicle dynamics are measured from UNSPRUNG mass </a:t>
            </a:r>
            <a:br>
              <a:rPr lang="en-US"/>
            </a:br>
            <a:r>
              <a:rPr lang="en-US"/>
              <a:t>(hard, since this </a:t>
            </a:r>
            <a:br>
              <a:rPr lang="en-US"/>
            </a:br>
            <a:r>
              <a:rPr lang="en-US"/>
              <a:t>is a fictitious object!)</a:t>
            </a:r>
          </a:p>
        </p:txBody>
      </p:sp>
      <p:pic>
        <p:nvPicPr>
          <p:cNvPr id="14340"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3886200" y="1828800"/>
            <a:ext cx="4968875" cy="329565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Video_2">
            <a:hlinkClick r:id="" action="ppaction://media"/>
          </p:cNvPr>
          <p:cNvPicPr>
            <a:picLocks noGrp="1" noChangeAspect="1"/>
          </p:cNvPicPr>
          <p:nvPr>
            <p:ph idx="1"/>
            <a:videoFile r:link="rId2"/>
            <p:extLst>
              <p:ext uri="{DAA4B4D4-6D71-4841-9C94-3DE7FCFB9230}">
                <p14:media xmlns:p14="http://schemas.microsoft.com/office/powerpoint/2010/main" r:embed="rId1"/>
              </p:ext>
            </p:extLst>
          </p:nvPr>
        </p:nvPicPr>
        <p:blipFill>
          <a:blip r:embed="rId5"/>
          <a:stretch>
            <a:fillRect/>
          </a:stretch>
        </p:blipFill>
        <p:spPr>
          <a:xfrm>
            <a:off x="554831" y="1524000"/>
            <a:ext cx="8034338" cy="4525963"/>
          </a:xfrm>
        </p:spPr>
      </p:pic>
      <p:sp>
        <p:nvSpPr>
          <p:cNvPr id="3" name="Title 1"/>
          <p:cNvSpPr>
            <a:spLocks noGrp="1"/>
          </p:cNvSpPr>
          <p:nvPr>
            <p:ph type="title"/>
          </p:nvPr>
        </p:nvSpPr>
        <p:spPr>
          <a:xfrm>
            <a:off x="457200" y="274638"/>
            <a:ext cx="8229600" cy="1143000"/>
          </a:xfrm>
        </p:spPr>
        <p:txBody>
          <a:bodyPr/>
          <a:lstStyle/>
          <a:p>
            <a:r>
              <a:rPr lang="en-US" sz="3200"/>
              <a:t>On some vehicles, drivers can use weight shift to affect “sprung mass” to cause wheel lift</a:t>
            </a:r>
          </a:p>
        </p:txBody>
      </p:sp>
    </p:spTree>
    <p:extLst>
      <p:ext uri="{BB962C8B-B14F-4D97-AF65-F5344CB8AC3E}">
        <p14:creationId xmlns:p14="http://schemas.microsoft.com/office/powerpoint/2010/main" val="110025869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p:cNvSpPr>
            <a:spLocks noGrp="1" noChangeArrowheads="1"/>
          </p:cNvSpPr>
          <p:nvPr>
            <p:ph type="title"/>
          </p:nvPr>
        </p:nvSpPr>
        <p:spPr>
          <a:noFill/>
        </p:spPr>
        <p:txBody>
          <a:bodyPr/>
          <a:lstStyle/>
          <a:p>
            <a:pPr algn="l" eaLnBrk="1" hangingPunct="1"/>
            <a:r>
              <a:rPr lang="en-US" sz="4000"/>
              <a:t>What about aerodynamics?</a:t>
            </a:r>
          </a:p>
        </p:txBody>
      </p:sp>
      <p:sp>
        <p:nvSpPr>
          <p:cNvPr id="15363" name="Content Placeholder 5"/>
          <p:cNvSpPr>
            <a:spLocks noGrp="1"/>
          </p:cNvSpPr>
          <p:nvPr>
            <p:ph idx="1"/>
          </p:nvPr>
        </p:nvSpPr>
        <p:spPr>
          <a:xfrm>
            <a:off x="457200" y="1600200"/>
            <a:ext cx="4419600" cy="4525963"/>
          </a:xfrm>
        </p:spPr>
        <p:txBody>
          <a:bodyPr/>
          <a:lstStyle/>
          <a:p>
            <a:r>
              <a:rPr lang="en-US"/>
              <a:t>By convention, the coordinate system center in this case is at midpoint between tires, both front-to-back and right-to-left</a:t>
            </a:r>
          </a:p>
          <a:p>
            <a:r>
              <a:rPr lang="en-US"/>
              <a:t>We will NOT use this convention in this class</a:t>
            </a:r>
          </a:p>
        </p:txBody>
      </p:sp>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896255" y="1600200"/>
            <a:ext cx="3625413" cy="1828800"/>
          </a:xfrm>
          <a:prstGeom prst="rect">
            <a:avLst/>
          </a:prstGeom>
        </p:spPr>
      </p:pic>
      <p:sp>
        <p:nvSpPr>
          <p:cNvPr id="4" name="TextBox 3"/>
          <p:cNvSpPr txBox="1"/>
          <p:nvPr/>
        </p:nvSpPr>
        <p:spPr>
          <a:xfrm>
            <a:off x="4639323" y="3511534"/>
            <a:ext cx="4139275" cy="200055"/>
          </a:xfrm>
          <a:prstGeom prst="rect">
            <a:avLst/>
          </a:prstGeom>
          <a:noFill/>
        </p:spPr>
        <p:txBody>
          <a:bodyPr wrap="none" rtlCol="0">
            <a:spAutoFit/>
          </a:bodyPr>
          <a:lstStyle/>
          <a:p>
            <a:r>
              <a:rPr lang="en-US" sz="700"/>
              <a:t>http://www.eurocarnews.com/25/0/0/2215/mclaren-mp4-12c-aerodynamics-orange-image/gallery-detail.html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noFill/>
        </p:spPr>
        <p:txBody>
          <a:bodyPr/>
          <a:lstStyle/>
          <a:p>
            <a:pPr eaLnBrk="1" hangingPunct="1"/>
            <a:r>
              <a:rPr lang="en-US" sz="3200"/>
              <a:t>Case of Copy-Cat Coordinate System Cads</a:t>
            </a:r>
          </a:p>
        </p:txBody>
      </p:sp>
      <p:sp>
        <p:nvSpPr>
          <p:cNvPr id="16387" name="Text Box 6"/>
          <p:cNvSpPr txBox="1">
            <a:spLocks noChangeArrowheads="1"/>
          </p:cNvSpPr>
          <p:nvPr/>
        </p:nvSpPr>
        <p:spPr bwMode="auto">
          <a:xfrm>
            <a:off x="304800" y="5257800"/>
            <a:ext cx="4176713" cy="461963"/>
          </a:xfrm>
          <a:prstGeom prst="rect">
            <a:avLst/>
          </a:prstGeom>
          <a:noFill/>
          <a:ln w="9525">
            <a:noFill/>
            <a:miter lim="800000"/>
            <a:headEnd/>
            <a:tailEnd/>
          </a:ln>
        </p:spPr>
        <p:txBody>
          <a:bodyPr wrap="none">
            <a:spAutoFit/>
          </a:bodyPr>
          <a:lstStyle/>
          <a:p>
            <a:r>
              <a:rPr lang="en-US" sz="1200"/>
              <a:t>Ref. Fundamentals of Vehicle Dynamics, 1992, </a:t>
            </a:r>
          </a:p>
          <a:p>
            <a:r>
              <a:rPr lang="en-US" sz="1200"/>
              <a:t>Thomas D. Gillespie, Society of Automotive Engineers, Inc, p. 9</a:t>
            </a:r>
          </a:p>
        </p:txBody>
      </p:sp>
      <p:pic>
        <p:nvPicPr>
          <p:cNvPr id="16388" name="Picture 7"/>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14400" y="2362200"/>
            <a:ext cx="3457575" cy="2959100"/>
          </a:xfrm>
          <a:prstGeom prst="rect">
            <a:avLst/>
          </a:prstGeom>
          <a:noFill/>
          <a:ln w="9525">
            <a:noFill/>
            <a:miter lim="800000"/>
            <a:headEnd/>
            <a:tailEnd/>
          </a:ln>
        </p:spPr>
      </p:pic>
      <p:pic>
        <p:nvPicPr>
          <p:cNvPr id="16389" name="Picture 8"/>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457200" y="1278869"/>
            <a:ext cx="4070350" cy="1374775"/>
          </a:xfrm>
          <a:prstGeom prst="rect">
            <a:avLst/>
          </a:prstGeom>
          <a:noFill/>
          <a:ln w="9525">
            <a:noFill/>
            <a:miter lim="800000"/>
            <a:headEnd/>
            <a:tailEnd/>
          </a:ln>
        </p:spPr>
      </p:pic>
      <p:pic>
        <p:nvPicPr>
          <p:cNvPr id="16390" name="Picture 8"/>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4953000" y="2362200"/>
            <a:ext cx="2997200" cy="2970213"/>
          </a:xfrm>
          <a:prstGeom prst="rect">
            <a:avLst/>
          </a:prstGeom>
          <a:noFill/>
          <a:ln w="9525">
            <a:noFill/>
            <a:miter lim="800000"/>
            <a:headEnd/>
            <a:tailEnd/>
          </a:ln>
        </p:spPr>
      </p:pic>
      <p:sp>
        <p:nvSpPr>
          <p:cNvPr id="16391" name="Text Box 3"/>
          <p:cNvSpPr txBox="1">
            <a:spLocks noChangeArrowheads="1"/>
          </p:cNvSpPr>
          <p:nvPr/>
        </p:nvSpPr>
        <p:spPr bwMode="auto">
          <a:xfrm>
            <a:off x="4662488" y="5410200"/>
            <a:ext cx="4481512" cy="244475"/>
          </a:xfrm>
          <a:prstGeom prst="rect">
            <a:avLst/>
          </a:prstGeom>
          <a:noFill/>
          <a:ln w="9525">
            <a:noFill/>
            <a:miter lim="800000"/>
            <a:headEnd/>
            <a:tailEnd/>
          </a:ln>
        </p:spPr>
        <p:txBody>
          <a:bodyPr wrap="none">
            <a:spAutoFit/>
          </a:bodyPr>
          <a:lstStyle/>
          <a:p>
            <a:r>
              <a:rPr lang="en-US" sz="1000"/>
              <a:t>Ref. Milliken &amp; Milliken, </a:t>
            </a:r>
            <a:r>
              <a:rPr lang="en-US" sz="1000" u="sng"/>
              <a:t>Race Car Vehicle Dynamics</a:t>
            </a:r>
            <a:r>
              <a:rPr lang="en-US" sz="1000"/>
              <a:t>, SAE Press 1995, p. 118-119</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a:t>My version!</a:t>
            </a:r>
          </a:p>
        </p:txBody>
      </p:sp>
      <p:pic>
        <p:nvPicPr>
          <p:cNvPr id="17411"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932113" y="1600200"/>
            <a:ext cx="3240087" cy="3738563"/>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algn="l" eaLnBrk="1" hangingPunct="1"/>
            <a:r>
              <a:rPr lang="en-US" sz="3600"/>
              <a:t>The choice of coordinate systems is not critical if we know how to convert form one to another</a:t>
            </a:r>
          </a:p>
        </p:txBody>
      </p:sp>
      <p:sp>
        <p:nvSpPr>
          <p:cNvPr id="18435" name="Rectangle 3"/>
          <p:cNvSpPr>
            <a:spLocks noGrp="1" noChangeArrowheads="1"/>
          </p:cNvSpPr>
          <p:nvPr>
            <p:ph type="body" idx="1"/>
          </p:nvPr>
        </p:nvSpPr>
        <p:spPr>
          <a:xfrm>
            <a:off x="457200" y="1905000"/>
            <a:ext cx="4114800" cy="4221163"/>
          </a:xfrm>
        </p:spPr>
        <p:txBody>
          <a:bodyPr/>
          <a:lstStyle/>
          <a:p>
            <a:pPr eaLnBrk="1" hangingPunct="1"/>
            <a:r>
              <a:rPr lang="en-US" sz="2400"/>
              <a:t>Let’s first consider body-fixed coordinates, and conversion from these to the ground, aka “global” coordinates.</a:t>
            </a:r>
          </a:p>
          <a:p>
            <a:pPr eaLnBrk="1" hangingPunct="1"/>
            <a:r>
              <a:rPr lang="en-US" sz="2400"/>
              <a:t>The coordinate system will be a right-handed coordinate system meaning that all relations will be clockwise about the axis of rotation.</a:t>
            </a:r>
          </a:p>
        </p:txBody>
      </p:sp>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181600" y="3611563"/>
            <a:ext cx="2842591" cy="25146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1349" y="0"/>
            <a:ext cx="9385570" cy="7010400"/>
          </a:xfrm>
          <a:prstGeom prst="rect">
            <a:avLst/>
          </a:prstGeom>
        </p:spPr>
      </p:pic>
      <p:sp>
        <p:nvSpPr>
          <p:cNvPr id="5" name="Title 4"/>
          <p:cNvSpPr>
            <a:spLocks noGrp="1"/>
          </p:cNvSpPr>
          <p:nvPr>
            <p:ph type="title"/>
          </p:nvPr>
        </p:nvSpPr>
        <p:spPr>
          <a:xfrm>
            <a:off x="589334" y="5181600"/>
            <a:ext cx="8229600" cy="1143000"/>
          </a:xfrm>
        </p:spPr>
        <p:txBody>
          <a:bodyPr/>
          <a:lstStyle/>
          <a:p>
            <a:pPr algn="l"/>
            <a:r>
              <a:rPr lang="en-US" sz="3600">
                <a:solidFill>
                  <a:schemeClr val="bg1"/>
                </a:solidFill>
              </a:rPr>
              <a:t>Body-to-global coordinate conversions are common in registering sensor information to a map</a:t>
            </a:r>
          </a:p>
        </p:txBody>
      </p:sp>
    </p:spTree>
    <p:extLst>
      <p:ext uri="{BB962C8B-B14F-4D97-AF65-F5344CB8AC3E}">
        <p14:creationId xmlns:p14="http://schemas.microsoft.com/office/powerpoint/2010/main" val="20042540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algn="l" eaLnBrk="1" hangingPunct="1"/>
            <a:r>
              <a:rPr lang="en-US" sz="4000" err="1"/>
              <a:t>Dynamicists</a:t>
            </a:r>
            <a:r>
              <a:rPr lang="en-US" sz="4000"/>
              <a:t> often use capitalization to indicate GLOBAL vs local coordinates</a:t>
            </a:r>
          </a:p>
        </p:txBody>
      </p:sp>
      <p:sp>
        <p:nvSpPr>
          <p:cNvPr id="19459" name="Rectangle 3"/>
          <p:cNvSpPr>
            <a:spLocks noGrp="1" noChangeArrowheads="1"/>
          </p:cNvSpPr>
          <p:nvPr>
            <p:ph type="body" idx="1"/>
          </p:nvPr>
        </p:nvSpPr>
        <p:spPr/>
        <p:txBody>
          <a:bodyPr/>
          <a:lstStyle/>
          <a:p>
            <a:pPr marL="0" indent="0" eaLnBrk="1" hangingPunct="1">
              <a:buNone/>
            </a:pPr>
            <a:endParaRPr lang="en-US"/>
          </a:p>
          <a:p>
            <a:pPr marL="0" indent="0" eaLnBrk="1" hangingPunct="1">
              <a:buNone/>
            </a:pPr>
            <a:r>
              <a:rPr lang="en-US"/>
              <a:t>We’ll do the same, as follows. (usually)</a:t>
            </a:r>
            <a:br>
              <a:rPr lang="en-US"/>
            </a:br>
            <a:r>
              <a:rPr lang="en-US"/>
              <a:t>	x =  longitudinal position</a:t>
            </a:r>
            <a:br>
              <a:rPr lang="en-US"/>
            </a:br>
            <a:r>
              <a:rPr lang="en-US"/>
              <a:t>	y =  lateral position</a:t>
            </a:r>
            <a:br>
              <a:rPr lang="en-US"/>
            </a:br>
            <a:r>
              <a:rPr lang="en-US"/>
              <a:t>	z =  vertical position</a:t>
            </a:r>
            <a:br>
              <a:rPr lang="en-US"/>
            </a:br>
            <a:r>
              <a:rPr lang="en-US"/>
              <a:t>	X</a:t>
            </a:r>
            <a:br>
              <a:rPr lang="en-US"/>
            </a:br>
            <a:r>
              <a:rPr lang="en-US"/>
              <a:t>	Y</a:t>
            </a:r>
            <a:br>
              <a:rPr lang="en-US"/>
            </a:br>
            <a:r>
              <a:rPr lang="en-US"/>
              <a:t>	Z</a:t>
            </a:r>
          </a:p>
        </p:txBody>
      </p:sp>
      <p:sp>
        <p:nvSpPr>
          <p:cNvPr id="19460" name="AutoShape 4"/>
          <p:cNvSpPr>
            <a:spLocks/>
          </p:cNvSpPr>
          <p:nvPr/>
        </p:nvSpPr>
        <p:spPr bwMode="auto">
          <a:xfrm>
            <a:off x="5638800" y="2667000"/>
            <a:ext cx="304800" cy="1371600"/>
          </a:xfrm>
          <a:prstGeom prst="rightBrace">
            <a:avLst>
              <a:gd name="adj1" fmla="val 37500"/>
              <a:gd name="adj2" fmla="val 50000"/>
            </a:avLst>
          </a:prstGeom>
          <a:noFill/>
          <a:ln w="9525">
            <a:solidFill>
              <a:schemeClr val="tx1"/>
            </a:solidFill>
            <a:round/>
            <a:headEnd/>
            <a:tailEnd/>
          </a:ln>
        </p:spPr>
        <p:txBody>
          <a:bodyPr wrap="none" anchor="ctr"/>
          <a:lstStyle/>
          <a:p>
            <a:endParaRPr lang="en-US"/>
          </a:p>
        </p:txBody>
      </p:sp>
      <p:sp>
        <p:nvSpPr>
          <p:cNvPr id="19461" name="AutoShape 5"/>
          <p:cNvSpPr>
            <a:spLocks/>
          </p:cNvSpPr>
          <p:nvPr/>
        </p:nvSpPr>
        <p:spPr bwMode="auto">
          <a:xfrm>
            <a:off x="1981200" y="4114800"/>
            <a:ext cx="304800" cy="1371600"/>
          </a:xfrm>
          <a:prstGeom prst="rightBrace">
            <a:avLst>
              <a:gd name="adj1" fmla="val 37500"/>
              <a:gd name="adj2" fmla="val 50000"/>
            </a:avLst>
          </a:prstGeom>
          <a:noFill/>
          <a:ln w="9525">
            <a:solidFill>
              <a:schemeClr val="tx1"/>
            </a:solidFill>
            <a:round/>
            <a:headEnd/>
            <a:tailEnd/>
          </a:ln>
        </p:spPr>
        <p:txBody>
          <a:bodyPr wrap="none" anchor="ctr"/>
          <a:lstStyle/>
          <a:p>
            <a:endParaRPr lang="en-US"/>
          </a:p>
        </p:txBody>
      </p:sp>
      <p:sp>
        <p:nvSpPr>
          <p:cNvPr id="19462" name="Text Box 7"/>
          <p:cNvSpPr txBox="1">
            <a:spLocks noChangeArrowheads="1"/>
          </p:cNvSpPr>
          <p:nvPr/>
        </p:nvSpPr>
        <p:spPr bwMode="auto">
          <a:xfrm>
            <a:off x="6096000" y="2971800"/>
            <a:ext cx="2112963" cy="954088"/>
          </a:xfrm>
          <a:prstGeom prst="rect">
            <a:avLst/>
          </a:prstGeom>
          <a:noFill/>
          <a:ln w="9525">
            <a:noFill/>
            <a:miter lim="800000"/>
            <a:headEnd/>
            <a:tailEnd/>
          </a:ln>
        </p:spPr>
        <p:txBody>
          <a:bodyPr wrap="none">
            <a:spAutoFit/>
          </a:bodyPr>
          <a:lstStyle/>
          <a:p>
            <a:r>
              <a:rPr lang="en-US" sz="2800"/>
              <a:t>lower-case = </a:t>
            </a:r>
          </a:p>
          <a:p>
            <a:r>
              <a:rPr lang="en-US" sz="2800"/>
              <a:t>body-fixed</a:t>
            </a:r>
          </a:p>
        </p:txBody>
      </p:sp>
      <p:sp>
        <p:nvSpPr>
          <p:cNvPr id="19463" name="Text Box 8"/>
          <p:cNvSpPr txBox="1">
            <a:spLocks noChangeArrowheads="1"/>
          </p:cNvSpPr>
          <p:nvPr/>
        </p:nvSpPr>
        <p:spPr bwMode="auto">
          <a:xfrm>
            <a:off x="2362200" y="4495800"/>
            <a:ext cx="2693988" cy="954088"/>
          </a:xfrm>
          <a:prstGeom prst="rect">
            <a:avLst/>
          </a:prstGeom>
          <a:noFill/>
          <a:ln w="9525">
            <a:noFill/>
            <a:miter lim="800000"/>
            <a:headEnd/>
            <a:tailEnd/>
          </a:ln>
        </p:spPr>
        <p:txBody>
          <a:bodyPr wrap="none">
            <a:spAutoFit/>
          </a:bodyPr>
          <a:lstStyle/>
          <a:p>
            <a:r>
              <a:rPr lang="en-US" sz="2800"/>
              <a:t>UPPER CASE = </a:t>
            </a:r>
          </a:p>
          <a:p>
            <a:r>
              <a:rPr lang="en-US" sz="2800"/>
              <a:t>earth fixed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algn="l" eaLnBrk="1" hangingPunct="1"/>
            <a:r>
              <a:rPr lang="en-US" sz="3600"/>
              <a:t>… except velocities are often capitalized (I’m not sure why!)</a:t>
            </a:r>
          </a:p>
        </p:txBody>
      </p:sp>
      <p:sp>
        <p:nvSpPr>
          <p:cNvPr id="20483" name="Rectangle 3"/>
          <p:cNvSpPr>
            <a:spLocks noGrp="1" noChangeArrowheads="1"/>
          </p:cNvSpPr>
          <p:nvPr>
            <p:ph type="body" idx="1"/>
          </p:nvPr>
        </p:nvSpPr>
        <p:spPr/>
        <p:txBody>
          <a:bodyPr/>
          <a:lstStyle/>
          <a:p>
            <a:pPr eaLnBrk="1" hangingPunct="1">
              <a:buFont typeface="Wingdings" pitchFamily="2" charset="2"/>
              <a:buNone/>
            </a:pPr>
            <a:r>
              <a:rPr lang="en-US"/>
              <a:t>		U  =  longitudinal velocity</a:t>
            </a:r>
            <a:br>
              <a:rPr lang="en-US"/>
            </a:br>
            <a:r>
              <a:rPr lang="en-US"/>
              <a:t>	V  =  lateral velocity</a:t>
            </a:r>
            <a:br>
              <a:rPr lang="en-US"/>
            </a:br>
            <a:r>
              <a:rPr lang="en-US"/>
              <a:t>	W =  vertical velocity</a:t>
            </a:r>
            <a:br>
              <a:rPr lang="en-US"/>
            </a:br>
            <a:br>
              <a:rPr lang="en-US"/>
            </a:br>
            <a:r>
              <a:rPr lang="en-US"/>
              <a:t>	p  =  roll rate		</a:t>
            </a:r>
            <a:r>
              <a:rPr lang="en-US">
                <a:sym typeface="Symbol" pitchFamily="18" charset="2"/>
              </a:rPr>
              <a:t>  =  roll angle</a:t>
            </a:r>
            <a:br>
              <a:rPr lang="en-US"/>
            </a:br>
            <a:r>
              <a:rPr lang="en-US"/>
              <a:t>	q  =  pitch rate		</a:t>
            </a:r>
            <a:r>
              <a:rPr lang="en-US">
                <a:sym typeface="Symbol" pitchFamily="18" charset="2"/>
              </a:rPr>
              <a:t>  =  pitch angle</a:t>
            </a:r>
            <a:br>
              <a:rPr lang="en-US"/>
            </a:br>
            <a:r>
              <a:rPr lang="en-US"/>
              <a:t>	r   =  yaw rate		</a:t>
            </a:r>
            <a:r>
              <a:rPr lang="en-US">
                <a:sym typeface="Symbol" pitchFamily="18" charset="2"/>
              </a:rPr>
              <a:t> =  yaw angle</a:t>
            </a:r>
            <a:endParaRPr lang="en-US"/>
          </a:p>
        </p:txBody>
      </p:sp>
      <p:sp>
        <p:nvSpPr>
          <p:cNvPr id="20484" name="AutoShape 4"/>
          <p:cNvSpPr>
            <a:spLocks/>
          </p:cNvSpPr>
          <p:nvPr/>
        </p:nvSpPr>
        <p:spPr bwMode="auto">
          <a:xfrm>
            <a:off x="5715000" y="1676400"/>
            <a:ext cx="304800" cy="1371600"/>
          </a:xfrm>
          <a:prstGeom prst="rightBrace">
            <a:avLst>
              <a:gd name="adj1" fmla="val 37500"/>
              <a:gd name="adj2" fmla="val 50000"/>
            </a:avLst>
          </a:prstGeom>
          <a:noFill/>
          <a:ln w="9525">
            <a:solidFill>
              <a:schemeClr val="tx1"/>
            </a:solidFill>
            <a:round/>
            <a:headEnd/>
            <a:tailEnd/>
          </a:ln>
        </p:spPr>
        <p:txBody>
          <a:bodyPr wrap="none" anchor="ctr"/>
          <a:lstStyle/>
          <a:p>
            <a:endParaRPr lang="en-US"/>
          </a:p>
        </p:txBody>
      </p:sp>
      <p:sp>
        <p:nvSpPr>
          <p:cNvPr id="20485" name="Text Box 5"/>
          <p:cNvSpPr txBox="1">
            <a:spLocks noChangeArrowheads="1"/>
          </p:cNvSpPr>
          <p:nvPr/>
        </p:nvSpPr>
        <p:spPr bwMode="auto">
          <a:xfrm>
            <a:off x="6019800" y="1828800"/>
            <a:ext cx="914400" cy="946150"/>
          </a:xfrm>
          <a:prstGeom prst="rect">
            <a:avLst/>
          </a:prstGeom>
          <a:noFill/>
          <a:ln w="9525">
            <a:noFill/>
            <a:miter lim="800000"/>
            <a:headEnd/>
            <a:tailEnd/>
          </a:ln>
        </p:spPr>
        <p:txBody>
          <a:bodyPr wrap="none">
            <a:spAutoFit/>
          </a:bodyPr>
          <a:lstStyle/>
          <a:p>
            <a:r>
              <a:rPr lang="en-US" sz="2800"/>
              <a:t>body</a:t>
            </a:r>
          </a:p>
          <a:p>
            <a:r>
              <a:rPr lang="en-US" sz="2800"/>
              <a:t>fixed</a:t>
            </a:r>
          </a:p>
        </p:txBody>
      </p:sp>
      <p:sp>
        <p:nvSpPr>
          <p:cNvPr id="20486" name="AutoShape 6"/>
          <p:cNvSpPr>
            <a:spLocks/>
          </p:cNvSpPr>
          <p:nvPr/>
        </p:nvSpPr>
        <p:spPr bwMode="auto">
          <a:xfrm rot="10800000">
            <a:off x="1143000" y="3733800"/>
            <a:ext cx="304800" cy="1371600"/>
          </a:xfrm>
          <a:prstGeom prst="rightBrace">
            <a:avLst>
              <a:gd name="adj1" fmla="val 37500"/>
              <a:gd name="adj2" fmla="val 50000"/>
            </a:avLst>
          </a:prstGeom>
          <a:noFill/>
          <a:ln w="9525">
            <a:solidFill>
              <a:schemeClr val="tx1"/>
            </a:solidFill>
            <a:round/>
            <a:headEnd/>
            <a:tailEnd/>
          </a:ln>
        </p:spPr>
        <p:txBody>
          <a:bodyPr wrap="none" anchor="ctr"/>
          <a:lstStyle/>
          <a:p>
            <a:endParaRPr lang="en-US"/>
          </a:p>
        </p:txBody>
      </p:sp>
      <p:sp>
        <p:nvSpPr>
          <p:cNvPr id="20487" name="Text Box 7"/>
          <p:cNvSpPr txBox="1">
            <a:spLocks noChangeArrowheads="1"/>
          </p:cNvSpPr>
          <p:nvPr/>
        </p:nvSpPr>
        <p:spPr bwMode="auto">
          <a:xfrm>
            <a:off x="76200" y="3810000"/>
            <a:ext cx="914400" cy="946150"/>
          </a:xfrm>
          <a:prstGeom prst="rect">
            <a:avLst/>
          </a:prstGeom>
          <a:noFill/>
          <a:ln w="9525">
            <a:noFill/>
            <a:miter lim="800000"/>
            <a:headEnd/>
            <a:tailEnd/>
          </a:ln>
        </p:spPr>
        <p:txBody>
          <a:bodyPr wrap="none">
            <a:spAutoFit/>
          </a:bodyPr>
          <a:lstStyle/>
          <a:p>
            <a:r>
              <a:rPr lang="en-US" sz="2800"/>
              <a:t>body</a:t>
            </a:r>
          </a:p>
          <a:p>
            <a:r>
              <a:rPr lang="en-US" sz="2800"/>
              <a:t>fixed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algn="l" eaLnBrk="1" hangingPunct="1"/>
            <a:r>
              <a:rPr lang="en-US" sz="4000"/>
              <a:t>We’ll be talking a LOT about inertial coordinates soon…</a:t>
            </a:r>
          </a:p>
        </p:txBody>
      </p:sp>
      <p:sp>
        <p:nvSpPr>
          <p:cNvPr id="21507" name="Rectangle 3"/>
          <p:cNvSpPr>
            <a:spLocks noGrp="1" noChangeArrowheads="1"/>
          </p:cNvSpPr>
          <p:nvPr>
            <p:ph type="body" idx="1"/>
          </p:nvPr>
        </p:nvSpPr>
        <p:spPr/>
        <p:txBody>
          <a:bodyPr/>
          <a:lstStyle/>
          <a:p>
            <a:pPr marL="0" indent="0" eaLnBrk="1" hangingPunct="1">
              <a:buNone/>
            </a:pPr>
            <a:r>
              <a:rPr lang="en-US" sz="2800"/>
              <a:t>In addition to axes fixed to the vehicle, there are axes that are fixed to an inertial point.  These are called earth-fixed axes or just “fixed” axes. A common one is East-North-Up or ENU for short.</a:t>
            </a:r>
          </a:p>
        </p:txBody>
      </p:sp>
      <p:sp>
        <p:nvSpPr>
          <p:cNvPr id="21508" name="Line 4"/>
          <p:cNvSpPr>
            <a:spLocks noChangeShapeType="1"/>
          </p:cNvSpPr>
          <p:nvPr/>
        </p:nvSpPr>
        <p:spPr bwMode="auto">
          <a:xfrm flipV="1">
            <a:off x="3124200" y="3702050"/>
            <a:ext cx="0" cy="2124075"/>
          </a:xfrm>
          <a:prstGeom prst="line">
            <a:avLst/>
          </a:prstGeom>
          <a:noFill/>
          <a:ln w="19050">
            <a:solidFill>
              <a:srgbClr val="000000"/>
            </a:solidFill>
            <a:round/>
            <a:headEnd/>
            <a:tailEnd type="triangle" w="med" len="med"/>
          </a:ln>
        </p:spPr>
        <p:txBody>
          <a:bodyPr wrap="none"/>
          <a:lstStyle/>
          <a:p>
            <a:endParaRPr lang="en-US"/>
          </a:p>
        </p:txBody>
      </p:sp>
      <p:sp>
        <p:nvSpPr>
          <p:cNvPr id="21509" name="Line 5"/>
          <p:cNvSpPr>
            <a:spLocks noChangeShapeType="1"/>
          </p:cNvSpPr>
          <p:nvPr/>
        </p:nvSpPr>
        <p:spPr bwMode="auto">
          <a:xfrm>
            <a:off x="3124200" y="5826125"/>
            <a:ext cx="3124200" cy="0"/>
          </a:xfrm>
          <a:prstGeom prst="line">
            <a:avLst/>
          </a:prstGeom>
          <a:noFill/>
          <a:ln w="19050">
            <a:solidFill>
              <a:srgbClr val="000000"/>
            </a:solidFill>
            <a:round/>
            <a:headEnd/>
            <a:tailEnd type="triangle" w="med" len="med"/>
          </a:ln>
        </p:spPr>
        <p:txBody>
          <a:bodyPr wrap="none"/>
          <a:lstStyle/>
          <a:p>
            <a:endParaRPr lang="en-US"/>
          </a:p>
        </p:txBody>
      </p:sp>
      <p:sp>
        <p:nvSpPr>
          <p:cNvPr id="21510" name="Line 6"/>
          <p:cNvSpPr>
            <a:spLocks noChangeShapeType="1"/>
          </p:cNvSpPr>
          <p:nvPr/>
        </p:nvSpPr>
        <p:spPr bwMode="auto">
          <a:xfrm>
            <a:off x="3124200" y="4464050"/>
            <a:ext cx="1752600" cy="0"/>
          </a:xfrm>
          <a:prstGeom prst="line">
            <a:avLst/>
          </a:prstGeom>
          <a:noFill/>
          <a:ln w="19050" cap="rnd">
            <a:solidFill>
              <a:srgbClr val="000000"/>
            </a:solidFill>
            <a:prstDash val="sysDot"/>
            <a:round/>
            <a:headEnd/>
            <a:tailEnd/>
          </a:ln>
        </p:spPr>
        <p:txBody>
          <a:bodyPr wrap="none"/>
          <a:lstStyle/>
          <a:p>
            <a:endParaRPr lang="en-US"/>
          </a:p>
        </p:txBody>
      </p:sp>
      <p:sp>
        <p:nvSpPr>
          <p:cNvPr id="21511" name="Line 7"/>
          <p:cNvSpPr>
            <a:spLocks noChangeShapeType="1"/>
          </p:cNvSpPr>
          <p:nvPr/>
        </p:nvSpPr>
        <p:spPr bwMode="auto">
          <a:xfrm>
            <a:off x="4876800" y="4464050"/>
            <a:ext cx="0" cy="1371600"/>
          </a:xfrm>
          <a:prstGeom prst="line">
            <a:avLst/>
          </a:prstGeom>
          <a:noFill/>
          <a:ln w="19050" cap="rnd">
            <a:solidFill>
              <a:srgbClr val="000000"/>
            </a:solidFill>
            <a:prstDash val="sysDot"/>
            <a:round/>
            <a:headEnd/>
            <a:tailEnd/>
          </a:ln>
        </p:spPr>
        <p:txBody>
          <a:bodyPr wrap="none"/>
          <a:lstStyle/>
          <a:p>
            <a:endParaRPr lang="en-US"/>
          </a:p>
        </p:txBody>
      </p:sp>
      <p:sp>
        <p:nvSpPr>
          <p:cNvPr id="21512" name="Oval 8"/>
          <p:cNvSpPr>
            <a:spLocks noChangeArrowheads="1"/>
          </p:cNvSpPr>
          <p:nvPr/>
        </p:nvSpPr>
        <p:spPr bwMode="auto">
          <a:xfrm>
            <a:off x="4743450" y="4359275"/>
            <a:ext cx="228600" cy="228600"/>
          </a:xfrm>
          <a:prstGeom prst="ellipse">
            <a:avLst/>
          </a:prstGeom>
          <a:noFill/>
          <a:ln w="9525">
            <a:solidFill>
              <a:srgbClr val="000000"/>
            </a:solidFill>
            <a:round/>
            <a:headEnd/>
            <a:tailEnd/>
          </a:ln>
        </p:spPr>
        <p:txBody>
          <a:bodyPr wrap="none" anchor="ctr"/>
          <a:lstStyle/>
          <a:p>
            <a:endParaRPr lang="en-US"/>
          </a:p>
        </p:txBody>
      </p:sp>
      <p:sp>
        <p:nvSpPr>
          <p:cNvPr id="21513" name="Line 9"/>
          <p:cNvSpPr>
            <a:spLocks noChangeShapeType="1"/>
          </p:cNvSpPr>
          <p:nvPr/>
        </p:nvSpPr>
        <p:spPr bwMode="auto">
          <a:xfrm>
            <a:off x="4953000" y="4464050"/>
            <a:ext cx="533400" cy="0"/>
          </a:xfrm>
          <a:prstGeom prst="line">
            <a:avLst/>
          </a:prstGeom>
          <a:noFill/>
          <a:ln w="19050">
            <a:solidFill>
              <a:srgbClr val="000000"/>
            </a:solidFill>
            <a:round/>
            <a:headEnd/>
            <a:tailEnd/>
          </a:ln>
        </p:spPr>
        <p:txBody>
          <a:bodyPr wrap="none"/>
          <a:lstStyle/>
          <a:p>
            <a:endParaRPr lang="en-US"/>
          </a:p>
        </p:txBody>
      </p:sp>
      <p:sp>
        <p:nvSpPr>
          <p:cNvPr id="21514" name="Line 10"/>
          <p:cNvSpPr>
            <a:spLocks noChangeShapeType="1"/>
          </p:cNvSpPr>
          <p:nvPr/>
        </p:nvSpPr>
        <p:spPr bwMode="auto">
          <a:xfrm flipV="1">
            <a:off x="4924425" y="3778250"/>
            <a:ext cx="609600" cy="609600"/>
          </a:xfrm>
          <a:prstGeom prst="line">
            <a:avLst/>
          </a:prstGeom>
          <a:noFill/>
          <a:ln w="19050">
            <a:solidFill>
              <a:srgbClr val="000000"/>
            </a:solidFill>
            <a:round/>
            <a:headEnd/>
            <a:tailEnd type="triangle" w="med" len="med"/>
          </a:ln>
        </p:spPr>
        <p:txBody>
          <a:bodyPr wrap="none"/>
          <a:lstStyle/>
          <a:p>
            <a:endParaRPr lang="en-US"/>
          </a:p>
        </p:txBody>
      </p:sp>
      <p:sp>
        <p:nvSpPr>
          <p:cNvPr id="21515" name="Line 11"/>
          <p:cNvSpPr>
            <a:spLocks noChangeShapeType="1"/>
          </p:cNvSpPr>
          <p:nvPr/>
        </p:nvSpPr>
        <p:spPr bwMode="auto">
          <a:xfrm>
            <a:off x="4953000" y="4540250"/>
            <a:ext cx="457200" cy="609600"/>
          </a:xfrm>
          <a:prstGeom prst="line">
            <a:avLst/>
          </a:prstGeom>
          <a:noFill/>
          <a:ln w="19050">
            <a:solidFill>
              <a:srgbClr val="000000"/>
            </a:solidFill>
            <a:round/>
            <a:headEnd/>
            <a:tailEnd type="triangle" w="med" len="med"/>
          </a:ln>
        </p:spPr>
        <p:txBody>
          <a:bodyPr wrap="none"/>
          <a:lstStyle/>
          <a:p>
            <a:endParaRPr lang="en-US"/>
          </a:p>
        </p:txBody>
      </p:sp>
      <p:sp>
        <p:nvSpPr>
          <p:cNvPr id="21516" name="Arc 12"/>
          <p:cNvSpPr>
            <a:spLocks/>
          </p:cNvSpPr>
          <p:nvPr/>
        </p:nvSpPr>
        <p:spPr bwMode="auto">
          <a:xfrm rot="3418568">
            <a:off x="5048250" y="4483100"/>
            <a:ext cx="76200" cy="1524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headEnd/>
            <a:tailEnd/>
          </a:ln>
        </p:spPr>
        <p:txBody>
          <a:bodyPr wrap="none" anchor="ctr"/>
          <a:lstStyle/>
          <a:p>
            <a:endParaRPr lang="en-US"/>
          </a:p>
        </p:txBody>
      </p:sp>
      <p:sp>
        <p:nvSpPr>
          <p:cNvPr id="21517" name="Freeform 14"/>
          <p:cNvSpPr>
            <a:spLocks/>
          </p:cNvSpPr>
          <p:nvPr/>
        </p:nvSpPr>
        <p:spPr bwMode="auto">
          <a:xfrm>
            <a:off x="4749800" y="4349750"/>
            <a:ext cx="207963" cy="215900"/>
          </a:xfrm>
          <a:custGeom>
            <a:avLst/>
            <a:gdLst>
              <a:gd name="T0" fmla="*/ 2147483647 w 131"/>
              <a:gd name="T1" fmla="*/ 2147483647 h 136"/>
              <a:gd name="T2" fmla="*/ 2147483647 w 131"/>
              <a:gd name="T3" fmla="*/ 2147483647 h 136"/>
              <a:gd name="T4" fmla="*/ 2147483647 w 131"/>
              <a:gd name="T5" fmla="*/ 2147483647 h 136"/>
              <a:gd name="T6" fmla="*/ 2147483647 w 131"/>
              <a:gd name="T7" fmla="*/ 2147483647 h 136"/>
              <a:gd name="T8" fmla="*/ 2147483647 w 131"/>
              <a:gd name="T9" fmla="*/ 2147483647 h 136"/>
              <a:gd name="T10" fmla="*/ 2147483647 w 131"/>
              <a:gd name="T11" fmla="*/ 2147483647 h 136"/>
              <a:gd name="T12" fmla="*/ 2147483647 w 131"/>
              <a:gd name="T13" fmla="*/ 2147483647 h 136"/>
              <a:gd name="T14" fmla="*/ 2147483647 w 131"/>
              <a:gd name="T15" fmla="*/ 2147483647 h 136"/>
              <a:gd name="T16" fmla="*/ 2147483647 w 131"/>
              <a:gd name="T17" fmla="*/ 2147483647 h 136"/>
              <a:gd name="T18" fmla="*/ 2147483647 w 131"/>
              <a:gd name="T19" fmla="*/ 2147483647 h 136"/>
              <a:gd name="T20" fmla="*/ 2147483647 w 131"/>
              <a:gd name="T21" fmla="*/ 2147483647 h 136"/>
              <a:gd name="T22" fmla="*/ 2147483647 w 131"/>
              <a:gd name="T23" fmla="*/ 2147483647 h 136"/>
              <a:gd name="T24" fmla="*/ 2147483647 w 131"/>
              <a:gd name="T25" fmla="*/ 2147483647 h 136"/>
              <a:gd name="T26" fmla="*/ 2147483647 w 131"/>
              <a:gd name="T27" fmla="*/ 2147483647 h 136"/>
              <a:gd name="T28" fmla="*/ 2147483647 w 131"/>
              <a:gd name="T29" fmla="*/ 2147483647 h 136"/>
              <a:gd name="T30" fmla="*/ 2147483647 w 131"/>
              <a:gd name="T31" fmla="*/ 2147483647 h 136"/>
              <a:gd name="T32" fmla="*/ 2147483647 w 131"/>
              <a:gd name="T33" fmla="*/ 2147483647 h 136"/>
              <a:gd name="T34" fmla="*/ 2147483647 w 131"/>
              <a:gd name="T35" fmla="*/ 2147483647 h 136"/>
              <a:gd name="T36" fmla="*/ 2147483647 w 131"/>
              <a:gd name="T37" fmla="*/ 2147483647 h 136"/>
              <a:gd name="T38" fmla="*/ 2147483647 w 131"/>
              <a:gd name="T39" fmla="*/ 2147483647 h 136"/>
              <a:gd name="T40" fmla="*/ 2147483647 w 131"/>
              <a:gd name="T41" fmla="*/ 2147483647 h 136"/>
              <a:gd name="T42" fmla="*/ 2147483647 w 131"/>
              <a:gd name="T43" fmla="*/ 2147483647 h 136"/>
              <a:gd name="T44" fmla="*/ 2147483647 w 131"/>
              <a:gd name="T45" fmla="*/ 2147483647 h 136"/>
              <a:gd name="T46" fmla="*/ 2147483647 w 131"/>
              <a:gd name="T47" fmla="*/ 2147483647 h 136"/>
              <a:gd name="T48" fmla="*/ 2147483647 w 131"/>
              <a:gd name="T49" fmla="*/ 2147483647 h 136"/>
              <a:gd name="T50" fmla="*/ 2147483647 w 131"/>
              <a:gd name="T51" fmla="*/ 2147483647 h 136"/>
              <a:gd name="T52" fmla="*/ 2147483647 w 131"/>
              <a:gd name="T53" fmla="*/ 2147483647 h 136"/>
              <a:gd name="T54" fmla="*/ 2147483647 w 131"/>
              <a:gd name="T55" fmla="*/ 2147483647 h 136"/>
              <a:gd name="T56" fmla="*/ 2147483647 w 131"/>
              <a:gd name="T57" fmla="*/ 2147483647 h 136"/>
              <a:gd name="T58" fmla="*/ 2147483647 w 131"/>
              <a:gd name="T59" fmla="*/ 2147483647 h 136"/>
              <a:gd name="T60" fmla="*/ 2147483647 w 131"/>
              <a:gd name="T61" fmla="*/ 2147483647 h 136"/>
              <a:gd name="T62" fmla="*/ 2147483647 w 131"/>
              <a:gd name="T63" fmla="*/ 2147483647 h 136"/>
              <a:gd name="T64" fmla="*/ 2147483647 w 131"/>
              <a:gd name="T65" fmla="*/ 2147483647 h 136"/>
              <a:gd name="T66" fmla="*/ 2147483647 w 131"/>
              <a:gd name="T67" fmla="*/ 2147483647 h 136"/>
              <a:gd name="T68" fmla="*/ 2147483647 w 131"/>
              <a:gd name="T69" fmla="*/ 2147483647 h 136"/>
              <a:gd name="T70" fmla="*/ 2147483647 w 131"/>
              <a:gd name="T71" fmla="*/ 2147483647 h 136"/>
              <a:gd name="T72" fmla="*/ 2147483647 w 131"/>
              <a:gd name="T73" fmla="*/ 2147483647 h 136"/>
              <a:gd name="T74" fmla="*/ 2147483647 w 131"/>
              <a:gd name="T75" fmla="*/ 2147483647 h 136"/>
              <a:gd name="T76" fmla="*/ 2147483647 w 131"/>
              <a:gd name="T77" fmla="*/ 2147483647 h 136"/>
              <a:gd name="T78" fmla="*/ 2147483647 w 131"/>
              <a:gd name="T79" fmla="*/ 2147483647 h 1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31"/>
              <a:gd name="T121" fmla="*/ 0 h 136"/>
              <a:gd name="T122" fmla="*/ 131 w 131"/>
              <a:gd name="T123" fmla="*/ 136 h 1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31" h="136">
                <a:moveTo>
                  <a:pt x="8" y="54"/>
                </a:moveTo>
                <a:cubicBezTo>
                  <a:pt x="28" y="56"/>
                  <a:pt x="48" y="57"/>
                  <a:pt x="68" y="60"/>
                </a:cubicBezTo>
                <a:cubicBezTo>
                  <a:pt x="76" y="61"/>
                  <a:pt x="87" y="60"/>
                  <a:pt x="92" y="66"/>
                </a:cubicBezTo>
                <a:cubicBezTo>
                  <a:pt x="103" y="79"/>
                  <a:pt x="99" y="98"/>
                  <a:pt x="104" y="114"/>
                </a:cubicBezTo>
                <a:cubicBezTo>
                  <a:pt x="128" y="41"/>
                  <a:pt x="105" y="55"/>
                  <a:pt x="26" y="48"/>
                </a:cubicBezTo>
                <a:cubicBezTo>
                  <a:pt x="28" y="42"/>
                  <a:pt x="26" y="32"/>
                  <a:pt x="32" y="30"/>
                </a:cubicBezTo>
                <a:cubicBezTo>
                  <a:pt x="46" y="27"/>
                  <a:pt x="61" y="30"/>
                  <a:pt x="74" y="36"/>
                </a:cubicBezTo>
                <a:cubicBezTo>
                  <a:pt x="80" y="39"/>
                  <a:pt x="62" y="40"/>
                  <a:pt x="56" y="42"/>
                </a:cubicBezTo>
                <a:cubicBezTo>
                  <a:pt x="96" y="48"/>
                  <a:pt x="115" y="44"/>
                  <a:pt x="80" y="54"/>
                </a:cubicBezTo>
                <a:cubicBezTo>
                  <a:pt x="60" y="60"/>
                  <a:pt x="47" y="62"/>
                  <a:pt x="26" y="66"/>
                </a:cubicBezTo>
                <a:cubicBezTo>
                  <a:pt x="18" y="64"/>
                  <a:pt x="5" y="68"/>
                  <a:pt x="2" y="60"/>
                </a:cubicBezTo>
                <a:cubicBezTo>
                  <a:pt x="0" y="53"/>
                  <a:pt x="14" y="53"/>
                  <a:pt x="20" y="48"/>
                </a:cubicBezTo>
                <a:cubicBezTo>
                  <a:pt x="50" y="23"/>
                  <a:pt x="24" y="35"/>
                  <a:pt x="56" y="24"/>
                </a:cubicBezTo>
                <a:cubicBezTo>
                  <a:pt x="66" y="26"/>
                  <a:pt x="76" y="26"/>
                  <a:pt x="86" y="30"/>
                </a:cubicBezTo>
                <a:cubicBezTo>
                  <a:pt x="93" y="33"/>
                  <a:pt x="98" y="38"/>
                  <a:pt x="104" y="42"/>
                </a:cubicBezTo>
                <a:cubicBezTo>
                  <a:pt x="111" y="47"/>
                  <a:pt x="93" y="29"/>
                  <a:pt x="86" y="24"/>
                </a:cubicBezTo>
                <a:cubicBezTo>
                  <a:pt x="79" y="19"/>
                  <a:pt x="70" y="16"/>
                  <a:pt x="62" y="12"/>
                </a:cubicBezTo>
                <a:cubicBezTo>
                  <a:pt x="25" y="36"/>
                  <a:pt x="13" y="39"/>
                  <a:pt x="68" y="48"/>
                </a:cubicBezTo>
                <a:cubicBezTo>
                  <a:pt x="62" y="50"/>
                  <a:pt x="44" y="55"/>
                  <a:pt x="50" y="54"/>
                </a:cubicBezTo>
                <a:cubicBezTo>
                  <a:pt x="66" y="51"/>
                  <a:pt x="98" y="42"/>
                  <a:pt x="98" y="42"/>
                </a:cubicBezTo>
                <a:cubicBezTo>
                  <a:pt x="56" y="0"/>
                  <a:pt x="105" y="35"/>
                  <a:pt x="116" y="42"/>
                </a:cubicBezTo>
                <a:cubicBezTo>
                  <a:pt x="114" y="68"/>
                  <a:pt x="117" y="95"/>
                  <a:pt x="110" y="120"/>
                </a:cubicBezTo>
                <a:cubicBezTo>
                  <a:pt x="108" y="127"/>
                  <a:pt x="99" y="109"/>
                  <a:pt x="98" y="102"/>
                </a:cubicBezTo>
                <a:cubicBezTo>
                  <a:pt x="97" y="92"/>
                  <a:pt x="102" y="82"/>
                  <a:pt x="104" y="72"/>
                </a:cubicBezTo>
                <a:cubicBezTo>
                  <a:pt x="125" y="136"/>
                  <a:pt x="120" y="102"/>
                  <a:pt x="110" y="72"/>
                </a:cubicBezTo>
                <a:cubicBezTo>
                  <a:pt x="108" y="65"/>
                  <a:pt x="103" y="59"/>
                  <a:pt x="98" y="54"/>
                </a:cubicBezTo>
                <a:cubicBezTo>
                  <a:pt x="79" y="35"/>
                  <a:pt x="60" y="40"/>
                  <a:pt x="32" y="36"/>
                </a:cubicBezTo>
                <a:cubicBezTo>
                  <a:pt x="57" y="19"/>
                  <a:pt x="72" y="13"/>
                  <a:pt x="98" y="30"/>
                </a:cubicBezTo>
                <a:cubicBezTo>
                  <a:pt x="131" y="79"/>
                  <a:pt x="124" y="52"/>
                  <a:pt x="116" y="114"/>
                </a:cubicBezTo>
                <a:cubicBezTo>
                  <a:pt x="112" y="108"/>
                  <a:pt x="111" y="96"/>
                  <a:pt x="104" y="96"/>
                </a:cubicBezTo>
                <a:cubicBezTo>
                  <a:pt x="98" y="96"/>
                  <a:pt x="92" y="114"/>
                  <a:pt x="98" y="114"/>
                </a:cubicBezTo>
                <a:cubicBezTo>
                  <a:pt x="105" y="114"/>
                  <a:pt x="103" y="96"/>
                  <a:pt x="110" y="96"/>
                </a:cubicBezTo>
                <a:cubicBezTo>
                  <a:pt x="116" y="96"/>
                  <a:pt x="104" y="120"/>
                  <a:pt x="104" y="114"/>
                </a:cubicBezTo>
                <a:cubicBezTo>
                  <a:pt x="104" y="104"/>
                  <a:pt x="108" y="94"/>
                  <a:pt x="110" y="84"/>
                </a:cubicBezTo>
                <a:cubicBezTo>
                  <a:pt x="108" y="72"/>
                  <a:pt x="100" y="60"/>
                  <a:pt x="104" y="48"/>
                </a:cubicBezTo>
                <a:cubicBezTo>
                  <a:pt x="106" y="41"/>
                  <a:pt x="109" y="66"/>
                  <a:pt x="116" y="66"/>
                </a:cubicBezTo>
                <a:cubicBezTo>
                  <a:pt x="122" y="66"/>
                  <a:pt x="106" y="52"/>
                  <a:pt x="110" y="48"/>
                </a:cubicBezTo>
                <a:cubicBezTo>
                  <a:pt x="114" y="44"/>
                  <a:pt x="122" y="52"/>
                  <a:pt x="128" y="54"/>
                </a:cubicBezTo>
                <a:cubicBezTo>
                  <a:pt x="123" y="98"/>
                  <a:pt x="126" y="109"/>
                  <a:pt x="92" y="132"/>
                </a:cubicBezTo>
                <a:cubicBezTo>
                  <a:pt x="101" y="97"/>
                  <a:pt x="107" y="60"/>
                  <a:pt x="62" y="60"/>
                </a:cubicBezTo>
              </a:path>
            </a:pathLst>
          </a:custGeom>
          <a:noFill/>
          <a:ln w="9525">
            <a:solidFill>
              <a:srgbClr val="000000"/>
            </a:solidFill>
            <a:round/>
            <a:headEnd/>
            <a:tailEnd/>
          </a:ln>
        </p:spPr>
        <p:txBody>
          <a:bodyPr wrap="none"/>
          <a:lstStyle/>
          <a:p>
            <a:endParaRPr lang="en-US"/>
          </a:p>
        </p:txBody>
      </p:sp>
      <p:sp>
        <p:nvSpPr>
          <p:cNvPr id="21518" name="Freeform 16"/>
          <p:cNvSpPr>
            <a:spLocks/>
          </p:cNvSpPr>
          <p:nvPr/>
        </p:nvSpPr>
        <p:spPr bwMode="auto">
          <a:xfrm>
            <a:off x="4762500" y="4378325"/>
            <a:ext cx="173038" cy="52388"/>
          </a:xfrm>
          <a:custGeom>
            <a:avLst/>
            <a:gdLst>
              <a:gd name="T0" fmla="*/ 0 w 109"/>
              <a:gd name="T1" fmla="*/ 2147483647 h 33"/>
              <a:gd name="T2" fmla="*/ 2147483647 w 109"/>
              <a:gd name="T3" fmla="*/ 2147483647 h 33"/>
              <a:gd name="T4" fmla="*/ 2147483647 w 109"/>
              <a:gd name="T5" fmla="*/ 2147483647 h 33"/>
              <a:gd name="T6" fmla="*/ 2147483647 w 109"/>
              <a:gd name="T7" fmla="*/ 2147483647 h 33"/>
              <a:gd name="T8" fmla="*/ 2147483647 w 109"/>
              <a:gd name="T9" fmla="*/ 2147483647 h 33"/>
              <a:gd name="T10" fmla="*/ 2147483647 w 109"/>
              <a:gd name="T11" fmla="*/ 2147483647 h 33"/>
              <a:gd name="T12" fmla="*/ 2147483647 w 109"/>
              <a:gd name="T13" fmla="*/ 2147483647 h 33"/>
              <a:gd name="T14" fmla="*/ 2147483647 w 109"/>
              <a:gd name="T15" fmla="*/ 0 h 33"/>
              <a:gd name="T16" fmla="*/ 2147483647 w 109"/>
              <a:gd name="T17" fmla="*/ 2147483647 h 33"/>
              <a:gd name="T18" fmla="*/ 2147483647 w 109"/>
              <a:gd name="T19" fmla="*/ 2147483647 h 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9"/>
              <a:gd name="T31" fmla="*/ 0 h 33"/>
              <a:gd name="T32" fmla="*/ 109 w 109"/>
              <a:gd name="T33" fmla="*/ 33 h 3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9" h="33">
                <a:moveTo>
                  <a:pt x="0" y="30"/>
                </a:moveTo>
                <a:cubicBezTo>
                  <a:pt x="4" y="24"/>
                  <a:pt x="5" y="12"/>
                  <a:pt x="12" y="12"/>
                </a:cubicBezTo>
                <a:cubicBezTo>
                  <a:pt x="18" y="12"/>
                  <a:pt x="12" y="33"/>
                  <a:pt x="18" y="30"/>
                </a:cubicBezTo>
                <a:cubicBezTo>
                  <a:pt x="25" y="26"/>
                  <a:pt x="22" y="14"/>
                  <a:pt x="24" y="6"/>
                </a:cubicBezTo>
                <a:cubicBezTo>
                  <a:pt x="48" y="8"/>
                  <a:pt x="72" y="12"/>
                  <a:pt x="96" y="12"/>
                </a:cubicBezTo>
                <a:cubicBezTo>
                  <a:pt x="102" y="12"/>
                  <a:pt x="78" y="6"/>
                  <a:pt x="78" y="6"/>
                </a:cubicBezTo>
                <a:cubicBezTo>
                  <a:pt x="86" y="8"/>
                  <a:pt x="109" y="16"/>
                  <a:pt x="102" y="12"/>
                </a:cubicBezTo>
                <a:cubicBezTo>
                  <a:pt x="91" y="6"/>
                  <a:pt x="66" y="0"/>
                  <a:pt x="66" y="0"/>
                </a:cubicBezTo>
                <a:cubicBezTo>
                  <a:pt x="58" y="2"/>
                  <a:pt x="48" y="1"/>
                  <a:pt x="42" y="6"/>
                </a:cubicBezTo>
                <a:cubicBezTo>
                  <a:pt x="37" y="10"/>
                  <a:pt x="36" y="24"/>
                  <a:pt x="36" y="24"/>
                </a:cubicBezTo>
              </a:path>
            </a:pathLst>
          </a:custGeom>
          <a:noFill/>
          <a:ln w="9525">
            <a:solidFill>
              <a:srgbClr val="000000"/>
            </a:solidFill>
            <a:round/>
            <a:headEnd/>
            <a:tailEnd/>
          </a:ln>
        </p:spPr>
        <p:txBody>
          <a:bodyPr wrap="none"/>
          <a:lstStyle/>
          <a:p>
            <a:endParaRPr lang="en-US"/>
          </a:p>
        </p:txBody>
      </p:sp>
      <p:sp>
        <p:nvSpPr>
          <p:cNvPr id="21519" name="Freeform 17"/>
          <p:cNvSpPr>
            <a:spLocks/>
          </p:cNvSpPr>
          <p:nvPr/>
        </p:nvSpPr>
        <p:spPr bwMode="auto">
          <a:xfrm>
            <a:off x="4875213" y="4425950"/>
            <a:ext cx="96837" cy="188913"/>
          </a:xfrm>
          <a:custGeom>
            <a:avLst/>
            <a:gdLst>
              <a:gd name="T0" fmla="*/ 2147483647 w 61"/>
              <a:gd name="T1" fmla="*/ 0 h 119"/>
              <a:gd name="T2" fmla="*/ 2147483647 w 61"/>
              <a:gd name="T3" fmla="*/ 2147483647 h 119"/>
              <a:gd name="T4" fmla="*/ 2147483647 w 61"/>
              <a:gd name="T5" fmla="*/ 2147483647 h 119"/>
              <a:gd name="T6" fmla="*/ 2147483647 w 61"/>
              <a:gd name="T7" fmla="*/ 2147483647 h 119"/>
              <a:gd name="T8" fmla="*/ 2147483647 w 61"/>
              <a:gd name="T9" fmla="*/ 2147483647 h 119"/>
              <a:gd name="T10" fmla="*/ 2147483647 w 61"/>
              <a:gd name="T11" fmla="*/ 2147483647 h 119"/>
              <a:gd name="T12" fmla="*/ 2147483647 w 61"/>
              <a:gd name="T13" fmla="*/ 2147483647 h 119"/>
              <a:gd name="T14" fmla="*/ 2147483647 w 61"/>
              <a:gd name="T15" fmla="*/ 2147483647 h 119"/>
              <a:gd name="T16" fmla="*/ 0 60000 65536"/>
              <a:gd name="T17" fmla="*/ 0 60000 65536"/>
              <a:gd name="T18" fmla="*/ 0 60000 65536"/>
              <a:gd name="T19" fmla="*/ 0 60000 65536"/>
              <a:gd name="T20" fmla="*/ 0 60000 65536"/>
              <a:gd name="T21" fmla="*/ 0 60000 65536"/>
              <a:gd name="T22" fmla="*/ 0 60000 65536"/>
              <a:gd name="T23" fmla="*/ 0 60000 65536"/>
              <a:gd name="T24" fmla="*/ 0 w 61"/>
              <a:gd name="T25" fmla="*/ 0 h 119"/>
              <a:gd name="T26" fmla="*/ 61 w 61"/>
              <a:gd name="T27" fmla="*/ 119 h 11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1" h="119">
                <a:moveTo>
                  <a:pt x="37" y="0"/>
                </a:moveTo>
                <a:cubicBezTo>
                  <a:pt x="55" y="27"/>
                  <a:pt x="61" y="60"/>
                  <a:pt x="25" y="72"/>
                </a:cubicBezTo>
                <a:cubicBezTo>
                  <a:pt x="24" y="76"/>
                  <a:pt x="15" y="119"/>
                  <a:pt x="7" y="72"/>
                </a:cubicBezTo>
                <a:cubicBezTo>
                  <a:pt x="6" y="66"/>
                  <a:pt x="11" y="60"/>
                  <a:pt x="13" y="54"/>
                </a:cubicBezTo>
                <a:cubicBezTo>
                  <a:pt x="11" y="46"/>
                  <a:pt x="14" y="34"/>
                  <a:pt x="7" y="30"/>
                </a:cubicBezTo>
                <a:cubicBezTo>
                  <a:pt x="1" y="27"/>
                  <a:pt x="0" y="42"/>
                  <a:pt x="1" y="48"/>
                </a:cubicBezTo>
                <a:cubicBezTo>
                  <a:pt x="2" y="55"/>
                  <a:pt x="6" y="66"/>
                  <a:pt x="13" y="66"/>
                </a:cubicBezTo>
                <a:cubicBezTo>
                  <a:pt x="19" y="66"/>
                  <a:pt x="13" y="54"/>
                  <a:pt x="13" y="48"/>
                </a:cubicBezTo>
              </a:path>
            </a:pathLst>
          </a:custGeom>
          <a:noFill/>
          <a:ln w="9525">
            <a:solidFill>
              <a:srgbClr val="000000"/>
            </a:solidFill>
            <a:round/>
            <a:headEnd/>
            <a:tailEnd/>
          </a:ln>
        </p:spPr>
        <p:txBody>
          <a:bodyPr wrap="none"/>
          <a:lstStyle/>
          <a:p>
            <a:endParaRPr lang="en-US"/>
          </a:p>
        </p:txBody>
      </p:sp>
      <p:sp>
        <p:nvSpPr>
          <p:cNvPr id="21520" name="Text Box 18"/>
          <p:cNvSpPr txBox="1">
            <a:spLocks noChangeArrowheads="1"/>
          </p:cNvSpPr>
          <p:nvPr/>
        </p:nvSpPr>
        <p:spPr bwMode="auto">
          <a:xfrm>
            <a:off x="5132388" y="4471988"/>
            <a:ext cx="290512" cy="336550"/>
          </a:xfrm>
          <a:prstGeom prst="rect">
            <a:avLst/>
          </a:prstGeom>
          <a:noFill/>
          <a:ln w="9525">
            <a:noFill/>
            <a:miter lim="800000"/>
            <a:headEnd/>
            <a:tailEnd/>
          </a:ln>
        </p:spPr>
        <p:txBody>
          <a:bodyPr wrap="none">
            <a:spAutoFit/>
          </a:bodyPr>
          <a:lstStyle/>
          <a:p>
            <a:r>
              <a:rPr lang="en-US" sz="1600">
                <a:solidFill>
                  <a:srgbClr val="000000"/>
                </a:solidFill>
                <a:sym typeface="Symbol" pitchFamily="18" charset="2"/>
              </a:rPr>
              <a:t></a:t>
            </a:r>
            <a:endParaRPr lang="en-US" sz="1600">
              <a:solidFill>
                <a:srgbClr val="000000"/>
              </a:solidFill>
            </a:endParaRPr>
          </a:p>
        </p:txBody>
      </p:sp>
      <p:sp>
        <p:nvSpPr>
          <p:cNvPr id="21521" name="Text Box 19"/>
          <p:cNvSpPr txBox="1">
            <a:spLocks noChangeArrowheads="1"/>
          </p:cNvSpPr>
          <p:nvPr/>
        </p:nvSpPr>
        <p:spPr bwMode="auto">
          <a:xfrm>
            <a:off x="5362575" y="4981575"/>
            <a:ext cx="285750" cy="336550"/>
          </a:xfrm>
          <a:prstGeom prst="rect">
            <a:avLst/>
          </a:prstGeom>
          <a:noFill/>
          <a:ln w="9525">
            <a:noFill/>
            <a:miter lim="800000"/>
            <a:headEnd/>
            <a:tailEnd/>
          </a:ln>
        </p:spPr>
        <p:txBody>
          <a:bodyPr wrap="none">
            <a:spAutoFit/>
          </a:bodyPr>
          <a:lstStyle/>
          <a:p>
            <a:r>
              <a:rPr lang="en-US" sz="1600">
                <a:solidFill>
                  <a:srgbClr val="000000"/>
                </a:solidFill>
                <a:sym typeface="Symbol" pitchFamily="18" charset="2"/>
              </a:rPr>
              <a:t>y</a:t>
            </a:r>
            <a:endParaRPr lang="en-US" sz="1600">
              <a:solidFill>
                <a:srgbClr val="000000"/>
              </a:solidFill>
            </a:endParaRPr>
          </a:p>
        </p:txBody>
      </p:sp>
      <p:sp>
        <p:nvSpPr>
          <p:cNvPr id="21522" name="Text Box 20"/>
          <p:cNvSpPr txBox="1">
            <a:spLocks noChangeArrowheads="1"/>
          </p:cNvSpPr>
          <p:nvPr/>
        </p:nvSpPr>
        <p:spPr bwMode="auto">
          <a:xfrm>
            <a:off x="5540375" y="3552825"/>
            <a:ext cx="285750" cy="336550"/>
          </a:xfrm>
          <a:prstGeom prst="rect">
            <a:avLst/>
          </a:prstGeom>
          <a:noFill/>
          <a:ln w="9525">
            <a:noFill/>
            <a:miter lim="800000"/>
            <a:headEnd/>
            <a:tailEnd/>
          </a:ln>
        </p:spPr>
        <p:txBody>
          <a:bodyPr wrap="none">
            <a:spAutoFit/>
          </a:bodyPr>
          <a:lstStyle/>
          <a:p>
            <a:r>
              <a:rPr lang="en-US" sz="1600">
                <a:solidFill>
                  <a:srgbClr val="000000"/>
                </a:solidFill>
                <a:sym typeface="Symbol" pitchFamily="18" charset="2"/>
              </a:rPr>
              <a:t>x</a:t>
            </a:r>
            <a:endParaRPr lang="en-US" sz="1600">
              <a:solidFill>
                <a:srgbClr val="000000"/>
              </a:solidFill>
            </a:endParaRPr>
          </a:p>
        </p:txBody>
      </p:sp>
      <p:sp>
        <p:nvSpPr>
          <p:cNvPr id="21523" name="Text Box 21"/>
          <p:cNvSpPr txBox="1">
            <a:spLocks noChangeArrowheads="1"/>
          </p:cNvSpPr>
          <p:nvPr/>
        </p:nvSpPr>
        <p:spPr bwMode="auto">
          <a:xfrm>
            <a:off x="2973388" y="3405188"/>
            <a:ext cx="1041695" cy="369332"/>
          </a:xfrm>
          <a:prstGeom prst="rect">
            <a:avLst/>
          </a:prstGeom>
          <a:noFill/>
          <a:ln w="9525">
            <a:noFill/>
            <a:miter lim="800000"/>
            <a:headEnd/>
            <a:tailEnd/>
          </a:ln>
        </p:spPr>
        <p:txBody>
          <a:bodyPr wrap="none">
            <a:spAutoFit/>
          </a:bodyPr>
          <a:lstStyle/>
          <a:p>
            <a:r>
              <a:rPr lang="en-US" sz="1800">
                <a:solidFill>
                  <a:srgbClr val="000000"/>
                </a:solidFill>
              </a:rPr>
              <a:t>Y (north)</a:t>
            </a:r>
          </a:p>
        </p:txBody>
      </p:sp>
      <p:sp>
        <p:nvSpPr>
          <p:cNvPr id="21524" name="Text Box 22"/>
          <p:cNvSpPr txBox="1">
            <a:spLocks noChangeArrowheads="1"/>
          </p:cNvSpPr>
          <p:nvPr/>
        </p:nvSpPr>
        <p:spPr bwMode="auto">
          <a:xfrm>
            <a:off x="4712787" y="5817464"/>
            <a:ext cx="425450" cy="366713"/>
          </a:xfrm>
          <a:prstGeom prst="rect">
            <a:avLst/>
          </a:prstGeom>
          <a:noFill/>
          <a:ln w="9525">
            <a:noFill/>
            <a:miter lim="800000"/>
            <a:headEnd/>
            <a:tailEnd/>
          </a:ln>
        </p:spPr>
        <p:txBody>
          <a:bodyPr wrap="none">
            <a:spAutoFit/>
          </a:bodyPr>
          <a:lstStyle/>
          <a:p>
            <a:r>
              <a:rPr lang="en-US" sz="1800">
                <a:solidFill>
                  <a:srgbClr val="000000"/>
                </a:solidFill>
              </a:rPr>
              <a:t>X</a:t>
            </a:r>
            <a:r>
              <a:rPr lang="en-US" sz="1800" baseline="-25000">
                <a:solidFill>
                  <a:srgbClr val="000000"/>
                </a:solidFill>
              </a:rPr>
              <a:t>o</a:t>
            </a:r>
          </a:p>
        </p:txBody>
      </p:sp>
      <p:sp>
        <p:nvSpPr>
          <p:cNvPr id="21525" name="Text Box 23"/>
          <p:cNvSpPr txBox="1">
            <a:spLocks noChangeArrowheads="1"/>
          </p:cNvSpPr>
          <p:nvPr/>
        </p:nvSpPr>
        <p:spPr bwMode="auto">
          <a:xfrm>
            <a:off x="2705895" y="4282520"/>
            <a:ext cx="425450" cy="366712"/>
          </a:xfrm>
          <a:prstGeom prst="rect">
            <a:avLst/>
          </a:prstGeom>
          <a:noFill/>
          <a:ln w="9525">
            <a:noFill/>
            <a:miter lim="800000"/>
            <a:headEnd/>
            <a:tailEnd/>
          </a:ln>
        </p:spPr>
        <p:txBody>
          <a:bodyPr wrap="none">
            <a:spAutoFit/>
          </a:bodyPr>
          <a:lstStyle/>
          <a:p>
            <a:r>
              <a:rPr lang="en-US" sz="1800" err="1">
                <a:solidFill>
                  <a:srgbClr val="000000"/>
                </a:solidFill>
              </a:rPr>
              <a:t>Y</a:t>
            </a:r>
            <a:r>
              <a:rPr lang="en-US" sz="1800" baseline="-25000" err="1">
                <a:solidFill>
                  <a:srgbClr val="000000"/>
                </a:solidFill>
              </a:rPr>
              <a:t>o</a:t>
            </a:r>
            <a:endParaRPr lang="en-US" sz="1800" baseline="-25000">
              <a:solidFill>
                <a:srgbClr val="000000"/>
              </a:solidFill>
            </a:endParaRPr>
          </a:p>
        </p:txBody>
      </p:sp>
      <p:sp>
        <p:nvSpPr>
          <p:cNvPr id="21526" name="Text Box 24"/>
          <p:cNvSpPr txBox="1">
            <a:spLocks noChangeArrowheads="1"/>
          </p:cNvSpPr>
          <p:nvPr/>
        </p:nvSpPr>
        <p:spPr bwMode="auto">
          <a:xfrm>
            <a:off x="6299200" y="5627688"/>
            <a:ext cx="922047" cy="369332"/>
          </a:xfrm>
          <a:prstGeom prst="rect">
            <a:avLst/>
          </a:prstGeom>
          <a:noFill/>
          <a:ln w="9525">
            <a:noFill/>
            <a:miter lim="800000"/>
            <a:headEnd/>
            <a:tailEnd/>
          </a:ln>
        </p:spPr>
        <p:txBody>
          <a:bodyPr wrap="none">
            <a:spAutoFit/>
          </a:bodyPr>
          <a:lstStyle/>
          <a:p>
            <a:r>
              <a:rPr lang="en-US" sz="1800">
                <a:solidFill>
                  <a:srgbClr val="000000"/>
                </a:solidFill>
              </a:rPr>
              <a:t>X (east)</a:t>
            </a:r>
          </a:p>
        </p:txBody>
      </p:sp>
      <p:sp>
        <p:nvSpPr>
          <p:cNvPr id="21527" name="Text Box 25"/>
          <p:cNvSpPr txBox="1">
            <a:spLocks noChangeArrowheads="1"/>
          </p:cNvSpPr>
          <p:nvPr/>
        </p:nvSpPr>
        <p:spPr bwMode="auto">
          <a:xfrm>
            <a:off x="6702425" y="3355975"/>
            <a:ext cx="1662113" cy="2282825"/>
          </a:xfrm>
          <a:prstGeom prst="rect">
            <a:avLst/>
          </a:prstGeom>
          <a:noFill/>
          <a:ln w="9525">
            <a:noFill/>
            <a:miter lim="800000"/>
            <a:headEnd/>
            <a:tailEnd/>
          </a:ln>
        </p:spPr>
        <p:txBody>
          <a:bodyPr wrap="none">
            <a:spAutoFit/>
          </a:bodyPr>
          <a:lstStyle/>
          <a:p>
            <a:r>
              <a:rPr lang="en-US"/>
              <a:t>2-D case</a:t>
            </a:r>
          </a:p>
          <a:p>
            <a:endParaRPr lang="en-US"/>
          </a:p>
          <a:p>
            <a:r>
              <a:rPr lang="en-US"/>
              <a:t>X</a:t>
            </a:r>
          </a:p>
          <a:p>
            <a:r>
              <a:rPr lang="en-US"/>
              <a:t>Y</a:t>
            </a:r>
          </a:p>
          <a:p>
            <a:endParaRPr lang="en-US"/>
          </a:p>
          <a:p>
            <a:r>
              <a:rPr lang="en-US"/>
              <a:t>neglecting z</a:t>
            </a:r>
          </a:p>
        </p:txBody>
      </p:sp>
      <p:sp>
        <p:nvSpPr>
          <p:cNvPr id="21528" name="AutoShape 26"/>
          <p:cNvSpPr>
            <a:spLocks/>
          </p:cNvSpPr>
          <p:nvPr/>
        </p:nvSpPr>
        <p:spPr bwMode="auto">
          <a:xfrm>
            <a:off x="7086600" y="4067175"/>
            <a:ext cx="76200" cy="838200"/>
          </a:xfrm>
          <a:prstGeom prst="rightBrace">
            <a:avLst>
              <a:gd name="adj1" fmla="val 91667"/>
              <a:gd name="adj2" fmla="val 50000"/>
            </a:avLst>
          </a:prstGeom>
          <a:noFill/>
          <a:ln w="9525">
            <a:solidFill>
              <a:schemeClr val="tx1"/>
            </a:solidFill>
            <a:round/>
            <a:headEnd/>
            <a:tailEnd/>
          </a:ln>
        </p:spPr>
        <p:txBody>
          <a:bodyPr wrap="none" anchor="ctr"/>
          <a:lstStyle/>
          <a:p>
            <a:endParaRPr lang="en-US"/>
          </a:p>
        </p:txBody>
      </p:sp>
      <p:sp>
        <p:nvSpPr>
          <p:cNvPr id="21529" name="Text Box 27"/>
          <p:cNvSpPr txBox="1">
            <a:spLocks noChangeArrowheads="1"/>
          </p:cNvSpPr>
          <p:nvPr/>
        </p:nvSpPr>
        <p:spPr bwMode="auto">
          <a:xfrm>
            <a:off x="7288213" y="4121150"/>
            <a:ext cx="809625" cy="822325"/>
          </a:xfrm>
          <a:prstGeom prst="rect">
            <a:avLst/>
          </a:prstGeom>
          <a:noFill/>
          <a:ln w="9525">
            <a:noFill/>
            <a:miter lim="800000"/>
            <a:headEnd/>
            <a:tailEnd/>
          </a:ln>
        </p:spPr>
        <p:txBody>
          <a:bodyPr wrap="none">
            <a:spAutoFit/>
          </a:bodyPr>
          <a:lstStyle/>
          <a:p>
            <a:r>
              <a:rPr lang="en-US"/>
              <a:t>earth</a:t>
            </a:r>
          </a:p>
          <a:p>
            <a:r>
              <a:rPr lang="en-US"/>
              <a:t>fixed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t>Technically, these earth-fixed coordinates are NOT inertial</a:t>
            </a:r>
          </a:p>
        </p:txBody>
      </p:sp>
      <p:sp>
        <p:nvSpPr>
          <p:cNvPr id="3" name="Content Placeholder 2"/>
          <p:cNvSpPr>
            <a:spLocks noGrp="1"/>
          </p:cNvSpPr>
          <p:nvPr>
            <p:ph idx="1"/>
          </p:nvPr>
        </p:nvSpPr>
        <p:spPr>
          <a:xfrm>
            <a:off x="380999" y="1600200"/>
            <a:ext cx="4028233" cy="4525963"/>
          </a:xfrm>
        </p:spPr>
        <p:txBody>
          <a:bodyPr/>
          <a:lstStyle/>
          <a:p>
            <a:pPr marL="0" indent="0">
              <a:buNone/>
            </a:pPr>
            <a:r>
              <a:rPr lang="en-US"/>
              <a:t>In case you didn’t know, the Earth is moving VERY fast. </a:t>
            </a:r>
            <a:br>
              <a:rPr lang="en-US"/>
            </a:br>
            <a:r>
              <a:rPr lang="en-US"/>
              <a:t>A good vehicle gyroscope can measure this even when parked, and hence determine latitude / orientation!</a:t>
            </a:r>
          </a:p>
        </p:txBody>
      </p:sp>
      <p:sp>
        <p:nvSpPr>
          <p:cNvPr id="7" name="TextBox 6"/>
          <p:cNvSpPr txBox="1"/>
          <p:nvPr/>
        </p:nvSpPr>
        <p:spPr>
          <a:xfrm>
            <a:off x="4409233" y="5486400"/>
            <a:ext cx="4243355" cy="323165"/>
          </a:xfrm>
          <a:prstGeom prst="rect">
            <a:avLst/>
          </a:prstGeom>
          <a:noFill/>
        </p:spPr>
        <p:txBody>
          <a:bodyPr wrap="square" rtlCol="0">
            <a:spAutoFit/>
          </a:bodyPr>
          <a:lstStyle/>
          <a:p>
            <a:r>
              <a:rPr lang="en-US" sz="500"/>
              <a:t>Image by </a:t>
            </a:r>
            <a:r>
              <a:rPr lang="en-US" sz="500" err="1"/>
              <a:t>Wikiscient</a:t>
            </a:r>
            <a:r>
              <a:rPr lang="en-US" sz="500"/>
              <a:t> [CC BY-SA 3.0 (http://creativecommons.org/licenses/by-sa/3.0), GFDL (http://www.gnu.org/copyleft/fdl.html), GFDL (http://www.gnu.org/copyleft/fdl.html) or CC BY-SA 3.0 (http://creativecommons.org/licenses/by-sa/3.0)], via Wikimedia Commons, using NASA's "Visible Earth" image (in the public domain)</a:t>
            </a:r>
          </a:p>
        </p:txBody>
      </p:sp>
      <p:pic>
        <p:nvPicPr>
          <p:cNvPr id="8" name="Picture 7"/>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788159" y="2057400"/>
            <a:ext cx="3200400" cy="3200400"/>
          </a:xfrm>
          <a:prstGeom prst="rect">
            <a:avLst/>
          </a:prstGeom>
        </p:spPr>
      </p:pic>
    </p:spTree>
    <p:extLst>
      <p:ext uri="{BB962C8B-B14F-4D97-AF65-F5344CB8AC3E}">
        <p14:creationId xmlns:p14="http://schemas.microsoft.com/office/powerpoint/2010/main" val="31580146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algn="l" eaLnBrk="1" hangingPunct="1"/>
            <a:r>
              <a:rPr lang="en-US" sz="3600"/>
              <a:t>How to perform a coordinate transform?</a:t>
            </a:r>
          </a:p>
        </p:txBody>
      </p:sp>
      <p:sp>
        <p:nvSpPr>
          <p:cNvPr id="22531" name="Rectangle 3"/>
          <p:cNvSpPr>
            <a:spLocks noGrp="1" noChangeArrowheads="1"/>
          </p:cNvSpPr>
          <p:nvPr>
            <p:ph type="body" idx="1"/>
          </p:nvPr>
        </p:nvSpPr>
        <p:spPr/>
        <p:txBody>
          <a:bodyPr/>
          <a:lstStyle/>
          <a:p>
            <a:pPr marL="0" indent="0" eaLnBrk="1" hangingPunct="1">
              <a:buNone/>
            </a:pPr>
            <a:r>
              <a:rPr lang="en-US" sz="2800"/>
              <a:t>The relationship between earth-fixed and body-fixed coordinates consists of three rotations and one translation for the general case. Coordinate rotations START from the fixed axis, and then rotate until they coincide with the body axis.</a:t>
            </a:r>
          </a:p>
        </p:txBody>
      </p:sp>
      <p:sp>
        <p:nvSpPr>
          <p:cNvPr id="22532" name="Line 4"/>
          <p:cNvSpPr>
            <a:spLocks noChangeShapeType="1"/>
          </p:cNvSpPr>
          <p:nvPr/>
        </p:nvSpPr>
        <p:spPr bwMode="auto">
          <a:xfrm>
            <a:off x="2057400" y="4267200"/>
            <a:ext cx="1371600" cy="0"/>
          </a:xfrm>
          <a:prstGeom prst="line">
            <a:avLst/>
          </a:prstGeom>
          <a:noFill/>
          <a:ln w="19050">
            <a:solidFill>
              <a:srgbClr val="000000"/>
            </a:solidFill>
            <a:round/>
            <a:headEnd type="triangle" w="med" len="med"/>
            <a:tailEnd/>
          </a:ln>
        </p:spPr>
        <p:txBody>
          <a:bodyPr wrap="none"/>
          <a:lstStyle/>
          <a:p>
            <a:endParaRPr lang="en-US"/>
          </a:p>
        </p:txBody>
      </p:sp>
      <p:sp>
        <p:nvSpPr>
          <p:cNvPr id="22533" name="Line 6"/>
          <p:cNvSpPr>
            <a:spLocks noChangeShapeType="1"/>
          </p:cNvSpPr>
          <p:nvPr/>
        </p:nvSpPr>
        <p:spPr bwMode="auto">
          <a:xfrm>
            <a:off x="3429000" y="4267200"/>
            <a:ext cx="0" cy="1143000"/>
          </a:xfrm>
          <a:prstGeom prst="line">
            <a:avLst/>
          </a:prstGeom>
          <a:noFill/>
          <a:ln w="19050">
            <a:solidFill>
              <a:srgbClr val="000000"/>
            </a:solidFill>
            <a:round/>
            <a:headEnd/>
            <a:tailEnd type="triangle" w="med" len="med"/>
          </a:ln>
        </p:spPr>
        <p:txBody>
          <a:bodyPr wrap="none"/>
          <a:lstStyle/>
          <a:p>
            <a:endParaRPr lang="en-US"/>
          </a:p>
        </p:txBody>
      </p:sp>
      <p:sp>
        <p:nvSpPr>
          <p:cNvPr id="22534" name="Line 7"/>
          <p:cNvSpPr>
            <a:spLocks noChangeShapeType="1"/>
          </p:cNvSpPr>
          <p:nvPr/>
        </p:nvSpPr>
        <p:spPr bwMode="auto">
          <a:xfrm flipH="1">
            <a:off x="2362200" y="4267200"/>
            <a:ext cx="1066800" cy="914400"/>
          </a:xfrm>
          <a:prstGeom prst="line">
            <a:avLst/>
          </a:prstGeom>
          <a:noFill/>
          <a:ln w="19050">
            <a:solidFill>
              <a:srgbClr val="000000"/>
            </a:solidFill>
            <a:round/>
            <a:headEnd/>
            <a:tailEnd type="triangle" w="med" len="med"/>
          </a:ln>
        </p:spPr>
        <p:txBody>
          <a:bodyPr wrap="none"/>
          <a:lstStyle/>
          <a:p>
            <a:endParaRPr lang="en-US"/>
          </a:p>
        </p:txBody>
      </p:sp>
      <p:sp>
        <p:nvSpPr>
          <p:cNvPr id="22535" name="Line 8"/>
          <p:cNvSpPr>
            <a:spLocks noChangeShapeType="1"/>
          </p:cNvSpPr>
          <p:nvPr/>
        </p:nvSpPr>
        <p:spPr bwMode="auto">
          <a:xfrm>
            <a:off x="4267200" y="4648200"/>
            <a:ext cx="1066800" cy="0"/>
          </a:xfrm>
          <a:prstGeom prst="line">
            <a:avLst/>
          </a:prstGeom>
          <a:noFill/>
          <a:ln w="38100" cmpd="dbl">
            <a:solidFill>
              <a:srgbClr val="000000"/>
            </a:solidFill>
            <a:round/>
            <a:headEnd type="arrow" w="med" len="med"/>
            <a:tailEnd type="arrow" w="med" len="med"/>
          </a:ln>
        </p:spPr>
        <p:txBody>
          <a:bodyPr wrap="none"/>
          <a:lstStyle/>
          <a:p>
            <a:endParaRPr lang="en-US"/>
          </a:p>
        </p:txBody>
      </p:sp>
      <p:sp>
        <p:nvSpPr>
          <p:cNvPr id="22536" name="Line 9"/>
          <p:cNvSpPr>
            <a:spLocks noChangeShapeType="1"/>
          </p:cNvSpPr>
          <p:nvPr/>
        </p:nvSpPr>
        <p:spPr bwMode="auto">
          <a:xfrm flipH="1">
            <a:off x="5943600" y="4267200"/>
            <a:ext cx="685800" cy="838200"/>
          </a:xfrm>
          <a:prstGeom prst="line">
            <a:avLst/>
          </a:prstGeom>
          <a:noFill/>
          <a:ln w="19050">
            <a:solidFill>
              <a:srgbClr val="000000"/>
            </a:solidFill>
            <a:round/>
            <a:headEnd/>
            <a:tailEnd type="triangle" w="med" len="med"/>
          </a:ln>
        </p:spPr>
        <p:txBody>
          <a:bodyPr wrap="none"/>
          <a:lstStyle/>
          <a:p>
            <a:endParaRPr lang="en-US"/>
          </a:p>
        </p:txBody>
      </p:sp>
      <p:sp>
        <p:nvSpPr>
          <p:cNvPr id="22537" name="Line 10"/>
          <p:cNvSpPr>
            <a:spLocks noChangeShapeType="1"/>
          </p:cNvSpPr>
          <p:nvPr/>
        </p:nvSpPr>
        <p:spPr bwMode="auto">
          <a:xfrm>
            <a:off x="6629400" y="4267200"/>
            <a:ext cx="0" cy="914400"/>
          </a:xfrm>
          <a:prstGeom prst="line">
            <a:avLst/>
          </a:prstGeom>
          <a:noFill/>
          <a:ln w="19050">
            <a:solidFill>
              <a:srgbClr val="000000"/>
            </a:solidFill>
            <a:round/>
            <a:headEnd/>
            <a:tailEnd type="triangle" w="med" len="med"/>
          </a:ln>
        </p:spPr>
        <p:txBody>
          <a:bodyPr wrap="none"/>
          <a:lstStyle/>
          <a:p>
            <a:endParaRPr lang="en-US"/>
          </a:p>
        </p:txBody>
      </p:sp>
      <p:sp>
        <p:nvSpPr>
          <p:cNvPr id="22538" name="Line 11"/>
          <p:cNvSpPr>
            <a:spLocks noChangeShapeType="1"/>
          </p:cNvSpPr>
          <p:nvPr/>
        </p:nvSpPr>
        <p:spPr bwMode="auto">
          <a:xfrm>
            <a:off x="6629400" y="4267200"/>
            <a:ext cx="685800" cy="838200"/>
          </a:xfrm>
          <a:prstGeom prst="line">
            <a:avLst/>
          </a:prstGeom>
          <a:noFill/>
          <a:ln w="19050">
            <a:solidFill>
              <a:srgbClr val="000000"/>
            </a:solidFill>
            <a:round/>
            <a:headEnd/>
            <a:tailEnd type="triangle" w="med" len="med"/>
          </a:ln>
        </p:spPr>
        <p:txBody>
          <a:bodyPr wrap="none"/>
          <a:lstStyle/>
          <a:p>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algn="l" eaLnBrk="1" hangingPunct="1"/>
            <a:r>
              <a:rPr lang="en-US"/>
              <a:t>The coordinate transformation in 2-D can be derived by hand</a:t>
            </a:r>
          </a:p>
        </p:txBody>
      </p:sp>
      <p:sp>
        <p:nvSpPr>
          <p:cNvPr id="23555" name="Rectangle 3"/>
          <p:cNvSpPr>
            <a:spLocks noGrp="1" noChangeArrowheads="1"/>
          </p:cNvSpPr>
          <p:nvPr>
            <p:ph type="body" idx="1"/>
          </p:nvPr>
        </p:nvSpPr>
        <p:spPr>
          <a:xfrm>
            <a:off x="1182688" y="1403350"/>
            <a:ext cx="6738937" cy="4414838"/>
          </a:xfrm>
        </p:spPr>
        <p:txBody>
          <a:bodyPr/>
          <a:lstStyle/>
          <a:p>
            <a:pPr marL="0" indent="0" eaLnBrk="1" hangingPunct="1">
              <a:buNone/>
            </a:pPr>
            <a:br>
              <a:rPr lang="en-US"/>
            </a:br>
            <a:br>
              <a:rPr lang="en-US"/>
            </a:br>
            <a:br>
              <a:rPr lang="en-US"/>
            </a:br>
            <a:br>
              <a:rPr lang="en-US">
                <a:sym typeface="Symbol" pitchFamily="18" charset="2"/>
              </a:rPr>
            </a:br>
            <a:r>
              <a:rPr lang="en-US">
                <a:sym typeface="Symbol" pitchFamily="18" charset="2"/>
              </a:rPr>
              <a:t>	</a:t>
            </a:r>
            <a:endParaRPr lang="en-US" i="1" baseline="-25000"/>
          </a:p>
        </p:txBody>
      </p:sp>
      <p:sp>
        <p:nvSpPr>
          <p:cNvPr id="23556" name="Text Box 5"/>
          <p:cNvSpPr txBox="1">
            <a:spLocks noChangeArrowheads="1"/>
          </p:cNvSpPr>
          <p:nvPr/>
        </p:nvSpPr>
        <p:spPr bwMode="auto">
          <a:xfrm>
            <a:off x="4861709" y="3578399"/>
            <a:ext cx="3530600" cy="946150"/>
          </a:xfrm>
          <a:prstGeom prst="rect">
            <a:avLst/>
          </a:prstGeom>
          <a:noFill/>
          <a:ln w="9525">
            <a:noFill/>
            <a:miter lim="800000"/>
            <a:headEnd/>
            <a:tailEnd/>
          </a:ln>
        </p:spPr>
        <p:txBody>
          <a:bodyPr wrap="none">
            <a:spAutoFit/>
          </a:bodyPr>
          <a:lstStyle/>
          <a:p>
            <a:r>
              <a:rPr lang="en-US" sz="2800" i="1">
                <a:solidFill>
                  <a:srgbClr val="000000"/>
                </a:solidFill>
              </a:rPr>
              <a:t>x</a:t>
            </a:r>
            <a:r>
              <a:rPr lang="en-US" sz="2800" i="1" baseline="-25000">
                <a:solidFill>
                  <a:srgbClr val="000000"/>
                </a:solidFill>
              </a:rPr>
              <a:t>o</a:t>
            </a:r>
            <a:r>
              <a:rPr lang="en-US" sz="2800" i="1">
                <a:solidFill>
                  <a:srgbClr val="000000"/>
                </a:solidFill>
              </a:rPr>
              <a:t> = x</a:t>
            </a:r>
            <a:r>
              <a:rPr lang="en-US" sz="2800" i="1" baseline="-25000">
                <a:solidFill>
                  <a:srgbClr val="000000"/>
                </a:solidFill>
              </a:rPr>
              <a:t>1</a:t>
            </a:r>
            <a:r>
              <a:rPr lang="en-US" sz="2800" i="1">
                <a:solidFill>
                  <a:srgbClr val="000000"/>
                </a:solidFill>
              </a:rPr>
              <a:t> cos</a:t>
            </a:r>
            <a:r>
              <a:rPr lang="en-US" sz="2800" i="1">
                <a:solidFill>
                  <a:srgbClr val="000000"/>
                </a:solidFill>
                <a:sym typeface="Symbol" pitchFamily="18" charset="2"/>
              </a:rPr>
              <a:t></a:t>
            </a:r>
            <a:r>
              <a:rPr lang="en-US" sz="2800" i="1" baseline="-25000">
                <a:solidFill>
                  <a:srgbClr val="000000"/>
                </a:solidFill>
                <a:sym typeface="Symbol" pitchFamily="18" charset="2"/>
              </a:rPr>
              <a:t>o</a:t>
            </a:r>
            <a:r>
              <a:rPr lang="en-US" sz="2800" i="1">
                <a:solidFill>
                  <a:srgbClr val="000000"/>
                </a:solidFill>
                <a:sym typeface="Symbol" pitchFamily="18" charset="2"/>
              </a:rPr>
              <a:t> – y</a:t>
            </a:r>
            <a:r>
              <a:rPr lang="en-US" sz="2800" i="1" baseline="-25000">
                <a:solidFill>
                  <a:srgbClr val="000000"/>
                </a:solidFill>
                <a:sym typeface="Symbol" pitchFamily="18" charset="2"/>
              </a:rPr>
              <a:t>1</a:t>
            </a:r>
            <a:r>
              <a:rPr lang="en-US" sz="2800" i="1">
                <a:solidFill>
                  <a:srgbClr val="000000"/>
                </a:solidFill>
                <a:sym typeface="Symbol" pitchFamily="18" charset="2"/>
              </a:rPr>
              <a:t> sin</a:t>
            </a:r>
            <a:r>
              <a:rPr lang="en-US" sz="2800" i="1" baseline="-25000">
                <a:solidFill>
                  <a:srgbClr val="000000"/>
                </a:solidFill>
                <a:sym typeface="Symbol" pitchFamily="18" charset="2"/>
              </a:rPr>
              <a:t>o</a:t>
            </a:r>
            <a:endParaRPr lang="en-US" sz="2800" i="1">
              <a:solidFill>
                <a:srgbClr val="000000"/>
              </a:solidFill>
            </a:endParaRPr>
          </a:p>
          <a:p>
            <a:r>
              <a:rPr lang="en-US" sz="2800" i="1">
                <a:solidFill>
                  <a:srgbClr val="000000"/>
                </a:solidFill>
              </a:rPr>
              <a:t>y</a:t>
            </a:r>
            <a:r>
              <a:rPr lang="en-US" sz="2800" i="1" baseline="-25000">
                <a:solidFill>
                  <a:srgbClr val="000000"/>
                </a:solidFill>
              </a:rPr>
              <a:t>o</a:t>
            </a:r>
            <a:r>
              <a:rPr lang="en-US" sz="2800" i="1">
                <a:solidFill>
                  <a:srgbClr val="000000"/>
                </a:solidFill>
              </a:rPr>
              <a:t> = y</a:t>
            </a:r>
            <a:r>
              <a:rPr lang="en-US" sz="2800" i="1" baseline="-25000">
                <a:solidFill>
                  <a:srgbClr val="000000"/>
                </a:solidFill>
              </a:rPr>
              <a:t>1</a:t>
            </a:r>
            <a:r>
              <a:rPr lang="en-US" sz="2800" i="1">
                <a:solidFill>
                  <a:srgbClr val="000000"/>
                </a:solidFill>
              </a:rPr>
              <a:t> cos</a:t>
            </a:r>
            <a:r>
              <a:rPr lang="en-US" sz="2800" i="1">
                <a:solidFill>
                  <a:srgbClr val="000000"/>
                </a:solidFill>
                <a:sym typeface="Symbol" pitchFamily="18" charset="2"/>
              </a:rPr>
              <a:t></a:t>
            </a:r>
            <a:r>
              <a:rPr lang="en-US" sz="2800" i="1" baseline="-25000">
                <a:solidFill>
                  <a:srgbClr val="000000"/>
                </a:solidFill>
                <a:sym typeface="Symbol" pitchFamily="18" charset="2"/>
              </a:rPr>
              <a:t>o</a:t>
            </a:r>
            <a:r>
              <a:rPr lang="en-US" sz="2800" i="1">
                <a:solidFill>
                  <a:srgbClr val="000000"/>
                </a:solidFill>
                <a:sym typeface="Symbol" pitchFamily="18" charset="2"/>
              </a:rPr>
              <a:t> + x</a:t>
            </a:r>
            <a:r>
              <a:rPr lang="en-US" sz="2800" i="1" baseline="-25000">
                <a:solidFill>
                  <a:srgbClr val="000000"/>
                </a:solidFill>
                <a:sym typeface="Symbol" pitchFamily="18" charset="2"/>
              </a:rPr>
              <a:t>1</a:t>
            </a:r>
            <a:r>
              <a:rPr lang="en-US" sz="2800" i="1">
                <a:solidFill>
                  <a:srgbClr val="000000"/>
                </a:solidFill>
                <a:sym typeface="Symbol" pitchFamily="18" charset="2"/>
              </a:rPr>
              <a:t> sin</a:t>
            </a:r>
            <a:r>
              <a:rPr lang="en-US" sz="2800" i="1" baseline="-25000">
                <a:solidFill>
                  <a:srgbClr val="000000"/>
                </a:solidFill>
                <a:sym typeface="Symbol" pitchFamily="18" charset="2"/>
              </a:rPr>
              <a:t>o</a:t>
            </a:r>
          </a:p>
        </p:txBody>
      </p:sp>
      <p:sp>
        <p:nvSpPr>
          <p:cNvPr id="23557" name="Text Box 6"/>
          <p:cNvSpPr txBox="1">
            <a:spLocks noChangeArrowheads="1"/>
          </p:cNvSpPr>
          <p:nvPr/>
        </p:nvSpPr>
        <p:spPr bwMode="auto">
          <a:xfrm>
            <a:off x="4225121" y="4934124"/>
            <a:ext cx="836613" cy="519113"/>
          </a:xfrm>
          <a:prstGeom prst="rect">
            <a:avLst/>
          </a:prstGeom>
          <a:noFill/>
          <a:ln w="9525">
            <a:noFill/>
            <a:miter lim="800000"/>
            <a:headEnd/>
            <a:tailEnd/>
          </a:ln>
        </p:spPr>
        <p:txBody>
          <a:bodyPr wrap="none">
            <a:spAutoFit/>
          </a:bodyPr>
          <a:lstStyle/>
          <a:p>
            <a:r>
              <a:rPr lang="en-US" sz="2800"/>
              <a:t>or    </a:t>
            </a:r>
          </a:p>
        </p:txBody>
      </p:sp>
      <p:graphicFrame>
        <p:nvGraphicFramePr>
          <p:cNvPr id="23558" name="Object 1024"/>
          <p:cNvGraphicFramePr>
            <a:graphicFrameLocks noChangeAspect="1"/>
          </p:cNvGraphicFramePr>
          <p:nvPr>
            <p:extLst>
              <p:ext uri="{D42A27DB-BD31-4B8C-83A1-F6EECF244321}">
                <p14:modId xmlns:p14="http://schemas.microsoft.com/office/powerpoint/2010/main" val="492101614"/>
              </p:ext>
            </p:extLst>
          </p:nvPr>
        </p:nvGraphicFramePr>
        <p:xfrm>
          <a:off x="4774396" y="4803949"/>
          <a:ext cx="3854450" cy="942975"/>
        </p:xfrm>
        <a:graphic>
          <a:graphicData uri="http://schemas.openxmlformats.org/presentationml/2006/ole">
            <mc:AlternateContent xmlns:mc="http://schemas.openxmlformats.org/markup-compatibility/2006">
              <mc:Choice xmlns:v="urn:schemas-microsoft-com:vml" Requires="v">
                <p:oleObj name="Equation" r:id="rId3" imgW="4051300" imgH="990600" progId="Equation.3">
                  <p:embed/>
                </p:oleObj>
              </mc:Choice>
              <mc:Fallback>
                <p:oleObj name="Equation" r:id="rId3" imgW="4051300" imgH="990600" progId="Equation.3">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74396" y="4803949"/>
                        <a:ext cx="3854450" cy="942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3559" name="Group 31"/>
          <p:cNvGrpSpPr>
            <a:grpSpLocks noChangeAspect="1"/>
          </p:cNvGrpSpPr>
          <p:nvPr/>
        </p:nvGrpSpPr>
        <p:grpSpPr bwMode="auto">
          <a:xfrm>
            <a:off x="483140" y="1985169"/>
            <a:ext cx="3779838" cy="2524125"/>
            <a:chOff x="1536" y="960"/>
            <a:chExt cx="3024" cy="2020"/>
          </a:xfrm>
        </p:grpSpPr>
        <p:grpSp>
          <p:nvGrpSpPr>
            <p:cNvPr id="23560" name="Group 32"/>
            <p:cNvGrpSpPr>
              <a:grpSpLocks noChangeAspect="1"/>
            </p:cNvGrpSpPr>
            <p:nvPr/>
          </p:nvGrpSpPr>
          <p:grpSpPr bwMode="auto">
            <a:xfrm>
              <a:off x="2400" y="1248"/>
              <a:ext cx="1872" cy="1488"/>
              <a:chOff x="2400" y="1248"/>
              <a:chExt cx="1872" cy="1488"/>
            </a:xfrm>
          </p:grpSpPr>
          <p:sp>
            <p:nvSpPr>
              <p:cNvPr id="23582" name="Line 33"/>
              <p:cNvSpPr>
                <a:spLocks noChangeAspect="1" noChangeShapeType="1"/>
              </p:cNvSpPr>
              <p:nvPr/>
            </p:nvSpPr>
            <p:spPr bwMode="auto">
              <a:xfrm>
                <a:off x="2400" y="2736"/>
                <a:ext cx="1872" cy="0"/>
              </a:xfrm>
              <a:prstGeom prst="line">
                <a:avLst/>
              </a:prstGeom>
              <a:noFill/>
              <a:ln w="9525">
                <a:solidFill>
                  <a:schemeClr val="tx1"/>
                </a:solidFill>
                <a:round/>
                <a:headEnd/>
                <a:tailEnd type="triangle" w="lg" len="lg"/>
              </a:ln>
            </p:spPr>
            <p:txBody>
              <a:bodyPr wrap="none" anchor="ctr"/>
              <a:lstStyle/>
              <a:p>
                <a:endParaRPr lang="en-US"/>
              </a:p>
            </p:txBody>
          </p:sp>
          <p:sp>
            <p:nvSpPr>
              <p:cNvPr id="23583" name="Line 34"/>
              <p:cNvSpPr>
                <a:spLocks noChangeAspect="1" noChangeShapeType="1"/>
              </p:cNvSpPr>
              <p:nvPr/>
            </p:nvSpPr>
            <p:spPr bwMode="auto">
              <a:xfrm flipV="1">
                <a:off x="2400" y="1248"/>
                <a:ext cx="0" cy="1488"/>
              </a:xfrm>
              <a:prstGeom prst="line">
                <a:avLst/>
              </a:prstGeom>
              <a:noFill/>
              <a:ln w="9525">
                <a:solidFill>
                  <a:schemeClr val="tx1"/>
                </a:solidFill>
                <a:round/>
                <a:headEnd/>
                <a:tailEnd type="triangle" w="lg" len="lg"/>
              </a:ln>
            </p:spPr>
            <p:txBody>
              <a:bodyPr wrap="none" anchor="ctr"/>
              <a:lstStyle/>
              <a:p>
                <a:endParaRPr lang="en-US"/>
              </a:p>
            </p:txBody>
          </p:sp>
        </p:grpSp>
        <p:sp>
          <p:nvSpPr>
            <p:cNvPr id="23561" name="Line 35"/>
            <p:cNvSpPr>
              <a:spLocks noChangeAspect="1" noChangeShapeType="1"/>
            </p:cNvSpPr>
            <p:nvPr/>
          </p:nvSpPr>
          <p:spPr bwMode="auto">
            <a:xfrm>
              <a:off x="2400" y="2016"/>
              <a:ext cx="1008" cy="0"/>
            </a:xfrm>
            <a:prstGeom prst="line">
              <a:avLst/>
            </a:prstGeom>
            <a:noFill/>
            <a:ln w="9525">
              <a:solidFill>
                <a:schemeClr val="accent2"/>
              </a:solidFill>
              <a:prstDash val="dash"/>
              <a:round/>
              <a:headEnd/>
              <a:tailEnd/>
            </a:ln>
          </p:spPr>
          <p:txBody>
            <a:bodyPr wrap="none" anchor="ctr"/>
            <a:lstStyle/>
            <a:p>
              <a:endParaRPr lang="en-US"/>
            </a:p>
          </p:txBody>
        </p:sp>
        <p:sp>
          <p:nvSpPr>
            <p:cNvPr id="23562" name="Line 36"/>
            <p:cNvSpPr>
              <a:spLocks noChangeAspect="1" noChangeShapeType="1"/>
            </p:cNvSpPr>
            <p:nvPr/>
          </p:nvSpPr>
          <p:spPr bwMode="auto">
            <a:xfrm>
              <a:off x="3408" y="2016"/>
              <a:ext cx="0" cy="720"/>
            </a:xfrm>
            <a:prstGeom prst="line">
              <a:avLst/>
            </a:prstGeom>
            <a:noFill/>
            <a:ln w="9525">
              <a:solidFill>
                <a:schemeClr val="accent2"/>
              </a:solidFill>
              <a:prstDash val="dash"/>
              <a:round/>
              <a:headEnd/>
              <a:tailEnd/>
            </a:ln>
          </p:spPr>
          <p:txBody>
            <a:bodyPr wrap="none" anchor="ctr"/>
            <a:lstStyle/>
            <a:p>
              <a:endParaRPr lang="en-US"/>
            </a:p>
          </p:txBody>
        </p:sp>
        <p:sp>
          <p:nvSpPr>
            <p:cNvPr id="23563" name="Text Box 37"/>
            <p:cNvSpPr txBox="1">
              <a:spLocks noChangeAspect="1" noChangeArrowheads="1"/>
            </p:cNvSpPr>
            <p:nvPr/>
          </p:nvSpPr>
          <p:spPr bwMode="auto">
            <a:xfrm>
              <a:off x="4240" y="2591"/>
              <a:ext cx="320" cy="244"/>
            </a:xfrm>
            <a:prstGeom prst="rect">
              <a:avLst/>
            </a:prstGeom>
            <a:noFill/>
            <a:ln w="9525">
              <a:noFill/>
              <a:miter lim="800000"/>
              <a:headEnd/>
              <a:tailEnd/>
            </a:ln>
          </p:spPr>
          <p:txBody>
            <a:bodyPr>
              <a:spAutoFit/>
            </a:bodyPr>
            <a:lstStyle/>
            <a:p>
              <a:pPr eaLnBrk="0" hangingPunct="0"/>
              <a:r>
                <a:rPr lang="en-US" sz="1400"/>
                <a:t>X</a:t>
              </a:r>
              <a:r>
                <a:rPr lang="en-US" sz="1400" baseline="-25000"/>
                <a:t>0</a:t>
              </a:r>
              <a:endParaRPr lang="en-US" sz="1400"/>
            </a:p>
          </p:txBody>
        </p:sp>
        <p:sp>
          <p:nvSpPr>
            <p:cNvPr id="23564" name="Text Box 38"/>
            <p:cNvSpPr txBox="1">
              <a:spLocks noChangeAspect="1" noChangeArrowheads="1"/>
            </p:cNvSpPr>
            <p:nvPr/>
          </p:nvSpPr>
          <p:spPr bwMode="auto">
            <a:xfrm>
              <a:off x="2369" y="1200"/>
              <a:ext cx="319" cy="244"/>
            </a:xfrm>
            <a:prstGeom prst="rect">
              <a:avLst/>
            </a:prstGeom>
            <a:noFill/>
            <a:ln w="9525">
              <a:noFill/>
              <a:miter lim="800000"/>
              <a:headEnd/>
              <a:tailEnd/>
            </a:ln>
          </p:spPr>
          <p:txBody>
            <a:bodyPr>
              <a:spAutoFit/>
            </a:bodyPr>
            <a:lstStyle/>
            <a:p>
              <a:pPr eaLnBrk="0" hangingPunct="0"/>
              <a:r>
                <a:rPr lang="en-US" sz="1400"/>
                <a:t>Y</a:t>
              </a:r>
              <a:r>
                <a:rPr lang="en-US" sz="1400" baseline="-25000"/>
                <a:t>0</a:t>
              </a:r>
              <a:endParaRPr lang="en-US" sz="1400"/>
            </a:p>
          </p:txBody>
        </p:sp>
        <p:sp>
          <p:nvSpPr>
            <p:cNvPr id="23565" name="Text Box 39"/>
            <p:cNvSpPr txBox="1">
              <a:spLocks noChangeAspect="1" noChangeArrowheads="1"/>
            </p:cNvSpPr>
            <p:nvPr/>
          </p:nvSpPr>
          <p:spPr bwMode="auto">
            <a:xfrm>
              <a:off x="3425" y="1889"/>
              <a:ext cx="226" cy="244"/>
            </a:xfrm>
            <a:prstGeom prst="rect">
              <a:avLst/>
            </a:prstGeom>
            <a:noFill/>
            <a:ln w="9525">
              <a:noFill/>
              <a:miter lim="800000"/>
              <a:headEnd/>
              <a:tailEnd/>
            </a:ln>
          </p:spPr>
          <p:txBody>
            <a:bodyPr wrap="none">
              <a:spAutoFit/>
            </a:bodyPr>
            <a:lstStyle/>
            <a:p>
              <a:pPr eaLnBrk="0" hangingPunct="0"/>
              <a:r>
                <a:rPr lang="en-US" sz="1400"/>
                <a:t>P</a:t>
              </a:r>
            </a:p>
          </p:txBody>
        </p:sp>
        <p:grpSp>
          <p:nvGrpSpPr>
            <p:cNvPr id="23566" name="Group 40"/>
            <p:cNvGrpSpPr>
              <a:grpSpLocks noChangeAspect="1"/>
            </p:cNvGrpSpPr>
            <p:nvPr/>
          </p:nvGrpSpPr>
          <p:grpSpPr bwMode="auto">
            <a:xfrm rot="-1290186">
              <a:off x="2064" y="960"/>
              <a:ext cx="1872" cy="1488"/>
              <a:chOff x="2400" y="1248"/>
              <a:chExt cx="1872" cy="1488"/>
            </a:xfrm>
          </p:grpSpPr>
          <p:sp>
            <p:nvSpPr>
              <p:cNvPr id="23580" name="Line 41"/>
              <p:cNvSpPr>
                <a:spLocks noChangeAspect="1" noChangeShapeType="1"/>
              </p:cNvSpPr>
              <p:nvPr/>
            </p:nvSpPr>
            <p:spPr bwMode="auto">
              <a:xfrm>
                <a:off x="2400" y="2736"/>
                <a:ext cx="1872" cy="0"/>
              </a:xfrm>
              <a:prstGeom prst="line">
                <a:avLst/>
              </a:prstGeom>
              <a:noFill/>
              <a:ln w="9525">
                <a:solidFill>
                  <a:schemeClr val="tx1"/>
                </a:solidFill>
                <a:round/>
                <a:headEnd/>
                <a:tailEnd type="triangle" w="lg" len="lg"/>
              </a:ln>
            </p:spPr>
            <p:txBody>
              <a:bodyPr wrap="none" anchor="ctr"/>
              <a:lstStyle/>
              <a:p>
                <a:endParaRPr lang="en-US"/>
              </a:p>
            </p:txBody>
          </p:sp>
          <p:sp>
            <p:nvSpPr>
              <p:cNvPr id="23581" name="Line 42"/>
              <p:cNvSpPr>
                <a:spLocks noChangeAspect="1" noChangeShapeType="1"/>
              </p:cNvSpPr>
              <p:nvPr/>
            </p:nvSpPr>
            <p:spPr bwMode="auto">
              <a:xfrm flipV="1">
                <a:off x="2400" y="1248"/>
                <a:ext cx="0" cy="1488"/>
              </a:xfrm>
              <a:prstGeom prst="line">
                <a:avLst/>
              </a:prstGeom>
              <a:noFill/>
              <a:ln w="9525">
                <a:solidFill>
                  <a:schemeClr val="tx1"/>
                </a:solidFill>
                <a:round/>
                <a:headEnd/>
                <a:tailEnd type="triangle" w="lg" len="lg"/>
              </a:ln>
            </p:spPr>
            <p:txBody>
              <a:bodyPr wrap="none" anchor="ctr"/>
              <a:lstStyle/>
              <a:p>
                <a:endParaRPr lang="en-US"/>
              </a:p>
            </p:txBody>
          </p:sp>
        </p:grpSp>
        <p:sp>
          <p:nvSpPr>
            <p:cNvPr id="23567" name="Line 43"/>
            <p:cNvSpPr>
              <a:spLocks noChangeAspect="1" noChangeShapeType="1"/>
            </p:cNvSpPr>
            <p:nvPr/>
          </p:nvSpPr>
          <p:spPr bwMode="auto">
            <a:xfrm flipH="1">
              <a:off x="2304" y="2016"/>
              <a:ext cx="1104" cy="480"/>
            </a:xfrm>
            <a:prstGeom prst="line">
              <a:avLst/>
            </a:prstGeom>
            <a:noFill/>
            <a:ln w="9525">
              <a:solidFill>
                <a:srgbClr val="FF5050"/>
              </a:solidFill>
              <a:round/>
              <a:headEnd/>
              <a:tailEnd/>
            </a:ln>
          </p:spPr>
          <p:txBody>
            <a:bodyPr wrap="none" anchor="ctr"/>
            <a:lstStyle/>
            <a:p>
              <a:endParaRPr lang="en-US"/>
            </a:p>
          </p:txBody>
        </p:sp>
        <p:sp>
          <p:nvSpPr>
            <p:cNvPr id="23568" name="Line 44"/>
            <p:cNvSpPr>
              <a:spLocks noChangeAspect="1" noChangeShapeType="1"/>
            </p:cNvSpPr>
            <p:nvPr/>
          </p:nvSpPr>
          <p:spPr bwMode="auto">
            <a:xfrm>
              <a:off x="3408" y="2016"/>
              <a:ext cx="144" cy="288"/>
            </a:xfrm>
            <a:prstGeom prst="line">
              <a:avLst/>
            </a:prstGeom>
            <a:noFill/>
            <a:ln w="9525">
              <a:solidFill>
                <a:srgbClr val="FF5050"/>
              </a:solidFill>
              <a:round/>
              <a:headEnd/>
              <a:tailEnd/>
            </a:ln>
          </p:spPr>
          <p:txBody>
            <a:bodyPr wrap="none" anchor="ctr"/>
            <a:lstStyle/>
            <a:p>
              <a:endParaRPr lang="en-US"/>
            </a:p>
          </p:txBody>
        </p:sp>
        <p:sp>
          <p:nvSpPr>
            <p:cNvPr id="23569" name="Text Box 45"/>
            <p:cNvSpPr txBox="1">
              <a:spLocks noChangeAspect="1" noChangeArrowheads="1"/>
            </p:cNvSpPr>
            <p:nvPr/>
          </p:nvSpPr>
          <p:spPr bwMode="auto">
            <a:xfrm>
              <a:off x="4128" y="1921"/>
              <a:ext cx="319" cy="243"/>
            </a:xfrm>
            <a:prstGeom prst="rect">
              <a:avLst/>
            </a:prstGeom>
            <a:noFill/>
            <a:ln w="9525">
              <a:noFill/>
              <a:miter lim="800000"/>
              <a:headEnd/>
              <a:tailEnd/>
            </a:ln>
          </p:spPr>
          <p:txBody>
            <a:bodyPr>
              <a:spAutoFit/>
            </a:bodyPr>
            <a:lstStyle/>
            <a:p>
              <a:pPr eaLnBrk="0" hangingPunct="0"/>
              <a:r>
                <a:rPr lang="en-US" sz="1400"/>
                <a:t>X</a:t>
              </a:r>
              <a:r>
                <a:rPr lang="en-US" sz="1400" baseline="-25000"/>
                <a:t>1</a:t>
              </a:r>
              <a:endParaRPr lang="en-US" sz="1400"/>
            </a:p>
          </p:txBody>
        </p:sp>
        <p:sp>
          <p:nvSpPr>
            <p:cNvPr id="23570" name="Text Box 46"/>
            <p:cNvSpPr txBox="1">
              <a:spLocks noChangeAspect="1" noChangeArrowheads="1"/>
            </p:cNvSpPr>
            <p:nvPr/>
          </p:nvSpPr>
          <p:spPr bwMode="auto">
            <a:xfrm>
              <a:off x="1536" y="1295"/>
              <a:ext cx="320" cy="244"/>
            </a:xfrm>
            <a:prstGeom prst="rect">
              <a:avLst/>
            </a:prstGeom>
            <a:noFill/>
            <a:ln w="9525">
              <a:noFill/>
              <a:miter lim="800000"/>
              <a:headEnd/>
              <a:tailEnd/>
            </a:ln>
          </p:spPr>
          <p:txBody>
            <a:bodyPr>
              <a:spAutoFit/>
            </a:bodyPr>
            <a:lstStyle/>
            <a:p>
              <a:pPr eaLnBrk="0" hangingPunct="0"/>
              <a:r>
                <a:rPr lang="en-US" sz="1400"/>
                <a:t>Y</a:t>
              </a:r>
              <a:r>
                <a:rPr lang="en-US" sz="1400" baseline="-25000"/>
                <a:t>1</a:t>
              </a:r>
              <a:endParaRPr lang="en-US" sz="1400"/>
            </a:p>
          </p:txBody>
        </p:sp>
        <p:sp>
          <p:nvSpPr>
            <p:cNvPr id="23571" name="Text Box 47"/>
            <p:cNvSpPr txBox="1">
              <a:spLocks noChangeAspect="1" noChangeArrowheads="1"/>
            </p:cNvSpPr>
            <p:nvPr/>
          </p:nvSpPr>
          <p:spPr bwMode="auto">
            <a:xfrm>
              <a:off x="3265" y="2736"/>
              <a:ext cx="317" cy="244"/>
            </a:xfrm>
            <a:prstGeom prst="rect">
              <a:avLst/>
            </a:prstGeom>
            <a:noFill/>
            <a:ln w="9525">
              <a:noFill/>
              <a:miter lim="800000"/>
              <a:headEnd/>
              <a:tailEnd/>
            </a:ln>
          </p:spPr>
          <p:txBody>
            <a:bodyPr>
              <a:spAutoFit/>
            </a:bodyPr>
            <a:lstStyle/>
            <a:p>
              <a:pPr eaLnBrk="0" hangingPunct="0"/>
              <a:r>
                <a:rPr lang="en-US" sz="1400" i="1"/>
                <a:t>x</a:t>
              </a:r>
              <a:r>
                <a:rPr lang="en-US" sz="1400" baseline="-25000"/>
                <a:t>0</a:t>
              </a:r>
              <a:endParaRPr lang="en-US" sz="1400"/>
            </a:p>
          </p:txBody>
        </p:sp>
        <p:sp>
          <p:nvSpPr>
            <p:cNvPr id="23572" name="Text Box 48"/>
            <p:cNvSpPr txBox="1">
              <a:spLocks noChangeAspect="1" noChangeArrowheads="1"/>
            </p:cNvSpPr>
            <p:nvPr/>
          </p:nvSpPr>
          <p:spPr bwMode="auto">
            <a:xfrm>
              <a:off x="3505" y="2208"/>
              <a:ext cx="318" cy="243"/>
            </a:xfrm>
            <a:prstGeom prst="rect">
              <a:avLst/>
            </a:prstGeom>
            <a:noFill/>
            <a:ln w="9525">
              <a:noFill/>
              <a:miter lim="800000"/>
              <a:headEnd/>
              <a:tailEnd/>
            </a:ln>
          </p:spPr>
          <p:txBody>
            <a:bodyPr>
              <a:spAutoFit/>
            </a:bodyPr>
            <a:lstStyle/>
            <a:p>
              <a:pPr eaLnBrk="0" hangingPunct="0"/>
              <a:r>
                <a:rPr lang="en-US" sz="1400" i="1"/>
                <a:t>x</a:t>
              </a:r>
              <a:r>
                <a:rPr lang="en-US" sz="1400" baseline="-25000"/>
                <a:t>1</a:t>
              </a:r>
              <a:endParaRPr lang="en-US" sz="1400"/>
            </a:p>
          </p:txBody>
        </p:sp>
        <p:sp>
          <p:nvSpPr>
            <p:cNvPr id="23573" name="Text Box 49"/>
            <p:cNvSpPr txBox="1">
              <a:spLocks noChangeAspect="1" noChangeArrowheads="1"/>
            </p:cNvSpPr>
            <p:nvPr/>
          </p:nvSpPr>
          <p:spPr bwMode="auto">
            <a:xfrm>
              <a:off x="2177" y="1824"/>
              <a:ext cx="367" cy="244"/>
            </a:xfrm>
            <a:prstGeom prst="rect">
              <a:avLst/>
            </a:prstGeom>
            <a:noFill/>
            <a:ln w="9525">
              <a:noFill/>
              <a:miter lim="800000"/>
              <a:headEnd/>
              <a:tailEnd/>
            </a:ln>
          </p:spPr>
          <p:txBody>
            <a:bodyPr>
              <a:spAutoFit/>
            </a:bodyPr>
            <a:lstStyle/>
            <a:p>
              <a:pPr eaLnBrk="0" hangingPunct="0"/>
              <a:r>
                <a:rPr lang="en-US" sz="1400" i="1"/>
                <a:t>y</a:t>
              </a:r>
              <a:r>
                <a:rPr lang="en-US" sz="1400" baseline="-25000"/>
                <a:t>0</a:t>
              </a:r>
              <a:endParaRPr lang="en-US" sz="1400"/>
            </a:p>
          </p:txBody>
        </p:sp>
        <p:sp>
          <p:nvSpPr>
            <p:cNvPr id="23574" name="Text Box 50"/>
            <p:cNvSpPr txBox="1">
              <a:spLocks noChangeAspect="1" noChangeArrowheads="1"/>
            </p:cNvSpPr>
            <p:nvPr/>
          </p:nvSpPr>
          <p:spPr bwMode="auto">
            <a:xfrm>
              <a:off x="2113" y="2351"/>
              <a:ext cx="335" cy="244"/>
            </a:xfrm>
            <a:prstGeom prst="rect">
              <a:avLst/>
            </a:prstGeom>
            <a:noFill/>
            <a:ln w="9525">
              <a:noFill/>
              <a:miter lim="800000"/>
              <a:headEnd/>
              <a:tailEnd/>
            </a:ln>
          </p:spPr>
          <p:txBody>
            <a:bodyPr>
              <a:spAutoFit/>
            </a:bodyPr>
            <a:lstStyle/>
            <a:p>
              <a:pPr eaLnBrk="0" hangingPunct="0"/>
              <a:r>
                <a:rPr lang="en-US" sz="1400" i="1"/>
                <a:t>y</a:t>
              </a:r>
              <a:r>
                <a:rPr lang="en-US" sz="1400" baseline="-25000"/>
                <a:t>1</a:t>
              </a:r>
              <a:endParaRPr lang="en-US" sz="1400"/>
            </a:p>
          </p:txBody>
        </p:sp>
        <p:sp>
          <p:nvSpPr>
            <p:cNvPr id="23575" name="Oval 51"/>
            <p:cNvSpPr>
              <a:spLocks noChangeAspect="1" noChangeArrowheads="1"/>
            </p:cNvSpPr>
            <p:nvPr/>
          </p:nvSpPr>
          <p:spPr bwMode="auto">
            <a:xfrm>
              <a:off x="3360" y="1968"/>
              <a:ext cx="96" cy="96"/>
            </a:xfrm>
            <a:prstGeom prst="ellipse">
              <a:avLst/>
            </a:prstGeom>
            <a:solidFill>
              <a:schemeClr val="tx1"/>
            </a:solidFill>
            <a:ln w="9525">
              <a:solidFill>
                <a:schemeClr val="tx1"/>
              </a:solidFill>
              <a:round/>
              <a:headEnd/>
              <a:tailEnd/>
            </a:ln>
          </p:spPr>
          <p:txBody>
            <a:bodyPr wrap="none" anchor="ctr"/>
            <a:lstStyle/>
            <a:p>
              <a:endParaRPr lang="en-US"/>
            </a:p>
          </p:txBody>
        </p:sp>
        <p:sp>
          <p:nvSpPr>
            <p:cNvPr id="23576" name="Arc 52"/>
            <p:cNvSpPr>
              <a:spLocks noChangeAspect="1"/>
            </p:cNvSpPr>
            <p:nvPr/>
          </p:nvSpPr>
          <p:spPr bwMode="auto">
            <a:xfrm rot="1044162">
              <a:off x="3676" y="2253"/>
              <a:ext cx="288" cy="468"/>
            </a:xfrm>
            <a:custGeom>
              <a:avLst/>
              <a:gdLst>
                <a:gd name="T0" fmla="*/ 0 w 21600"/>
                <a:gd name="T1" fmla="*/ 0 h 30082"/>
                <a:gd name="T2" fmla="*/ 0 w 21600"/>
                <a:gd name="T3" fmla="*/ 0 h 30082"/>
                <a:gd name="T4" fmla="*/ 0 w 21600"/>
                <a:gd name="T5" fmla="*/ 0 h 30082"/>
                <a:gd name="T6" fmla="*/ 0 60000 65536"/>
                <a:gd name="T7" fmla="*/ 0 60000 65536"/>
                <a:gd name="T8" fmla="*/ 0 60000 65536"/>
                <a:gd name="T9" fmla="*/ 0 w 21600"/>
                <a:gd name="T10" fmla="*/ 0 h 30082"/>
                <a:gd name="T11" fmla="*/ 21600 w 21600"/>
                <a:gd name="T12" fmla="*/ 30082 h 30082"/>
              </a:gdLst>
              <a:ahLst/>
              <a:cxnLst>
                <a:cxn ang="T6">
                  <a:pos x="T0" y="T1"/>
                </a:cxn>
                <a:cxn ang="T7">
                  <a:pos x="T2" y="T3"/>
                </a:cxn>
                <a:cxn ang="T8">
                  <a:pos x="T4" y="T5"/>
                </a:cxn>
              </a:cxnLst>
              <a:rect l="T9" t="T10" r="T11" b="T12"/>
              <a:pathLst>
                <a:path w="21600" h="30082" fill="none" extrusionOk="0">
                  <a:moveTo>
                    <a:pt x="-1" y="0"/>
                  </a:moveTo>
                  <a:cubicBezTo>
                    <a:pt x="11929" y="0"/>
                    <a:pt x="21600" y="9670"/>
                    <a:pt x="21600" y="21600"/>
                  </a:cubicBezTo>
                  <a:cubicBezTo>
                    <a:pt x="21600" y="24515"/>
                    <a:pt x="21009" y="27400"/>
                    <a:pt x="19864" y="30081"/>
                  </a:cubicBezTo>
                </a:path>
                <a:path w="21600" h="30082" stroke="0" extrusionOk="0">
                  <a:moveTo>
                    <a:pt x="-1" y="0"/>
                  </a:moveTo>
                  <a:cubicBezTo>
                    <a:pt x="11929" y="0"/>
                    <a:pt x="21600" y="9670"/>
                    <a:pt x="21600" y="21600"/>
                  </a:cubicBezTo>
                  <a:cubicBezTo>
                    <a:pt x="21600" y="24515"/>
                    <a:pt x="21009" y="27400"/>
                    <a:pt x="19864" y="30081"/>
                  </a:cubicBezTo>
                  <a:lnTo>
                    <a:pt x="0" y="21600"/>
                  </a:lnTo>
                  <a:lnTo>
                    <a:pt x="-1" y="0"/>
                  </a:lnTo>
                  <a:close/>
                </a:path>
              </a:pathLst>
            </a:custGeom>
            <a:noFill/>
            <a:ln w="9525">
              <a:solidFill>
                <a:schemeClr val="tx1"/>
              </a:solidFill>
              <a:round/>
              <a:headEnd type="triangle" w="med" len="med"/>
              <a:tailEnd/>
            </a:ln>
          </p:spPr>
          <p:txBody>
            <a:bodyPr wrap="none" anchor="ctr"/>
            <a:lstStyle/>
            <a:p>
              <a:endParaRPr lang="en-US"/>
            </a:p>
          </p:txBody>
        </p:sp>
        <p:sp>
          <p:nvSpPr>
            <p:cNvPr id="23577" name="Text Box 53"/>
            <p:cNvSpPr txBox="1">
              <a:spLocks noChangeAspect="1" noChangeArrowheads="1"/>
            </p:cNvSpPr>
            <p:nvPr/>
          </p:nvSpPr>
          <p:spPr bwMode="auto">
            <a:xfrm>
              <a:off x="3936" y="2304"/>
              <a:ext cx="319" cy="244"/>
            </a:xfrm>
            <a:prstGeom prst="rect">
              <a:avLst/>
            </a:prstGeom>
            <a:noFill/>
            <a:ln w="9525">
              <a:noFill/>
              <a:miter lim="800000"/>
              <a:headEnd/>
              <a:tailEnd/>
            </a:ln>
          </p:spPr>
          <p:txBody>
            <a:bodyPr>
              <a:spAutoFit/>
            </a:bodyPr>
            <a:lstStyle/>
            <a:p>
              <a:pPr eaLnBrk="0" hangingPunct="0"/>
              <a:r>
                <a:rPr lang="en-US" sz="1400">
                  <a:latin typeface="Symbol" pitchFamily="18" charset="2"/>
                </a:rPr>
                <a:t>q</a:t>
              </a:r>
              <a:r>
                <a:rPr lang="en-US" sz="1400" baseline="-25000"/>
                <a:t>0</a:t>
              </a:r>
              <a:endParaRPr lang="en-US" sz="1400"/>
            </a:p>
          </p:txBody>
        </p:sp>
        <p:sp>
          <p:nvSpPr>
            <p:cNvPr id="23578" name="Arc 54"/>
            <p:cNvSpPr>
              <a:spLocks noChangeAspect="1"/>
            </p:cNvSpPr>
            <p:nvPr/>
          </p:nvSpPr>
          <p:spPr bwMode="auto">
            <a:xfrm rot="-4025343">
              <a:off x="2089" y="1514"/>
              <a:ext cx="284" cy="336"/>
            </a:xfrm>
            <a:custGeom>
              <a:avLst/>
              <a:gdLst>
                <a:gd name="T0" fmla="*/ 0 w 21307"/>
                <a:gd name="T1" fmla="*/ 0 h 21600"/>
                <a:gd name="T2" fmla="*/ 0 w 21307"/>
                <a:gd name="T3" fmla="*/ 0 h 21600"/>
                <a:gd name="T4" fmla="*/ 0 w 21307"/>
                <a:gd name="T5" fmla="*/ 0 h 21600"/>
                <a:gd name="T6" fmla="*/ 0 60000 65536"/>
                <a:gd name="T7" fmla="*/ 0 60000 65536"/>
                <a:gd name="T8" fmla="*/ 0 60000 65536"/>
                <a:gd name="T9" fmla="*/ 0 w 21307"/>
                <a:gd name="T10" fmla="*/ 0 h 21600"/>
                <a:gd name="T11" fmla="*/ 21307 w 21307"/>
                <a:gd name="T12" fmla="*/ 21600 h 21600"/>
              </a:gdLst>
              <a:ahLst/>
              <a:cxnLst>
                <a:cxn ang="T6">
                  <a:pos x="T0" y="T1"/>
                </a:cxn>
                <a:cxn ang="T7">
                  <a:pos x="T2" y="T3"/>
                </a:cxn>
                <a:cxn ang="T8">
                  <a:pos x="T4" y="T5"/>
                </a:cxn>
              </a:cxnLst>
              <a:rect l="T9" t="T10" r="T11" b="T12"/>
              <a:pathLst>
                <a:path w="21307" h="21600" fill="none" extrusionOk="0">
                  <a:moveTo>
                    <a:pt x="-1" y="0"/>
                  </a:moveTo>
                  <a:cubicBezTo>
                    <a:pt x="10561" y="0"/>
                    <a:pt x="19573" y="7636"/>
                    <a:pt x="21307" y="18054"/>
                  </a:cubicBezTo>
                </a:path>
                <a:path w="21307" h="21600" stroke="0" extrusionOk="0">
                  <a:moveTo>
                    <a:pt x="-1" y="0"/>
                  </a:moveTo>
                  <a:cubicBezTo>
                    <a:pt x="10561" y="0"/>
                    <a:pt x="19573" y="7636"/>
                    <a:pt x="21307" y="18054"/>
                  </a:cubicBezTo>
                  <a:lnTo>
                    <a:pt x="0" y="21600"/>
                  </a:lnTo>
                  <a:lnTo>
                    <a:pt x="-1" y="0"/>
                  </a:lnTo>
                  <a:close/>
                </a:path>
              </a:pathLst>
            </a:custGeom>
            <a:noFill/>
            <a:ln w="9525">
              <a:solidFill>
                <a:schemeClr val="tx1"/>
              </a:solidFill>
              <a:round/>
              <a:headEnd type="triangle" w="med" len="med"/>
              <a:tailEnd/>
            </a:ln>
          </p:spPr>
          <p:txBody>
            <a:bodyPr wrap="none" anchor="ctr"/>
            <a:lstStyle/>
            <a:p>
              <a:endParaRPr lang="en-US"/>
            </a:p>
          </p:txBody>
        </p:sp>
        <p:sp>
          <p:nvSpPr>
            <p:cNvPr id="23579" name="Text Box 55"/>
            <p:cNvSpPr txBox="1">
              <a:spLocks noChangeAspect="1" noChangeArrowheads="1"/>
            </p:cNvSpPr>
            <p:nvPr/>
          </p:nvSpPr>
          <p:spPr bwMode="auto">
            <a:xfrm>
              <a:off x="2033" y="1295"/>
              <a:ext cx="318" cy="244"/>
            </a:xfrm>
            <a:prstGeom prst="rect">
              <a:avLst/>
            </a:prstGeom>
            <a:noFill/>
            <a:ln w="9525">
              <a:noFill/>
              <a:miter lim="800000"/>
              <a:headEnd/>
              <a:tailEnd/>
            </a:ln>
          </p:spPr>
          <p:txBody>
            <a:bodyPr>
              <a:spAutoFit/>
            </a:bodyPr>
            <a:lstStyle/>
            <a:p>
              <a:pPr eaLnBrk="0" hangingPunct="0"/>
              <a:r>
                <a:rPr lang="en-US" sz="1400">
                  <a:latin typeface="Symbol" pitchFamily="18" charset="2"/>
                </a:rPr>
                <a:t>q</a:t>
              </a:r>
              <a:r>
                <a:rPr lang="en-US" sz="1400" baseline="-25000"/>
                <a:t>0</a:t>
              </a:r>
              <a:endParaRPr lang="en-US" sz="1400"/>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sz="4000"/>
              <a:t>Real transformations are usually 3D, and we can’t arbitrarily specify angles</a:t>
            </a:r>
          </a:p>
        </p:txBody>
      </p:sp>
      <p:sp>
        <p:nvSpPr>
          <p:cNvPr id="24579" name="Rectangle 3"/>
          <p:cNvSpPr>
            <a:spLocks noGrp="1" noChangeArrowheads="1"/>
          </p:cNvSpPr>
          <p:nvPr>
            <p:ph type="body" idx="1"/>
          </p:nvPr>
        </p:nvSpPr>
        <p:spPr>
          <a:xfrm>
            <a:off x="418289" y="1600200"/>
            <a:ext cx="6973111" cy="4525963"/>
          </a:xfrm>
        </p:spPr>
        <p:txBody>
          <a:bodyPr/>
          <a:lstStyle/>
          <a:p>
            <a:pPr eaLnBrk="1" hangingPunct="1"/>
            <a:r>
              <a:rPr lang="en-US" sz="2400"/>
              <a:t>If position in the earth-fixed coordinate systems is defined by a 3</a:t>
            </a:r>
            <a:r>
              <a:rPr lang="en-US" sz="2400">
                <a:sym typeface="Symbol" pitchFamily="18" charset="2"/>
              </a:rPr>
              <a:t>1 vector</a:t>
            </a:r>
          </a:p>
          <a:p>
            <a:pPr eaLnBrk="1" hangingPunct="1"/>
            <a:r>
              <a:rPr lang="en-US" sz="2400">
                <a:sym typeface="Symbol" pitchFamily="18" charset="2"/>
              </a:rPr>
              <a:t>Then the rotation is the same as multiplication by a transformation matrix consisting of functions of the rotation angle.</a:t>
            </a:r>
          </a:p>
          <a:p>
            <a:pPr eaLnBrk="1" hangingPunct="1"/>
            <a:r>
              <a:rPr lang="en-US" sz="2400">
                <a:sym typeface="Symbol" pitchFamily="18" charset="2"/>
              </a:rPr>
              <a:t>Note that these rotations are not unique and changing the order of the rotation will give different transformations.  This is due to the fact that, in general                             for matrices </a:t>
            </a:r>
          </a:p>
          <a:p>
            <a:pPr eaLnBrk="1" hangingPunct="1"/>
            <a:r>
              <a:rPr lang="en-US" sz="2400">
                <a:sym typeface="Symbol" pitchFamily="18" charset="2"/>
              </a:rPr>
              <a:t>To illustrate the issues with ordering, let’s do the coordinate-system hokey-pokey!</a:t>
            </a:r>
            <a:endParaRPr lang="en-US" sz="2400"/>
          </a:p>
        </p:txBody>
      </p:sp>
      <p:graphicFrame>
        <p:nvGraphicFramePr>
          <p:cNvPr id="24580" name="Object 2"/>
          <p:cNvGraphicFramePr>
            <a:graphicFrameLocks noChangeAspect="1"/>
          </p:cNvGraphicFramePr>
          <p:nvPr>
            <p:extLst>
              <p:ext uri="{D42A27DB-BD31-4B8C-83A1-F6EECF244321}">
                <p14:modId xmlns:p14="http://schemas.microsoft.com/office/powerpoint/2010/main" val="3974683569"/>
              </p:ext>
            </p:extLst>
          </p:nvPr>
        </p:nvGraphicFramePr>
        <p:xfrm>
          <a:off x="7696200" y="1752600"/>
          <a:ext cx="795338" cy="1782763"/>
        </p:xfrm>
        <a:graphic>
          <a:graphicData uri="http://schemas.openxmlformats.org/presentationml/2006/ole">
            <mc:AlternateContent xmlns:mc="http://schemas.openxmlformats.org/markup-compatibility/2006">
              <mc:Choice xmlns:v="urn:schemas-microsoft-com:vml" Requires="v">
                <p:oleObj name="Equation" r:id="rId3" imgW="317362" imgH="710891" progId="Equation.DSMT4">
                  <p:embed/>
                </p:oleObj>
              </mc:Choice>
              <mc:Fallback>
                <p:oleObj name="Equation" r:id="rId3" imgW="317362" imgH="710891"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6200" y="1752600"/>
                        <a:ext cx="795338" cy="1782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 Box 27"/>
          <p:cNvSpPr txBox="1">
            <a:spLocks noChangeArrowheads="1"/>
          </p:cNvSpPr>
          <p:nvPr/>
        </p:nvSpPr>
        <p:spPr bwMode="auto">
          <a:xfrm>
            <a:off x="1828800" y="4648200"/>
            <a:ext cx="1884363" cy="457200"/>
          </a:xfrm>
          <a:prstGeom prst="rect">
            <a:avLst/>
          </a:prstGeom>
          <a:noFill/>
          <a:ln w="9525">
            <a:noFill/>
            <a:miter lim="800000"/>
            <a:headEnd/>
            <a:tailEnd/>
          </a:ln>
        </p:spPr>
        <p:txBody>
          <a:bodyPr wrap="none">
            <a:spAutoFit/>
          </a:bodyPr>
          <a:lstStyle/>
          <a:p>
            <a:r>
              <a:rPr lang="en-US" i="1">
                <a:solidFill>
                  <a:srgbClr val="000000"/>
                </a:solidFill>
              </a:rPr>
              <a:t>A </a:t>
            </a:r>
            <a:r>
              <a:rPr lang="en-US" i="1">
                <a:solidFill>
                  <a:srgbClr val="000000"/>
                </a:solidFill>
                <a:sym typeface="Symbol" pitchFamily="18" charset="2"/>
              </a:rPr>
              <a:t> B  B  A</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t>Convention is important!</a:t>
            </a:r>
          </a:p>
        </p:txBody>
      </p:sp>
      <p:sp>
        <p:nvSpPr>
          <p:cNvPr id="25603" name="Rectangle 3"/>
          <p:cNvSpPr>
            <a:spLocks noGrp="1" noChangeArrowheads="1"/>
          </p:cNvSpPr>
          <p:nvPr>
            <p:ph type="body" idx="1"/>
          </p:nvPr>
        </p:nvSpPr>
        <p:spPr/>
        <p:txBody>
          <a:bodyPr/>
          <a:lstStyle/>
          <a:p>
            <a:pPr eaLnBrk="1" hangingPunct="1"/>
            <a:r>
              <a:rPr lang="en-US"/>
              <a:t>To go from earth-fixed coordinates to body-fixed coordinates involves three rotations, (let’s neglect translation for now). Start in earth-fixed, then</a:t>
            </a:r>
          </a:p>
          <a:p>
            <a:pPr eaLnBrk="1" hangingPunct="1">
              <a:buFont typeface="Wingdings" pitchFamily="2" charset="2"/>
              <a:buNone/>
            </a:pPr>
            <a:r>
              <a:rPr lang="en-US"/>
              <a:t>		1</a:t>
            </a:r>
            <a:r>
              <a:rPr lang="en-US" baseline="30000"/>
              <a:t>st</a:t>
            </a:r>
            <a:r>
              <a:rPr lang="en-US"/>
              <a:t>,  rotate about the yaw (Z) axis</a:t>
            </a:r>
            <a:br>
              <a:rPr lang="en-US"/>
            </a:br>
            <a:r>
              <a:rPr lang="en-US"/>
              <a:t>	2</a:t>
            </a:r>
            <a:r>
              <a:rPr lang="en-US" baseline="30000"/>
              <a:t>nd</a:t>
            </a:r>
            <a:r>
              <a:rPr lang="en-US"/>
              <a:t>, rotate about the pitch (Y) axis</a:t>
            </a:r>
            <a:br>
              <a:rPr lang="en-US"/>
            </a:br>
            <a:r>
              <a:rPr lang="en-US"/>
              <a:t>	3</a:t>
            </a:r>
            <a:r>
              <a:rPr lang="en-US" baseline="30000"/>
              <a:t>rd</a:t>
            </a:r>
            <a:r>
              <a:rPr lang="en-US"/>
              <a:t>, rotate about the roll (X) axis</a:t>
            </a:r>
          </a:p>
          <a:p>
            <a:pPr eaLnBrk="1" hangingPunct="1"/>
            <a:r>
              <a:rPr lang="en-US"/>
              <a:t>Then the revolved coordinates will be aligned with the body-fixed coordinates.</a:t>
            </a:r>
          </a:p>
        </p:txBody>
      </p:sp>
      <p:sp>
        <p:nvSpPr>
          <p:cNvPr id="25604" name="Text Box 4"/>
          <p:cNvSpPr txBox="1">
            <a:spLocks noChangeArrowheads="1"/>
          </p:cNvSpPr>
          <p:nvPr/>
        </p:nvSpPr>
        <p:spPr bwMode="auto">
          <a:xfrm>
            <a:off x="4287838" y="6491288"/>
            <a:ext cx="1765300" cy="366712"/>
          </a:xfrm>
          <a:prstGeom prst="rect">
            <a:avLst/>
          </a:prstGeom>
          <a:noFill/>
          <a:ln w="9525">
            <a:noFill/>
            <a:miter lim="800000"/>
            <a:headEnd/>
            <a:tailEnd/>
          </a:ln>
        </p:spPr>
        <p:txBody>
          <a:bodyPr wrap="none">
            <a:spAutoFit/>
          </a:bodyPr>
          <a:lstStyle/>
          <a:p>
            <a:r>
              <a:rPr lang="en-US" sz="1800"/>
              <a:t>Updated 2008/02</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t>Graphically</a:t>
            </a:r>
          </a:p>
        </p:txBody>
      </p:sp>
      <p:pic>
        <p:nvPicPr>
          <p:cNvPr id="26627" name="Picture 2" descr="File:Euler2.gif">
            <a:hlinkClick r:id="rId3"/>
          </p:cNvPr>
          <p:cNvPicPr>
            <a:picLocks noChangeAspect="1" noChangeArrowheads="1" noCrop="1"/>
          </p:cNvPicPr>
          <p:nvPr/>
        </p:nvPicPr>
        <p:blipFill>
          <a:blip r:embed="rId4" cstate="print"/>
          <a:srcRect/>
          <a:stretch>
            <a:fillRect/>
          </a:stretch>
        </p:blipFill>
        <p:spPr bwMode="auto">
          <a:xfrm>
            <a:off x="2819400" y="1866900"/>
            <a:ext cx="3505200" cy="3314700"/>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sz="3600"/>
              <a:t>Step 1: Coordinate Transformation</a:t>
            </a:r>
          </a:p>
        </p:txBody>
      </p:sp>
      <p:sp>
        <p:nvSpPr>
          <p:cNvPr id="27651" name="Rectangle 3"/>
          <p:cNvSpPr>
            <a:spLocks noGrp="1" noChangeArrowheads="1"/>
          </p:cNvSpPr>
          <p:nvPr>
            <p:ph type="body" idx="1"/>
          </p:nvPr>
        </p:nvSpPr>
        <p:spPr>
          <a:xfrm>
            <a:off x="762000" y="1371600"/>
            <a:ext cx="7958138" cy="4414838"/>
          </a:xfrm>
        </p:spPr>
        <p:txBody>
          <a:bodyPr/>
          <a:lstStyle/>
          <a:p>
            <a:pPr eaLnBrk="1" hangingPunct="1">
              <a:buFont typeface="Arial" charset="0"/>
              <a:buNone/>
            </a:pPr>
            <a:r>
              <a:rPr lang="en-US" sz="2400"/>
              <a:t>To rotate the axes about the yaw (Z) axis gives</a:t>
            </a:r>
            <a:br>
              <a:rPr lang="en-US" sz="2400"/>
            </a:br>
            <a:br>
              <a:rPr lang="en-US" sz="2400"/>
            </a:br>
            <a:endParaRPr lang="en-US" sz="2400"/>
          </a:p>
          <a:p>
            <a:pPr eaLnBrk="1" hangingPunct="1"/>
            <a:endParaRPr lang="en-US" sz="2400"/>
          </a:p>
          <a:p>
            <a:pPr eaLnBrk="1" hangingPunct="1"/>
            <a:endParaRPr lang="en-US" sz="2400"/>
          </a:p>
          <a:p>
            <a:pPr eaLnBrk="1" hangingPunct="1">
              <a:buFont typeface="Arial" charset="0"/>
              <a:buNone/>
            </a:pPr>
            <a:br>
              <a:rPr lang="en-US" sz="2400"/>
            </a:br>
            <a:endParaRPr lang="en-US" sz="2400"/>
          </a:p>
          <a:p>
            <a:pPr eaLnBrk="1" hangingPunct="1">
              <a:buFont typeface="Arial" charset="0"/>
              <a:buNone/>
            </a:pPr>
            <a:r>
              <a:rPr lang="en-US" sz="2400"/>
              <a:t>If the “sun” is at infinite “z” height, this rotation results in aligning the “shadow” of the body-fixed x and y axes with the global x and y axes. </a:t>
            </a:r>
          </a:p>
        </p:txBody>
      </p:sp>
      <p:graphicFrame>
        <p:nvGraphicFramePr>
          <p:cNvPr id="27652" name="Object 2"/>
          <p:cNvGraphicFramePr>
            <a:graphicFrameLocks noChangeAspect="1"/>
          </p:cNvGraphicFramePr>
          <p:nvPr/>
        </p:nvGraphicFramePr>
        <p:xfrm>
          <a:off x="2159000" y="1919288"/>
          <a:ext cx="4713288" cy="1944687"/>
        </p:xfrm>
        <a:graphic>
          <a:graphicData uri="http://schemas.openxmlformats.org/presentationml/2006/ole">
            <mc:AlternateContent xmlns:mc="http://schemas.openxmlformats.org/markup-compatibility/2006">
              <mc:Choice xmlns:v="urn:schemas-microsoft-com:vml" Requires="v">
                <p:oleObj name="Equation" r:id="rId3" imgW="2374900" imgH="977900" progId="Equation.DSMT4">
                  <p:embed/>
                </p:oleObj>
              </mc:Choice>
              <mc:Fallback>
                <p:oleObj name="Equation" r:id="rId3" imgW="2374900" imgH="9779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0" y="1919288"/>
                        <a:ext cx="4713288" cy="1944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sz="3600"/>
              <a:t>Step 2: Coordinate Transformation</a:t>
            </a:r>
          </a:p>
        </p:txBody>
      </p:sp>
      <p:sp>
        <p:nvSpPr>
          <p:cNvPr id="28675" name="Rectangle 3"/>
          <p:cNvSpPr>
            <a:spLocks noGrp="1" noChangeArrowheads="1"/>
          </p:cNvSpPr>
          <p:nvPr>
            <p:ph type="body" idx="1"/>
          </p:nvPr>
        </p:nvSpPr>
        <p:spPr>
          <a:xfrm>
            <a:off x="762000" y="1371600"/>
            <a:ext cx="7958138" cy="4414838"/>
          </a:xfrm>
        </p:spPr>
        <p:txBody>
          <a:bodyPr/>
          <a:lstStyle/>
          <a:p>
            <a:pPr eaLnBrk="1" hangingPunct="1">
              <a:buFont typeface="Arial" charset="0"/>
              <a:buNone/>
            </a:pPr>
            <a:r>
              <a:rPr lang="en-US" sz="2400"/>
              <a:t>To rotate the axes about the pitch axis (Y)</a:t>
            </a:r>
          </a:p>
          <a:p>
            <a:pPr eaLnBrk="1" hangingPunct="1">
              <a:buFont typeface="Arial" charset="0"/>
              <a:buNone/>
            </a:pPr>
            <a:endParaRPr lang="en-US" sz="2400"/>
          </a:p>
          <a:p>
            <a:pPr eaLnBrk="1" hangingPunct="1">
              <a:buFont typeface="Arial" charset="0"/>
              <a:buNone/>
            </a:pPr>
            <a:endParaRPr lang="en-US" sz="2400"/>
          </a:p>
          <a:p>
            <a:pPr eaLnBrk="1" hangingPunct="1">
              <a:buFont typeface="Arial" charset="0"/>
              <a:buNone/>
            </a:pPr>
            <a:endParaRPr lang="en-US" sz="2400"/>
          </a:p>
          <a:p>
            <a:pPr eaLnBrk="1" hangingPunct="1">
              <a:buFont typeface="Arial" charset="0"/>
              <a:buNone/>
            </a:pPr>
            <a:endParaRPr lang="en-US" sz="2400"/>
          </a:p>
          <a:p>
            <a:pPr eaLnBrk="1" hangingPunct="1">
              <a:buFont typeface="Arial" charset="0"/>
              <a:buNone/>
            </a:pPr>
            <a:endParaRPr lang="en-US" sz="2400"/>
          </a:p>
          <a:p>
            <a:pPr eaLnBrk="1" hangingPunct="1">
              <a:buFont typeface="Arial" charset="0"/>
              <a:buNone/>
            </a:pPr>
            <a:endParaRPr lang="en-US" sz="2400"/>
          </a:p>
          <a:p>
            <a:pPr eaLnBrk="1" hangingPunct="1">
              <a:buFont typeface="Arial" charset="0"/>
              <a:buNone/>
            </a:pPr>
            <a:r>
              <a:rPr lang="en-US" sz="2400"/>
              <a:t>This now aligns the rotated body-fixed X-axis with the global X-axis</a:t>
            </a:r>
          </a:p>
        </p:txBody>
      </p:sp>
      <p:graphicFrame>
        <p:nvGraphicFramePr>
          <p:cNvPr id="28676" name="Object 3"/>
          <p:cNvGraphicFramePr>
            <a:graphicFrameLocks noChangeAspect="1"/>
          </p:cNvGraphicFramePr>
          <p:nvPr/>
        </p:nvGraphicFramePr>
        <p:xfrm>
          <a:off x="2362200" y="1981200"/>
          <a:ext cx="4611688" cy="2122488"/>
        </p:xfrm>
        <a:graphic>
          <a:graphicData uri="http://schemas.openxmlformats.org/presentationml/2006/ole">
            <mc:AlternateContent xmlns:mc="http://schemas.openxmlformats.org/markup-compatibility/2006">
              <mc:Choice xmlns:v="urn:schemas-microsoft-com:vml" Requires="v">
                <p:oleObj name="Equation" r:id="rId3" imgW="2324100" imgH="1066800" progId="Equation.DSMT4">
                  <p:embed/>
                </p:oleObj>
              </mc:Choice>
              <mc:Fallback>
                <p:oleObj name="Equation" r:id="rId3" imgW="2324100" imgH="10668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1981200"/>
                        <a:ext cx="4611688" cy="2122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sz="3600"/>
              <a:t>Step 3: Coordinate Transformation</a:t>
            </a:r>
          </a:p>
        </p:txBody>
      </p:sp>
      <p:sp>
        <p:nvSpPr>
          <p:cNvPr id="29699" name="Rectangle 3"/>
          <p:cNvSpPr>
            <a:spLocks noGrp="1" noChangeArrowheads="1"/>
          </p:cNvSpPr>
          <p:nvPr>
            <p:ph type="body" idx="1"/>
          </p:nvPr>
        </p:nvSpPr>
        <p:spPr/>
        <p:txBody>
          <a:bodyPr/>
          <a:lstStyle/>
          <a:p>
            <a:pPr eaLnBrk="1" hangingPunct="1">
              <a:buFont typeface="Arial" charset="0"/>
              <a:buNone/>
            </a:pPr>
            <a:r>
              <a:rPr lang="en-US" sz="2400"/>
              <a:t>To rotate the axes about the roll axis (X) gives:</a:t>
            </a:r>
          </a:p>
          <a:p>
            <a:pPr eaLnBrk="1" hangingPunct="1"/>
            <a:endParaRPr lang="en-US" sz="2400"/>
          </a:p>
          <a:p>
            <a:pPr eaLnBrk="1" hangingPunct="1"/>
            <a:endParaRPr lang="en-US" sz="2400"/>
          </a:p>
          <a:p>
            <a:pPr eaLnBrk="1" hangingPunct="1"/>
            <a:endParaRPr lang="en-US" sz="2400"/>
          </a:p>
          <a:p>
            <a:pPr eaLnBrk="1" hangingPunct="1"/>
            <a:endParaRPr lang="en-US" sz="2400"/>
          </a:p>
          <a:p>
            <a:pPr eaLnBrk="1" hangingPunct="1">
              <a:buFont typeface="Arial" charset="0"/>
              <a:buNone/>
            </a:pPr>
            <a:endParaRPr lang="en-US" sz="2400"/>
          </a:p>
          <a:p>
            <a:pPr eaLnBrk="1" hangingPunct="1">
              <a:buFont typeface="Arial" charset="0"/>
              <a:buNone/>
            </a:pPr>
            <a:endParaRPr lang="en-US" sz="2400"/>
          </a:p>
          <a:p>
            <a:pPr eaLnBrk="1" hangingPunct="1">
              <a:buFont typeface="Arial" charset="0"/>
              <a:buNone/>
            </a:pPr>
            <a:r>
              <a:rPr lang="en-US" sz="2400"/>
              <a:t>This last rotation aligns the rotated body-fixed axes to the global axes.</a:t>
            </a:r>
          </a:p>
        </p:txBody>
      </p:sp>
      <p:graphicFrame>
        <p:nvGraphicFramePr>
          <p:cNvPr id="29700" name="Object 2"/>
          <p:cNvGraphicFramePr>
            <a:graphicFrameLocks noChangeAspect="1"/>
          </p:cNvGraphicFramePr>
          <p:nvPr/>
        </p:nvGraphicFramePr>
        <p:xfrm>
          <a:off x="2057400" y="2362200"/>
          <a:ext cx="4610100" cy="2298700"/>
        </p:xfrm>
        <a:graphic>
          <a:graphicData uri="http://schemas.openxmlformats.org/presentationml/2006/ole">
            <mc:AlternateContent xmlns:mc="http://schemas.openxmlformats.org/markup-compatibility/2006">
              <mc:Choice xmlns:v="urn:schemas-microsoft-com:vml" Requires="v">
                <p:oleObj name="Equation" r:id="rId3" imgW="2324100" imgH="1155700" progId="Equation.DSMT4">
                  <p:embed/>
                </p:oleObj>
              </mc:Choice>
              <mc:Fallback>
                <p:oleObj name="Equation" r:id="rId3" imgW="2324100" imgH="11557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2362200"/>
                        <a:ext cx="4610100" cy="2298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lgn="l" eaLnBrk="1" hangingPunct="1"/>
            <a:r>
              <a:rPr lang="en-US"/>
              <a:t>The last thing to consider is translation to align origins</a:t>
            </a:r>
          </a:p>
        </p:txBody>
      </p:sp>
      <p:sp>
        <p:nvSpPr>
          <p:cNvPr id="30723" name="Rectangle 3"/>
          <p:cNvSpPr>
            <a:spLocks noGrp="1" noChangeArrowheads="1"/>
          </p:cNvSpPr>
          <p:nvPr>
            <p:ph type="body" idx="1"/>
          </p:nvPr>
        </p:nvSpPr>
        <p:spPr/>
        <p:txBody>
          <a:bodyPr/>
          <a:lstStyle/>
          <a:p>
            <a:pPr eaLnBrk="1" hangingPunct="1"/>
            <a:r>
              <a:rPr lang="en-US"/>
              <a:t>The original coordinates </a:t>
            </a:r>
            <a:r>
              <a:rPr lang="en-US">
                <a:solidFill>
                  <a:srgbClr val="000000"/>
                </a:solidFill>
              </a:rPr>
              <a:t>[ X</a:t>
            </a:r>
            <a:r>
              <a:rPr lang="en-US" baseline="-25000">
                <a:solidFill>
                  <a:srgbClr val="000000"/>
                </a:solidFill>
              </a:rPr>
              <a:t>o</a:t>
            </a:r>
            <a:r>
              <a:rPr lang="en-US">
                <a:solidFill>
                  <a:srgbClr val="000000"/>
                </a:solidFill>
              </a:rPr>
              <a:t>, </a:t>
            </a:r>
            <a:r>
              <a:rPr lang="en-US" err="1">
                <a:solidFill>
                  <a:srgbClr val="000000"/>
                </a:solidFill>
              </a:rPr>
              <a:t>Y</a:t>
            </a:r>
            <a:r>
              <a:rPr lang="en-US" baseline="-25000" err="1">
                <a:solidFill>
                  <a:srgbClr val="000000"/>
                </a:solidFill>
              </a:rPr>
              <a:t>o</a:t>
            </a:r>
            <a:r>
              <a:rPr lang="en-US">
                <a:solidFill>
                  <a:srgbClr val="000000"/>
                </a:solidFill>
              </a:rPr>
              <a:t>, Z</a:t>
            </a:r>
            <a:r>
              <a:rPr lang="en-US" baseline="-25000">
                <a:solidFill>
                  <a:srgbClr val="000000"/>
                </a:solidFill>
              </a:rPr>
              <a:t>o</a:t>
            </a:r>
            <a:r>
              <a:rPr lang="en-US">
                <a:solidFill>
                  <a:srgbClr val="000000"/>
                </a:solidFill>
              </a:rPr>
              <a:t> ]</a:t>
            </a:r>
            <a:r>
              <a:rPr lang="en-US" baseline="30000">
                <a:solidFill>
                  <a:srgbClr val="000000"/>
                </a:solidFill>
              </a:rPr>
              <a:t>T</a:t>
            </a:r>
            <a:r>
              <a:rPr lang="en-US" baseline="30000"/>
              <a:t> </a:t>
            </a:r>
            <a:r>
              <a:rPr lang="en-US"/>
              <a:t>are the earth-fixed coordinates.</a:t>
            </a:r>
          </a:p>
          <a:p>
            <a:pPr eaLnBrk="1" hangingPunct="1"/>
            <a:r>
              <a:rPr lang="en-US"/>
              <a:t>The new coordinates </a:t>
            </a:r>
            <a:r>
              <a:rPr lang="en-US">
                <a:solidFill>
                  <a:srgbClr val="000000"/>
                </a:solidFill>
              </a:rPr>
              <a:t>[X</a:t>
            </a:r>
            <a:r>
              <a:rPr lang="en-US" baseline="-25000">
                <a:solidFill>
                  <a:srgbClr val="000000"/>
                </a:solidFill>
              </a:rPr>
              <a:t>3</a:t>
            </a:r>
            <a:r>
              <a:rPr lang="en-US">
                <a:solidFill>
                  <a:srgbClr val="000000"/>
                </a:solidFill>
              </a:rPr>
              <a:t>, Y</a:t>
            </a:r>
            <a:r>
              <a:rPr lang="en-US" baseline="-25000">
                <a:solidFill>
                  <a:srgbClr val="000000"/>
                </a:solidFill>
              </a:rPr>
              <a:t>3</a:t>
            </a:r>
            <a:r>
              <a:rPr lang="en-US">
                <a:solidFill>
                  <a:srgbClr val="000000"/>
                </a:solidFill>
              </a:rPr>
              <a:t>, Z</a:t>
            </a:r>
            <a:r>
              <a:rPr lang="en-US" baseline="-25000">
                <a:solidFill>
                  <a:srgbClr val="000000"/>
                </a:solidFill>
              </a:rPr>
              <a:t>3</a:t>
            </a:r>
            <a:r>
              <a:rPr lang="en-US">
                <a:solidFill>
                  <a:srgbClr val="000000"/>
                </a:solidFill>
              </a:rPr>
              <a:t> ]</a:t>
            </a:r>
            <a:r>
              <a:rPr lang="en-US" baseline="30000">
                <a:solidFill>
                  <a:srgbClr val="000000"/>
                </a:solidFill>
              </a:rPr>
              <a:t>T</a:t>
            </a:r>
            <a:r>
              <a:rPr lang="en-US">
                <a:solidFill>
                  <a:srgbClr val="000000"/>
                </a:solidFill>
              </a:rPr>
              <a:t> </a:t>
            </a:r>
            <a:r>
              <a:rPr lang="en-US"/>
              <a:t>are very close to the body fixed coordinate.  The only difference is a translation.</a:t>
            </a:r>
            <a:endParaRPr lang="en-US" baseline="30000">
              <a:solidFill>
                <a:srgbClr val="000000"/>
              </a:solidFill>
            </a:endParaRPr>
          </a:p>
        </p:txBody>
      </p:sp>
      <p:sp>
        <p:nvSpPr>
          <p:cNvPr id="30724" name="Line 4"/>
          <p:cNvSpPr>
            <a:spLocks noChangeShapeType="1"/>
          </p:cNvSpPr>
          <p:nvPr/>
        </p:nvSpPr>
        <p:spPr bwMode="auto">
          <a:xfrm>
            <a:off x="2743200" y="4876800"/>
            <a:ext cx="3810000" cy="0"/>
          </a:xfrm>
          <a:prstGeom prst="line">
            <a:avLst/>
          </a:prstGeom>
          <a:noFill/>
          <a:ln w="19050">
            <a:solidFill>
              <a:srgbClr val="000000"/>
            </a:solidFill>
            <a:round/>
            <a:headEnd type="triangle" w="med" len="med"/>
            <a:tailEnd/>
          </a:ln>
        </p:spPr>
        <p:txBody>
          <a:bodyPr wrap="none"/>
          <a:lstStyle/>
          <a:p>
            <a:endParaRPr lang="en-US"/>
          </a:p>
        </p:txBody>
      </p:sp>
      <p:sp>
        <p:nvSpPr>
          <p:cNvPr id="30725" name="Line 5"/>
          <p:cNvSpPr>
            <a:spLocks noChangeShapeType="1"/>
          </p:cNvSpPr>
          <p:nvPr/>
        </p:nvSpPr>
        <p:spPr bwMode="auto">
          <a:xfrm flipH="1">
            <a:off x="5181600" y="4876800"/>
            <a:ext cx="1371600" cy="0"/>
          </a:xfrm>
          <a:prstGeom prst="line">
            <a:avLst/>
          </a:prstGeom>
          <a:noFill/>
          <a:ln w="19050">
            <a:solidFill>
              <a:srgbClr val="000000"/>
            </a:solidFill>
            <a:round/>
            <a:headEnd/>
            <a:tailEnd type="triangle" w="med" len="med"/>
          </a:ln>
        </p:spPr>
        <p:txBody>
          <a:bodyPr wrap="none"/>
          <a:lstStyle/>
          <a:p>
            <a:endParaRPr lang="en-US"/>
          </a:p>
        </p:txBody>
      </p:sp>
      <p:sp>
        <p:nvSpPr>
          <p:cNvPr id="30726" name="Line 6"/>
          <p:cNvSpPr>
            <a:spLocks noChangeShapeType="1"/>
          </p:cNvSpPr>
          <p:nvPr/>
        </p:nvSpPr>
        <p:spPr bwMode="auto">
          <a:xfrm flipH="1">
            <a:off x="3913188" y="4881563"/>
            <a:ext cx="1263650" cy="0"/>
          </a:xfrm>
          <a:prstGeom prst="line">
            <a:avLst/>
          </a:prstGeom>
          <a:noFill/>
          <a:ln w="38100">
            <a:solidFill>
              <a:srgbClr val="FF0066"/>
            </a:solidFill>
            <a:round/>
            <a:headEnd/>
            <a:tailEnd type="triangle" w="med" len="med"/>
          </a:ln>
        </p:spPr>
        <p:txBody>
          <a:bodyPr wrap="none"/>
          <a:lstStyle/>
          <a:p>
            <a:endParaRPr lang="en-US"/>
          </a:p>
        </p:txBody>
      </p:sp>
      <p:sp>
        <p:nvSpPr>
          <p:cNvPr id="30727" name="Line 7"/>
          <p:cNvSpPr>
            <a:spLocks noChangeShapeType="1"/>
          </p:cNvSpPr>
          <p:nvPr/>
        </p:nvSpPr>
        <p:spPr bwMode="auto">
          <a:xfrm>
            <a:off x="3905250" y="4876800"/>
            <a:ext cx="0" cy="609600"/>
          </a:xfrm>
          <a:prstGeom prst="line">
            <a:avLst/>
          </a:prstGeom>
          <a:noFill/>
          <a:ln w="19050">
            <a:solidFill>
              <a:srgbClr val="000000"/>
            </a:solidFill>
            <a:round/>
            <a:headEnd/>
            <a:tailEnd type="triangle" w="med" len="med"/>
          </a:ln>
        </p:spPr>
        <p:txBody>
          <a:bodyPr wrap="none"/>
          <a:lstStyle/>
          <a:p>
            <a:endParaRPr lang="en-US"/>
          </a:p>
        </p:txBody>
      </p:sp>
      <p:sp>
        <p:nvSpPr>
          <p:cNvPr id="30728" name="Line 8"/>
          <p:cNvSpPr>
            <a:spLocks noChangeShapeType="1"/>
          </p:cNvSpPr>
          <p:nvPr/>
        </p:nvSpPr>
        <p:spPr bwMode="auto">
          <a:xfrm flipH="1">
            <a:off x="3429000" y="4876800"/>
            <a:ext cx="457200" cy="457200"/>
          </a:xfrm>
          <a:prstGeom prst="line">
            <a:avLst/>
          </a:prstGeom>
          <a:noFill/>
          <a:ln w="19050">
            <a:solidFill>
              <a:srgbClr val="000000"/>
            </a:solidFill>
            <a:round/>
            <a:headEnd/>
            <a:tailEnd type="triangle" w="med" len="med"/>
          </a:ln>
        </p:spPr>
        <p:txBody>
          <a:bodyPr wrap="none"/>
          <a:lstStyle/>
          <a:p>
            <a:endParaRPr lang="en-US"/>
          </a:p>
        </p:txBody>
      </p:sp>
      <p:sp>
        <p:nvSpPr>
          <p:cNvPr id="30729" name="Line 9"/>
          <p:cNvSpPr>
            <a:spLocks noChangeShapeType="1"/>
          </p:cNvSpPr>
          <p:nvPr/>
        </p:nvSpPr>
        <p:spPr bwMode="auto">
          <a:xfrm>
            <a:off x="6553200" y="4876800"/>
            <a:ext cx="0" cy="533400"/>
          </a:xfrm>
          <a:prstGeom prst="line">
            <a:avLst/>
          </a:prstGeom>
          <a:noFill/>
          <a:ln w="19050">
            <a:solidFill>
              <a:srgbClr val="000000"/>
            </a:solidFill>
            <a:round/>
            <a:headEnd/>
            <a:tailEnd type="triangle" w="med" len="med"/>
          </a:ln>
        </p:spPr>
        <p:txBody>
          <a:bodyPr wrap="none"/>
          <a:lstStyle/>
          <a:p>
            <a:endParaRPr lang="en-US"/>
          </a:p>
        </p:txBody>
      </p:sp>
      <p:sp>
        <p:nvSpPr>
          <p:cNvPr id="30730" name="Line 10"/>
          <p:cNvSpPr>
            <a:spLocks noChangeShapeType="1"/>
          </p:cNvSpPr>
          <p:nvPr/>
        </p:nvSpPr>
        <p:spPr bwMode="auto">
          <a:xfrm flipH="1">
            <a:off x="6096000" y="4876800"/>
            <a:ext cx="457200" cy="457200"/>
          </a:xfrm>
          <a:prstGeom prst="line">
            <a:avLst/>
          </a:prstGeom>
          <a:noFill/>
          <a:ln w="19050">
            <a:solidFill>
              <a:srgbClr val="000000"/>
            </a:solidFill>
            <a:round/>
            <a:headEnd/>
            <a:tailEnd type="triangle" w="med" len="med"/>
          </a:ln>
        </p:spPr>
        <p:txBody>
          <a:bodyPr wrap="none"/>
          <a:lstStyle/>
          <a:p>
            <a:endParaRPr lang="en-US"/>
          </a:p>
        </p:txBody>
      </p:sp>
      <p:sp>
        <p:nvSpPr>
          <p:cNvPr id="30731" name="Text Box 11"/>
          <p:cNvSpPr txBox="1">
            <a:spLocks noChangeArrowheads="1"/>
          </p:cNvSpPr>
          <p:nvPr/>
        </p:nvSpPr>
        <p:spPr bwMode="auto">
          <a:xfrm>
            <a:off x="4381500" y="4430713"/>
            <a:ext cx="311150" cy="366712"/>
          </a:xfrm>
          <a:prstGeom prst="rect">
            <a:avLst/>
          </a:prstGeom>
          <a:noFill/>
          <a:ln w="9525">
            <a:noFill/>
            <a:miter lim="800000"/>
            <a:headEnd/>
            <a:tailEnd/>
          </a:ln>
        </p:spPr>
        <p:txBody>
          <a:bodyPr>
            <a:spAutoFit/>
          </a:bodyPr>
          <a:lstStyle/>
          <a:p>
            <a:r>
              <a:rPr lang="en-US" sz="1800" b="1">
                <a:solidFill>
                  <a:srgbClr val="000000"/>
                </a:solidFill>
              </a:rPr>
              <a:t>P</a:t>
            </a:r>
          </a:p>
        </p:txBody>
      </p:sp>
      <p:graphicFrame>
        <p:nvGraphicFramePr>
          <p:cNvPr id="30732" name="Object 1024"/>
          <p:cNvGraphicFramePr>
            <a:graphicFrameLocks noChangeAspect="1"/>
          </p:cNvGraphicFramePr>
          <p:nvPr/>
        </p:nvGraphicFramePr>
        <p:xfrm>
          <a:off x="1995488" y="5526088"/>
          <a:ext cx="5192712" cy="639762"/>
        </p:xfrm>
        <a:graphic>
          <a:graphicData uri="http://schemas.openxmlformats.org/presentationml/2006/ole">
            <mc:AlternateContent xmlns:mc="http://schemas.openxmlformats.org/markup-compatibility/2006">
              <mc:Choice xmlns:v="urn:schemas-microsoft-com:vml" Requires="v">
                <p:oleObj name="Equation" r:id="rId3" imgW="1752600" imgH="215900" progId="Equation.3">
                  <p:embed/>
                </p:oleObj>
              </mc:Choice>
              <mc:Fallback>
                <p:oleObj name="Equation" r:id="rId3" imgW="1752600" imgH="215900" progId="Equation.3">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5488" y="5526088"/>
                        <a:ext cx="5192712" cy="639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33" name="Line 13"/>
          <p:cNvSpPr>
            <a:spLocks noChangeShapeType="1"/>
          </p:cNvSpPr>
          <p:nvPr/>
        </p:nvSpPr>
        <p:spPr bwMode="auto">
          <a:xfrm>
            <a:off x="4418013" y="4471988"/>
            <a:ext cx="225425" cy="0"/>
          </a:xfrm>
          <a:prstGeom prst="line">
            <a:avLst/>
          </a:prstGeom>
          <a:noFill/>
          <a:ln w="9525">
            <a:solidFill>
              <a:schemeClr val="tx1"/>
            </a:solidFill>
            <a:round/>
            <a:headEnd/>
            <a:tailEnd type="triangle" w="med" len="med"/>
          </a:ln>
        </p:spPr>
        <p:txBody>
          <a:bodyPr wrap="none" anchor="ctr"/>
          <a:lstStyle/>
          <a:p>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algn="l" eaLnBrk="1" hangingPunct="1"/>
            <a:r>
              <a:rPr lang="en-US"/>
              <a:t>We can put each rotation matrix into one BIG matrix</a:t>
            </a:r>
          </a:p>
        </p:txBody>
      </p:sp>
      <p:sp>
        <p:nvSpPr>
          <p:cNvPr id="31747" name="Rectangle 3"/>
          <p:cNvSpPr>
            <a:spLocks noGrp="1" noChangeArrowheads="1"/>
          </p:cNvSpPr>
          <p:nvPr>
            <p:ph type="body" idx="1"/>
          </p:nvPr>
        </p:nvSpPr>
        <p:spPr/>
        <p:txBody>
          <a:bodyPr/>
          <a:lstStyle/>
          <a:p>
            <a:pPr eaLnBrk="1" hangingPunct="1">
              <a:lnSpc>
                <a:spcPct val="110000"/>
              </a:lnSpc>
              <a:buFont typeface="Arial" charset="0"/>
              <a:buNone/>
            </a:pPr>
            <a:r>
              <a:rPr lang="en-US">
                <a:sym typeface="Symbol" pitchFamily="18" charset="2"/>
              </a:rPr>
              <a:t>The relationship between earth-fixed and body-fixed coordinates is:</a:t>
            </a:r>
            <a:br>
              <a:rPr lang="en-US">
                <a:sym typeface="Symbol" pitchFamily="18" charset="2"/>
              </a:rPr>
            </a:br>
            <a:br>
              <a:rPr lang="en-US">
                <a:sym typeface="Symbol" pitchFamily="18" charset="2"/>
              </a:rPr>
            </a:br>
            <a:br>
              <a:rPr lang="en-US">
                <a:sym typeface="Symbol" pitchFamily="18" charset="2"/>
              </a:rPr>
            </a:br>
            <a:endParaRPr lang="en-US">
              <a:sym typeface="Symbol" pitchFamily="18" charset="2"/>
            </a:endParaRPr>
          </a:p>
          <a:p>
            <a:pPr eaLnBrk="1" hangingPunct="1">
              <a:lnSpc>
                <a:spcPct val="110000"/>
              </a:lnSpc>
              <a:buFont typeface="Wingdings" pitchFamily="2" charset="2"/>
              <a:buNone/>
            </a:pPr>
            <a:br>
              <a:rPr lang="en-US"/>
            </a:br>
            <a:endParaRPr lang="en-US"/>
          </a:p>
        </p:txBody>
      </p:sp>
      <p:sp>
        <p:nvSpPr>
          <p:cNvPr id="31748" name="Text Box 4"/>
          <p:cNvSpPr txBox="1">
            <a:spLocks noChangeArrowheads="1"/>
          </p:cNvSpPr>
          <p:nvPr/>
        </p:nvSpPr>
        <p:spPr bwMode="auto">
          <a:xfrm>
            <a:off x="2095500" y="2905125"/>
            <a:ext cx="422275" cy="1282700"/>
          </a:xfrm>
          <a:prstGeom prst="rect">
            <a:avLst/>
          </a:prstGeom>
          <a:noFill/>
          <a:ln w="9525">
            <a:noFill/>
            <a:miter lim="800000"/>
            <a:headEnd/>
            <a:tailEnd/>
          </a:ln>
        </p:spPr>
        <p:txBody>
          <a:bodyPr wrap="none">
            <a:spAutoFit/>
          </a:bodyPr>
          <a:lstStyle/>
          <a:p>
            <a:r>
              <a:rPr lang="en-US" sz="2600">
                <a:solidFill>
                  <a:srgbClr val="000000"/>
                </a:solidFill>
              </a:rPr>
              <a:t>X</a:t>
            </a:r>
            <a:endParaRPr lang="en-US" sz="2600" baseline="-25000">
              <a:solidFill>
                <a:srgbClr val="000000"/>
              </a:solidFill>
            </a:endParaRPr>
          </a:p>
          <a:p>
            <a:r>
              <a:rPr lang="en-US" sz="2600">
                <a:solidFill>
                  <a:srgbClr val="000000"/>
                </a:solidFill>
              </a:rPr>
              <a:t>Y</a:t>
            </a:r>
            <a:endParaRPr lang="en-US" sz="2600" baseline="-25000">
              <a:solidFill>
                <a:srgbClr val="000000"/>
              </a:solidFill>
            </a:endParaRPr>
          </a:p>
          <a:p>
            <a:r>
              <a:rPr lang="en-US" sz="2600">
                <a:solidFill>
                  <a:srgbClr val="000000"/>
                </a:solidFill>
              </a:rPr>
              <a:t>Z</a:t>
            </a:r>
            <a:endParaRPr lang="en-US" sz="2600" baseline="-25000">
              <a:solidFill>
                <a:srgbClr val="000000"/>
              </a:solidFill>
            </a:endParaRPr>
          </a:p>
        </p:txBody>
      </p:sp>
      <p:sp>
        <p:nvSpPr>
          <p:cNvPr id="31749" name="Line 5"/>
          <p:cNvSpPr>
            <a:spLocks noChangeShapeType="1"/>
          </p:cNvSpPr>
          <p:nvPr/>
        </p:nvSpPr>
        <p:spPr bwMode="auto">
          <a:xfrm flipH="1">
            <a:off x="1962150" y="2957513"/>
            <a:ext cx="152400" cy="0"/>
          </a:xfrm>
          <a:prstGeom prst="line">
            <a:avLst/>
          </a:prstGeom>
          <a:noFill/>
          <a:ln w="9525">
            <a:solidFill>
              <a:srgbClr val="000000"/>
            </a:solidFill>
            <a:round/>
            <a:headEnd/>
            <a:tailEnd/>
          </a:ln>
        </p:spPr>
        <p:txBody>
          <a:bodyPr wrap="none"/>
          <a:lstStyle/>
          <a:p>
            <a:endParaRPr lang="en-US"/>
          </a:p>
        </p:txBody>
      </p:sp>
      <p:sp>
        <p:nvSpPr>
          <p:cNvPr id="31750" name="Line 6"/>
          <p:cNvSpPr>
            <a:spLocks noChangeShapeType="1"/>
          </p:cNvSpPr>
          <p:nvPr/>
        </p:nvSpPr>
        <p:spPr bwMode="auto">
          <a:xfrm>
            <a:off x="1962150" y="2957513"/>
            <a:ext cx="0" cy="1219200"/>
          </a:xfrm>
          <a:prstGeom prst="line">
            <a:avLst/>
          </a:prstGeom>
          <a:noFill/>
          <a:ln w="9525">
            <a:solidFill>
              <a:srgbClr val="000000"/>
            </a:solidFill>
            <a:round/>
            <a:headEnd/>
            <a:tailEnd/>
          </a:ln>
        </p:spPr>
        <p:txBody>
          <a:bodyPr wrap="none"/>
          <a:lstStyle/>
          <a:p>
            <a:endParaRPr lang="en-US"/>
          </a:p>
        </p:txBody>
      </p:sp>
      <p:sp>
        <p:nvSpPr>
          <p:cNvPr id="31751" name="Line 7"/>
          <p:cNvSpPr>
            <a:spLocks noChangeShapeType="1"/>
          </p:cNvSpPr>
          <p:nvPr/>
        </p:nvSpPr>
        <p:spPr bwMode="auto">
          <a:xfrm flipH="1">
            <a:off x="1962150" y="4157663"/>
            <a:ext cx="152400" cy="0"/>
          </a:xfrm>
          <a:prstGeom prst="line">
            <a:avLst/>
          </a:prstGeom>
          <a:noFill/>
          <a:ln w="9525">
            <a:solidFill>
              <a:srgbClr val="000000"/>
            </a:solidFill>
            <a:round/>
            <a:headEnd/>
            <a:tailEnd/>
          </a:ln>
        </p:spPr>
        <p:txBody>
          <a:bodyPr wrap="none"/>
          <a:lstStyle/>
          <a:p>
            <a:endParaRPr lang="en-US"/>
          </a:p>
        </p:txBody>
      </p:sp>
      <p:sp>
        <p:nvSpPr>
          <p:cNvPr id="31752" name="Line 8"/>
          <p:cNvSpPr>
            <a:spLocks noChangeShapeType="1"/>
          </p:cNvSpPr>
          <p:nvPr/>
        </p:nvSpPr>
        <p:spPr bwMode="auto">
          <a:xfrm flipH="1">
            <a:off x="2400300" y="2957513"/>
            <a:ext cx="152400" cy="0"/>
          </a:xfrm>
          <a:prstGeom prst="line">
            <a:avLst/>
          </a:prstGeom>
          <a:noFill/>
          <a:ln w="9525">
            <a:solidFill>
              <a:srgbClr val="000000"/>
            </a:solidFill>
            <a:round/>
            <a:headEnd/>
            <a:tailEnd/>
          </a:ln>
        </p:spPr>
        <p:txBody>
          <a:bodyPr wrap="none"/>
          <a:lstStyle/>
          <a:p>
            <a:endParaRPr lang="en-US"/>
          </a:p>
        </p:txBody>
      </p:sp>
      <p:sp>
        <p:nvSpPr>
          <p:cNvPr id="31753" name="Line 9"/>
          <p:cNvSpPr>
            <a:spLocks noChangeShapeType="1"/>
          </p:cNvSpPr>
          <p:nvPr/>
        </p:nvSpPr>
        <p:spPr bwMode="auto">
          <a:xfrm>
            <a:off x="2571750" y="2957513"/>
            <a:ext cx="0" cy="1219200"/>
          </a:xfrm>
          <a:prstGeom prst="line">
            <a:avLst/>
          </a:prstGeom>
          <a:noFill/>
          <a:ln w="9525">
            <a:solidFill>
              <a:srgbClr val="000000"/>
            </a:solidFill>
            <a:round/>
            <a:headEnd/>
            <a:tailEnd/>
          </a:ln>
        </p:spPr>
        <p:txBody>
          <a:bodyPr wrap="none"/>
          <a:lstStyle/>
          <a:p>
            <a:endParaRPr lang="en-US"/>
          </a:p>
        </p:txBody>
      </p:sp>
      <p:sp>
        <p:nvSpPr>
          <p:cNvPr id="31754" name="Line 10"/>
          <p:cNvSpPr>
            <a:spLocks noChangeShapeType="1"/>
          </p:cNvSpPr>
          <p:nvPr/>
        </p:nvSpPr>
        <p:spPr bwMode="auto">
          <a:xfrm flipH="1">
            <a:off x="2419350" y="4176713"/>
            <a:ext cx="152400" cy="0"/>
          </a:xfrm>
          <a:prstGeom prst="line">
            <a:avLst/>
          </a:prstGeom>
          <a:noFill/>
          <a:ln w="9525">
            <a:solidFill>
              <a:srgbClr val="000000"/>
            </a:solidFill>
            <a:round/>
            <a:headEnd/>
            <a:tailEnd/>
          </a:ln>
        </p:spPr>
        <p:txBody>
          <a:bodyPr wrap="none"/>
          <a:lstStyle/>
          <a:p>
            <a:endParaRPr lang="en-US"/>
          </a:p>
        </p:txBody>
      </p:sp>
      <p:sp>
        <p:nvSpPr>
          <p:cNvPr id="31755" name="Text Box 12"/>
          <p:cNvSpPr txBox="1">
            <a:spLocks noChangeArrowheads="1"/>
          </p:cNvSpPr>
          <p:nvPr/>
        </p:nvSpPr>
        <p:spPr bwMode="auto">
          <a:xfrm>
            <a:off x="2651125" y="3248025"/>
            <a:ext cx="355600" cy="457200"/>
          </a:xfrm>
          <a:prstGeom prst="rect">
            <a:avLst/>
          </a:prstGeom>
          <a:noFill/>
          <a:ln w="9525">
            <a:noFill/>
            <a:miter lim="800000"/>
            <a:headEnd/>
            <a:tailEnd/>
          </a:ln>
        </p:spPr>
        <p:txBody>
          <a:bodyPr wrap="none">
            <a:spAutoFit/>
          </a:bodyPr>
          <a:lstStyle/>
          <a:p>
            <a:r>
              <a:rPr lang="en-US"/>
              <a:t>=</a:t>
            </a:r>
          </a:p>
        </p:txBody>
      </p:sp>
      <p:sp>
        <p:nvSpPr>
          <p:cNvPr id="31756" name="Text Box 13"/>
          <p:cNvSpPr txBox="1">
            <a:spLocks noChangeArrowheads="1"/>
          </p:cNvSpPr>
          <p:nvPr/>
        </p:nvSpPr>
        <p:spPr bwMode="auto">
          <a:xfrm>
            <a:off x="3032125" y="3222625"/>
            <a:ext cx="1449388" cy="492125"/>
          </a:xfrm>
          <a:prstGeom prst="rect">
            <a:avLst/>
          </a:prstGeom>
          <a:noFill/>
          <a:ln w="9525">
            <a:noFill/>
            <a:miter lim="800000"/>
            <a:headEnd/>
            <a:tailEnd/>
          </a:ln>
        </p:spPr>
        <p:txBody>
          <a:bodyPr wrap="none">
            <a:spAutoFit/>
          </a:bodyPr>
          <a:lstStyle/>
          <a:p>
            <a:r>
              <a:rPr lang="en-US" sz="2600">
                <a:solidFill>
                  <a:srgbClr val="000000"/>
                </a:solidFill>
              </a:rPr>
              <a:t>R</a:t>
            </a:r>
            <a:r>
              <a:rPr lang="en-US" sz="2600" baseline="-25000">
                <a:solidFill>
                  <a:srgbClr val="000000"/>
                </a:solidFill>
              </a:rPr>
              <a:t>Z</a:t>
            </a:r>
            <a:r>
              <a:rPr lang="en-US" sz="2600">
                <a:solidFill>
                  <a:srgbClr val="000000"/>
                </a:solidFill>
              </a:rPr>
              <a:t> R</a:t>
            </a:r>
            <a:r>
              <a:rPr lang="en-US" sz="2600" baseline="-25000">
                <a:solidFill>
                  <a:srgbClr val="000000"/>
                </a:solidFill>
              </a:rPr>
              <a:t>Y</a:t>
            </a:r>
            <a:r>
              <a:rPr lang="en-US" sz="2600">
                <a:solidFill>
                  <a:srgbClr val="000000"/>
                </a:solidFill>
              </a:rPr>
              <a:t> R</a:t>
            </a:r>
            <a:r>
              <a:rPr lang="en-US" sz="2600" baseline="-25000">
                <a:solidFill>
                  <a:srgbClr val="000000"/>
                </a:solidFill>
              </a:rPr>
              <a:t>X</a:t>
            </a:r>
          </a:p>
        </p:txBody>
      </p:sp>
      <p:sp>
        <p:nvSpPr>
          <p:cNvPr id="31757" name="Text Box 14"/>
          <p:cNvSpPr txBox="1">
            <a:spLocks noChangeArrowheads="1"/>
          </p:cNvSpPr>
          <p:nvPr/>
        </p:nvSpPr>
        <p:spPr bwMode="auto">
          <a:xfrm>
            <a:off x="4546600" y="2901950"/>
            <a:ext cx="330200" cy="1282700"/>
          </a:xfrm>
          <a:prstGeom prst="rect">
            <a:avLst/>
          </a:prstGeom>
          <a:noFill/>
          <a:ln w="9525">
            <a:noFill/>
            <a:miter lim="800000"/>
            <a:headEnd/>
            <a:tailEnd/>
          </a:ln>
        </p:spPr>
        <p:txBody>
          <a:bodyPr wrap="none">
            <a:spAutoFit/>
          </a:bodyPr>
          <a:lstStyle/>
          <a:p>
            <a:r>
              <a:rPr lang="en-US" sz="2600" i="1">
                <a:solidFill>
                  <a:srgbClr val="000000"/>
                </a:solidFill>
                <a:sym typeface="Symbol" pitchFamily="18" charset="2"/>
              </a:rPr>
              <a:t>x</a:t>
            </a:r>
            <a:endParaRPr lang="en-US" sz="2600" i="1">
              <a:solidFill>
                <a:srgbClr val="000000"/>
              </a:solidFill>
            </a:endParaRPr>
          </a:p>
          <a:p>
            <a:r>
              <a:rPr lang="en-US" sz="2600" i="1">
                <a:solidFill>
                  <a:srgbClr val="000000"/>
                </a:solidFill>
              </a:rPr>
              <a:t>y</a:t>
            </a:r>
            <a:endParaRPr lang="en-US" sz="2600" i="1" baseline="-25000">
              <a:solidFill>
                <a:srgbClr val="000000"/>
              </a:solidFill>
            </a:endParaRPr>
          </a:p>
          <a:p>
            <a:r>
              <a:rPr lang="en-US" sz="2600" i="1">
                <a:solidFill>
                  <a:srgbClr val="000000"/>
                </a:solidFill>
              </a:rPr>
              <a:t>z</a:t>
            </a:r>
            <a:endParaRPr lang="en-US" sz="2600" i="1" baseline="-25000">
              <a:solidFill>
                <a:srgbClr val="000000"/>
              </a:solidFill>
            </a:endParaRPr>
          </a:p>
        </p:txBody>
      </p:sp>
      <p:sp>
        <p:nvSpPr>
          <p:cNvPr id="31758" name="Line 15"/>
          <p:cNvSpPr>
            <a:spLocks noChangeShapeType="1"/>
          </p:cNvSpPr>
          <p:nvPr/>
        </p:nvSpPr>
        <p:spPr bwMode="auto">
          <a:xfrm flipH="1">
            <a:off x="4419600" y="2954338"/>
            <a:ext cx="152400" cy="0"/>
          </a:xfrm>
          <a:prstGeom prst="line">
            <a:avLst/>
          </a:prstGeom>
          <a:noFill/>
          <a:ln w="9525">
            <a:solidFill>
              <a:srgbClr val="000000"/>
            </a:solidFill>
            <a:round/>
            <a:headEnd/>
            <a:tailEnd/>
          </a:ln>
        </p:spPr>
        <p:txBody>
          <a:bodyPr wrap="none"/>
          <a:lstStyle/>
          <a:p>
            <a:endParaRPr lang="en-US"/>
          </a:p>
        </p:txBody>
      </p:sp>
      <p:sp>
        <p:nvSpPr>
          <p:cNvPr id="31759" name="Line 16"/>
          <p:cNvSpPr>
            <a:spLocks noChangeShapeType="1"/>
          </p:cNvSpPr>
          <p:nvPr/>
        </p:nvSpPr>
        <p:spPr bwMode="auto">
          <a:xfrm>
            <a:off x="4419600" y="2954338"/>
            <a:ext cx="0" cy="1219200"/>
          </a:xfrm>
          <a:prstGeom prst="line">
            <a:avLst/>
          </a:prstGeom>
          <a:noFill/>
          <a:ln w="9525">
            <a:solidFill>
              <a:srgbClr val="000000"/>
            </a:solidFill>
            <a:round/>
            <a:headEnd/>
            <a:tailEnd/>
          </a:ln>
        </p:spPr>
        <p:txBody>
          <a:bodyPr wrap="none"/>
          <a:lstStyle/>
          <a:p>
            <a:endParaRPr lang="en-US"/>
          </a:p>
        </p:txBody>
      </p:sp>
      <p:sp>
        <p:nvSpPr>
          <p:cNvPr id="31760" name="Line 17"/>
          <p:cNvSpPr>
            <a:spLocks noChangeShapeType="1"/>
          </p:cNvSpPr>
          <p:nvPr/>
        </p:nvSpPr>
        <p:spPr bwMode="auto">
          <a:xfrm flipH="1">
            <a:off x="4419600" y="4154488"/>
            <a:ext cx="152400" cy="0"/>
          </a:xfrm>
          <a:prstGeom prst="line">
            <a:avLst/>
          </a:prstGeom>
          <a:noFill/>
          <a:ln w="9525">
            <a:solidFill>
              <a:srgbClr val="000000"/>
            </a:solidFill>
            <a:round/>
            <a:headEnd/>
            <a:tailEnd/>
          </a:ln>
        </p:spPr>
        <p:txBody>
          <a:bodyPr wrap="none"/>
          <a:lstStyle/>
          <a:p>
            <a:endParaRPr lang="en-US"/>
          </a:p>
        </p:txBody>
      </p:sp>
      <p:sp>
        <p:nvSpPr>
          <p:cNvPr id="31761" name="Line 18"/>
          <p:cNvSpPr>
            <a:spLocks noChangeShapeType="1"/>
          </p:cNvSpPr>
          <p:nvPr/>
        </p:nvSpPr>
        <p:spPr bwMode="auto">
          <a:xfrm flipH="1">
            <a:off x="4876800" y="2954338"/>
            <a:ext cx="152400" cy="0"/>
          </a:xfrm>
          <a:prstGeom prst="line">
            <a:avLst/>
          </a:prstGeom>
          <a:noFill/>
          <a:ln w="9525">
            <a:solidFill>
              <a:srgbClr val="000000"/>
            </a:solidFill>
            <a:round/>
            <a:headEnd/>
            <a:tailEnd/>
          </a:ln>
        </p:spPr>
        <p:txBody>
          <a:bodyPr wrap="none"/>
          <a:lstStyle/>
          <a:p>
            <a:endParaRPr lang="en-US"/>
          </a:p>
        </p:txBody>
      </p:sp>
      <p:sp>
        <p:nvSpPr>
          <p:cNvPr id="31762" name="Line 19"/>
          <p:cNvSpPr>
            <a:spLocks noChangeShapeType="1"/>
          </p:cNvSpPr>
          <p:nvPr/>
        </p:nvSpPr>
        <p:spPr bwMode="auto">
          <a:xfrm>
            <a:off x="5029200" y="2954338"/>
            <a:ext cx="0" cy="1219200"/>
          </a:xfrm>
          <a:prstGeom prst="line">
            <a:avLst/>
          </a:prstGeom>
          <a:noFill/>
          <a:ln w="9525">
            <a:solidFill>
              <a:srgbClr val="000000"/>
            </a:solidFill>
            <a:round/>
            <a:headEnd/>
            <a:tailEnd/>
          </a:ln>
        </p:spPr>
        <p:txBody>
          <a:bodyPr wrap="none"/>
          <a:lstStyle/>
          <a:p>
            <a:endParaRPr lang="en-US"/>
          </a:p>
        </p:txBody>
      </p:sp>
      <p:sp>
        <p:nvSpPr>
          <p:cNvPr id="31763" name="Line 20"/>
          <p:cNvSpPr>
            <a:spLocks noChangeShapeType="1"/>
          </p:cNvSpPr>
          <p:nvPr/>
        </p:nvSpPr>
        <p:spPr bwMode="auto">
          <a:xfrm flipH="1">
            <a:off x="4876800" y="4173538"/>
            <a:ext cx="152400" cy="0"/>
          </a:xfrm>
          <a:prstGeom prst="line">
            <a:avLst/>
          </a:prstGeom>
          <a:noFill/>
          <a:ln w="9525">
            <a:solidFill>
              <a:srgbClr val="000000"/>
            </a:solidFill>
            <a:round/>
            <a:headEnd/>
            <a:tailEnd/>
          </a:ln>
        </p:spPr>
        <p:txBody>
          <a:bodyPr wrap="none"/>
          <a:lstStyle/>
          <a:p>
            <a:endParaRPr lang="en-US"/>
          </a:p>
        </p:txBody>
      </p:sp>
      <p:sp>
        <p:nvSpPr>
          <p:cNvPr id="31764" name="Text Box 21"/>
          <p:cNvSpPr txBox="1">
            <a:spLocks noChangeArrowheads="1"/>
          </p:cNvSpPr>
          <p:nvPr/>
        </p:nvSpPr>
        <p:spPr bwMode="auto">
          <a:xfrm>
            <a:off x="2574925" y="3702050"/>
            <a:ext cx="698500" cy="641350"/>
          </a:xfrm>
          <a:prstGeom prst="rect">
            <a:avLst/>
          </a:prstGeom>
          <a:noFill/>
          <a:ln w="9525">
            <a:noFill/>
            <a:miter lim="800000"/>
            <a:headEnd/>
            <a:tailEnd/>
          </a:ln>
        </p:spPr>
        <p:txBody>
          <a:bodyPr wrap="none">
            <a:spAutoFit/>
          </a:bodyPr>
          <a:lstStyle/>
          <a:p>
            <a:r>
              <a:rPr lang="en-US" sz="1800"/>
              <a:t>earth </a:t>
            </a:r>
          </a:p>
          <a:p>
            <a:r>
              <a:rPr lang="en-US" sz="1800"/>
              <a:t>fixed</a:t>
            </a:r>
          </a:p>
        </p:txBody>
      </p:sp>
      <p:sp>
        <p:nvSpPr>
          <p:cNvPr id="31765" name="Text Box 22"/>
          <p:cNvSpPr txBox="1">
            <a:spLocks noChangeArrowheads="1"/>
          </p:cNvSpPr>
          <p:nvPr/>
        </p:nvSpPr>
        <p:spPr bwMode="auto">
          <a:xfrm>
            <a:off x="5092700" y="3702050"/>
            <a:ext cx="698500" cy="641350"/>
          </a:xfrm>
          <a:prstGeom prst="rect">
            <a:avLst/>
          </a:prstGeom>
          <a:noFill/>
          <a:ln w="9525">
            <a:noFill/>
            <a:miter lim="800000"/>
            <a:headEnd/>
            <a:tailEnd/>
          </a:ln>
        </p:spPr>
        <p:txBody>
          <a:bodyPr wrap="none">
            <a:spAutoFit/>
          </a:bodyPr>
          <a:lstStyle/>
          <a:p>
            <a:r>
              <a:rPr lang="en-US" sz="1800"/>
              <a:t>body </a:t>
            </a:r>
          </a:p>
          <a:p>
            <a:r>
              <a:rPr lang="en-US" sz="1800"/>
              <a:t>fixed</a:t>
            </a:r>
          </a:p>
        </p:txBody>
      </p:sp>
      <p:sp>
        <p:nvSpPr>
          <p:cNvPr id="31766" name="Text Box 23"/>
          <p:cNvSpPr txBox="1">
            <a:spLocks noChangeArrowheads="1"/>
          </p:cNvSpPr>
          <p:nvPr/>
        </p:nvSpPr>
        <p:spPr bwMode="auto">
          <a:xfrm>
            <a:off x="5699125" y="3063875"/>
            <a:ext cx="2276475" cy="885825"/>
          </a:xfrm>
          <a:prstGeom prst="rect">
            <a:avLst/>
          </a:prstGeom>
          <a:noFill/>
          <a:ln w="9525">
            <a:noFill/>
            <a:miter lim="800000"/>
            <a:headEnd/>
            <a:tailEnd/>
          </a:ln>
        </p:spPr>
        <p:txBody>
          <a:bodyPr wrap="none">
            <a:spAutoFit/>
          </a:bodyPr>
          <a:lstStyle/>
          <a:p>
            <a:r>
              <a:rPr lang="en-US" sz="2600">
                <a:solidFill>
                  <a:srgbClr val="000000"/>
                </a:solidFill>
              </a:rPr>
              <a:t>+  displacement</a:t>
            </a:r>
          </a:p>
          <a:p>
            <a:r>
              <a:rPr lang="en-US" sz="2600">
                <a:solidFill>
                  <a:srgbClr val="000000"/>
                </a:solidFill>
              </a:rPr>
              <a:t>     vector</a:t>
            </a:r>
          </a:p>
        </p:txBody>
      </p:sp>
      <p:sp>
        <p:nvSpPr>
          <p:cNvPr id="31767" name="AutoShape 24"/>
          <p:cNvSpPr>
            <a:spLocks/>
          </p:cNvSpPr>
          <p:nvPr/>
        </p:nvSpPr>
        <p:spPr bwMode="auto">
          <a:xfrm>
            <a:off x="6019800" y="2971800"/>
            <a:ext cx="76200" cy="990600"/>
          </a:xfrm>
          <a:prstGeom prst="leftBracket">
            <a:avLst>
              <a:gd name="adj" fmla="val 108333"/>
            </a:avLst>
          </a:prstGeom>
          <a:noFill/>
          <a:ln w="9525">
            <a:solidFill>
              <a:srgbClr val="000000"/>
            </a:solidFill>
            <a:round/>
            <a:headEnd/>
            <a:tailEnd/>
          </a:ln>
        </p:spPr>
        <p:txBody>
          <a:bodyPr wrap="none" anchor="ctr"/>
          <a:lstStyle/>
          <a:p>
            <a:endParaRPr lang="en-US"/>
          </a:p>
        </p:txBody>
      </p:sp>
      <p:sp>
        <p:nvSpPr>
          <p:cNvPr id="31768" name="AutoShape 25"/>
          <p:cNvSpPr>
            <a:spLocks/>
          </p:cNvSpPr>
          <p:nvPr/>
        </p:nvSpPr>
        <p:spPr bwMode="auto">
          <a:xfrm rot="10800000">
            <a:off x="7848600" y="2971800"/>
            <a:ext cx="76200" cy="990600"/>
          </a:xfrm>
          <a:prstGeom prst="leftBracket">
            <a:avLst>
              <a:gd name="adj" fmla="val 108333"/>
            </a:avLst>
          </a:prstGeom>
          <a:noFill/>
          <a:ln w="9525">
            <a:solidFill>
              <a:srgbClr val="000000"/>
            </a:solidFill>
            <a:round/>
            <a:headEnd/>
            <a:tailEnd/>
          </a:ln>
        </p:spPr>
        <p:txBody>
          <a:bodyPr wrap="none" anchor="ctr"/>
          <a:lstStyle/>
          <a:p>
            <a:endParaRPr lang="en-US"/>
          </a:p>
        </p:txBody>
      </p:sp>
      <p:sp>
        <p:nvSpPr>
          <p:cNvPr id="31769" name="Text Box 26"/>
          <p:cNvSpPr txBox="1">
            <a:spLocks noChangeArrowheads="1"/>
          </p:cNvSpPr>
          <p:nvPr/>
        </p:nvSpPr>
        <p:spPr bwMode="auto">
          <a:xfrm>
            <a:off x="7912100" y="3625850"/>
            <a:ext cx="698500" cy="641350"/>
          </a:xfrm>
          <a:prstGeom prst="rect">
            <a:avLst/>
          </a:prstGeom>
          <a:noFill/>
          <a:ln w="9525">
            <a:noFill/>
            <a:miter lim="800000"/>
            <a:headEnd/>
            <a:tailEnd/>
          </a:ln>
        </p:spPr>
        <p:txBody>
          <a:bodyPr wrap="none">
            <a:spAutoFit/>
          </a:bodyPr>
          <a:lstStyle/>
          <a:p>
            <a:r>
              <a:rPr lang="en-US" sz="1800"/>
              <a:t>earth </a:t>
            </a:r>
          </a:p>
          <a:p>
            <a:r>
              <a:rPr lang="en-US" sz="1800"/>
              <a:t>fixed</a:t>
            </a:r>
          </a:p>
        </p:txBody>
      </p:sp>
      <p:sp>
        <p:nvSpPr>
          <p:cNvPr id="31770" name="Text Box 28"/>
          <p:cNvSpPr txBox="1">
            <a:spLocks noChangeArrowheads="1"/>
          </p:cNvSpPr>
          <p:nvPr/>
        </p:nvSpPr>
        <p:spPr bwMode="auto">
          <a:xfrm>
            <a:off x="1446213" y="3041650"/>
            <a:ext cx="260350" cy="457200"/>
          </a:xfrm>
          <a:prstGeom prst="rect">
            <a:avLst/>
          </a:prstGeom>
          <a:noFill/>
          <a:ln w="9525">
            <a:noFill/>
            <a:miter lim="800000"/>
            <a:headEnd/>
            <a:tailEnd/>
          </a:ln>
        </p:spPr>
        <p:txBody>
          <a:bodyPr wrap="none">
            <a:spAutoFit/>
          </a:bodyPr>
          <a:lstStyle/>
          <a:p>
            <a:r>
              <a:rPr lang="en-US"/>
              <a: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a:t>Summary</a:t>
            </a:r>
          </a:p>
        </p:txBody>
      </p:sp>
      <p:sp>
        <p:nvSpPr>
          <p:cNvPr id="32771" name="Content Placeholder 2"/>
          <p:cNvSpPr>
            <a:spLocks noGrp="1"/>
          </p:cNvSpPr>
          <p:nvPr>
            <p:ph idx="1"/>
          </p:nvPr>
        </p:nvSpPr>
        <p:spPr/>
        <p:txBody>
          <a:bodyPr/>
          <a:lstStyle/>
          <a:p>
            <a:r>
              <a:rPr lang="en-US"/>
              <a:t>The transformations are:</a:t>
            </a:r>
          </a:p>
          <a:p>
            <a:endParaRPr lang="en-US"/>
          </a:p>
          <a:p>
            <a:endParaRPr lang="en-US"/>
          </a:p>
          <a:p>
            <a:endParaRPr lang="en-US"/>
          </a:p>
          <a:p>
            <a:pPr>
              <a:buFont typeface="Arial" charset="0"/>
              <a:buNone/>
            </a:pPr>
            <a:r>
              <a:rPr lang="en-US"/>
              <a:t>	Where C is cosine, and S is sine.</a:t>
            </a:r>
          </a:p>
          <a:p>
            <a:pPr>
              <a:buFont typeface="Arial" charset="0"/>
              <a:buNone/>
            </a:pPr>
            <a:r>
              <a:rPr lang="en-US"/>
              <a:t>Typically, we use velocity transformations, not positions. (Why?)</a:t>
            </a:r>
          </a:p>
        </p:txBody>
      </p:sp>
      <p:graphicFrame>
        <p:nvGraphicFramePr>
          <p:cNvPr id="32772" name="Object 3"/>
          <p:cNvGraphicFramePr>
            <a:graphicFrameLocks noChangeAspect="1"/>
          </p:cNvGraphicFramePr>
          <p:nvPr/>
        </p:nvGraphicFramePr>
        <p:xfrm>
          <a:off x="228600" y="2133600"/>
          <a:ext cx="8758238" cy="1587500"/>
        </p:xfrm>
        <a:graphic>
          <a:graphicData uri="http://schemas.openxmlformats.org/presentationml/2006/ole">
            <mc:AlternateContent xmlns:mc="http://schemas.openxmlformats.org/markup-compatibility/2006">
              <mc:Choice xmlns:v="urn:schemas-microsoft-com:vml" Requires="v">
                <p:oleObj name="Equation" r:id="rId3" imgW="4064000" imgH="736600" progId="Equation.DSMT4">
                  <p:embed/>
                </p:oleObj>
              </mc:Choice>
              <mc:Fallback>
                <p:oleObj name="Equation" r:id="rId3" imgW="4064000" imgH="7366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2133600"/>
                        <a:ext cx="8758238" cy="158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773" name="TextBox 4"/>
          <p:cNvSpPr txBox="1">
            <a:spLocks noChangeArrowheads="1"/>
          </p:cNvSpPr>
          <p:nvPr/>
        </p:nvSpPr>
        <p:spPr bwMode="auto">
          <a:xfrm>
            <a:off x="838200" y="5864225"/>
            <a:ext cx="4476750" cy="307975"/>
          </a:xfrm>
          <a:prstGeom prst="rect">
            <a:avLst/>
          </a:prstGeom>
          <a:noFill/>
          <a:ln w="9525">
            <a:noFill/>
            <a:miter lim="800000"/>
            <a:headEnd/>
            <a:tailEnd/>
          </a:ln>
        </p:spPr>
        <p:txBody>
          <a:bodyPr wrap="none">
            <a:spAutoFit/>
          </a:bodyPr>
          <a:lstStyle/>
          <a:p>
            <a:r>
              <a:rPr lang="en-US" sz="1400"/>
              <a:t>See </a:t>
            </a:r>
            <a:r>
              <a:rPr lang="en-US" sz="1400">
                <a:hlinkClick r:id="rId5"/>
              </a:rPr>
              <a:t>http://en.wikipedia.org/wiki/Euler_angles</a:t>
            </a:r>
            <a:r>
              <a:rPr lang="en-US" sz="1400"/>
              <a:t> for more info</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algn="l" eaLnBrk="1" hangingPunct="1"/>
            <a:r>
              <a:rPr lang="en-US"/>
              <a:t>Coordinate transformation from global to body?</a:t>
            </a:r>
          </a:p>
        </p:txBody>
      </p:sp>
      <p:sp>
        <p:nvSpPr>
          <p:cNvPr id="35843" name="Rectangle 3"/>
          <p:cNvSpPr>
            <a:spLocks noGrp="1" noChangeArrowheads="1"/>
          </p:cNvSpPr>
          <p:nvPr>
            <p:ph type="body" idx="1"/>
          </p:nvPr>
        </p:nvSpPr>
        <p:spPr/>
        <p:txBody>
          <a:bodyPr/>
          <a:lstStyle/>
          <a:p>
            <a:pPr eaLnBrk="1" hangingPunct="1"/>
            <a:r>
              <a:rPr lang="en-US"/>
              <a:t>The process can be reversed and the position in body fixed coordinates can be found relative to earth fixed coordinates.</a:t>
            </a:r>
          </a:p>
        </p:txBody>
      </p:sp>
      <p:sp>
        <p:nvSpPr>
          <p:cNvPr id="35844" name="Text Box 4"/>
          <p:cNvSpPr txBox="1">
            <a:spLocks noChangeArrowheads="1"/>
          </p:cNvSpPr>
          <p:nvPr/>
        </p:nvSpPr>
        <p:spPr bwMode="auto">
          <a:xfrm>
            <a:off x="2095500" y="3971925"/>
            <a:ext cx="330200" cy="1282700"/>
          </a:xfrm>
          <a:prstGeom prst="rect">
            <a:avLst/>
          </a:prstGeom>
          <a:noFill/>
          <a:ln w="9525">
            <a:noFill/>
            <a:miter lim="800000"/>
            <a:headEnd/>
            <a:tailEnd/>
          </a:ln>
        </p:spPr>
        <p:txBody>
          <a:bodyPr wrap="none">
            <a:spAutoFit/>
          </a:bodyPr>
          <a:lstStyle/>
          <a:p>
            <a:r>
              <a:rPr lang="en-US" sz="2600" i="1">
                <a:solidFill>
                  <a:srgbClr val="000000"/>
                </a:solidFill>
              </a:rPr>
              <a:t>x</a:t>
            </a:r>
          </a:p>
          <a:p>
            <a:r>
              <a:rPr lang="en-US" sz="2600" i="1">
                <a:solidFill>
                  <a:srgbClr val="000000"/>
                </a:solidFill>
              </a:rPr>
              <a:t>y</a:t>
            </a:r>
            <a:endParaRPr lang="en-US" sz="2600" i="1" baseline="-25000">
              <a:solidFill>
                <a:srgbClr val="000000"/>
              </a:solidFill>
            </a:endParaRPr>
          </a:p>
          <a:p>
            <a:r>
              <a:rPr lang="en-US" sz="2600" i="1">
                <a:solidFill>
                  <a:srgbClr val="000000"/>
                </a:solidFill>
              </a:rPr>
              <a:t>z</a:t>
            </a:r>
            <a:endParaRPr lang="en-US" sz="2600" i="1" baseline="-25000">
              <a:solidFill>
                <a:srgbClr val="000000"/>
              </a:solidFill>
            </a:endParaRPr>
          </a:p>
        </p:txBody>
      </p:sp>
      <p:sp>
        <p:nvSpPr>
          <p:cNvPr id="35845" name="Line 5"/>
          <p:cNvSpPr>
            <a:spLocks noChangeShapeType="1"/>
          </p:cNvSpPr>
          <p:nvPr/>
        </p:nvSpPr>
        <p:spPr bwMode="auto">
          <a:xfrm flipH="1">
            <a:off x="1962150" y="4024313"/>
            <a:ext cx="152400" cy="0"/>
          </a:xfrm>
          <a:prstGeom prst="line">
            <a:avLst/>
          </a:prstGeom>
          <a:noFill/>
          <a:ln w="9525">
            <a:solidFill>
              <a:srgbClr val="000000"/>
            </a:solidFill>
            <a:round/>
            <a:headEnd/>
            <a:tailEnd/>
          </a:ln>
        </p:spPr>
        <p:txBody>
          <a:bodyPr wrap="none"/>
          <a:lstStyle/>
          <a:p>
            <a:endParaRPr lang="en-US"/>
          </a:p>
        </p:txBody>
      </p:sp>
      <p:sp>
        <p:nvSpPr>
          <p:cNvPr id="35846" name="Line 6"/>
          <p:cNvSpPr>
            <a:spLocks noChangeShapeType="1"/>
          </p:cNvSpPr>
          <p:nvPr/>
        </p:nvSpPr>
        <p:spPr bwMode="auto">
          <a:xfrm>
            <a:off x="1962150" y="4024313"/>
            <a:ext cx="0" cy="1219200"/>
          </a:xfrm>
          <a:prstGeom prst="line">
            <a:avLst/>
          </a:prstGeom>
          <a:noFill/>
          <a:ln w="9525">
            <a:solidFill>
              <a:srgbClr val="000000"/>
            </a:solidFill>
            <a:round/>
            <a:headEnd/>
            <a:tailEnd/>
          </a:ln>
        </p:spPr>
        <p:txBody>
          <a:bodyPr wrap="none"/>
          <a:lstStyle/>
          <a:p>
            <a:endParaRPr lang="en-US"/>
          </a:p>
        </p:txBody>
      </p:sp>
      <p:sp>
        <p:nvSpPr>
          <p:cNvPr id="35847" name="Line 7"/>
          <p:cNvSpPr>
            <a:spLocks noChangeShapeType="1"/>
          </p:cNvSpPr>
          <p:nvPr/>
        </p:nvSpPr>
        <p:spPr bwMode="auto">
          <a:xfrm flipH="1">
            <a:off x="1962150" y="5224463"/>
            <a:ext cx="152400" cy="0"/>
          </a:xfrm>
          <a:prstGeom prst="line">
            <a:avLst/>
          </a:prstGeom>
          <a:noFill/>
          <a:ln w="9525">
            <a:solidFill>
              <a:srgbClr val="000000"/>
            </a:solidFill>
            <a:round/>
            <a:headEnd/>
            <a:tailEnd/>
          </a:ln>
        </p:spPr>
        <p:txBody>
          <a:bodyPr wrap="none"/>
          <a:lstStyle/>
          <a:p>
            <a:endParaRPr lang="en-US"/>
          </a:p>
        </p:txBody>
      </p:sp>
      <p:sp>
        <p:nvSpPr>
          <p:cNvPr id="35848" name="Line 8"/>
          <p:cNvSpPr>
            <a:spLocks noChangeShapeType="1"/>
          </p:cNvSpPr>
          <p:nvPr/>
        </p:nvSpPr>
        <p:spPr bwMode="auto">
          <a:xfrm flipH="1">
            <a:off x="2400300" y="4024313"/>
            <a:ext cx="152400" cy="0"/>
          </a:xfrm>
          <a:prstGeom prst="line">
            <a:avLst/>
          </a:prstGeom>
          <a:noFill/>
          <a:ln w="9525">
            <a:solidFill>
              <a:srgbClr val="000000"/>
            </a:solidFill>
            <a:round/>
            <a:headEnd/>
            <a:tailEnd/>
          </a:ln>
        </p:spPr>
        <p:txBody>
          <a:bodyPr wrap="none"/>
          <a:lstStyle/>
          <a:p>
            <a:endParaRPr lang="en-US"/>
          </a:p>
        </p:txBody>
      </p:sp>
      <p:sp>
        <p:nvSpPr>
          <p:cNvPr id="35849" name="Line 9"/>
          <p:cNvSpPr>
            <a:spLocks noChangeShapeType="1"/>
          </p:cNvSpPr>
          <p:nvPr/>
        </p:nvSpPr>
        <p:spPr bwMode="auto">
          <a:xfrm>
            <a:off x="2571750" y="4024313"/>
            <a:ext cx="0" cy="1219200"/>
          </a:xfrm>
          <a:prstGeom prst="line">
            <a:avLst/>
          </a:prstGeom>
          <a:noFill/>
          <a:ln w="9525">
            <a:solidFill>
              <a:srgbClr val="000000"/>
            </a:solidFill>
            <a:round/>
            <a:headEnd/>
            <a:tailEnd/>
          </a:ln>
        </p:spPr>
        <p:txBody>
          <a:bodyPr wrap="none"/>
          <a:lstStyle/>
          <a:p>
            <a:endParaRPr lang="en-US"/>
          </a:p>
        </p:txBody>
      </p:sp>
      <p:sp>
        <p:nvSpPr>
          <p:cNvPr id="35850" name="Line 10"/>
          <p:cNvSpPr>
            <a:spLocks noChangeShapeType="1"/>
          </p:cNvSpPr>
          <p:nvPr/>
        </p:nvSpPr>
        <p:spPr bwMode="auto">
          <a:xfrm flipH="1">
            <a:off x="2419350" y="5243513"/>
            <a:ext cx="152400" cy="0"/>
          </a:xfrm>
          <a:prstGeom prst="line">
            <a:avLst/>
          </a:prstGeom>
          <a:noFill/>
          <a:ln w="9525">
            <a:solidFill>
              <a:srgbClr val="000000"/>
            </a:solidFill>
            <a:round/>
            <a:headEnd/>
            <a:tailEnd/>
          </a:ln>
        </p:spPr>
        <p:txBody>
          <a:bodyPr wrap="none"/>
          <a:lstStyle/>
          <a:p>
            <a:endParaRPr lang="en-US"/>
          </a:p>
        </p:txBody>
      </p:sp>
      <p:sp>
        <p:nvSpPr>
          <p:cNvPr id="35851" name="Text Box 11"/>
          <p:cNvSpPr txBox="1">
            <a:spLocks noChangeArrowheads="1"/>
          </p:cNvSpPr>
          <p:nvPr/>
        </p:nvSpPr>
        <p:spPr bwMode="auto">
          <a:xfrm>
            <a:off x="2651125" y="4314825"/>
            <a:ext cx="355600" cy="457200"/>
          </a:xfrm>
          <a:prstGeom prst="rect">
            <a:avLst/>
          </a:prstGeom>
          <a:noFill/>
          <a:ln w="9525">
            <a:noFill/>
            <a:miter lim="800000"/>
            <a:headEnd/>
            <a:tailEnd/>
          </a:ln>
        </p:spPr>
        <p:txBody>
          <a:bodyPr wrap="none">
            <a:spAutoFit/>
          </a:bodyPr>
          <a:lstStyle/>
          <a:p>
            <a:r>
              <a:rPr lang="en-US"/>
              <a:t>=</a:t>
            </a:r>
          </a:p>
        </p:txBody>
      </p:sp>
      <p:sp>
        <p:nvSpPr>
          <p:cNvPr id="35852" name="Text Box 12"/>
          <p:cNvSpPr txBox="1">
            <a:spLocks noChangeArrowheads="1"/>
          </p:cNvSpPr>
          <p:nvPr/>
        </p:nvSpPr>
        <p:spPr bwMode="auto">
          <a:xfrm>
            <a:off x="3032125" y="4289425"/>
            <a:ext cx="1733550" cy="488950"/>
          </a:xfrm>
          <a:prstGeom prst="rect">
            <a:avLst/>
          </a:prstGeom>
          <a:noFill/>
          <a:ln w="9525">
            <a:noFill/>
            <a:miter lim="800000"/>
            <a:headEnd/>
            <a:tailEnd/>
          </a:ln>
        </p:spPr>
        <p:txBody>
          <a:bodyPr wrap="none">
            <a:spAutoFit/>
          </a:bodyPr>
          <a:lstStyle/>
          <a:p>
            <a:r>
              <a:rPr lang="en-US" sz="2600">
                <a:solidFill>
                  <a:srgbClr val="000000"/>
                </a:solidFill>
              </a:rPr>
              <a:t>(R</a:t>
            </a:r>
            <a:r>
              <a:rPr lang="en-US" sz="2600" baseline="-25000">
                <a:solidFill>
                  <a:srgbClr val="000000"/>
                </a:solidFill>
              </a:rPr>
              <a:t>1</a:t>
            </a:r>
            <a:r>
              <a:rPr lang="en-US" sz="2600">
                <a:solidFill>
                  <a:srgbClr val="000000"/>
                </a:solidFill>
              </a:rPr>
              <a:t> R</a:t>
            </a:r>
            <a:r>
              <a:rPr lang="en-US" sz="2600" baseline="-25000">
                <a:solidFill>
                  <a:srgbClr val="000000"/>
                </a:solidFill>
              </a:rPr>
              <a:t>2</a:t>
            </a:r>
            <a:r>
              <a:rPr lang="en-US" sz="2600">
                <a:solidFill>
                  <a:srgbClr val="000000"/>
                </a:solidFill>
              </a:rPr>
              <a:t> R</a:t>
            </a:r>
            <a:r>
              <a:rPr lang="en-US" sz="2600" baseline="-25000">
                <a:solidFill>
                  <a:srgbClr val="000000"/>
                </a:solidFill>
              </a:rPr>
              <a:t>3</a:t>
            </a:r>
            <a:r>
              <a:rPr lang="en-US" sz="2600">
                <a:solidFill>
                  <a:srgbClr val="000000"/>
                </a:solidFill>
              </a:rPr>
              <a:t>)</a:t>
            </a:r>
            <a:r>
              <a:rPr lang="en-US" sz="2600" baseline="30000">
                <a:solidFill>
                  <a:srgbClr val="000000"/>
                </a:solidFill>
              </a:rPr>
              <a:t>-1</a:t>
            </a:r>
          </a:p>
        </p:txBody>
      </p:sp>
      <p:sp>
        <p:nvSpPr>
          <p:cNvPr id="35853" name="Text Box 13"/>
          <p:cNvSpPr txBox="1">
            <a:spLocks noChangeArrowheads="1"/>
          </p:cNvSpPr>
          <p:nvPr/>
        </p:nvSpPr>
        <p:spPr bwMode="auto">
          <a:xfrm>
            <a:off x="4857750" y="3968750"/>
            <a:ext cx="422275" cy="1282700"/>
          </a:xfrm>
          <a:prstGeom prst="rect">
            <a:avLst/>
          </a:prstGeom>
          <a:noFill/>
          <a:ln w="9525">
            <a:noFill/>
            <a:miter lim="800000"/>
            <a:headEnd/>
            <a:tailEnd/>
          </a:ln>
        </p:spPr>
        <p:txBody>
          <a:bodyPr wrap="none">
            <a:spAutoFit/>
          </a:bodyPr>
          <a:lstStyle/>
          <a:p>
            <a:r>
              <a:rPr lang="en-US" sz="2600">
                <a:solidFill>
                  <a:srgbClr val="000000"/>
                </a:solidFill>
                <a:sym typeface="Symbol" pitchFamily="18" charset="2"/>
              </a:rPr>
              <a:t>X</a:t>
            </a:r>
            <a:endParaRPr lang="en-US" sz="2600" baseline="-25000">
              <a:solidFill>
                <a:srgbClr val="000000"/>
              </a:solidFill>
            </a:endParaRPr>
          </a:p>
          <a:p>
            <a:r>
              <a:rPr lang="en-US" sz="2600">
                <a:solidFill>
                  <a:srgbClr val="000000"/>
                </a:solidFill>
              </a:rPr>
              <a:t>Y</a:t>
            </a:r>
            <a:endParaRPr lang="en-US" sz="2600" baseline="-25000">
              <a:solidFill>
                <a:srgbClr val="000000"/>
              </a:solidFill>
            </a:endParaRPr>
          </a:p>
          <a:p>
            <a:r>
              <a:rPr lang="en-US" sz="2600">
                <a:solidFill>
                  <a:srgbClr val="000000"/>
                </a:solidFill>
              </a:rPr>
              <a:t>Z</a:t>
            </a:r>
            <a:endParaRPr lang="en-US" sz="2600" baseline="-25000">
              <a:solidFill>
                <a:srgbClr val="000000"/>
              </a:solidFill>
            </a:endParaRPr>
          </a:p>
        </p:txBody>
      </p:sp>
      <p:sp>
        <p:nvSpPr>
          <p:cNvPr id="35854" name="Line 14"/>
          <p:cNvSpPr>
            <a:spLocks noChangeShapeType="1"/>
          </p:cNvSpPr>
          <p:nvPr/>
        </p:nvSpPr>
        <p:spPr bwMode="auto">
          <a:xfrm flipH="1">
            <a:off x="4724400" y="4021138"/>
            <a:ext cx="152400" cy="0"/>
          </a:xfrm>
          <a:prstGeom prst="line">
            <a:avLst/>
          </a:prstGeom>
          <a:noFill/>
          <a:ln w="9525">
            <a:solidFill>
              <a:srgbClr val="000000"/>
            </a:solidFill>
            <a:round/>
            <a:headEnd/>
            <a:tailEnd/>
          </a:ln>
        </p:spPr>
        <p:txBody>
          <a:bodyPr wrap="none"/>
          <a:lstStyle/>
          <a:p>
            <a:endParaRPr lang="en-US"/>
          </a:p>
        </p:txBody>
      </p:sp>
      <p:sp>
        <p:nvSpPr>
          <p:cNvPr id="35855" name="Line 15"/>
          <p:cNvSpPr>
            <a:spLocks noChangeShapeType="1"/>
          </p:cNvSpPr>
          <p:nvPr/>
        </p:nvSpPr>
        <p:spPr bwMode="auto">
          <a:xfrm>
            <a:off x="4724400" y="4021138"/>
            <a:ext cx="0" cy="1219200"/>
          </a:xfrm>
          <a:prstGeom prst="line">
            <a:avLst/>
          </a:prstGeom>
          <a:noFill/>
          <a:ln w="9525">
            <a:solidFill>
              <a:srgbClr val="000000"/>
            </a:solidFill>
            <a:round/>
            <a:headEnd/>
            <a:tailEnd/>
          </a:ln>
        </p:spPr>
        <p:txBody>
          <a:bodyPr wrap="none"/>
          <a:lstStyle/>
          <a:p>
            <a:endParaRPr lang="en-US"/>
          </a:p>
        </p:txBody>
      </p:sp>
      <p:sp>
        <p:nvSpPr>
          <p:cNvPr id="35856" name="Line 16"/>
          <p:cNvSpPr>
            <a:spLocks noChangeShapeType="1"/>
          </p:cNvSpPr>
          <p:nvPr/>
        </p:nvSpPr>
        <p:spPr bwMode="auto">
          <a:xfrm flipH="1">
            <a:off x="4724400" y="5221288"/>
            <a:ext cx="152400" cy="0"/>
          </a:xfrm>
          <a:prstGeom prst="line">
            <a:avLst/>
          </a:prstGeom>
          <a:noFill/>
          <a:ln w="9525">
            <a:solidFill>
              <a:srgbClr val="000000"/>
            </a:solidFill>
            <a:round/>
            <a:headEnd/>
            <a:tailEnd/>
          </a:ln>
        </p:spPr>
        <p:txBody>
          <a:bodyPr wrap="none"/>
          <a:lstStyle/>
          <a:p>
            <a:endParaRPr lang="en-US"/>
          </a:p>
        </p:txBody>
      </p:sp>
      <p:sp>
        <p:nvSpPr>
          <p:cNvPr id="35857" name="Line 17"/>
          <p:cNvSpPr>
            <a:spLocks noChangeShapeType="1"/>
          </p:cNvSpPr>
          <p:nvPr/>
        </p:nvSpPr>
        <p:spPr bwMode="auto">
          <a:xfrm flipH="1">
            <a:off x="5162550" y="4021138"/>
            <a:ext cx="152400" cy="0"/>
          </a:xfrm>
          <a:prstGeom prst="line">
            <a:avLst/>
          </a:prstGeom>
          <a:noFill/>
          <a:ln w="9525">
            <a:solidFill>
              <a:srgbClr val="000000"/>
            </a:solidFill>
            <a:round/>
            <a:headEnd/>
            <a:tailEnd/>
          </a:ln>
        </p:spPr>
        <p:txBody>
          <a:bodyPr wrap="none"/>
          <a:lstStyle/>
          <a:p>
            <a:endParaRPr lang="en-US"/>
          </a:p>
        </p:txBody>
      </p:sp>
      <p:sp>
        <p:nvSpPr>
          <p:cNvPr id="35858" name="Line 18"/>
          <p:cNvSpPr>
            <a:spLocks noChangeShapeType="1"/>
          </p:cNvSpPr>
          <p:nvPr/>
        </p:nvSpPr>
        <p:spPr bwMode="auto">
          <a:xfrm>
            <a:off x="5334000" y="4021138"/>
            <a:ext cx="0" cy="1219200"/>
          </a:xfrm>
          <a:prstGeom prst="line">
            <a:avLst/>
          </a:prstGeom>
          <a:noFill/>
          <a:ln w="9525">
            <a:solidFill>
              <a:srgbClr val="000000"/>
            </a:solidFill>
            <a:round/>
            <a:headEnd/>
            <a:tailEnd/>
          </a:ln>
        </p:spPr>
        <p:txBody>
          <a:bodyPr wrap="none"/>
          <a:lstStyle/>
          <a:p>
            <a:endParaRPr lang="en-US"/>
          </a:p>
        </p:txBody>
      </p:sp>
      <p:sp>
        <p:nvSpPr>
          <p:cNvPr id="35859" name="Line 19"/>
          <p:cNvSpPr>
            <a:spLocks noChangeShapeType="1"/>
          </p:cNvSpPr>
          <p:nvPr/>
        </p:nvSpPr>
        <p:spPr bwMode="auto">
          <a:xfrm flipH="1">
            <a:off x="5181600" y="5240338"/>
            <a:ext cx="152400" cy="0"/>
          </a:xfrm>
          <a:prstGeom prst="line">
            <a:avLst/>
          </a:prstGeom>
          <a:noFill/>
          <a:ln w="9525">
            <a:solidFill>
              <a:srgbClr val="000000"/>
            </a:solidFill>
            <a:round/>
            <a:headEnd/>
            <a:tailEnd/>
          </a:ln>
        </p:spPr>
        <p:txBody>
          <a:bodyPr wrap="none"/>
          <a:lstStyle/>
          <a:p>
            <a:endParaRPr lang="en-US"/>
          </a:p>
        </p:txBody>
      </p:sp>
      <p:sp>
        <p:nvSpPr>
          <p:cNvPr id="35860" name="Text Box 20"/>
          <p:cNvSpPr txBox="1">
            <a:spLocks noChangeArrowheads="1"/>
          </p:cNvSpPr>
          <p:nvPr/>
        </p:nvSpPr>
        <p:spPr bwMode="auto">
          <a:xfrm>
            <a:off x="2574925" y="4768850"/>
            <a:ext cx="654050" cy="641350"/>
          </a:xfrm>
          <a:prstGeom prst="rect">
            <a:avLst/>
          </a:prstGeom>
          <a:noFill/>
          <a:ln w="9525">
            <a:noFill/>
            <a:miter lim="800000"/>
            <a:headEnd/>
            <a:tailEnd/>
          </a:ln>
        </p:spPr>
        <p:txBody>
          <a:bodyPr wrap="none">
            <a:spAutoFit/>
          </a:bodyPr>
          <a:lstStyle/>
          <a:p>
            <a:r>
              <a:rPr lang="en-US" sz="1800"/>
              <a:t>body</a:t>
            </a:r>
          </a:p>
          <a:p>
            <a:r>
              <a:rPr lang="en-US" sz="1800"/>
              <a:t>fixed</a:t>
            </a:r>
          </a:p>
        </p:txBody>
      </p:sp>
      <p:sp>
        <p:nvSpPr>
          <p:cNvPr id="35861" name="Text Box 21"/>
          <p:cNvSpPr txBox="1">
            <a:spLocks noChangeArrowheads="1"/>
          </p:cNvSpPr>
          <p:nvPr/>
        </p:nvSpPr>
        <p:spPr bwMode="auto">
          <a:xfrm>
            <a:off x="5397500" y="4768850"/>
            <a:ext cx="654050" cy="641350"/>
          </a:xfrm>
          <a:prstGeom prst="rect">
            <a:avLst/>
          </a:prstGeom>
          <a:noFill/>
          <a:ln w="9525">
            <a:noFill/>
            <a:miter lim="800000"/>
            <a:headEnd/>
            <a:tailEnd/>
          </a:ln>
        </p:spPr>
        <p:txBody>
          <a:bodyPr wrap="none">
            <a:spAutoFit/>
          </a:bodyPr>
          <a:lstStyle/>
          <a:p>
            <a:r>
              <a:rPr lang="en-US" sz="1800"/>
              <a:t>earth</a:t>
            </a:r>
          </a:p>
          <a:p>
            <a:r>
              <a:rPr lang="en-US" sz="1800"/>
              <a:t>fixed</a:t>
            </a:r>
          </a:p>
        </p:txBody>
      </p:sp>
      <p:sp>
        <p:nvSpPr>
          <p:cNvPr id="35862" name="Text Box 23"/>
          <p:cNvSpPr txBox="1">
            <a:spLocks noChangeArrowheads="1"/>
          </p:cNvSpPr>
          <p:nvPr/>
        </p:nvSpPr>
        <p:spPr bwMode="auto">
          <a:xfrm>
            <a:off x="5927725" y="4130675"/>
            <a:ext cx="441325" cy="488950"/>
          </a:xfrm>
          <a:prstGeom prst="rect">
            <a:avLst/>
          </a:prstGeom>
          <a:noFill/>
          <a:ln w="9525">
            <a:noFill/>
            <a:miter lim="800000"/>
            <a:headEnd/>
            <a:tailEnd/>
          </a:ln>
        </p:spPr>
        <p:txBody>
          <a:bodyPr wrap="none">
            <a:spAutoFit/>
          </a:bodyPr>
          <a:lstStyle/>
          <a:p>
            <a:r>
              <a:rPr lang="en-US" sz="2600">
                <a:solidFill>
                  <a:srgbClr val="000000"/>
                </a:solidFill>
              </a:rPr>
              <a:t>;  </a:t>
            </a:r>
          </a:p>
        </p:txBody>
      </p:sp>
      <p:graphicFrame>
        <p:nvGraphicFramePr>
          <p:cNvPr id="35863" name="Object 1024"/>
          <p:cNvGraphicFramePr>
            <a:graphicFrameLocks noChangeAspect="1"/>
          </p:cNvGraphicFramePr>
          <p:nvPr/>
        </p:nvGraphicFramePr>
        <p:xfrm>
          <a:off x="6216650" y="4210050"/>
          <a:ext cx="1193800" cy="454025"/>
        </p:xfrm>
        <a:graphic>
          <a:graphicData uri="http://schemas.openxmlformats.org/presentationml/2006/ole">
            <mc:AlternateContent xmlns:mc="http://schemas.openxmlformats.org/markup-compatibility/2006">
              <mc:Choice xmlns:v="urn:schemas-microsoft-com:vml" Requires="v">
                <p:oleObj name="Equation" r:id="rId3" imgW="1269449" imgH="482391" progId="Equation.3">
                  <p:embed/>
                </p:oleObj>
              </mc:Choice>
              <mc:Fallback>
                <p:oleObj name="Equation" r:id="rId3" imgW="1269449" imgH="482391" progId="Equation.3">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6650" y="4210050"/>
                        <a:ext cx="1193800" cy="454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64" name="Text Box 25"/>
          <p:cNvSpPr txBox="1">
            <a:spLocks noChangeArrowheads="1"/>
          </p:cNvSpPr>
          <p:nvPr/>
        </p:nvSpPr>
        <p:spPr bwMode="auto">
          <a:xfrm>
            <a:off x="6934200" y="4648200"/>
            <a:ext cx="1797050" cy="1190625"/>
          </a:xfrm>
          <a:prstGeom prst="rect">
            <a:avLst/>
          </a:prstGeom>
          <a:noFill/>
          <a:ln w="9525">
            <a:noFill/>
            <a:miter lim="800000"/>
            <a:headEnd/>
            <a:tailEnd/>
          </a:ln>
        </p:spPr>
        <p:txBody>
          <a:bodyPr wrap="none">
            <a:spAutoFit/>
          </a:bodyPr>
          <a:lstStyle/>
          <a:p>
            <a:r>
              <a:rPr lang="en-US" sz="1800"/>
              <a:t>since the </a:t>
            </a:r>
          </a:p>
          <a:p>
            <a:r>
              <a:rPr lang="en-US" sz="1800"/>
              <a:t>transformation is </a:t>
            </a:r>
          </a:p>
          <a:p>
            <a:r>
              <a:rPr lang="en-US" sz="1800"/>
              <a:t>orthogonal</a:t>
            </a:r>
          </a:p>
          <a:p>
            <a:endParaRPr lang="en-US" sz="18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algn="l" eaLnBrk="1" hangingPunct="1"/>
            <a:r>
              <a:rPr lang="en-US"/>
              <a:t>Body-fixed and earth-fixed, </a:t>
            </a:r>
            <a:br>
              <a:rPr lang="en-US"/>
            </a:br>
            <a:r>
              <a:rPr lang="en-US"/>
              <a:t>what’s our favorite?</a:t>
            </a:r>
          </a:p>
        </p:txBody>
      </p:sp>
      <p:sp>
        <p:nvSpPr>
          <p:cNvPr id="36867" name="Rectangle 3"/>
          <p:cNvSpPr>
            <a:spLocks noGrp="1" noChangeArrowheads="1"/>
          </p:cNvSpPr>
          <p:nvPr>
            <p:ph type="body" idx="1"/>
          </p:nvPr>
        </p:nvSpPr>
        <p:spPr/>
        <p:txBody>
          <a:bodyPr/>
          <a:lstStyle/>
          <a:p>
            <a:pPr eaLnBrk="1" hangingPunct="1"/>
            <a:r>
              <a:rPr lang="en-US" sz="2800"/>
              <a:t>Most of the work in this class will derive dynamic relationships in body-fixed coordinates.</a:t>
            </a:r>
          </a:p>
          <a:p>
            <a:pPr eaLnBrk="1" hangingPunct="1"/>
            <a:r>
              <a:rPr lang="en-US" sz="2800"/>
              <a:t>Why then should we consider earth fixed coordinates? </a:t>
            </a:r>
          </a:p>
          <a:p>
            <a:pPr marL="971550" lvl="1" indent="-514350" eaLnBrk="1" hangingPunct="1">
              <a:buFont typeface="Calibri" pitchFamily="34" charset="0"/>
              <a:buAutoNum type="arabicPeriod"/>
            </a:pPr>
            <a:r>
              <a:rPr lang="en-US" sz="2400"/>
              <a:t>Our GPS system measures in earth-fixed for our test vehicles</a:t>
            </a:r>
          </a:p>
          <a:p>
            <a:pPr marL="971550" lvl="1" indent="-514350" eaLnBrk="1" hangingPunct="1">
              <a:buFont typeface="Calibri" pitchFamily="34" charset="0"/>
              <a:buAutoNum type="arabicPeriod"/>
            </a:pPr>
            <a:r>
              <a:rPr lang="en-US" sz="2400"/>
              <a:t>Sometimes it’s easier to visualize what’s happening if we switch to earth-fixed coordinates.  Particularly if we’re not used to dealing with body-fixed coordinates.</a:t>
            </a:r>
          </a:p>
          <a:p>
            <a:pPr marL="971550" lvl="1" indent="-514350" eaLnBrk="1" hangingPunct="1">
              <a:buFont typeface="Calibri" pitchFamily="34" charset="0"/>
              <a:buAutoNum type="arabicPeriod"/>
            </a:pPr>
            <a:r>
              <a:rPr lang="en-US" sz="2400"/>
              <a:t>F=ma is often derived in (</a:t>
            </a:r>
            <a:r>
              <a:rPr lang="en-US" sz="2400" err="1"/>
              <a:t>sorta</a:t>
            </a:r>
            <a:r>
              <a:rPr lang="en-US" sz="2400"/>
              <a:t>) earth-fixed coordinates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52400" y="274638"/>
            <a:ext cx="8534400" cy="1143000"/>
          </a:xfrm>
        </p:spPr>
        <p:txBody>
          <a:bodyPr/>
          <a:lstStyle/>
          <a:p>
            <a:pPr algn="l" eaLnBrk="1" hangingPunct="1"/>
            <a:r>
              <a:rPr lang="en-US"/>
              <a:t>Example: Let’s figure how fast a car spins in yaw when driving in a circle!</a:t>
            </a:r>
          </a:p>
        </p:txBody>
      </p:sp>
      <p:pic>
        <p:nvPicPr>
          <p:cNvPr id="3" name="Picture 2"/>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71600" y="1676400"/>
            <a:ext cx="6571676" cy="4287950"/>
          </a:xfrm>
          <a:prstGeom prst="rect">
            <a:avLst/>
          </a:prstGeom>
        </p:spPr>
      </p:pic>
      <p:sp>
        <p:nvSpPr>
          <p:cNvPr id="4" name="TextBox 3"/>
          <p:cNvSpPr txBox="1"/>
          <p:nvPr/>
        </p:nvSpPr>
        <p:spPr>
          <a:xfrm>
            <a:off x="1524000" y="6013092"/>
            <a:ext cx="6814109" cy="369332"/>
          </a:xfrm>
          <a:prstGeom prst="rect">
            <a:avLst/>
          </a:prstGeom>
          <a:noFill/>
        </p:spPr>
        <p:txBody>
          <a:bodyPr wrap="none" rtlCol="0">
            <a:spAutoFit/>
          </a:bodyPr>
          <a:lstStyle/>
          <a:p>
            <a:r>
              <a:rPr lang="en-US" sz="1800">
                <a:hlinkClick r:id="rId4"/>
              </a:rPr>
              <a:t>See this in action at: https://www.youtube.com/watch?v=QcdlGjAP0xs</a:t>
            </a:r>
            <a:r>
              <a:rPr lang="en-US" sz="1800"/>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t>Example: Let’s figure how fast a car spins when driving in a circle!</a:t>
            </a:r>
          </a:p>
        </p:txBody>
      </p:sp>
      <p:sp>
        <p:nvSpPr>
          <p:cNvPr id="37891" name="Rectangle 3"/>
          <p:cNvSpPr>
            <a:spLocks noGrp="1" noChangeArrowheads="1"/>
          </p:cNvSpPr>
          <p:nvPr>
            <p:ph type="body" idx="1"/>
          </p:nvPr>
        </p:nvSpPr>
        <p:spPr/>
        <p:txBody>
          <a:bodyPr/>
          <a:lstStyle/>
          <a:p>
            <a:pPr eaLnBrk="1" hangingPunct="1"/>
            <a:r>
              <a:rPr lang="en-US"/>
              <a:t>Assume car moving with constant forward velocity around a circle.</a:t>
            </a:r>
            <a:br>
              <a:rPr lang="en-US"/>
            </a:br>
            <a:r>
              <a:rPr lang="en-US"/>
              <a:t>  </a:t>
            </a:r>
            <a:r>
              <a:rPr lang="en-US" i="1">
                <a:solidFill>
                  <a:srgbClr val="000000"/>
                </a:solidFill>
              </a:rPr>
              <a:t>U = </a:t>
            </a:r>
            <a:r>
              <a:rPr lang="en-US" i="1" err="1">
                <a:solidFill>
                  <a:srgbClr val="000000"/>
                </a:solidFill>
              </a:rPr>
              <a:t>const</a:t>
            </a:r>
            <a:r>
              <a:rPr lang="en-US" i="1">
                <a:solidFill>
                  <a:srgbClr val="000000"/>
                </a:solidFill>
              </a:rPr>
              <a:t>    V = 0    r = U/R</a:t>
            </a:r>
            <a:r>
              <a:rPr lang="en-US"/>
              <a:t> </a:t>
            </a:r>
            <a:br>
              <a:rPr lang="en-US"/>
            </a:br>
            <a:endParaRPr lang="en-US"/>
          </a:p>
          <a:p>
            <a:pPr eaLnBrk="1" hangingPunct="1"/>
            <a:r>
              <a:rPr lang="en-US"/>
              <a:t>We get this from examining the distance traveled in 1 rev. and comparing it with the time taken.</a:t>
            </a:r>
            <a:br>
              <a:rPr lang="en-US"/>
            </a:br>
            <a:r>
              <a:rPr lang="en-US"/>
              <a:t>  </a:t>
            </a:r>
            <a:r>
              <a:rPr lang="en-US" i="1">
                <a:solidFill>
                  <a:srgbClr val="000000"/>
                </a:solidFill>
              </a:rPr>
              <a:t>distance = 2</a:t>
            </a:r>
            <a:r>
              <a:rPr lang="en-US" i="1">
                <a:solidFill>
                  <a:srgbClr val="000000"/>
                </a:solidFill>
                <a:sym typeface="Symbol" pitchFamily="18" charset="2"/>
              </a:rPr>
              <a:t>R    and   time =</a:t>
            </a:r>
            <a:endParaRPr lang="en-US" i="1">
              <a:solidFill>
                <a:srgbClr val="000000"/>
              </a:solidFill>
            </a:endParaRPr>
          </a:p>
        </p:txBody>
      </p:sp>
      <p:sp>
        <p:nvSpPr>
          <p:cNvPr id="37892" name="Text Box 5"/>
          <p:cNvSpPr txBox="1">
            <a:spLocks noChangeArrowheads="1"/>
          </p:cNvSpPr>
          <p:nvPr/>
        </p:nvSpPr>
        <p:spPr bwMode="auto">
          <a:xfrm>
            <a:off x="5851525" y="5013325"/>
            <a:ext cx="2755900" cy="519113"/>
          </a:xfrm>
          <a:prstGeom prst="rect">
            <a:avLst/>
          </a:prstGeom>
          <a:noFill/>
          <a:ln w="9525">
            <a:noFill/>
            <a:miter lim="800000"/>
            <a:headEnd/>
            <a:tailEnd/>
          </a:ln>
        </p:spPr>
        <p:txBody>
          <a:bodyPr wrap="none">
            <a:spAutoFit/>
          </a:bodyPr>
          <a:lstStyle/>
          <a:p>
            <a:r>
              <a:rPr lang="en-US" sz="2800" i="1">
                <a:solidFill>
                  <a:srgbClr val="000000"/>
                </a:solidFill>
              </a:rPr>
              <a:t>distance       2</a:t>
            </a:r>
            <a:r>
              <a:rPr lang="en-US" sz="2800" i="1">
                <a:solidFill>
                  <a:srgbClr val="000000"/>
                </a:solidFill>
                <a:sym typeface="Symbol" pitchFamily="18" charset="2"/>
              </a:rPr>
              <a:t>R</a:t>
            </a:r>
            <a:r>
              <a:rPr lang="en-US" sz="2800" i="1">
                <a:solidFill>
                  <a:srgbClr val="000000"/>
                </a:solidFill>
              </a:rPr>
              <a:t>  </a:t>
            </a:r>
          </a:p>
        </p:txBody>
      </p:sp>
      <p:sp>
        <p:nvSpPr>
          <p:cNvPr id="37893" name="Line 6"/>
          <p:cNvSpPr>
            <a:spLocks noChangeShapeType="1"/>
          </p:cNvSpPr>
          <p:nvPr/>
        </p:nvSpPr>
        <p:spPr bwMode="auto">
          <a:xfrm>
            <a:off x="5943600" y="5437188"/>
            <a:ext cx="1143000" cy="0"/>
          </a:xfrm>
          <a:prstGeom prst="line">
            <a:avLst/>
          </a:prstGeom>
          <a:noFill/>
          <a:ln w="19050">
            <a:solidFill>
              <a:schemeClr val="tx1"/>
            </a:solidFill>
            <a:round/>
            <a:headEnd/>
            <a:tailEnd/>
          </a:ln>
        </p:spPr>
        <p:txBody>
          <a:bodyPr wrap="none"/>
          <a:lstStyle/>
          <a:p>
            <a:endParaRPr lang="en-US"/>
          </a:p>
        </p:txBody>
      </p:sp>
      <p:sp>
        <p:nvSpPr>
          <p:cNvPr id="37894" name="Line 8"/>
          <p:cNvSpPr>
            <a:spLocks noChangeShapeType="1"/>
          </p:cNvSpPr>
          <p:nvPr/>
        </p:nvSpPr>
        <p:spPr bwMode="auto">
          <a:xfrm>
            <a:off x="7696200" y="5437188"/>
            <a:ext cx="685800" cy="0"/>
          </a:xfrm>
          <a:prstGeom prst="line">
            <a:avLst/>
          </a:prstGeom>
          <a:noFill/>
          <a:ln w="9525">
            <a:solidFill>
              <a:schemeClr val="tx1"/>
            </a:solidFill>
            <a:round/>
            <a:headEnd/>
            <a:tailEnd/>
          </a:ln>
        </p:spPr>
        <p:txBody>
          <a:bodyPr wrap="none"/>
          <a:lstStyle/>
          <a:p>
            <a:endParaRPr lang="en-US"/>
          </a:p>
        </p:txBody>
      </p:sp>
      <p:sp>
        <p:nvSpPr>
          <p:cNvPr id="37895" name="Text Box 9"/>
          <p:cNvSpPr txBox="1">
            <a:spLocks noChangeArrowheads="1"/>
          </p:cNvSpPr>
          <p:nvPr/>
        </p:nvSpPr>
        <p:spPr bwMode="auto">
          <a:xfrm>
            <a:off x="6018213" y="5329238"/>
            <a:ext cx="2227262" cy="519112"/>
          </a:xfrm>
          <a:prstGeom prst="rect">
            <a:avLst/>
          </a:prstGeom>
          <a:noFill/>
          <a:ln w="9525">
            <a:noFill/>
            <a:miter lim="800000"/>
            <a:headEnd/>
            <a:tailEnd/>
          </a:ln>
        </p:spPr>
        <p:txBody>
          <a:bodyPr wrap="none">
            <a:spAutoFit/>
          </a:bodyPr>
          <a:lstStyle/>
          <a:p>
            <a:r>
              <a:rPr lang="en-US" sz="2800" i="1">
                <a:solidFill>
                  <a:srgbClr val="000000"/>
                </a:solidFill>
              </a:rPr>
              <a:t>speed           U</a:t>
            </a:r>
          </a:p>
        </p:txBody>
      </p:sp>
      <p:sp>
        <p:nvSpPr>
          <p:cNvPr id="37896" name="Text Box 10"/>
          <p:cNvSpPr txBox="1">
            <a:spLocks noChangeArrowheads="1"/>
          </p:cNvSpPr>
          <p:nvPr/>
        </p:nvSpPr>
        <p:spPr bwMode="auto">
          <a:xfrm>
            <a:off x="7235825" y="5146675"/>
            <a:ext cx="384175" cy="519113"/>
          </a:xfrm>
          <a:prstGeom prst="rect">
            <a:avLst/>
          </a:prstGeom>
          <a:noFill/>
          <a:ln w="9525">
            <a:noFill/>
            <a:miter lim="800000"/>
            <a:headEnd/>
            <a:tailEnd/>
          </a:ln>
        </p:spPr>
        <p:txBody>
          <a:bodyPr wrap="none">
            <a:spAutoFit/>
          </a:bodyPr>
          <a:lstStyle/>
          <a:p>
            <a:r>
              <a:rPr lang="en-US" sz="2800">
                <a:solidFill>
                  <a:srgbClr val="000000"/>
                </a:solidFill>
              </a:rPr>
              <a:t>=</a:t>
            </a:r>
          </a:p>
        </p:txBody>
      </p:sp>
      <p:sp>
        <p:nvSpPr>
          <p:cNvPr id="37897" name="Text Box 11"/>
          <p:cNvSpPr txBox="1">
            <a:spLocks noChangeArrowheads="1"/>
          </p:cNvSpPr>
          <p:nvPr/>
        </p:nvSpPr>
        <p:spPr bwMode="auto">
          <a:xfrm>
            <a:off x="5791200" y="2971800"/>
            <a:ext cx="1047750" cy="641350"/>
          </a:xfrm>
          <a:prstGeom prst="rect">
            <a:avLst/>
          </a:prstGeom>
          <a:noFill/>
          <a:ln w="9525">
            <a:noFill/>
            <a:miter lim="800000"/>
            <a:headEnd/>
            <a:tailEnd/>
          </a:ln>
        </p:spPr>
        <p:txBody>
          <a:bodyPr wrap="none">
            <a:spAutoFit/>
          </a:bodyPr>
          <a:lstStyle/>
          <a:p>
            <a:r>
              <a:rPr lang="en-US" sz="1800">
                <a:solidFill>
                  <a:srgbClr val="000000"/>
                </a:solidFill>
              </a:rPr>
              <a:t>radius of </a:t>
            </a:r>
            <a:br>
              <a:rPr lang="en-US" sz="1800">
                <a:solidFill>
                  <a:srgbClr val="000000"/>
                </a:solidFill>
              </a:rPr>
            </a:br>
            <a:r>
              <a:rPr lang="en-US" sz="1800">
                <a:solidFill>
                  <a:srgbClr val="000000"/>
                </a:solidFill>
              </a:rPr>
              <a:t>curvature</a:t>
            </a:r>
          </a:p>
        </p:txBody>
      </p:sp>
      <p:sp>
        <p:nvSpPr>
          <p:cNvPr id="37898" name="Line 12"/>
          <p:cNvSpPr>
            <a:spLocks noChangeShapeType="1"/>
          </p:cNvSpPr>
          <p:nvPr/>
        </p:nvSpPr>
        <p:spPr bwMode="auto">
          <a:xfrm flipH="1">
            <a:off x="4267200" y="2438400"/>
            <a:ext cx="533400" cy="304800"/>
          </a:xfrm>
          <a:prstGeom prst="line">
            <a:avLst/>
          </a:prstGeom>
          <a:noFill/>
          <a:ln w="9525">
            <a:solidFill>
              <a:srgbClr val="000000"/>
            </a:solidFill>
            <a:round/>
            <a:headEnd/>
            <a:tailEnd type="triangle" w="med" len="med"/>
          </a:ln>
        </p:spPr>
        <p:txBody>
          <a:bodyPr wrap="none"/>
          <a:lstStyle/>
          <a:p>
            <a:endParaRPr lang="en-US"/>
          </a:p>
        </p:txBody>
      </p:sp>
      <p:sp>
        <p:nvSpPr>
          <p:cNvPr id="37899" name="Line 13"/>
          <p:cNvSpPr>
            <a:spLocks noChangeShapeType="1"/>
          </p:cNvSpPr>
          <p:nvPr/>
        </p:nvSpPr>
        <p:spPr bwMode="auto">
          <a:xfrm flipH="1" flipV="1">
            <a:off x="5334000" y="3048000"/>
            <a:ext cx="381000" cy="304800"/>
          </a:xfrm>
          <a:prstGeom prst="line">
            <a:avLst/>
          </a:prstGeom>
          <a:noFill/>
          <a:ln w="9525">
            <a:solidFill>
              <a:schemeClr val="tx1"/>
            </a:solidFill>
            <a:round/>
            <a:headEnd/>
            <a:tailEnd type="triangle" w="med" len="med"/>
          </a:ln>
        </p:spPr>
        <p:txBody>
          <a:bodyPr wrap="none"/>
          <a:lstStyle/>
          <a:p>
            <a:endParaRPr lang="en-US"/>
          </a:p>
        </p:txBody>
      </p:sp>
      <p:sp>
        <p:nvSpPr>
          <p:cNvPr id="37900" name="Text Box 14"/>
          <p:cNvSpPr txBox="1">
            <a:spLocks noChangeArrowheads="1"/>
          </p:cNvSpPr>
          <p:nvPr/>
        </p:nvSpPr>
        <p:spPr bwMode="auto">
          <a:xfrm>
            <a:off x="4876800" y="2209800"/>
            <a:ext cx="965200" cy="366713"/>
          </a:xfrm>
          <a:prstGeom prst="rect">
            <a:avLst/>
          </a:prstGeom>
          <a:noFill/>
          <a:ln w="9525">
            <a:noFill/>
            <a:miter lim="800000"/>
            <a:headEnd/>
            <a:tailEnd/>
          </a:ln>
        </p:spPr>
        <p:txBody>
          <a:bodyPr wrap="none">
            <a:spAutoFit/>
          </a:bodyPr>
          <a:lstStyle/>
          <a:p>
            <a:r>
              <a:rPr lang="en-US" sz="1800">
                <a:solidFill>
                  <a:srgbClr val="000000"/>
                </a:solidFill>
              </a:rPr>
              <a:t>yaw rate</a:t>
            </a:r>
          </a:p>
        </p:txBody>
      </p:sp>
    </p:spTree>
    <p:extLst>
      <p:ext uri="{BB962C8B-B14F-4D97-AF65-F5344CB8AC3E}">
        <p14:creationId xmlns:p14="http://schemas.microsoft.com/office/powerpoint/2010/main" val="38962622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algn="l" eaLnBrk="1" hangingPunct="1"/>
            <a:r>
              <a:rPr lang="en-US"/>
              <a:t>The total yaw angle to go around a circle is </a:t>
            </a:r>
            <a:r>
              <a:rPr lang="en-US" i="1">
                <a:solidFill>
                  <a:srgbClr val="000000"/>
                </a:solidFill>
              </a:rPr>
              <a:t>2</a:t>
            </a:r>
            <a:r>
              <a:rPr lang="en-US" i="1">
                <a:solidFill>
                  <a:srgbClr val="000000"/>
                </a:solidFill>
                <a:sym typeface="Symbol" pitchFamily="18" charset="2"/>
              </a:rPr>
              <a:t></a:t>
            </a:r>
            <a:endParaRPr lang="en-US"/>
          </a:p>
        </p:txBody>
      </p:sp>
      <p:sp>
        <p:nvSpPr>
          <p:cNvPr id="38915" name="Rectangle 3"/>
          <p:cNvSpPr>
            <a:spLocks noGrp="1" noChangeArrowheads="1"/>
          </p:cNvSpPr>
          <p:nvPr>
            <p:ph type="body" idx="1"/>
          </p:nvPr>
        </p:nvSpPr>
        <p:spPr/>
        <p:txBody>
          <a:bodyPr/>
          <a:lstStyle/>
          <a:p>
            <a:pPr marL="0" indent="0" eaLnBrk="1" hangingPunct="1">
              <a:buNone/>
            </a:pPr>
            <a:r>
              <a:rPr lang="en-US" i="1">
                <a:solidFill>
                  <a:srgbClr val="000000"/>
                </a:solidFill>
                <a:sym typeface="Symbol" pitchFamily="18" charset="2"/>
              </a:rPr>
              <a:t>Therefore yaw rate r = </a:t>
            </a:r>
            <a:r>
              <a:rPr lang="en-US">
                <a:sym typeface="Symbol" pitchFamily="18" charset="2"/>
              </a:rPr>
              <a:t> </a:t>
            </a:r>
            <a:endParaRPr lang="en-US" i="1">
              <a:solidFill>
                <a:srgbClr val="000000"/>
              </a:solidFill>
            </a:endParaRPr>
          </a:p>
        </p:txBody>
      </p:sp>
      <p:sp>
        <p:nvSpPr>
          <p:cNvPr id="38916" name="Text Box 5"/>
          <p:cNvSpPr txBox="1">
            <a:spLocks noChangeArrowheads="1"/>
          </p:cNvSpPr>
          <p:nvPr/>
        </p:nvSpPr>
        <p:spPr bwMode="auto">
          <a:xfrm>
            <a:off x="4267200" y="1626140"/>
            <a:ext cx="3271838" cy="519113"/>
          </a:xfrm>
          <a:prstGeom prst="rect">
            <a:avLst/>
          </a:prstGeom>
          <a:noFill/>
          <a:ln w="9525">
            <a:noFill/>
            <a:miter lim="800000"/>
            <a:headEnd/>
            <a:tailEnd/>
          </a:ln>
        </p:spPr>
        <p:txBody>
          <a:bodyPr wrap="none">
            <a:spAutoFit/>
          </a:bodyPr>
          <a:lstStyle/>
          <a:p>
            <a:r>
              <a:rPr lang="en-US" sz="2800" i="1">
                <a:solidFill>
                  <a:srgbClr val="000000"/>
                </a:solidFill>
              </a:rPr>
              <a:t>angular displacement</a:t>
            </a:r>
          </a:p>
        </p:txBody>
      </p:sp>
      <p:sp>
        <p:nvSpPr>
          <p:cNvPr id="38917" name="Line 6"/>
          <p:cNvSpPr>
            <a:spLocks noChangeShapeType="1"/>
          </p:cNvSpPr>
          <p:nvPr/>
        </p:nvSpPr>
        <p:spPr bwMode="auto">
          <a:xfrm>
            <a:off x="4359275" y="2035715"/>
            <a:ext cx="2971800" cy="0"/>
          </a:xfrm>
          <a:prstGeom prst="line">
            <a:avLst/>
          </a:prstGeom>
          <a:noFill/>
          <a:ln w="9525">
            <a:solidFill>
              <a:schemeClr val="tx1"/>
            </a:solidFill>
            <a:round/>
            <a:headEnd/>
            <a:tailEnd/>
          </a:ln>
        </p:spPr>
        <p:txBody>
          <a:bodyPr wrap="none"/>
          <a:lstStyle/>
          <a:p>
            <a:endParaRPr lang="en-US"/>
          </a:p>
        </p:txBody>
      </p:sp>
      <p:sp>
        <p:nvSpPr>
          <p:cNvPr id="38918" name="Text Box 7"/>
          <p:cNvSpPr txBox="1">
            <a:spLocks noChangeArrowheads="1"/>
          </p:cNvSpPr>
          <p:nvPr/>
        </p:nvSpPr>
        <p:spPr bwMode="auto">
          <a:xfrm>
            <a:off x="5426075" y="1954753"/>
            <a:ext cx="795338" cy="519112"/>
          </a:xfrm>
          <a:prstGeom prst="rect">
            <a:avLst/>
          </a:prstGeom>
          <a:noFill/>
          <a:ln w="9525">
            <a:noFill/>
            <a:miter lim="800000"/>
            <a:headEnd/>
            <a:tailEnd/>
          </a:ln>
        </p:spPr>
        <p:txBody>
          <a:bodyPr wrap="none">
            <a:spAutoFit/>
          </a:bodyPr>
          <a:lstStyle/>
          <a:p>
            <a:r>
              <a:rPr lang="en-US" sz="2800" i="1">
                <a:solidFill>
                  <a:srgbClr val="000000"/>
                </a:solidFill>
              </a:rPr>
              <a:t>time</a:t>
            </a:r>
          </a:p>
        </p:txBody>
      </p:sp>
      <p:sp>
        <p:nvSpPr>
          <p:cNvPr id="38919" name="Text Box 8"/>
          <p:cNvSpPr txBox="1">
            <a:spLocks noChangeArrowheads="1"/>
          </p:cNvSpPr>
          <p:nvPr/>
        </p:nvSpPr>
        <p:spPr bwMode="auto">
          <a:xfrm>
            <a:off x="3298825" y="4205288"/>
            <a:ext cx="561975" cy="519112"/>
          </a:xfrm>
          <a:prstGeom prst="rect">
            <a:avLst/>
          </a:prstGeom>
          <a:noFill/>
          <a:ln w="9525">
            <a:noFill/>
            <a:miter lim="800000"/>
            <a:headEnd/>
            <a:tailEnd/>
          </a:ln>
        </p:spPr>
        <p:txBody>
          <a:bodyPr wrap="none">
            <a:spAutoFit/>
          </a:bodyPr>
          <a:lstStyle/>
          <a:p>
            <a:r>
              <a:rPr lang="en-US" sz="2800">
                <a:solidFill>
                  <a:srgbClr val="000000"/>
                </a:solidFill>
              </a:rPr>
              <a:t>=  </a:t>
            </a:r>
          </a:p>
        </p:txBody>
      </p:sp>
      <p:graphicFrame>
        <p:nvGraphicFramePr>
          <p:cNvPr id="38920" name="Object 1024"/>
          <p:cNvGraphicFramePr>
            <a:graphicFrameLocks noChangeAspect="1"/>
          </p:cNvGraphicFramePr>
          <p:nvPr/>
        </p:nvGraphicFramePr>
        <p:xfrm>
          <a:off x="3594100" y="3924300"/>
          <a:ext cx="2120900" cy="1104900"/>
        </p:xfrm>
        <a:graphic>
          <a:graphicData uri="http://schemas.openxmlformats.org/presentationml/2006/ole">
            <mc:AlternateContent xmlns:mc="http://schemas.openxmlformats.org/markup-compatibility/2006">
              <mc:Choice xmlns:v="urn:schemas-microsoft-com:vml" Requires="v">
                <p:oleObj name="Equation" r:id="rId3" imgW="2120900" imgH="1104900" progId="Equation.3">
                  <p:embed/>
                </p:oleObj>
              </mc:Choice>
              <mc:Fallback>
                <p:oleObj name="Equation" r:id="rId3" imgW="2120900" imgH="1104900" progId="Equation.3">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94100" y="3924300"/>
                        <a:ext cx="2120900" cy="1104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t>People don’t (usually) think in body-fixed coordinates</a:t>
            </a:r>
          </a:p>
        </p:txBody>
      </p:sp>
      <p:sp>
        <p:nvSpPr>
          <p:cNvPr id="39939" name="Rectangle 3"/>
          <p:cNvSpPr>
            <a:spLocks noGrp="1" noChangeArrowheads="1"/>
          </p:cNvSpPr>
          <p:nvPr>
            <p:ph type="body" idx="1"/>
          </p:nvPr>
        </p:nvSpPr>
        <p:spPr/>
        <p:txBody>
          <a:bodyPr/>
          <a:lstStyle/>
          <a:p>
            <a:pPr eaLnBrk="1" hangingPunct="1"/>
            <a:r>
              <a:rPr lang="en-US"/>
              <a:t>It would be easier for us to visualize the movement in earth-fixed coordinates.</a:t>
            </a:r>
            <a:br>
              <a:rPr lang="en-US"/>
            </a:br>
            <a:br>
              <a:rPr lang="en-US"/>
            </a:br>
            <a:endParaRPr lang="en-US"/>
          </a:p>
        </p:txBody>
      </p:sp>
      <p:grpSp>
        <p:nvGrpSpPr>
          <p:cNvPr id="39940" name="Group 60"/>
          <p:cNvGrpSpPr>
            <a:grpSpLocks/>
          </p:cNvGrpSpPr>
          <p:nvPr/>
        </p:nvGrpSpPr>
        <p:grpSpPr bwMode="auto">
          <a:xfrm>
            <a:off x="5586413" y="3217863"/>
            <a:ext cx="2060575" cy="2436812"/>
            <a:chOff x="3520" y="2414"/>
            <a:chExt cx="792" cy="816"/>
          </a:xfrm>
        </p:grpSpPr>
        <p:grpSp>
          <p:nvGrpSpPr>
            <p:cNvPr id="39954" name="Group 59"/>
            <p:cNvGrpSpPr>
              <a:grpSpLocks/>
            </p:cNvGrpSpPr>
            <p:nvPr/>
          </p:nvGrpSpPr>
          <p:grpSpPr bwMode="auto">
            <a:xfrm>
              <a:off x="3520" y="2414"/>
              <a:ext cx="768" cy="336"/>
              <a:chOff x="3520" y="2414"/>
              <a:chExt cx="768" cy="336"/>
            </a:xfrm>
          </p:grpSpPr>
          <p:sp>
            <p:nvSpPr>
              <p:cNvPr id="39958" name="Line 8"/>
              <p:cNvSpPr>
                <a:spLocks noChangeShapeType="1"/>
              </p:cNvSpPr>
              <p:nvPr/>
            </p:nvSpPr>
            <p:spPr bwMode="auto">
              <a:xfrm>
                <a:off x="3520" y="2414"/>
                <a:ext cx="0" cy="336"/>
              </a:xfrm>
              <a:prstGeom prst="line">
                <a:avLst/>
              </a:prstGeom>
              <a:noFill/>
              <a:ln w="9525">
                <a:solidFill>
                  <a:srgbClr val="000000"/>
                </a:solidFill>
                <a:round/>
                <a:headEnd type="triangle" w="med" len="med"/>
                <a:tailEnd/>
              </a:ln>
            </p:spPr>
            <p:txBody>
              <a:bodyPr wrap="none"/>
              <a:lstStyle/>
              <a:p>
                <a:endParaRPr lang="en-US"/>
              </a:p>
            </p:txBody>
          </p:sp>
          <p:sp>
            <p:nvSpPr>
              <p:cNvPr id="39959" name="Line 9"/>
              <p:cNvSpPr>
                <a:spLocks noChangeShapeType="1"/>
              </p:cNvSpPr>
              <p:nvPr/>
            </p:nvSpPr>
            <p:spPr bwMode="auto">
              <a:xfrm>
                <a:off x="3520" y="2750"/>
                <a:ext cx="768" cy="0"/>
              </a:xfrm>
              <a:prstGeom prst="line">
                <a:avLst/>
              </a:prstGeom>
              <a:noFill/>
              <a:ln w="9525">
                <a:solidFill>
                  <a:srgbClr val="000000"/>
                </a:solidFill>
                <a:round/>
                <a:headEnd/>
                <a:tailEnd type="triangle" w="med" len="med"/>
              </a:ln>
            </p:spPr>
            <p:txBody>
              <a:bodyPr wrap="none"/>
              <a:lstStyle/>
              <a:p>
                <a:endParaRPr lang="en-US"/>
              </a:p>
            </p:txBody>
          </p:sp>
          <p:sp>
            <p:nvSpPr>
              <p:cNvPr id="39960" name="Line 10"/>
              <p:cNvSpPr>
                <a:spLocks noChangeShapeType="1"/>
              </p:cNvSpPr>
              <p:nvPr/>
            </p:nvSpPr>
            <p:spPr bwMode="auto">
              <a:xfrm flipV="1">
                <a:off x="3520" y="2462"/>
                <a:ext cx="480" cy="288"/>
              </a:xfrm>
              <a:prstGeom prst="line">
                <a:avLst/>
              </a:prstGeom>
              <a:noFill/>
              <a:ln w="9525">
                <a:solidFill>
                  <a:srgbClr val="000000"/>
                </a:solidFill>
                <a:round/>
                <a:headEnd/>
                <a:tailEnd/>
              </a:ln>
            </p:spPr>
            <p:txBody>
              <a:bodyPr wrap="none"/>
              <a:lstStyle/>
              <a:p>
                <a:endParaRPr lang="en-US"/>
              </a:p>
            </p:txBody>
          </p:sp>
        </p:grpSp>
        <p:sp>
          <p:nvSpPr>
            <p:cNvPr id="39955" name="Line 11"/>
            <p:cNvSpPr>
              <a:spLocks noChangeShapeType="1"/>
            </p:cNvSpPr>
            <p:nvPr/>
          </p:nvSpPr>
          <p:spPr bwMode="auto">
            <a:xfrm>
              <a:off x="3544" y="2894"/>
              <a:ext cx="0" cy="336"/>
            </a:xfrm>
            <a:prstGeom prst="line">
              <a:avLst/>
            </a:prstGeom>
            <a:noFill/>
            <a:ln w="9525">
              <a:solidFill>
                <a:srgbClr val="000000"/>
              </a:solidFill>
              <a:round/>
              <a:headEnd type="triangle" w="med" len="med"/>
              <a:tailEnd/>
            </a:ln>
          </p:spPr>
          <p:txBody>
            <a:bodyPr wrap="none"/>
            <a:lstStyle/>
            <a:p>
              <a:endParaRPr lang="en-US"/>
            </a:p>
          </p:txBody>
        </p:sp>
        <p:sp>
          <p:nvSpPr>
            <p:cNvPr id="39956" name="Line 12"/>
            <p:cNvSpPr>
              <a:spLocks noChangeShapeType="1"/>
            </p:cNvSpPr>
            <p:nvPr/>
          </p:nvSpPr>
          <p:spPr bwMode="auto">
            <a:xfrm>
              <a:off x="3544" y="3230"/>
              <a:ext cx="768" cy="0"/>
            </a:xfrm>
            <a:prstGeom prst="line">
              <a:avLst/>
            </a:prstGeom>
            <a:noFill/>
            <a:ln w="9525">
              <a:solidFill>
                <a:srgbClr val="000000"/>
              </a:solidFill>
              <a:round/>
              <a:headEnd/>
              <a:tailEnd type="triangle" w="med" len="med"/>
            </a:ln>
          </p:spPr>
          <p:txBody>
            <a:bodyPr wrap="none"/>
            <a:lstStyle/>
            <a:p>
              <a:endParaRPr lang="en-US"/>
            </a:p>
          </p:txBody>
        </p:sp>
        <p:sp>
          <p:nvSpPr>
            <p:cNvPr id="39957" name="Line 13"/>
            <p:cNvSpPr>
              <a:spLocks noChangeShapeType="1"/>
            </p:cNvSpPr>
            <p:nvPr/>
          </p:nvSpPr>
          <p:spPr bwMode="auto">
            <a:xfrm flipV="1">
              <a:off x="3544" y="2942"/>
              <a:ext cx="480" cy="288"/>
            </a:xfrm>
            <a:prstGeom prst="line">
              <a:avLst/>
            </a:prstGeom>
            <a:noFill/>
            <a:ln w="9525">
              <a:solidFill>
                <a:srgbClr val="000000"/>
              </a:solidFill>
              <a:round/>
              <a:headEnd/>
              <a:tailEnd/>
            </a:ln>
          </p:spPr>
          <p:txBody>
            <a:bodyPr wrap="none"/>
            <a:lstStyle/>
            <a:p>
              <a:endParaRPr lang="en-US"/>
            </a:p>
          </p:txBody>
        </p:sp>
      </p:grpSp>
      <p:sp>
        <p:nvSpPr>
          <p:cNvPr id="39941" name="Text Box 16"/>
          <p:cNvSpPr txBox="1">
            <a:spLocks noChangeArrowheads="1"/>
          </p:cNvSpPr>
          <p:nvPr/>
        </p:nvSpPr>
        <p:spPr bwMode="auto">
          <a:xfrm>
            <a:off x="5200650" y="3390900"/>
            <a:ext cx="298450" cy="366713"/>
          </a:xfrm>
          <a:prstGeom prst="rect">
            <a:avLst/>
          </a:prstGeom>
          <a:noFill/>
          <a:ln w="9525">
            <a:noFill/>
            <a:miter lim="800000"/>
            <a:headEnd/>
            <a:tailEnd/>
          </a:ln>
        </p:spPr>
        <p:txBody>
          <a:bodyPr wrap="none">
            <a:spAutoFit/>
          </a:bodyPr>
          <a:lstStyle/>
          <a:p>
            <a:r>
              <a:rPr lang="en-US" sz="1800">
                <a:solidFill>
                  <a:srgbClr val="000000"/>
                </a:solidFill>
              </a:rPr>
              <a:t>x</a:t>
            </a:r>
          </a:p>
        </p:txBody>
      </p:sp>
      <p:sp>
        <p:nvSpPr>
          <p:cNvPr id="39942" name="Text Box 17"/>
          <p:cNvSpPr txBox="1">
            <a:spLocks noChangeArrowheads="1"/>
          </p:cNvSpPr>
          <p:nvPr/>
        </p:nvSpPr>
        <p:spPr bwMode="auto">
          <a:xfrm>
            <a:off x="7615238" y="4064000"/>
            <a:ext cx="247650" cy="366713"/>
          </a:xfrm>
          <a:prstGeom prst="rect">
            <a:avLst/>
          </a:prstGeom>
          <a:noFill/>
          <a:ln w="9525">
            <a:noFill/>
            <a:miter lim="800000"/>
            <a:headEnd/>
            <a:tailEnd/>
          </a:ln>
        </p:spPr>
        <p:txBody>
          <a:bodyPr wrap="none">
            <a:spAutoFit/>
          </a:bodyPr>
          <a:lstStyle/>
          <a:p>
            <a:r>
              <a:rPr lang="en-US" sz="1800">
                <a:solidFill>
                  <a:srgbClr val="000000"/>
                </a:solidFill>
              </a:rPr>
              <a:t>t</a:t>
            </a:r>
          </a:p>
        </p:txBody>
      </p:sp>
      <p:sp>
        <p:nvSpPr>
          <p:cNvPr id="39943" name="Text Box 18"/>
          <p:cNvSpPr txBox="1">
            <a:spLocks noChangeArrowheads="1"/>
          </p:cNvSpPr>
          <p:nvPr/>
        </p:nvSpPr>
        <p:spPr bwMode="auto">
          <a:xfrm>
            <a:off x="7658100" y="5478463"/>
            <a:ext cx="247650" cy="366712"/>
          </a:xfrm>
          <a:prstGeom prst="rect">
            <a:avLst/>
          </a:prstGeom>
          <a:noFill/>
          <a:ln w="9525">
            <a:noFill/>
            <a:miter lim="800000"/>
            <a:headEnd/>
            <a:tailEnd/>
          </a:ln>
        </p:spPr>
        <p:txBody>
          <a:bodyPr wrap="none">
            <a:spAutoFit/>
          </a:bodyPr>
          <a:lstStyle/>
          <a:p>
            <a:r>
              <a:rPr lang="en-US" sz="1800">
                <a:solidFill>
                  <a:srgbClr val="000000"/>
                </a:solidFill>
              </a:rPr>
              <a:t>t</a:t>
            </a:r>
          </a:p>
        </p:txBody>
      </p:sp>
      <p:sp>
        <p:nvSpPr>
          <p:cNvPr id="39944" name="Text Box 19"/>
          <p:cNvSpPr txBox="1">
            <a:spLocks noChangeArrowheads="1"/>
          </p:cNvSpPr>
          <p:nvPr/>
        </p:nvSpPr>
        <p:spPr bwMode="auto">
          <a:xfrm>
            <a:off x="5294313" y="5003800"/>
            <a:ext cx="341312" cy="366713"/>
          </a:xfrm>
          <a:prstGeom prst="rect">
            <a:avLst/>
          </a:prstGeom>
          <a:noFill/>
          <a:ln w="9525">
            <a:noFill/>
            <a:miter lim="800000"/>
            <a:headEnd/>
            <a:tailEnd/>
          </a:ln>
        </p:spPr>
        <p:txBody>
          <a:bodyPr wrap="none">
            <a:spAutoFit/>
          </a:bodyPr>
          <a:lstStyle/>
          <a:p>
            <a:r>
              <a:rPr lang="en-US" sz="1800">
                <a:solidFill>
                  <a:srgbClr val="000000"/>
                </a:solidFill>
                <a:sym typeface="Symbol" pitchFamily="18" charset="2"/>
              </a:rPr>
              <a:t></a:t>
            </a:r>
            <a:endParaRPr lang="en-US" sz="1800">
              <a:solidFill>
                <a:srgbClr val="000000"/>
              </a:solidFill>
            </a:endParaRPr>
          </a:p>
        </p:txBody>
      </p:sp>
      <p:sp>
        <p:nvSpPr>
          <p:cNvPr id="39945" name="Text Box 20"/>
          <p:cNvSpPr txBox="1">
            <a:spLocks noChangeArrowheads="1"/>
          </p:cNvSpPr>
          <p:nvPr/>
        </p:nvSpPr>
        <p:spPr bwMode="auto">
          <a:xfrm>
            <a:off x="4446588" y="4254500"/>
            <a:ext cx="531812" cy="457200"/>
          </a:xfrm>
          <a:prstGeom prst="rect">
            <a:avLst/>
          </a:prstGeom>
          <a:noFill/>
          <a:ln w="9525">
            <a:noFill/>
            <a:miter lim="800000"/>
            <a:headEnd/>
            <a:tailEnd/>
          </a:ln>
        </p:spPr>
        <p:txBody>
          <a:bodyPr wrap="none">
            <a:spAutoFit/>
          </a:bodyPr>
          <a:lstStyle/>
          <a:p>
            <a:r>
              <a:rPr lang="en-US">
                <a:solidFill>
                  <a:srgbClr val="000000"/>
                </a:solidFill>
              </a:rPr>
              <a:t>vs.</a:t>
            </a:r>
          </a:p>
        </p:txBody>
      </p:sp>
      <p:sp>
        <p:nvSpPr>
          <p:cNvPr id="39946" name="Line 4"/>
          <p:cNvSpPr>
            <a:spLocks noChangeShapeType="1"/>
          </p:cNvSpPr>
          <p:nvPr/>
        </p:nvSpPr>
        <p:spPr bwMode="auto">
          <a:xfrm flipV="1">
            <a:off x="1778000" y="3771900"/>
            <a:ext cx="0" cy="1941513"/>
          </a:xfrm>
          <a:prstGeom prst="line">
            <a:avLst/>
          </a:prstGeom>
          <a:noFill/>
          <a:ln w="19050">
            <a:solidFill>
              <a:srgbClr val="000000"/>
            </a:solidFill>
            <a:round/>
            <a:headEnd/>
            <a:tailEnd type="triangle" w="med" len="med"/>
          </a:ln>
        </p:spPr>
        <p:txBody>
          <a:bodyPr wrap="none"/>
          <a:lstStyle/>
          <a:p>
            <a:endParaRPr lang="en-US"/>
          </a:p>
        </p:txBody>
      </p:sp>
      <p:sp>
        <p:nvSpPr>
          <p:cNvPr id="39947" name="Line 5"/>
          <p:cNvSpPr>
            <a:spLocks noChangeShapeType="1"/>
          </p:cNvSpPr>
          <p:nvPr/>
        </p:nvSpPr>
        <p:spPr bwMode="auto">
          <a:xfrm>
            <a:off x="1776413" y="5713413"/>
            <a:ext cx="2662237" cy="12700"/>
          </a:xfrm>
          <a:prstGeom prst="line">
            <a:avLst/>
          </a:prstGeom>
          <a:noFill/>
          <a:ln w="19050">
            <a:solidFill>
              <a:srgbClr val="000000"/>
            </a:solidFill>
            <a:round/>
            <a:headEnd/>
            <a:tailEnd type="triangle" w="med" len="med"/>
          </a:ln>
        </p:spPr>
        <p:txBody>
          <a:bodyPr wrap="none"/>
          <a:lstStyle/>
          <a:p>
            <a:endParaRPr lang="en-US"/>
          </a:p>
        </p:txBody>
      </p:sp>
      <p:sp>
        <p:nvSpPr>
          <p:cNvPr id="39948" name="Oval 6"/>
          <p:cNvSpPr>
            <a:spLocks noChangeArrowheads="1"/>
          </p:cNvSpPr>
          <p:nvPr/>
        </p:nvSpPr>
        <p:spPr bwMode="auto">
          <a:xfrm>
            <a:off x="2179638" y="3784600"/>
            <a:ext cx="1693862" cy="1747838"/>
          </a:xfrm>
          <a:prstGeom prst="ellipse">
            <a:avLst/>
          </a:prstGeom>
          <a:noFill/>
          <a:ln w="19050">
            <a:solidFill>
              <a:srgbClr val="000000"/>
            </a:solidFill>
            <a:round/>
            <a:headEnd/>
            <a:tailEnd/>
          </a:ln>
        </p:spPr>
        <p:txBody>
          <a:bodyPr wrap="none" anchor="ctr"/>
          <a:lstStyle/>
          <a:p>
            <a:endParaRPr lang="en-US"/>
          </a:p>
        </p:txBody>
      </p:sp>
      <p:sp>
        <p:nvSpPr>
          <p:cNvPr id="39949" name="Line 7"/>
          <p:cNvSpPr>
            <a:spLocks noChangeShapeType="1"/>
          </p:cNvSpPr>
          <p:nvPr/>
        </p:nvSpPr>
        <p:spPr bwMode="auto">
          <a:xfrm flipH="1">
            <a:off x="3306763" y="5337175"/>
            <a:ext cx="238125" cy="136525"/>
          </a:xfrm>
          <a:prstGeom prst="line">
            <a:avLst/>
          </a:prstGeom>
          <a:noFill/>
          <a:ln w="28575">
            <a:solidFill>
              <a:srgbClr val="000000"/>
            </a:solidFill>
            <a:round/>
            <a:headEnd/>
            <a:tailEnd type="triangle" w="med" len="med"/>
          </a:ln>
        </p:spPr>
        <p:txBody>
          <a:bodyPr wrap="none"/>
          <a:lstStyle/>
          <a:p>
            <a:endParaRPr lang="en-US"/>
          </a:p>
        </p:txBody>
      </p:sp>
      <p:sp>
        <p:nvSpPr>
          <p:cNvPr id="39950" name="Text Box 14"/>
          <p:cNvSpPr txBox="1">
            <a:spLocks noChangeArrowheads="1"/>
          </p:cNvSpPr>
          <p:nvPr/>
        </p:nvSpPr>
        <p:spPr bwMode="auto">
          <a:xfrm>
            <a:off x="1379538" y="3497263"/>
            <a:ext cx="349250" cy="366712"/>
          </a:xfrm>
          <a:prstGeom prst="rect">
            <a:avLst/>
          </a:prstGeom>
          <a:noFill/>
          <a:ln w="9525">
            <a:noFill/>
            <a:miter lim="800000"/>
            <a:headEnd/>
            <a:tailEnd/>
          </a:ln>
        </p:spPr>
        <p:txBody>
          <a:bodyPr wrap="none">
            <a:spAutoFit/>
          </a:bodyPr>
          <a:lstStyle/>
          <a:p>
            <a:r>
              <a:rPr lang="en-US" sz="1800">
                <a:solidFill>
                  <a:srgbClr val="000000"/>
                </a:solidFill>
              </a:rPr>
              <a:t>X</a:t>
            </a:r>
          </a:p>
        </p:txBody>
      </p:sp>
      <p:sp>
        <p:nvSpPr>
          <p:cNvPr id="39951" name="Text Box 15"/>
          <p:cNvSpPr txBox="1">
            <a:spLocks noChangeArrowheads="1"/>
          </p:cNvSpPr>
          <p:nvPr/>
        </p:nvSpPr>
        <p:spPr bwMode="auto">
          <a:xfrm>
            <a:off x="4502150" y="5576888"/>
            <a:ext cx="349250" cy="366712"/>
          </a:xfrm>
          <a:prstGeom prst="rect">
            <a:avLst/>
          </a:prstGeom>
          <a:noFill/>
          <a:ln w="9525">
            <a:noFill/>
            <a:miter lim="800000"/>
            <a:headEnd/>
            <a:tailEnd/>
          </a:ln>
        </p:spPr>
        <p:txBody>
          <a:bodyPr wrap="none">
            <a:spAutoFit/>
          </a:bodyPr>
          <a:lstStyle/>
          <a:p>
            <a:r>
              <a:rPr lang="en-US" sz="1800">
                <a:solidFill>
                  <a:srgbClr val="000000"/>
                </a:solidFill>
              </a:rPr>
              <a:t>Y</a:t>
            </a:r>
          </a:p>
        </p:txBody>
      </p:sp>
      <p:sp>
        <p:nvSpPr>
          <p:cNvPr id="39952" name="Text Box 56"/>
          <p:cNvSpPr txBox="1">
            <a:spLocks noChangeArrowheads="1"/>
          </p:cNvSpPr>
          <p:nvPr/>
        </p:nvSpPr>
        <p:spPr bwMode="auto">
          <a:xfrm>
            <a:off x="925513" y="4762500"/>
            <a:ext cx="549275" cy="517525"/>
          </a:xfrm>
          <a:prstGeom prst="rect">
            <a:avLst/>
          </a:prstGeom>
          <a:noFill/>
          <a:ln w="9525">
            <a:noFill/>
            <a:miter lim="800000"/>
            <a:headEnd/>
            <a:tailEnd/>
          </a:ln>
        </p:spPr>
        <p:txBody>
          <a:bodyPr wrap="none">
            <a:spAutoFit/>
          </a:bodyPr>
          <a:lstStyle/>
          <a:p>
            <a:r>
              <a:rPr lang="en-US" sz="1400"/>
              <a:t>earth</a:t>
            </a:r>
          </a:p>
          <a:p>
            <a:r>
              <a:rPr lang="en-US" sz="1400"/>
              <a:t>fixed</a:t>
            </a:r>
          </a:p>
        </p:txBody>
      </p:sp>
      <p:sp>
        <p:nvSpPr>
          <p:cNvPr id="39953" name="Text Box 57"/>
          <p:cNvSpPr txBox="1">
            <a:spLocks noChangeArrowheads="1"/>
          </p:cNvSpPr>
          <p:nvPr/>
        </p:nvSpPr>
        <p:spPr bwMode="auto">
          <a:xfrm>
            <a:off x="8123238" y="4594225"/>
            <a:ext cx="549275" cy="517525"/>
          </a:xfrm>
          <a:prstGeom prst="rect">
            <a:avLst/>
          </a:prstGeom>
          <a:noFill/>
          <a:ln w="9525">
            <a:noFill/>
            <a:miter lim="800000"/>
            <a:headEnd/>
            <a:tailEnd/>
          </a:ln>
        </p:spPr>
        <p:txBody>
          <a:bodyPr wrap="none">
            <a:spAutoFit/>
          </a:bodyPr>
          <a:lstStyle/>
          <a:p>
            <a:r>
              <a:rPr lang="en-US" sz="1400"/>
              <a:t>body</a:t>
            </a:r>
          </a:p>
          <a:p>
            <a:r>
              <a:rPr lang="en-US" sz="1400"/>
              <a:t>fixed</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sz="4000"/>
              <a:t>What are we going to use in this class?</a:t>
            </a:r>
          </a:p>
        </p:txBody>
      </p:sp>
      <p:sp>
        <p:nvSpPr>
          <p:cNvPr id="40963" name="Rectangle 3"/>
          <p:cNvSpPr>
            <a:spLocks noGrp="1" noChangeArrowheads="1"/>
          </p:cNvSpPr>
          <p:nvPr>
            <p:ph type="body" idx="1"/>
          </p:nvPr>
        </p:nvSpPr>
        <p:spPr/>
        <p:txBody>
          <a:bodyPr/>
          <a:lstStyle/>
          <a:p>
            <a:pPr marL="0" indent="0" eaLnBrk="1" hangingPunct="1">
              <a:buNone/>
            </a:pPr>
            <a:r>
              <a:rPr lang="en-US"/>
              <a:t>We generally use the transformation for velocities to convert from body-fixed to earth-fixed</a:t>
            </a:r>
          </a:p>
          <a:p>
            <a:pPr eaLnBrk="1" hangingPunct="1">
              <a:buFont typeface="Arial" charset="0"/>
              <a:buNone/>
            </a:pPr>
            <a:r>
              <a:rPr lang="en-US"/>
              <a:t>	(Note: this slide will be very useful in your homework!)</a:t>
            </a:r>
          </a:p>
          <a:p>
            <a:pPr eaLnBrk="1" hangingPunct="1"/>
            <a:endParaRPr lang="en-US"/>
          </a:p>
        </p:txBody>
      </p:sp>
      <p:sp>
        <p:nvSpPr>
          <p:cNvPr id="40964" name="Text Box 4"/>
          <p:cNvSpPr txBox="1">
            <a:spLocks noChangeArrowheads="1"/>
          </p:cNvSpPr>
          <p:nvPr/>
        </p:nvSpPr>
        <p:spPr bwMode="auto">
          <a:xfrm>
            <a:off x="1676400" y="4429125"/>
            <a:ext cx="404813" cy="822325"/>
          </a:xfrm>
          <a:prstGeom prst="rect">
            <a:avLst/>
          </a:prstGeom>
          <a:noFill/>
          <a:ln w="9525">
            <a:noFill/>
            <a:miter lim="800000"/>
            <a:headEnd/>
            <a:tailEnd/>
          </a:ln>
        </p:spPr>
        <p:txBody>
          <a:bodyPr wrap="none">
            <a:spAutoFit/>
          </a:bodyPr>
          <a:lstStyle/>
          <a:p>
            <a:r>
              <a:rPr lang="en-US">
                <a:solidFill>
                  <a:srgbClr val="000000"/>
                </a:solidFill>
              </a:rPr>
              <a:t>X</a:t>
            </a:r>
          </a:p>
          <a:p>
            <a:r>
              <a:rPr lang="en-US">
                <a:solidFill>
                  <a:srgbClr val="000000"/>
                </a:solidFill>
              </a:rPr>
              <a:t>Y</a:t>
            </a:r>
          </a:p>
        </p:txBody>
      </p:sp>
      <p:sp>
        <p:nvSpPr>
          <p:cNvPr id="40965" name="Line 5"/>
          <p:cNvSpPr>
            <a:spLocks noChangeShapeType="1"/>
          </p:cNvSpPr>
          <p:nvPr/>
        </p:nvSpPr>
        <p:spPr bwMode="auto">
          <a:xfrm>
            <a:off x="1997075" y="4464050"/>
            <a:ext cx="152400" cy="0"/>
          </a:xfrm>
          <a:prstGeom prst="line">
            <a:avLst/>
          </a:prstGeom>
          <a:noFill/>
          <a:ln w="9525">
            <a:solidFill>
              <a:srgbClr val="000000"/>
            </a:solidFill>
            <a:round/>
            <a:headEnd/>
            <a:tailEnd/>
          </a:ln>
        </p:spPr>
        <p:txBody>
          <a:bodyPr wrap="none"/>
          <a:lstStyle/>
          <a:p>
            <a:endParaRPr lang="en-US"/>
          </a:p>
        </p:txBody>
      </p:sp>
      <p:sp>
        <p:nvSpPr>
          <p:cNvPr id="40966" name="Line 6"/>
          <p:cNvSpPr>
            <a:spLocks noChangeShapeType="1"/>
          </p:cNvSpPr>
          <p:nvPr/>
        </p:nvSpPr>
        <p:spPr bwMode="auto">
          <a:xfrm>
            <a:off x="2149475" y="4464050"/>
            <a:ext cx="0" cy="762000"/>
          </a:xfrm>
          <a:prstGeom prst="line">
            <a:avLst/>
          </a:prstGeom>
          <a:noFill/>
          <a:ln w="9525">
            <a:solidFill>
              <a:srgbClr val="000000"/>
            </a:solidFill>
            <a:round/>
            <a:headEnd/>
            <a:tailEnd/>
          </a:ln>
        </p:spPr>
        <p:txBody>
          <a:bodyPr wrap="none"/>
          <a:lstStyle/>
          <a:p>
            <a:endParaRPr lang="en-US"/>
          </a:p>
        </p:txBody>
      </p:sp>
      <p:sp>
        <p:nvSpPr>
          <p:cNvPr id="40967" name="Line 7"/>
          <p:cNvSpPr>
            <a:spLocks noChangeShapeType="1"/>
          </p:cNvSpPr>
          <p:nvPr/>
        </p:nvSpPr>
        <p:spPr bwMode="auto">
          <a:xfrm>
            <a:off x="1997075" y="5226050"/>
            <a:ext cx="152400" cy="0"/>
          </a:xfrm>
          <a:prstGeom prst="line">
            <a:avLst/>
          </a:prstGeom>
          <a:noFill/>
          <a:ln w="9525">
            <a:solidFill>
              <a:srgbClr val="000000"/>
            </a:solidFill>
            <a:round/>
            <a:headEnd/>
            <a:tailEnd/>
          </a:ln>
        </p:spPr>
        <p:txBody>
          <a:bodyPr wrap="none"/>
          <a:lstStyle/>
          <a:p>
            <a:endParaRPr lang="en-US"/>
          </a:p>
        </p:txBody>
      </p:sp>
      <p:sp>
        <p:nvSpPr>
          <p:cNvPr id="40968" name="Line 8"/>
          <p:cNvSpPr>
            <a:spLocks noChangeShapeType="1"/>
          </p:cNvSpPr>
          <p:nvPr/>
        </p:nvSpPr>
        <p:spPr bwMode="auto">
          <a:xfrm>
            <a:off x="1616075" y="4464050"/>
            <a:ext cx="152400" cy="0"/>
          </a:xfrm>
          <a:prstGeom prst="line">
            <a:avLst/>
          </a:prstGeom>
          <a:noFill/>
          <a:ln w="9525">
            <a:solidFill>
              <a:srgbClr val="000000"/>
            </a:solidFill>
            <a:round/>
            <a:headEnd/>
            <a:tailEnd/>
          </a:ln>
        </p:spPr>
        <p:txBody>
          <a:bodyPr wrap="none"/>
          <a:lstStyle/>
          <a:p>
            <a:endParaRPr lang="en-US"/>
          </a:p>
        </p:txBody>
      </p:sp>
      <p:sp>
        <p:nvSpPr>
          <p:cNvPr id="40969" name="Line 9"/>
          <p:cNvSpPr>
            <a:spLocks noChangeShapeType="1"/>
          </p:cNvSpPr>
          <p:nvPr/>
        </p:nvSpPr>
        <p:spPr bwMode="auto">
          <a:xfrm>
            <a:off x="1616075" y="4464050"/>
            <a:ext cx="0" cy="762000"/>
          </a:xfrm>
          <a:prstGeom prst="line">
            <a:avLst/>
          </a:prstGeom>
          <a:noFill/>
          <a:ln w="9525">
            <a:solidFill>
              <a:srgbClr val="000000"/>
            </a:solidFill>
            <a:round/>
            <a:headEnd/>
            <a:tailEnd/>
          </a:ln>
        </p:spPr>
        <p:txBody>
          <a:bodyPr wrap="none"/>
          <a:lstStyle/>
          <a:p>
            <a:endParaRPr lang="en-US"/>
          </a:p>
        </p:txBody>
      </p:sp>
      <p:sp>
        <p:nvSpPr>
          <p:cNvPr id="40970" name="Line 10"/>
          <p:cNvSpPr>
            <a:spLocks noChangeShapeType="1"/>
          </p:cNvSpPr>
          <p:nvPr/>
        </p:nvSpPr>
        <p:spPr bwMode="auto">
          <a:xfrm>
            <a:off x="1616075" y="5226050"/>
            <a:ext cx="152400" cy="0"/>
          </a:xfrm>
          <a:prstGeom prst="line">
            <a:avLst/>
          </a:prstGeom>
          <a:noFill/>
          <a:ln w="9525">
            <a:solidFill>
              <a:srgbClr val="000000"/>
            </a:solidFill>
            <a:round/>
            <a:headEnd/>
            <a:tailEnd/>
          </a:ln>
        </p:spPr>
        <p:txBody>
          <a:bodyPr wrap="none"/>
          <a:lstStyle/>
          <a:p>
            <a:endParaRPr lang="en-US"/>
          </a:p>
        </p:txBody>
      </p:sp>
      <p:sp>
        <p:nvSpPr>
          <p:cNvPr id="40971" name="Text Box 11"/>
          <p:cNvSpPr txBox="1">
            <a:spLocks noChangeArrowheads="1"/>
          </p:cNvSpPr>
          <p:nvPr/>
        </p:nvSpPr>
        <p:spPr bwMode="auto">
          <a:xfrm>
            <a:off x="3276600" y="4419600"/>
            <a:ext cx="1898650" cy="822325"/>
          </a:xfrm>
          <a:prstGeom prst="rect">
            <a:avLst/>
          </a:prstGeom>
          <a:noFill/>
          <a:ln w="9525">
            <a:noFill/>
            <a:miter lim="800000"/>
            <a:headEnd/>
            <a:tailEnd/>
          </a:ln>
        </p:spPr>
        <p:txBody>
          <a:bodyPr wrap="none">
            <a:spAutoFit/>
          </a:bodyPr>
          <a:lstStyle/>
          <a:p>
            <a:r>
              <a:rPr lang="en-US">
                <a:solidFill>
                  <a:srgbClr val="000000"/>
                </a:solidFill>
              </a:rPr>
              <a:t>cos</a:t>
            </a:r>
            <a:r>
              <a:rPr lang="en-US">
                <a:solidFill>
                  <a:srgbClr val="000000"/>
                </a:solidFill>
                <a:sym typeface="Symbol" pitchFamily="18" charset="2"/>
              </a:rPr>
              <a:t>     -sin</a:t>
            </a:r>
            <a:endParaRPr lang="en-US">
              <a:solidFill>
                <a:srgbClr val="000000"/>
              </a:solidFill>
            </a:endParaRPr>
          </a:p>
          <a:p>
            <a:r>
              <a:rPr lang="en-US">
                <a:solidFill>
                  <a:srgbClr val="000000"/>
                </a:solidFill>
              </a:rPr>
              <a:t>sin</a:t>
            </a:r>
            <a:r>
              <a:rPr lang="en-US">
                <a:solidFill>
                  <a:srgbClr val="000000"/>
                </a:solidFill>
                <a:sym typeface="Symbol" pitchFamily="18" charset="2"/>
              </a:rPr>
              <a:t>       cos</a:t>
            </a:r>
            <a:endParaRPr lang="en-US">
              <a:solidFill>
                <a:srgbClr val="000000"/>
              </a:solidFill>
            </a:endParaRPr>
          </a:p>
        </p:txBody>
      </p:sp>
      <p:sp>
        <p:nvSpPr>
          <p:cNvPr id="40972" name="Line 12"/>
          <p:cNvSpPr>
            <a:spLocks noChangeShapeType="1"/>
          </p:cNvSpPr>
          <p:nvPr/>
        </p:nvSpPr>
        <p:spPr bwMode="auto">
          <a:xfrm>
            <a:off x="5045075" y="4460875"/>
            <a:ext cx="152400" cy="0"/>
          </a:xfrm>
          <a:prstGeom prst="line">
            <a:avLst/>
          </a:prstGeom>
          <a:noFill/>
          <a:ln w="9525">
            <a:solidFill>
              <a:srgbClr val="000000"/>
            </a:solidFill>
            <a:round/>
            <a:headEnd/>
            <a:tailEnd/>
          </a:ln>
        </p:spPr>
        <p:txBody>
          <a:bodyPr wrap="none"/>
          <a:lstStyle/>
          <a:p>
            <a:endParaRPr lang="en-US"/>
          </a:p>
        </p:txBody>
      </p:sp>
      <p:sp>
        <p:nvSpPr>
          <p:cNvPr id="40973" name="Line 13"/>
          <p:cNvSpPr>
            <a:spLocks noChangeShapeType="1"/>
          </p:cNvSpPr>
          <p:nvPr/>
        </p:nvSpPr>
        <p:spPr bwMode="auto">
          <a:xfrm>
            <a:off x="5197475" y="4460875"/>
            <a:ext cx="0" cy="762000"/>
          </a:xfrm>
          <a:prstGeom prst="line">
            <a:avLst/>
          </a:prstGeom>
          <a:noFill/>
          <a:ln w="9525">
            <a:solidFill>
              <a:srgbClr val="000000"/>
            </a:solidFill>
            <a:round/>
            <a:headEnd/>
            <a:tailEnd/>
          </a:ln>
        </p:spPr>
        <p:txBody>
          <a:bodyPr wrap="none"/>
          <a:lstStyle/>
          <a:p>
            <a:endParaRPr lang="en-US"/>
          </a:p>
        </p:txBody>
      </p:sp>
      <p:sp>
        <p:nvSpPr>
          <p:cNvPr id="40974" name="Line 14"/>
          <p:cNvSpPr>
            <a:spLocks noChangeShapeType="1"/>
          </p:cNvSpPr>
          <p:nvPr/>
        </p:nvSpPr>
        <p:spPr bwMode="auto">
          <a:xfrm>
            <a:off x="5045075" y="5203825"/>
            <a:ext cx="152400" cy="0"/>
          </a:xfrm>
          <a:prstGeom prst="line">
            <a:avLst/>
          </a:prstGeom>
          <a:noFill/>
          <a:ln w="9525">
            <a:solidFill>
              <a:srgbClr val="000000"/>
            </a:solidFill>
            <a:round/>
            <a:headEnd/>
            <a:tailEnd/>
          </a:ln>
        </p:spPr>
        <p:txBody>
          <a:bodyPr wrap="none"/>
          <a:lstStyle/>
          <a:p>
            <a:endParaRPr lang="en-US"/>
          </a:p>
        </p:txBody>
      </p:sp>
      <p:sp>
        <p:nvSpPr>
          <p:cNvPr id="40975" name="Line 15"/>
          <p:cNvSpPr>
            <a:spLocks noChangeShapeType="1"/>
          </p:cNvSpPr>
          <p:nvPr/>
        </p:nvSpPr>
        <p:spPr bwMode="auto">
          <a:xfrm>
            <a:off x="3216275" y="4460875"/>
            <a:ext cx="152400" cy="0"/>
          </a:xfrm>
          <a:prstGeom prst="line">
            <a:avLst/>
          </a:prstGeom>
          <a:noFill/>
          <a:ln w="9525">
            <a:solidFill>
              <a:srgbClr val="000000"/>
            </a:solidFill>
            <a:round/>
            <a:headEnd/>
            <a:tailEnd/>
          </a:ln>
        </p:spPr>
        <p:txBody>
          <a:bodyPr wrap="none"/>
          <a:lstStyle/>
          <a:p>
            <a:endParaRPr lang="en-US"/>
          </a:p>
        </p:txBody>
      </p:sp>
      <p:sp>
        <p:nvSpPr>
          <p:cNvPr id="40976" name="Line 16"/>
          <p:cNvSpPr>
            <a:spLocks noChangeShapeType="1"/>
          </p:cNvSpPr>
          <p:nvPr/>
        </p:nvSpPr>
        <p:spPr bwMode="auto">
          <a:xfrm>
            <a:off x="3216275" y="4460875"/>
            <a:ext cx="0" cy="762000"/>
          </a:xfrm>
          <a:prstGeom prst="line">
            <a:avLst/>
          </a:prstGeom>
          <a:noFill/>
          <a:ln w="9525">
            <a:solidFill>
              <a:srgbClr val="000000"/>
            </a:solidFill>
            <a:round/>
            <a:headEnd/>
            <a:tailEnd/>
          </a:ln>
        </p:spPr>
        <p:txBody>
          <a:bodyPr wrap="none"/>
          <a:lstStyle/>
          <a:p>
            <a:endParaRPr lang="en-US"/>
          </a:p>
        </p:txBody>
      </p:sp>
      <p:sp>
        <p:nvSpPr>
          <p:cNvPr id="40977" name="Line 17"/>
          <p:cNvSpPr>
            <a:spLocks noChangeShapeType="1"/>
          </p:cNvSpPr>
          <p:nvPr/>
        </p:nvSpPr>
        <p:spPr bwMode="auto">
          <a:xfrm>
            <a:off x="3216275" y="5222875"/>
            <a:ext cx="152400" cy="0"/>
          </a:xfrm>
          <a:prstGeom prst="line">
            <a:avLst/>
          </a:prstGeom>
          <a:noFill/>
          <a:ln w="9525">
            <a:solidFill>
              <a:srgbClr val="000000"/>
            </a:solidFill>
            <a:round/>
            <a:headEnd/>
            <a:tailEnd/>
          </a:ln>
        </p:spPr>
        <p:txBody>
          <a:bodyPr wrap="none"/>
          <a:lstStyle/>
          <a:p>
            <a:endParaRPr lang="en-US"/>
          </a:p>
        </p:txBody>
      </p:sp>
      <p:sp>
        <p:nvSpPr>
          <p:cNvPr id="40978" name="Text Box 18"/>
          <p:cNvSpPr txBox="1">
            <a:spLocks noChangeArrowheads="1"/>
          </p:cNvSpPr>
          <p:nvPr/>
        </p:nvSpPr>
        <p:spPr bwMode="auto">
          <a:xfrm>
            <a:off x="2667000" y="4464050"/>
            <a:ext cx="355600" cy="457200"/>
          </a:xfrm>
          <a:prstGeom prst="rect">
            <a:avLst/>
          </a:prstGeom>
          <a:noFill/>
          <a:ln w="9525">
            <a:noFill/>
            <a:miter lim="800000"/>
            <a:headEnd/>
            <a:tailEnd/>
          </a:ln>
        </p:spPr>
        <p:txBody>
          <a:bodyPr wrap="none">
            <a:spAutoFit/>
          </a:bodyPr>
          <a:lstStyle/>
          <a:p>
            <a:r>
              <a:rPr lang="en-US"/>
              <a:t>=</a:t>
            </a:r>
          </a:p>
        </p:txBody>
      </p:sp>
      <p:sp>
        <p:nvSpPr>
          <p:cNvPr id="40979" name="Text Box 19"/>
          <p:cNvSpPr txBox="1">
            <a:spLocks noChangeArrowheads="1"/>
          </p:cNvSpPr>
          <p:nvPr/>
        </p:nvSpPr>
        <p:spPr bwMode="auto">
          <a:xfrm>
            <a:off x="6324600" y="4387850"/>
            <a:ext cx="319088" cy="822325"/>
          </a:xfrm>
          <a:prstGeom prst="rect">
            <a:avLst/>
          </a:prstGeom>
          <a:noFill/>
          <a:ln w="9525">
            <a:noFill/>
            <a:miter lim="800000"/>
            <a:headEnd/>
            <a:tailEnd/>
          </a:ln>
        </p:spPr>
        <p:txBody>
          <a:bodyPr wrap="none">
            <a:spAutoFit/>
          </a:bodyPr>
          <a:lstStyle/>
          <a:p>
            <a:r>
              <a:rPr lang="en-US" i="1">
                <a:solidFill>
                  <a:srgbClr val="000000"/>
                </a:solidFill>
              </a:rPr>
              <a:t>x</a:t>
            </a:r>
          </a:p>
          <a:p>
            <a:r>
              <a:rPr lang="en-US" i="1">
                <a:solidFill>
                  <a:srgbClr val="000000"/>
                </a:solidFill>
              </a:rPr>
              <a:t>y</a:t>
            </a:r>
          </a:p>
        </p:txBody>
      </p:sp>
      <p:sp>
        <p:nvSpPr>
          <p:cNvPr id="40980" name="Line 20"/>
          <p:cNvSpPr>
            <a:spLocks noChangeShapeType="1"/>
          </p:cNvSpPr>
          <p:nvPr/>
        </p:nvSpPr>
        <p:spPr bwMode="auto">
          <a:xfrm>
            <a:off x="6645275" y="4422775"/>
            <a:ext cx="152400" cy="0"/>
          </a:xfrm>
          <a:prstGeom prst="line">
            <a:avLst/>
          </a:prstGeom>
          <a:noFill/>
          <a:ln w="9525">
            <a:solidFill>
              <a:srgbClr val="000000"/>
            </a:solidFill>
            <a:round/>
            <a:headEnd/>
            <a:tailEnd/>
          </a:ln>
        </p:spPr>
        <p:txBody>
          <a:bodyPr wrap="none"/>
          <a:lstStyle/>
          <a:p>
            <a:endParaRPr lang="en-US"/>
          </a:p>
        </p:txBody>
      </p:sp>
      <p:sp>
        <p:nvSpPr>
          <p:cNvPr id="40981" name="Line 21"/>
          <p:cNvSpPr>
            <a:spLocks noChangeShapeType="1"/>
          </p:cNvSpPr>
          <p:nvPr/>
        </p:nvSpPr>
        <p:spPr bwMode="auto">
          <a:xfrm>
            <a:off x="6797675" y="4422775"/>
            <a:ext cx="0" cy="762000"/>
          </a:xfrm>
          <a:prstGeom prst="line">
            <a:avLst/>
          </a:prstGeom>
          <a:noFill/>
          <a:ln w="9525">
            <a:solidFill>
              <a:srgbClr val="000000"/>
            </a:solidFill>
            <a:round/>
            <a:headEnd/>
            <a:tailEnd/>
          </a:ln>
        </p:spPr>
        <p:txBody>
          <a:bodyPr wrap="none"/>
          <a:lstStyle/>
          <a:p>
            <a:endParaRPr lang="en-US"/>
          </a:p>
        </p:txBody>
      </p:sp>
      <p:sp>
        <p:nvSpPr>
          <p:cNvPr id="40982" name="Line 22"/>
          <p:cNvSpPr>
            <a:spLocks noChangeShapeType="1"/>
          </p:cNvSpPr>
          <p:nvPr/>
        </p:nvSpPr>
        <p:spPr bwMode="auto">
          <a:xfrm>
            <a:off x="6645275" y="5184775"/>
            <a:ext cx="152400" cy="0"/>
          </a:xfrm>
          <a:prstGeom prst="line">
            <a:avLst/>
          </a:prstGeom>
          <a:noFill/>
          <a:ln w="9525">
            <a:solidFill>
              <a:srgbClr val="000000"/>
            </a:solidFill>
            <a:round/>
            <a:headEnd/>
            <a:tailEnd/>
          </a:ln>
        </p:spPr>
        <p:txBody>
          <a:bodyPr wrap="none"/>
          <a:lstStyle/>
          <a:p>
            <a:endParaRPr lang="en-US"/>
          </a:p>
        </p:txBody>
      </p:sp>
      <p:sp>
        <p:nvSpPr>
          <p:cNvPr id="40983" name="Line 23"/>
          <p:cNvSpPr>
            <a:spLocks noChangeShapeType="1"/>
          </p:cNvSpPr>
          <p:nvPr/>
        </p:nvSpPr>
        <p:spPr bwMode="auto">
          <a:xfrm>
            <a:off x="6264275" y="4422775"/>
            <a:ext cx="152400" cy="0"/>
          </a:xfrm>
          <a:prstGeom prst="line">
            <a:avLst/>
          </a:prstGeom>
          <a:noFill/>
          <a:ln w="9525">
            <a:solidFill>
              <a:srgbClr val="000000"/>
            </a:solidFill>
            <a:round/>
            <a:headEnd/>
            <a:tailEnd/>
          </a:ln>
        </p:spPr>
        <p:txBody>
          <a:bodyPr wrap="none"/>
          <a:lstStyle/>
          <a:p>
            <a:endParaRPr lang="en-US"/>
          </a:p>
        </p:txBody>
      </p:sp>
      <p:sp>
        <p:nvSpPr>
          <p:cNvPr id="40984" name="Line 24"/>
          <p:cNvSpPr>
            <a:spLocks noChangeShapeType="1"/>
          </p:cNvSpPr>
          <p:nvPr/>
        </p:nvSpPr>
        <p:spPr bwMode="auto">
          <a:xfrm>
            <a:off x="6264275" y="4422775"/>
            <a:ext cx="0" cy="762000"/>
          </a:xfrm>
          <a:prstGeom prst="line">
            <a:avLst/>
          </a:prstGeom>
          <a:noFill/>
          <a:ln w="9525">
            <a:solidFill>
              <a:srgbClr val="000000"/>
            </a:solidFill>
            <a:round/>
            <a:headEnd/>
            <a:tailEnd/>
          </a:ln>
        </p:spPr>
        <p:txBody>
          <a:bodyPr wrap="none"/>
          <a:lstStyle/>
          <a:p>
            <a:endParaRPr lang="en-US"/>
          </a:p>
        </p:txBody>
      </p:sp>
      <p:sp>
        <p:nvSpPr>
          <p:cNvPr id="40985" name="Line 25"/>
          <p:cNvSpPr>
            <a:spLocks noChangeShapeType="1"/>
          </p:cNvSpPr>
          <p:nvPr/>
        </p:nvSpPr>
        <p:spPr bwMode="auto">
          <a:xfrm>
            <a:off x="6264275" y="5184775"/>
            <a:ext cx="152400" cy="0"/>
          </a:xfrm>
          <a:prstGeom prst="line">
            <a:avLst/>
          </a:prstGeom>
          <a:noFill/>
          <a:ln w="9525">
            <a:solidFill>
              <a:srgbClr val="000000"/>
            </a:solidFill>
            <a:round/>
            <a:headEnd/>
            <a:tailEnd/>
          </a:ln>
        </p:spPr>
        <p:txBody>
          <a:bodyPr wrap="none"/>
          <a:lstStyle/>
          <a:p>
            <a:endParaRPr lang="en-US"/>
          </a:p>
        </p:txBody>
      </p:sp>
      <p:sp>
        <p:nvSpPr>
          <p:cNvPr id="40986" name="Text Box 26"/>
          <p:cNvSpPr txBox="1">
            <a:spLocks noChangeArrowheads="1"/>
          </p:cNvSpPr>
          <p:nvPr/>
        </p:nvSpPr>
        <p:spPr bwMode="auto">
          <a:xfrm>
            <a:off x="5715000" y="4352925"/>
            <a:ext cx="336550" cy="457200"/>
          </a:xfrm>
          <a:prstGeom prst="rect">
            <a:avLst/>
          </a:prstGeom>
          <a:noFill/>
          <a:ln w="9525">
            <a:noFill/>
            <a:miter lim="800000"/>
            <a:headEnd/>
            <a:tailEnd/>
          </a:ln>
        </p:spPr>
        <p:txBody>
          <a:bodyPr wrap="none">
            <a:spAutoFit/>
          </a:bodyPr>
          <a:lstStyle/>
          <a:p>
            <a:r>
              <a:rPr lang="en-US">
                <a:solidFill>
                  <a:srgbClr val="000000"/>
                </a:solidFill>
              </a:rPr>
              <a:t>d</a:t>
            </a:r>
          </a:p>
        </p:txBody>
      </p:sp>
      <p:sp>
        <p:nvSpPr>
          <p:cNvPr id="40987" name="Line 27"/>
          <p:cNvSpPr>
            <a:spLocks noChangeShapeType="1"/>
          </p:cNvSpPr>
          <p:nvPr/>
        </p:nvSpPr>
        <p:spPr bwMode="auto">
          <a:xfrm>
            <a:off x="5730875" y="4711700"/>
            <a:ext cx="304800" cy="0"/>
          </a:xfrm>
          <a:prstGeom prst="line">
            <a:avLst/>
          </a:prstGeom>
          <a:noFill/>
          <a:ln w="9525">
            <a:solidFill>
              <a:srgbClr val="000000"/>
            </a:solidFill>
            <a:round/>
            <a:headEnd/>
            <a:tailEnd/>
          </a:ln>
        </p:spPr>
        <p:txBody>
          <a:bodyPr wrap="none"/>
          <a:lstStyle/>
          <a:p>
            <a:endParaRPr lang="en-US"/>
          </a:p>
        </p:txBody>
      </p:sp>
      <p:sp>
        <p:nvSpPr>
          <p:cNvPr id="40988" name="Text Box 28"/>
          <p:cNvSpPr txBox="1">
            <a:spLocks noChangeArrowheads="1"/>
          </p:cNvSpPr>
          <p:nvPr/>
        </p:nvSpPr>
        <p:spPr bwMode="auto">
          <a:xfrm>
            <a:off x="5676900" y="4657725"/>
            <a:ext cx="420688" cy="457200"/>
          </a:xfrm>
          <a:prstGeom prst="rect">
            <a:avLst/>
          </a:prstGeom>
          <a:noFill/>
          <a:ln w="9525">
            <a:noFill/>
            <a:miter lim="800000"/>
            <a:headEnd/>
            <a:tailEnd/>
          </a:ln>
        </p:spPr>
        <p:txBody>
          <a:bodyPr wrap="none">
            <a:spAutoFit/>
          </a:bodyPr>
          <a:lstStyle/>
          <a:p>
            <a:r>
              <a:rPr lang="en-US">
                <a:solidFill>
                  <a:srgbClr val="000000"/>
                </a:solidFill>
              </a:rPr>
              <a:t>dt</a:t>
            </a:r>
          </a:p>
        </p:txBody>
      </p:sp>
      <p:sp>
        <p:nvSpPr>
          <p:cNvPr id="40989" name="Text Box 29"/>
          <p:cNvSpPr txBox="1">
            <a:spLocks noChangeArrowheads="1"/>
          </p:cNvSpPr>
          <p:nvPr/>
        </p:nvSpPr>
        <p:spPr bwMode="auto">
          <a:xfrm>
            <a:off x="1004888" y="4406900"/>
            <a:ext cx="336550" cy="457200"/>
          </a:xfrm>
          <a:prstGeom prst="rect">
            <a:avLst/>
          </a:prstGeom>
          <a:noFill/>
          <a:ln w="9525">
            <a:noFill/>
            <a:miter lim="800000"/>
            <a:headEnd/>
            <a:tailEnd/>
          </a:ln>
        </p:spPr>
        <p:txBody>
          <a:bodyPr wrap="none">
            <a:spAutoFit/>
          </a:bodyPr>
          <a:lstStyle/>
          <a:p>
            <a:r>
              <a:rPr lang="en-US">
                <a:solidFill>
                  <a:srgbClr val="000000"/>
                </a:solidFill>
              </a:rPr>
              <a:t>d</a:t>
            </a:r>
          </a:p>
        </p:txBody>
      </p:sp>
      <p:sp>
        <p:nvSpPr>
          <p:cNvPr id="40990" name="Line 30"/>
          <p:cNvSpPr>
            <a:spLocks noChangeShapeType="1"/>
          </p:cNvSpPr>
          <p:nvPr/>
        </p:nvSpPr>
        <p:spPr bwMode="auto">
          <a:xfrm>
            <a:off x="1020763" y="4765675"/>
            <a:ext cx="304800" cy="0"/>
          </a:xfrm>
          <a:prstGeom prst="line">
            <a:avLst/>
          </a:prstGeom>
          <a:noFill/>
          <a:ln w="9525">
            <a:solidFill>
              <a:srgbClr val="000000"/>
            </a:solidFill>
            <a:round/>
            <a:headEnd/>
            <a:tailEnd/>
          </a:ln>
        </p:spPr>
        <p:txBody>
          <a:bodyPr wrap="none"/>
          <a:lstStyle/>
          <a:p>
            <a:endParaRPr lang="en-US"/>
          </a:p>
        </p:txBody>
      </p:sp>
      <p:sp>
        <p:nvSpPr>
          <p:cNvPr id="40991" name="Text Box 31"/>
          <p:cNvSpPr txBox="1">
            <a:spLocks noChangeArrowheads="1"/>
          </p:cNvSpPr>
          <p:nvPr/>
        </p:nvSpPr>
        <p:spPr bwMode="auto">
          <a:xfrm>
            <a:off x="966788" y="4711700"/>
            <a:ext cx="420687" cy="457200"/>
          </a:xfrm>
          <a:prstGeom prst="rect">
            <a:avLst/>
          </a:prstGeom>
          <a:noFill/>
          <a:ln w="9525">
            <a:noFill/>
            <a:miter lim="800000"/>
            <a:headEnd/>
            <a:tailEnd/>
          </a:ln>
        </p:spPr>
        <p:txBody>
          <a:bodyPr wrap="none">
            <a:spAutoFit/>
          </a:bodyPr>
          <a:lstStyle/>
          <a:p>
            <a:r>
              <a:rPr lang="en-US">
                <a:solidFill>
                  <a:srgbClr val="000000"/>
                </a:solidFill>
              </a:rPr>
              <a:t>dt</a:t>
            </a:r>
          </a:p>
        </p:txBody>
      </p:sp>
      <p:sp>
        <p:nvSpPr>
          <p:cNvPr id="40992" name="Text Box 32"/>
          <p:cNvSpPr txBox="1">
            <a:spLocks noChangeArrowheads="1"/>
          </p:cNvSpPr>
          <p:nvPr/>
        </p:nvSpPr>
        <p:spPr bwMode="auto">
          <a:xfrm>
            <a:off x="5394325" y="4087813"/>
            <a:ext cx="463550" cy="1098550"/>
          </a:xfrm>
          <a:prstGeom prst="rect">
            <a:avLst/>
          </a:prstGeom>
          <a:noFill/>
          <a:ln w="9525">
            <a:noFill/>
            <a:miter lim="800000"/>
            <a:headEnd/>
            <a:tailEnd/>
          </a:ln>
        </p:spPr>
        <p:txBody>
          <a:bodyPr wrap="none">
            <a:spAutoFit/>
          </a:bodyPr>
          <a:lstStyle/>
          <a:p>
            <a:r>
              <a:rPr lang="en-US" sz="6600">
                <a:solidFill>
                  <a:srgbClr val="000000"/>
                </a:solidFill>
              </a:rPr>
              <a:t>(</a:t>
            </a:r>
          </a:p>
        </p:txBody>
      </p:sp>
      <p:sp>
        <p:nvSpPr>
          <p:cNvPr id="40993" name="Text Box 33"/>
          <p:cNvSpPr txBox="1">
            <a:spLocks noChangeArrowheads="1"/>
          </p:cNvSpPr>
          <p:nvPr/>
        </p:nvSpPr>
        <p:spPr bwMode="auto">
          <a:xfrm>
            <a:off x="7477125" y="4102100"/>
            <a:ext cx="463550" cy="1098550"/>
          </a:xfrm>
          <a:prstGeom prst="rect">
            <a:avLst/>
          </a:prstGeom>
          <a:noFill/>
          <a:ln w="9525">
            <a:noFill/>
            <a:miter lim="800000"/>
            <a:headEnd/>
            <a:tailEnd/>
          </a:ln>
        </p:spPr>
        <p:txBody>
          <a:bodyPr wrap="none">
            <a:spAutoFit/>
          </a:bodyPr>
          <a:lstStyle/>
          <a:p>
            <a:r>
              <a:rPr lang="en-US" sz="6600">
                <a:solidFill>
                  <a:srgbClr val="000000"/>
                </a:solidFill>
              </a:rPr>
              <a:t>)</a:t>
            </a:r>
          </a:p>
        </p:txBody>
      </p:sp>
      <p:sp>
        <p:nvSpPr>
          <p:cNvPr id="40994" name="Text Box 34"/>
          <p:cNvSpPr txBox="1">
            <a:spLocks noChangeArrowheads="1"/>
          </p:cNvSpPr>
          <p:nvPr/>
        </p:nvSpPr>
        <p:spPr bwMode="auto">
          <a:xfrm>
            <a:off x="6858000" y="4706938"/>
            <a:ext cx="704850" cy="701675"/>
          </a:xfrm>
          <a:prstGeom prst="rect">
            <a:avLst/>
          </a:prstGeom>
          <a:noFill/>
          <a:ln w="9525">
            <a:noFill/>
            <a:miter lim="800000"/>
            <a:headEnd/>
            <a:tailEnd/>
          </a:ln>
        </p:spPr>
        <p:txBody>
          <a:bodyPr wrap="none">
            <a:spAutoFit/>
          </a:bodyPr>
          <a:lstStyle/>
          <a:p>
            <a:r>
              <a:rPr lang="en-US" sz="2000"/>
              <a:t>body</a:t>
            </a:r>
          </a:p>
          <a:p>
            <a:r>
              <a:rPr lang="en-US" sz="2000"/>
              <a:t>fixed</a:t>
            </a:r>
          </a:p>
        </p:txBody>
      </p:sp>
      <p:sp>
        <p:nvSpPr>
          <p:cNvPr id="40995" name="Text Box 35"/>
          <p:cNvSpPr txBox="1">
            <a:spLocks noChangeArrowheads="1"/>
          </p:cNvSpPr>
          <p:nvPr/>
        </p:nvSpPr>
        <p:spPr bwMode="auto">
          <a:xfrm>
            <a:off x="2149475" y="4711700"/>
            <a:ext cx="704850" cy="701675"/>
          </a:xfrm>
          <a:prstGeom prst="rect">
            <a:avLst/>
          </a:prstGeom>
          <a:noFill/>
          <a:ln w="9525">
            <a:noFill/>
            <a:miter lim="800000"/>
            <a:headEnd/>
            <a:tailEnd/>
          </a:ln>
        </p:spPr>
        <p:txBody>
          <a:bodyPr wrap="none">
            <a:spAutoFit/>
          </a:bodyPr>
          <a:lstStyle/>
          <a:p>
            <a:r>
              <a:rPr lang="en-US" sz="2000"/>
              <a:t>earth</a:t>
            </a:r>
          </a:p>
          <a:p>
            <a:r>
              <a:rPr lang="en-US" sz="2000"/>
              <a:t>fixed</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algn="l" eaLnBrk="1" hangingPunct="1"/>
            <a:r>
              <a:rPr lang="en-US"/>
              <a:t>How to get positions from velocities?</a:t>
            </a:r>
          </a:p>
        </p:txBody>
      </p:sp>
      <p:sp>
        <p:nvSpPr>
          <p:cNvPr id="41987" name="Rectangle 3"/>
          <p:cNvSpPr>
            <a:spLocks noGrp="1" noChangeArrowheads="1"/>
          </p:cNvSpPr>
          <p:nvPr>
            <p:ph type="body" idx="1"/>
          </p:nvPr>
        </p:nvSpPr>
        <p:spPr>
          <a:xfrm>
            <a:off x="457200" y="1600200"/>
            <a:ext cx="8458200" cy="4525963"/>
          </a:xfrm>
        </p:spPr>
        <p:txBody>
          <a:bodyPr/>
          <a:lstStyle/>
          <a:p>
            <a:pPr marL="0" indent="0" eaLnBrk="1" hangingPunct="1">
              <a:buNone/>
            </a:pPr>
            <a:r>
              <a:rPr lang="en-US"/>
              <a:t>Since          		</a:t>
            </a:r>
            <a:r>
              <a:rPr lang="en-US" i="1">
                <a:solidFill>
                  <a:srgbClr val="000000"/>
                </a:solidFill>
              </a:rPr>
              <a:t>V</a:t>
            </a:r>
            <a:r>
              <a:rPr lang="en-US" i="1" baseline="-25000">
                <a:solidFill>
                  <a:srgbClr val="000000"/>
                </a:solidFill>
              </a:rPr>
              <a:t>X</a:t>
            </a:r>
            <a:r>
              <a:rPr lang="en-US" i="1">
                <a:solidFill>
                  <a:srgbClr val="000000"/>
                </a:solidFill>
              </a:rPr>
              <a:t>  =  </a:t>
            </a:r>
            <a:r>
              <a:rPr lang="en-US" i="1" err="1">
                <a:solidFill>
                  <a:srgbClr val="000000"/>
                </a:solidFill>
              </a:rPr>
              <a:t>Ucos</a:t>
            </a:r>
            <a:r>
              <a:rPr lang="en-US" i="1">
                <a:solidFill>
                  <a:srgbClr val="000000"/>
                </a:solidFill>
                <a:sym typeface="Symbol" pitchFamily="18" charset="2"/>
              </a:rPr>
              <a:t>  -  </a:t>
            </a:r>
            <a:r>
              <a:rPr lang="en-US" i="1" err="1">
                <a:solidFill>
                  <a:srgbClr val="000000"/>
                </a:solidFill>
                <a:sym typeface="Symbol" pitchFamily="18" charset="2"/>
              </a:rPr>
              <a:t>Vsin</a:t>
            </a:r>
            <a:r>
              <a:rPr lang="en-US" i="1">
                <a:solidFill>
                  <a:srgbClr val="000000"/>
                </a:solidFill>
                <a:sym typeface="Symbol" pitchFamily="18" charset="2"/>
              </a:rPr>
              <a:t></a:t>
            </a:r>
            <a:br>
              <a:rPr lang="en-US" i="1">
                <a:solidFill>
                  <a:srgbClr val="000000"/>
                </a:solidFill>
                <a:sym typeface="Symbol" pitchFamily="18" charset="2"/>
              </a:rPr>
            </a:br>
            <a:r>
              <a:rPr lang="en-US" i="1">
                <a:solidFill>
                  <a:srgbClr val="000000"/>
                </a:solidFill>
                <a:sym typeface="Symbol" pitchFamily="18" charset="2"/>
              </a:rPr>
              <a:t>          	     	V</a:t>
            </a:r>
            <a:r>
              <a:rPr lang="en-US" i="1" baseline="-25000">
                <a:solidFill>
                  <a:srgbClr val="000000"/>
                </a:solidFill>
                <a:sym typeface="Symbol" pitchFamily="18" charset="2"/>
              </a:rPr>
              <a:t>Y</a:t>
            </a:r>
            <a:r>
              <a:rPr lang="en-US" i="1">
                <a:solidFill>
                  <a:srgbClr val="000000"/>
                </a:solidFill>
                <a:sym typeface="Symbol" pitchFamily="18" charset="2"/>
              </a:rPr>
              <a:t> =  </a:t>
            </a:r>
            <a:r>
              <a:rPr lang="en-US" i="1" err="1">
                <a:solidFill>
                  <a:srgbClr val="000000"/>
                </a:solidFill>
                <a:sym typeface="Symbol" pitchFamily="18" charset="2"/>
              </a:rPr>
              <a:t>Usin</a:t>
            </a:r>
            <a:r>
              <a:rPr lang="en-US" i="1">
                <a:solidFill>
                  <a:srgbClr val="000000"/>
                </a:solidFill>
                <a:sym typeface="Symbol" pitchFamily="18" charset="2"/>
              </a:rPr>
              <a:t>  +  </a:t>
            </a:r>
            <a:r>
              <a:rPr lang="en-US" i="1" err="1">
                <a:solidFill>
                  <a:srgbClr val="000000"/>
                </a:solidFill>
                <a:sym typeface="Symbol" pitchFamily="18" charset="2"/>
              </a:rPr>
              <a:t>Vcos</a:t>
            </a:r>
            <a:r>
              <a:rPr lang="en-US" i="1">
                <a:solidFill>
                  <a:srgbClr val="000000"/>
                </a:solidFill>
                <a:sym typeface="Symbol" pitchFamily="18" charset="2"/>
              </a:rPr>
              <a:t></a:t>
            </a:r>
            <a:br>
              <a:rPr lang="en-US">
                <a:sym typeface="Symbol" pitchFamily="18" charset="2"/>
              </a:rPr>
            </a:br>
            <a:r>
              <a:rPr lang="en-US">
                <a:sym typeface="Symbol" pitchFamily="18" charset="2"/>
              </a:rPr>
              <a:t>			</a:t>
            </a:r>
            <a:br>
              <a:rPr lang="en-US">
                <a:sym typeface="Symbol" pitchFamily="18" charset="2"/>
              </a:rPr>
            </a:br>
            <a:endParaRPr lang="en-US">
              <a:sym typeface="Symbol" pitchFamily="18" charset="2"/>
            </a:endParaRPr>
          </a:p>
          <a:p>
            <a:pPr marL="0" indent="0" eaLnBrk="1" hangingPunct="1">
              <a:buNone/>
            </a:pPr>
            <a:r>
              <a:rPr lang="en-US">
                <a:sym typeface="Symbol" pitchFamily="18" charset="2"/>
              </a:rPr>
              <a:t>Where              allows us to solve for the yaw angle </a:t>
            </a:r>
          </a:p>
          <a:p>
            <a:pPr marL="0" indent="0" eaLnBrk="1" hangingPunct="1">
              <a:buNone/>
            </a:pPr>
            <a:r>
              <a:rPr lang="en-US">
                <a:sym typeface="Symbol" pitchFamily="18" charset="2"/>
              </a:rPr>
              <a:t>Integrating these equations gives the circular vehicle path in earth-fixed coordinates, which gives earth-fixed vehicle paths that we’d expect to see if we were a bird watching from above. </a:t>
            </a:r>
            <a:endParaRPr lang="en-US" i="1">
              <a:solidFill>
                <a:srgbClr val="000000"/>
              </a:solidFill>
            </a:endParaRPr>
          </a:p>
        </p:txBody>
      </p:sp>
      <p:graphicFrame>
        <p:nvGraphicFramePr>
          <p:cNvPr id="41988" name="Object 4"/>
          <p:cNvGraphicFramePr>
            <a:graphicFrameLocks noChangeAspect="1"/>
          </p:cNvGraphicFramePr>
          <p:nvPr>
            <p:extLst>
              <p:ext uri="{D42A27DB-BD31-4B8C-83A1-F6EECF244321}">
                <p14:modId xmlns:p14="http://schemas.microsoft.com/office/powerpoint/2010/main" val="1124294451"/>
              </p:ext>
            </p:extLst>
          </p:nvPr>
        </p:nvGraphicFramePr>
        <p:xfrm>
          <a:off x="1828800" y="3810000"/>
          <a:ext cx="800100" cy="368300"/>
        </p:xfrm>
        <a:graphic>
          <a:graphicData uri="http://schemas.openxmlformats.org/presentationml/2006/ole">
            <mc:AlternateContent xmlns:mc="http://schemas.openxmlformats.org/markup-compatibility/2006">
              <mc:Choice xmlns:v="urn:schemas-microsoft-com:vml" Requires="v">
                <p:oleObj name="Equation" r:id="rId3" imgW="800100" imgH="368300" progId="Equation.3">
                  <p:embed/>
                </p:oleObj>
              </mc:Choice>
              <mc:Fallback>
                <p:oleObj name="Equation" r:id="rId3" imgW="800100" imgH="3683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3810000"/>
                        <a:ext cx="800100" cy="368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989" name="Text Box 5"/>
          <p:cNvSpPr txBox="1">
            <a:spLocks noChangeArrowheads="1"/>
          </p:cNvSpPr>
          <p:nvPr/>
        </p:nvSpPr>
        <p:spPr bwMode="auto">
          <a:xfrm>
            <a:off x="5257800" y="2667000"/>
            <a:ext cx="654050" cy="641350"/>
          </a:xfrm>
          <a:prstGeom prst="rect">
            <a:avLst/>
          </a:prstGeom>
          <a:noFill/>
          <a:ln w="9525">
            <a:noFill/>
            <a:miter lim="800000"/>
            <a:headEnd/>
            <a:tailEnd/>
          </a:ln>
        </p:spPr>
        <p:txBody>
          <a:bodyPr wrap="none">
            <a:spAutoFit/>
          </a:bodyPr>
          <a:lstStyle/>
          <a:p>
            <a:r>
              <a:rPr lang="en-US" sz="1800"/>
              <a:t>body</a:t>
            </a:r>
          </a:p>
          <a:p>
            <a:r>
              <a:rPr lang="en-US" sz="1800"/>
              <a:t>fixed</a:t>
            </a:r>
          </a:p>
        </p:txBody>
      </p:sp>
      <p:sp>
        <p:nvSpPr>
          <p:cNvPr id="41990" name="Text Box 6"/>
          <p:cNvSpPr txBox="1">
            <a:spLocks noChangeArrowheads="1"/>
          </p:cNvSpPr>
          <p:nvPr/>
        </p:nvSpPr>
        <p:spPr bwMode="auto">
          <a:xfrm>
            <a:off x="3124200" y="2667000"/>
            <a:ext cx="654050" cy="641350"/>
          </a:xfrm>
          <a:prstGeom prst="rect">
            <a:avLst/>
          </a:prstGeom>
          <a:noFill/>
          <a:ln w="9525">
            <a:noFill/>
            <a:miter lim="800000"/>
            <a:headEnd/>
            <a:tailEnd/>
          </a:ln>
        </p:spPr>
        <p:txBody>
          <a:bodyPr wrap="none">
            <a:spAutoFit/>
          </a:bodyPr>
          <a:lstStyle/>
          <a:p>
            <a:r>
              <a:rPr lang="en-US" sz="1800"/>
              <a:t>earth</a:t>
            </a:r>
          </a:p>
          <a:p>
            <a:r>
              <a:rPr lang="en-US" sz="1800"/>
              <a:t>fixed</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6"/>
          <p:cNvPicPr>
            <a:picLocks noChangeAspect="1" noChangeArrowheads="1"/>
          </p:cNvPicPr>
          <p:nvPr/>
        </p:nvPicPr>
        <p:blipFill>
          <a:blip r:embed="rId3" cstate="email">
            <a:extLst>
              <a:ext uri="{28A0092B-C50C-407E-A947-70E740481C1C}">
                <a14:useLocalDpi xmlns:a14="http://schemas.microsoft.com/office/drawing/2010/main"/>
              </a:ext>
            </a:extLst>
          </a:blip>
          <a:srcRect l="13600" t="27481" r="11732" b="29771"/>
          <a:stretch>
            <a:fillRect/>
          </a:stretch>
        </p:blipFill>
        <p:spPr bwMode="auto">
          <a:xfrm>
            <a:off x="5029200" y="2698750"/>
            <a:ext cx="1143000" cy="685800"/>
          </a:xfrm>
          <a:prstGeom prst="rect">
            <a:avLst/>
          </a:prstGeom>
          <a:noFill/>
          <a:ln w="9525">
            <a:noFill/>
            <a:miter lim="800000"/>
            <a:headEnd/>
            <a:tailEnd/>
          </a:ln>
        </p:spPr>
      </p:pic>
      <p:sp>
        <p:nvSpPr>
          <p:cNvPr id="43011" name="Line 20"/>
          <p:cNvSpPr>
            <a:spLocks noChangeShapeType="1"/>
          </p:cNvSpPr>
          <p:nvPr/>
        </p:nvSpPr>
        <p:spPr bwMode="auto">
          <a:xfrm>
            <a:off x="1838325" y="5221288"/>
            <a:ext cx="4937125" cy="0"/>
          </a:xfrm>
          <a:prstGeom prst="line">
            <a:avLst/>
          </a:prstGeom>
          <a:noFill/>
          <a:ln w="9525">
            <a:solidFill>
              <a:schemeClr val="tx1"/>
            </a:solidFill>
            <a:round/>
            <a:headEnd/>
            <a:tailEnd type="triangle" w="med" len="med"/>
          </a:ln>
        </p:spPr>
        <p:txBody>
          <a:bodyPr wrap="none" anchor="ctr"/>
          <a:lstStyle/>
          <a:p>
            <a:endParaRPr lang="en-US"/>
          </a:p>
        </p:txBody>
      </p:sp>
      <p:pic>
        <p:nvPicPr>
          <p:cNvPr id="43012" name="Picture 55"/>
          <p:cNvPicPr>
            <a:picLocks noChangeAspect="1" noChangeArrowheads="1"/>
          </p:cNvPicPr>
          <p:nvPr/>
        </p:nvPicPr>
        <p:blipFill>
          <a:blip r:embed="rId4" cstate="print"/>
          <a:srcRect/>
          <a:stretch>
            <a:fillRect/>
          </a:stretch>
        </p:blipFill>
        <p:spPr bwMode="auto">
          <a:xfrm>
            <a:off x="1887538" y="4432300"/>
            <a:ext cx="4391025" cy="1895475"/>
          </a:xfrm>
          <a:prstGeom prst="rect">
            <a:avLst/>
          </a:prstGeom>
          <a:noFill/>
          <a:ln w="9525">
            <a:noFill/>
            <a:miter lim="800000"/>
            <a:headEnd/>
            <a:tailEnd/>
          </a:ln>
        </p:spPr>
      </p:pic>
      <p:pic>
        <p:nvPicPr>
          <p:cNvPr id="43013" name="Picture 45"/>
          <p:cNvPicPr>
            <a:picLocks noChangeAspect="1" noChangeArrowheads="1"/>
          </p:cNvPicPr>
          <p:nvPr/>
        </p:nvPicPr>
        <p:blipFill>
          <a:blip r:embed="rId5" cstate="print"/>
          <a:srcRect/>
          <a:stretch>
            <a:fillRect/>
          </a:stretch>
        </p:blipFill>
        <p:spPr bwMode="auto">
          <a:xfrm>
            <a:off x="1827213" y="4522788"/>
            <a:ext cx="4781550" cy="1628775"/>
          </a:xfrm>
          <a:prstGeom prst="rect">
            <a:avLst/>
          </a:prstGeom>
          <a:noFill/>
          <a:ln w="9525">
            <a:noFill/>
            <a:miter lim="800000"/>
            <a:headEnd/>
            <a:tailEnd/>
          </a:ln>
        </p:spPr>
      </p:pic>
      <p:pic>
        <p:nvPicPr>
          <p:cNvPr id="43014" name="Picture 26"/>
          <p:cNvPicPr>
            <a:picLocks noChangeAspect="1" noChangeArrowheads="1"/>
          </p:cNvPicPr>
          <p:nvPr/>
        </p:nvPicPr>
        <p:blipFill>
          <a:blip r:embed="rId3" cstate="email">
            <a:extLst>
              <a:ext uri="{28A0092B-C50C-407E-A947-70E740481C1C}">
                <a14:useLocalDpi xmlns:a14="http://schemas.microsoft.com/office/drawing/2010/main"/>
              </a:ext>
            </a:extLst>
          </a:blip>
          <a:srcRect l="13600" t="27481" r="11732" b="29771"/>
          <a:stretch>
            <a:fillRect/>
          </a:stretch>
        </p:blipFill>
        <p:spPr bwMode="auto">
          <a:xfrm>
            <a:off x="2559050" y="3384550"/>
            <a:ext cx="1143000" cy="685800"/>
          </a:xfrm>
          <a:prstGeom prst="rect">
            <a:avLst/>
          </a:prstGeom>
          <a:noFill/>
          <a:ln w="9525">
            <a:noFill/>
            <a:miter lim="800000"/>
            <a:headEnd/>
            <a:tailEnd/>
          </a:ln>
        </p:spPr>
      </p:pic>
      <p:sp>
        <p:nvSpPr>
          <p:cNvPr id="12" name="Rectangle 3"/>
          <p:cNvSpPr txBox="1">
            <a:spLocks noChangeArrowheads="1"/>
          </p:cNvSpPr>
          <p:nvPr/>
        </p:nvSpPr>
        <p:spPr bwMode="auto">
          <a:xfrm>
            <a:off x="475034" y="1622088"/>
            <a:ext cx="8229600" cy="4525962"/>
          </a:xfrm>
          <a:prstGeom prst="rect">
            <a:avLst/>
          </a:prstGeom>
          <a:noFill/>
          <a:ln w="9525">
            <a:noFill/>
            <a:miter lim="800000"/>
            <a:headEnd/>
            <a:tailEnd/>
          </a:ln>
        </p:spPr>
        <p:txBody>
          <a:bodyPr/>
          <a:lstStyle/>
          <a:p>
            <a:pPr>
              <a:spcBef>
                <a:spcPct val="20000"/>
              </a:spcBef>
              <a:defRPr/>
            </a:pPr>
            <a:r>
              <a:rPr lang="en-US" sz="3200">
                <a:latin typeface="+mn-lt"/>
              </a:rPr>
              <a:t> </a:t>
            </a:r>
          </a:p>
        </p:txBody>
      </p:sp>
      <p:sp>
        <p:nvSpPr>
          <p:cNvPr id="13" name="Rectangle 2"/>
          <p:cNvSpPr>
            <a:spLocks noGrp="1" noChangeArrowheads="1"/>
          </p:cNvSpPr>
          <p:nvPr>
            <p:ph type="title"/>
          </p:nvPr>
        </p:nvSpPr>
        <p:spPr/>
        <p:txBody>
          <a:bodyPr>
            <a:noAutofit/>
          </a:bodyPr>
          <a:lstStyle/>
          <a:p>
            <a:pPr algn="l" eaLnBrk="1" hangingPunct="1">
              <a:defRPr/>
            </a:pPr>
            <a:r>
              <a:rPr lang="en-US" sz="2800"/>
              <a:t>We will use these transformations between body-fixed and earth-fixed coordinates when discussing the planar dynamics of the vehicle</a:t>
            </a:r>
          </a:p>
        </p:txBody>
      </p:sp>
      <p:cxnSp>
        <p:nvCxnSpPr>
          <p:cNvPr id="43017" name="AutoShape 17"/>
          <p:cNvCxnSpPr>
            <a:cxnSpLocks noChangeShapeType="1"/>
          </p:cNvCxnSpPr>
          <p:nvPr/>
        </p:nvCxnSpPr>
        <p:spPr bwMode="auto">
          <a:xfrm flipV="1">
            <a:off x="3657600" y="3048000"/>
            <a:ext cx="1381125" cy="700088"/>
          </a:xfrm>
          <a:prstGeom prst="curvedConnector3">
            <a:avLst>
              <a:gd name="adj1" fmla="val 50000"/>
            </a:avLst>
          </a:prstGeom>
          <a:noFill/>
          <a:ln w="28575">
            <a:solidFill>
              <a:schemeClr val="tx1"/>
            </a:solidFill>
            <a:round/>
            <a:headEnd/>
            <a:tailEnd type="triangle" w="med" len="med"/>
          </a:ln>
        </p:spPr>
      </p:cxnSp>
      <p:sp>
        <p:nvSpPr>
          <p:cNvPr id="43018" name="Text Box 18"/>
          <p:cNvSpPr txBox="1">
            <a:spLocks noChangeArrowheads="1"/>
          </p:cNvSpPr>
          <p:nvPr/>
        </p:nvSpPr>
        <p:spPr bwMode="auto">
          <a:xfrm>
            <a:off x="6141193" y="1838909"/>
            <a:ext cx="2715039" cy="830997"/>
          </a:xfrm>
          <a:prstGeom prst="rect">
            <a:avLst/>
          </a:prstGeom>
          <a:noFill/>
          <a:ln w="9525">
            <a:noFill/>
            <a:miter lim="800000"/>
            <a:headEnd/>
            <a:tailEnd/>
          </a:ln>
        </p:spPr>
        <p:txBody>
          <a:bodyPr wrap="none">
            <a:spAutoFit/>
          </a:bodyPr>
          <a:lstStyle/>
          <a:p>
            <a:r>
              <a:rPr lang="en-US"/>
              <a:t>Lane change</a:t>
            </a:r>
          </a:p>
          <a:p>
            <a:r>
              <a:rPr lang="en-US"/>
              <a:t>(driver’s perception)</a:t>
            </a:r>
          </a:p>
        </p:txBody>
      </p:sp>
      <p:sp>
        <p:nvSpPr>
          <p:cNvPr id="43019" name="Line 19"/>
          <p:cNvSpPr>
            <a:spLocks noChangeShapeType="1"/>
          </p:cNvSpPr>
          <p:nvPr/>
        </p:nvSpPr>
        <p:spPr bwMode="auto">
          <a:xfrm flipV="1">
            <a:off x="1836738" y="3805238"/>
            <a:ext cx="0" cy="2106612"/>
          </a:xfrm>
          <a:prstGeom prst="line">
            <a:avLst/>
          </a:prstGeom>
          <a:noFill/>
          <a:ln w="9525">
            <a:solidFill>
              <a:schemeClr val="tx1"/>
            </a:solidFill>
            <a:round/>
            <a:headEnd/>
            <a:tailEnd type="triangle" w="med" len="med"/>
          </a:ln>
        </p:spPr>
        <p:txBody>
          <a:bodyPr wrap="none" anchor="ctr"/>
          <a:lstStyle/>
          <a:p>
            <a:endParaRPr lang="en-US"/>
          </a:p>
        </p:txBody>
      </p:sp>
      <p:sp>
        <p:nvSpPr>
          <p:cNvPr id="43020" name="Text Box 23"/>
          <p:cNvSpPr txBox="1">
            <a:spLocks noChangeArrowheads="1"/>
          </p:cNvSpPr>
          <p:nvPr/>
        </p:nvSpPr>
        <p:spPr bwMode="auto">
          <a:xfrm>
            <a:off x="5483225" y="4419600"/>
            <a:ext cx="484188" cy="523875"/>
          </a:xfrm>
          <a:prstGeom prst="rect">
            <a:avLst/>
          </a:prstGeom>
          <a:noFill/>
          <a:ln w="9525">
            <a:noFill/>
            <a:miter lim="800000"/>
            <a:headEnd/>
            <a:tailEnd/>
          </a:ln>
        </p:spPr>
        <p:txBody>
          <a:bodyPr wrap="none">
            <a:spAutoFit/>
          </a:bodyPr>
          <a:lstStyle/>
          <a:p>
            <a:pPr algn="ctr"/>
            <a:r>
              <a:rPr lang="en-US" sz="1400">
                <a:solidFill>
                  <a:srgbClr val="FF0000"/>
                </a:solidFill>
              </a:rPr>
              <a:t>yaw</a:t>
            </a:r>
          </a:p>
          <a:p>
            <a:pPr algn="ctr"/>
            <a:r>
              <a:rPr lang="en-US" sz="1400">
                <a:solidFill>
                  <a:srgbClr val="FF0000"/>
                </a:solidFill>
              </a:rPr>
              <a:t>rate</a:t>
            </a:r>
          </a:p>
        </p:txBody>
      </p:sp>
      <p:sp>
        <p:nvSpPr>
          <p:cNvPr id="43021" name="Text Box 24"/>
          <p:cNvSpPr txBox="1">
            <a:spLocks noChangeArrowheads="1"/>
          </p:cNvSpPr>
          <p:nvPr/>
        </p:nvSpPr>
        <p:spPr bwMode="auto">
          <a:xfrm>
            <a:off x="3535363" y="4384675"/>
            <a:ext cx="819150" cy="523875"/>
          </a:xfrm>
          <a:prstGeom prst="rect">
            <a:avLst/>
          </a:prstGeom>
          <a:noFill/>
          <a:ln w="9525">
            <a:noFill/>
            <a:miter lim="800000"/>
            <a:headEnd/>
            <a:tailEnd/>
          </a:ln>
        </p:spPr>
        <p:txBody>
          <a:bodyPr>
            <a:spAutoFit/>
          </a:bodyPr>
          <a:lstStyle/>
          <a:p>
            <a:pPr algn="ctr"/>
            <a:r>
              <a:rPr lang="en-US" sz="1400">
                <a:solidFill>
                  <a:srgbClr val="0000FF"/>
                </a:solidFill>
              </a:rPr>
              <a:t>lateral velocity</a:t>
            </a:r>
          </a:p>
        </p:txBody>
      </p:sp>
      <p:sp>
        <p:nvSpPr>
          <p:cNvPr id="43022" name="Text Box 25"/>
          <p:cNvSpPr txBox="1">
            <a:spLocks noChangeArrowheads="1"/>
          </p:cNvSpPr>
          <p:nvPr/>
        </p:nvSpPr>
        <p:spPr bwMode="auto">
          <a:xfrm>
            <a:off x="6765925" y="5049838"/>
            <a:ext cx="355600" cy="304800"/>
          </a:xfrm>
          <a:prstGeom prst="rect">
            <a:avLst/>
          </a:prstGeom>
          <a:noFill/>
          <a:ln w="9525">
            <a:noFill/>
            <a:miter lim="800000"/>
            <a:headEnd/>
            <a:tailEnd/>
          </a:ln>
        </p:spPr>
        <p:txBody>
          <a:bodyPr>
            <a:spAutoFit/>
          </a:bodyPr>
          <a:lstStyle/>
          <a:p>
            <a:pPr algn="ctr"/>
            <a:r>
              <a:rPr lang="en-US" sz="1400"/>
              <a:t>t</a:t>
            </a:r>
          </a:p>
        </p:txBody>
      </p:sp>
      <p:cxnSp>
        <p:nvCxnSpPr>
          <p:cNvPr id="20" name="Straight Connector 19"/>
          <p:cNvCxnSpPr/>
          <p:nvPr/>
        </p:nvCxnSpPr>
        <p:spPr>
          <a:xfrm>
            <a:off x="2068513" y="4111625"/>
            <a:ext cx="44053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2068513" y="3403600"/>
            <a:ext cx="4403725" cy="0"/>
          </a:xfrm>
          <a:prstGeom prst="line">
            <a:avLst/>
          </a:prstGeom>
          <a:ln w="381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2070100" y="2692400"/>
            <a:ext cx="440531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 Box 18"/>
          <p:cNvSpPr txBox="1">
            <a:spLocks noChangeArrowheads="1"/>
          </p:cNvSpPr>
          <p:nvPr/>
        </p:nvSpPr>
        <p:spPr bwMode="auto">
          <a:xfrm>
            <a:off x="6172200" y="4152901"/>
            <a:ext cx="2855910" cy="830997"/>
          </a:xfrm>
          <a:prstGeom prst="rect">
            <a:avLst/>
          </a:prstGeom>
          <a:noFill/>
          <a:ln w="9525">
            <a:noFill/>
            <a:miter lim="800000"/>
            <a:headEnd/>
            <a:tailEnd/>
          </a:ln>
        </p:spPr>
        <p:txBody>
          <a:bodyPr wrap="none">
            <a:spAutoFit/>
          </a:bodyPr>
          <a:lstStyle/>
          <a:p>
            <a:r>
              <a:rPr lang="en-US"/>
              <a:t>Lane change</a:t>
            </a:r>
          </a:p>
          <a:p>
            <a:r>
              <a:rPr lang="en-US"/>
              <a:t>(vehicle’s perception)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algn="l" eaLnBrk="1" hangingPunct="1"/>
            <a:r>
              <a:rPr lang="en-US"/>
              <a:t>Review</a:t>
            </a:r>
          </a:p>
        </p:txBody>
      </p:sp>
      <p:sp>
        <p:nvSpPr>
          <p:cNvPr id="44035" name="Rectangle 3"/>
          <p:cNvSpPr>
            <a:spLocks noGrp="1" noChangeArrowheads="1"/>
          </p:cNvSpPr>
          <p:nvPr>
            <p:ph type="body" idx="1"/>
          </p:nvPr>
        </p:nvSpPr>
        <p:spPr>
          <a:xfrm>
            <a:off x="600215" y="1219200"/>
            <a:ext cx="5715000" cy="4525963"/>
          </a:xfrm>
        </p:spPr>
        <p:txBody>
          <a:bodyPr/>
          <a:lstStyle/>
          <a:p>
            <a:r>
              <a:rPr lang="en-US" sz="2400"/>
              <a:t>What are X, Y, and Z in the following helicopter (it mostly moves up/down)?</a:t>
            </a:r>
          </a:p>
          <a:p>
            <a:endParaRPr lang="en-US" sz="2400"/>
          </a:p>
          <a:p>
            <a:r>
              <a:rPr lang="en-US" sz="2400"/>
              <a:t>Can you draw SAE coordinates on the following vehicle? What is the lateral velocity of this vehicle in SAE?</a:t>
            </a:r>
          </a:p>
          <a:p>
            <a:endParaRPr lang="en-US" sz="2400"/>
          </a:p>
          <a:p>
            <a:r>
              <a:rPr lang="en-US" sz="2400"/>
              <a:t>A vehicle has a constant positive yaw rate but negative constant lateral velocity and constant forward velocity. What maneuver is it doing?</a:t>
            </a:r>
          </a:p>
        </p:txBody>
      </p:sp>
      <p:pic>
        <p:nvPicPr>
          <p:cNvPr id="2" name="Picture 1"/>
          <p:cNvPicPr>
            <a:picLocks noChangeAspect="1"/>
          </p:cNvPicPr>
          <p:nvPr/>
        </p:nvPicPr>
        <p:blipFill>
          <a:blip r:embed="rId3"/>
          <a:stretch>
            <a:fillRect/>
          </a:stretch>
        </p:blipFill>
        <p:spPr>
          <a:xfrm>
            <a:off x="6487412" y="190627"/>
            <a:ext cx="2228571" cy="2057143"/>
          </a:xfrm>
          <a:prstGeom prst="rect">
            <a:avLst/>
          </a:prstGeom>
        </p:spPr>
      </p:pic>
      <p:pic>
        <p:nvPicPr>
          <p:cNvPr id="3" name="Picture 2"/>
          <p:cNvPicPr>
            <a:picLocks noChangeAspect="1"/>
          </p:cNvPicPr>
          <p:nvPr/>
        </p:nvPicPr>
        <p:blipFill>
          <a:blip r:embed="rId4"/>
          <a:stretch>
            <a:fillRect/>
          </a:stretch>
        </p:blipFill>
        <p:spPr>
          <a:xfrm>
            <a:off x="5858840" y="2392332"/>
            <a:ext cx="2857143" cy="1600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204A49901785041AF741C157FF60EBA" ma:contentTypeVersion="21" ma:contentTypeDescription="Create a new document." ma:contentTypeScope="" ma:versionID="3affe9f3ad662f7041dbcf2c454b5892">
  <xsd:schema xmlns:xsd="http://www.w3.org/2001/XMLSchema" xmlns:xs="http://www.w3.org/2001/XMLSchema" xmlns:p="http://schemas.microsoft.com/office/2006/metadata/properties" xmlns:ns2="c7c738f6-68ec-422e-b0e4-3523873f7adf" xmlns:ns3="542b8847-f5d4-4c9f-bd30-657d16e5db1d" targetNamespace="http://schemas.microsoft.com/office/2006/metadata/properties" ma:root="true" ma:fieldsID="91f30fe7832be7f590b5986e49d89340" ns2:_="" ns3:_="">
    <xsd:import namespace="c7c738f6-68ec-422e-b0e4-3523873f7adf"/>
    <xsd:import namespace="542b8847-f5d4-4c9f-bd30-657d16e5db1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_Flow_SignoffStatus" minOccurs="0"/>
                <xsd:element ref="ns2:MediaServiceDateTaken" minOccurs="0"/>
                <xsd:element ref="ns2:MediaServiceAutoTags"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MediaLengthInSeconds" minOccurs="0"/>
                <xsd:element ref="ns2:Size" minOccurs="0"/>
                <xsd:element ref="ns2:lcf76f155ced4ddcb4097134ff3c332f" minOccurs="0"/>
                <xsd:element ref="ns3:TaxCatchAll" minOccurs="0"/>
                <xsd:element ref="ns2:MediaServiceObjectDetectorVersions" minOccurs="0"/>
                <xsd:element ref="ns2:MediaServiceSearchProperties" minOccurs="0"/>
                <xsd:element ref="ns2: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c738f6-68ec-422e-b0e4-3523873f7a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_Flow_SignoffStatus" ma:index="12" nillable="true" ma:displayName="Sign-off status" ma:internalName="Sign_x002d_off_x0020_status">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Size" ma:index="22" nillable="true" ma:displayName="Size " ma:format="Dropdown" ma:internalName="Size" ma:percentage="FALSE">
      <xsd:simpleType>
        <xsd:restriction base="dms:Number"/>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28b28469-8996-4088-bd89-44d87d6385e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Notes" ma:index="28" nillable="true" ma:displayName="Notes" ma:format="Dropdown" ma:internalName="Note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2b8847-f5d4-4c9f-bd30-657d16e5db1d"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79eca24d-24b6-4c23-abe4-d1cce8e5186c}" ma:internalName="TaxCatchAll" ma:showField="CatchAllData" ma:web="542b8847-f5d4-4c9f-bd30-657d16e5db1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Flow_SignoffStatus xmlns="c7c738f6-68ec-422e-b0e4-3523873f7adf" xsi:nil="true"/>
    <Size xmlns="c7c738f6-68ec-422e-b0e4-3523873f7adf" xsi:nil="true"/>
    <lcf76f155ced4ddcb4097134ff3c332f xmlns="c7c738f6-68ec-422e-b0e4-3523873f7adf">
      <Terms xmlns="http://schemas.microsoft.com/office/infopath/2007/PartnerControls"/>
    </lcf76f155ced4ddcb4097134ff3c332f>
    <TaxCatchAll xmlns="542b8847-f5d4-4c9f-bd30-657d16e5db1d" xsi:nil="true"/>
    <Notes xmlns="c7c738f6-68ec-422e-b0e4-3523873f7adf" xsi:nil="true"/>
  </documentManagement>
</p:properties>
</file>

<file path=customXml/itemProps1.xml><?xml version="1.0" encoding="utf-8"?>
<ds:datastoreItem xmlns:ds="http://schemas.openxmlformats.org/officeDocument/2006/customXml" ds:itemID="{5B286D7C-A78D-4393-9133-184576471A8E}">
  <ds:schemaRefs>
    <ds:schemaRef ds:uri="http://schemas.microsoft.com/sharepoint/v3/contenttype/forms"/>
  </ds:schemaRefs>
</ds:datastoreItem>
</file>

<file path=customXml/itemProps2.xml><?xml version="1.0" encoding="utf-8"?>
<ds:datastoreItem xmlns:ds="http://schemas.openxmlformats.org/officeDocument/2006/customXml" ds:itemID="{DD8AB8A3-EED7-4F99-94FD-CAF4E531A2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7c738f6-68ec-422e-b0e4-3523873f7adf"/>
    <ds:schemaRef ds:uri="542b8847-f5d4-4c9f-bd30-657d16e5db1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030208C-2FCC-4C42-A973-7D6183899845}">
  <ds:schemaRefs>
    <ds:schemaRef ds:uri="542b8847-f5d4-4c9f-bd30-657d16e5db1d"/>
    <ds:schemaRef ds:uri="http://schemas.openxmlformats.org/package/2006/metadata/core-properties"/>
    <ds:schemaRef ds:uri="http://purl.org/dc/terms/"/>
    <ds:schemaRef ds:uri="http://purl.org/dc/dcmitype/"/>
    <ds:schemaRef ds:uri="c7c738f6-68ec-422e-b0e4-3523873f7adf"/>
    <ds:schemaRef ds:uri="http://schemas.microsoft.com/office/2006/documentManagement/types"/>
    <ds:schemaRef ds:uri="http://schemas.microsoft.com/office/infopath/2007/PartnerControls"/>
    <ds:schemaRef ds:uri="http://schemas.microsoft.com/office/2006/metadata/properties"/>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0</TotalTime>
  <Words>2552</Words>
  <Application>Microsoft Office PowerPoint</Application>
  <PresentationFormat>On-screen Show (4:3)</PresentationFormat>
  <Paragraphs>373</Paragraphs>
  <Slides>52</Slides>
  <Notes>43</Notes>
  <HiddenSlides>0</HiddenSlides>
  <MMClips>1</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52</vt:i4>
      </vt:variant>
    </vt:vector>
  </HeadingPairs>
  <TitlesOfParts>
    <vt:vector size="59" baseType="lpstr">
      <vt:lpstr>Arial</vt:lpstr>
      <vt:lpstr>Calibri</vt:lpstr>
      <vt:lpstr>Symbol</vt:lpstr>
      <vt:lpstr>Times New Roman</vt:lpstr>
      <vt:lpstr>Wingdings</vt:lpstr>
      <vt:lpstr>Office Theme</vt:lpstr>
      <vt:lpstr>Equation</vt:lpstr>
      <vt:lpstr>Automotive Vehicle Dynamics</vt:lpstr>
      <vt:lpstr>Goals of this lecture?</vt:lpstr>
      <vt:lpstr>The definition of body-fixed X, Y, and Z are obvious from fact that ordering is arranged by magnitude of typical velocities</vt:lpstr>
      <vt:lpstr>Given that, what would be obvious coordinate directions for…?</vt:lpstr>
      <vt:lpstr>It can be harder to remember directions and words for rotation.</vt:lpstr>
      <vt:lpstr>It can be hard to remember directions and words for rotation.</vt:lpstr>
      <vt:lpstr>In roll, rotation occurs about the x-axis</vt:lpstr>
      <vt:lpstr>In pitch, rotation occurs about the y-axis</vt:lpstr>
      <vt:lpstr>In yaw, rotation occurs about the z-axis</vt:lpstr>
      <vt:lpstr>Vehicle Axis Systems? –  SAE Pitch</vt:lpstr>
      <vt:lpstr>Vehicle Axis Systems? –  ISO Pitch</vt:lpstr>
      <vt:lpstr>Vehicle Axis Systems? – SAE Yaw</vt:lpstr>
      <vt:lpstr>Vehicle Axis Systems? – ISO Yaw</vt:lpstr>
      <vt:lpstr>Vehicle Axis Systems? – SAE Roll</vt:lpstr>
      <vt:lpstr>Vehicle Axis Systems? – ISO Roll</vt:lpstr>
      <vt:lpstr>Where is this defined?</vt:lpstr>
      <vt:lpstr>Watch out for mix-ups!</vt:lpstr>
      <vt:lpstr>Velocities are what we are most interested in…</vt:lpstr>
      <vt:lpstr>Measurement of sideslip, tire slip, and steer angle can be tricky</vt:lpstr>
      <vt:lpstr>Example: what are typical signs for a high-speed turn?</vt:lpstr>
      <vt:lpstr>What if the body rolls? We use 2 different coordinate systems then</vt:lpstr>
      <vt:lpstr>On some vehicles, drivers can use weight shift to affect “sprung mass” to cause wheel lift</vt:lpstr>
      <vt:lpstr>What about aerodynamics?</vt:lpstr>
      <vt:lpstr>Case of Copy-Cat Coordinate System Cads</vt:lpstr>
      <vt:lpstr>My version!</vt:lpstr>
      <vt:lpstr>The choice of coordinate systems is not critical if we know how to convert form one to another</vt:lpstr>
      <vt:lpstr>Body-to-global coordinate conversions are common in registering sensor information to a map</vt:lpstr>
      <vt:lpstr>Dynamicists often use capitalization to indicate GLOBAL vs local coordinates</vt:lpstr>
      <vt:lpstr>… except velocities are often capitalized (I’m not sure why!)</vt:lpstr>
      <vt:lpstr>We’ll be talking a LOT about inertial coordinates soon…</vt:lpstr>
      <vt:lpstr>Technically, these earth-fixed coordinates are NOT inertial</vt:lpstr>
      <vt:lpstr>How to perform a coordinate transform?</vt:lpstr>
      <vt:lpstr>The coordinate transformation in 2-D can be derived by hand</vt:lpstr>
      <vt:lpstr>Real transformations are usually 3D, and we can’t arbitrarily specify angles</vt:lpstr>
      <vt:lpstr>Convention is important!</vt:lpstr>
      <vt:lpstr>Graphically</vt:lpstr>
      <vt:lpstr>Step 1: Coordinate Transformation</vt:lpstr>
      <vt:lpstr>Step 2: Coordinate Transformation</vt:lpstr>
      <vt:lpstr>Step 3: Coordinate Transformation</vt:lpstr>
      <vt:lpstr>The last thing to consider is translation to align origins</vt:lpstr>
      <vt:lpstr>We can put each rotation matrix into one BIG matrix</vt:lpstr>
      <vt:lpstr>Summary</vt:lpstr>
      <vt:lpstr>Coordinate transformation from global to body?</vt:lpstr>
      <vt:lpstr>Body-fixed and earth-fixed,  what’s our favorite?</vt:lpstr>
      <vt:lpstr>Example: Let’s figure how fast a car spins in yaw when driving in a circle!</vt:lpstr>
      <vt:lpstr>Example: Let’s figure how fast a car spins when driving in a circle!</vt:lpstr>
      <vt:lpstr>The total yaw angle to go around a circle is 2</vt:lpstr>
      <vt:lpstr>People don’t (usually) think in body-fixed coordinates</vt:lpstr>
      <vt:lpstr>What are we going to use in this class?</vt:lpstr>
      <vt:lpstr>How to get positions from velocities?</vt:lpstr>
      <vt:lpstr>We will use these transformations between body-fixed and earth-fixed coordinates when discussing the planar dynamics of the vehicle</vt:lpstr>
      <vt:lpstr>Review</vt:lpstr>
    </vt:vector>
  </TitlesOfParts>
  <Company>Dell Computer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 452 - Vehicle Dynamics</dc:title>
  <dc:creator>Sean Brennan</dc:creator>
  <cp:lastModifiedBy>Sean Brennan</cp:lastModifiedBy>
  <cp:revision>3</cp:revision>
  <dcterms:created xsi:type="dcterms:W3CDTF">2000-01-08T19:37:57Z</dcterms:created>
  <dcterms:modified xsi:type="dcterms:W3CDTF">2026-02-02T20:34:06Z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0x0101009204A49901785041AF741C157FF60EBA</vt:lpwstr>
  </property>
  <property fmtid="{D5CDD505-2E9C-101B-9397-08002B2CF9AE}" pid="3" name="MediaServiceImageTags">
    <vt:lpwstr/>
  </property>
</Properties>
</file>