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rts/chart3.xml" ContentType="application/vnd.openxmlformats-officedocument.drawingml.chart+xml"/>
  <Override PartName="/ppt/notesSlides/notesSlide34.xml" ContentType="application/vnd.openxmlformats-officedocument.presentationml.notesSlide+xml"/>
  <Override PartName="/ppt/charts/chart4.xml" ContentType="application/vnd.openxmlformats-officedocument.drawingml.chart+xml"/>
  <Override PartName="/ppt/notesSlides/notesSlide35.xml" ContentType="application/vnd.openxmlformats-officedocument.presentationml.notesSlide+xml"/>
  <Override PartName="/ppt/charts/chart5.xml" ContentType="application/vnd.openxmlformats-officedocument.drawingml.chart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5" r:id="rId4"/>
  </p:sldMasterIdLst>
  <p:notesMasterIdLst>
    <p:notesMasterId r:id="rId68"/>
  </p:notesMasterIdLst>
  <p:handoutMasterIdLst>
    <p:handoutMasterId r:id="rId69"/>
  </p:handoutMasterIdLst>
  <p:sldIdLst>
    <p:sldId id="353" r:id="rId5"/>
    <p:sldId id="256" r:id="rId6"/>
    <p:sldId id="354" r:id="rId7"/>
    <p:sldId id="355" r:id="rId8"/>
    <p:sldId id="356" r:id="rId9"/>
    <p:sldId id="357" r:id="rId10"/>
    <p:sldId id="349" r:id="rId11"/>
    <p:sldId id="358" r:id="rId12"/>
    <p:sldId id="308" r:id="rId13"/>
    <p:sldId id="307" r:id="rId14"/>
    <p:sldId id="327" r:id="rId15"/>
    <p:sldId id="379" r:id="rId16"/>
    <p:sldId id="380" r:id="rId17"/>
    <p:sldId id="381" r:id="rId18"/>
    <p:sldId id="375" r:id="rId19"/>
    <p:sldId id="366" r:id="rId20"/>
    <p:sldId id="367" r:id="rId21"/>
    <p:sldId id="368" r:id="rId22"/>
    <p:sldId id="361" r:id="rId23"/>
    <p:sldId id="365" r:id="rId24"/>
    <p:sldId id="369" r:id="rId25"/>
    <p:sldId id="376" r:id="rId26"/>
    <p:sldId id="362" r:id="rId27"/>
    <p:sldId id="377" r:id="rId28"/>
    <p:sldId id="360" r:id="rId29"/>
    <p:sldId id="370" r:id="rId30"/>
    <p:sldId id="373" r:id="rId31"/>
    <p:sldId id="374" r:id="rId32"/>
    <p:sldId id="371" r:id="rId33"/>
    <p:sldId id="372" r:id="rId34"/>
    <p:sldId id="378" r:id="rId35"/>
    <p:sldId id="309" r:id="rId36"/>
    <p:sldId id="328" r:id="rId37"/>
    <p:sldId id="359" r:id="rId38"/>
    <p:sldId id="330" r:id="rId39"/>
    <p:sldId id="332" r:id="rId40"/>
    <p:sldId id="322" r:id="rId41"/>
    <p:sldId id="350" r:id="rId42"/>
    <p:sldId id="351" r:id="rId43"/>
    <p:sldId id="352" r:id="rId44"/>
    <p:sldId id="382" r:id="rId45"/>
    <p:sldId id="337" r:id="rId46"/>
    <p:sldId id="313" r:id="rId47"/>
    <p:sldId id="311" r:id="rId48"/>
    <p:sldId id="314" r:id="rId49"/>
    <p:sldId id="335" r:id="rId50"/>
    <p:sldId id="316" r:id="rId51"/>
    <p:sldId id="336" r:id="rId52"/>
    <p:sldId id="324" r:id="rId53"/>
    <p:sldId id="325" r:id="rId54"/>
    <p:sldId id="266" r:id="rId55"/>
    <p:sldId id="326" r:id="rId56"/>
    <p:sldId id="338" r:id="rId57"/>
    <p:sldId id="339" r:id="rId58"/>
    <p:sldId id="340" r:id="rId59"/>
    <p:sldId id="341" r:id="rId60"/>
    <p:sldId id="342" r:id="rId61"/>
    <p:sldId id="343" r:id="rId62"/>
    <p:sldId id="344" r:id="rId63"/>
    <p:sldId id="345" r:id="rId64"/>
    <p:sldId id="346" r:id="rId65"/>
    <p:sldId id="347" r:id="rId66"/>
    <p:sldId id="348" r:id="rId67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k Joyce" initials="MJ" lastIdx="1" clrIdx="0">
    <p:extLst>
      <p:ext uri="{19B8F6BF-5375-455C-9EA6-DF929625EA0E}">
        <p15:presenceInfo xmlns:p15="http://schemas.microsoft.com/office/powerpoint/2012/main" userId="S-1-5-21-3087494574-4122701227-985043092-4011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D9D8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21" autoAdjust="0"/>
    <p:restoredTop sz="90929"/>
  </p:normalViewPr>
  <p:slideViewPr>
    <p:cSldViewPr>
      <p:cViewPr varScale="1">
        <p:scale>
          <a:sx n="144" d="100"/>
          <a:sy n="144" d="100"/>
        </p:scale>
        <p:origin x="5028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drive.win.psu.edu\users\m\z\mzj5127\ME%20452\Copy%20of%20ME452%20Final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drive.win.psu.edu\users\m\z\mzj5127\ME%20452\Copy%20of%20ME452%20Final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YAN\Documents\Ackerman_Geometry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YAN\Documents\Ackerman_Geometry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YAN\Documents\Ackerman_Geometry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E:\Ackerman_Geometry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[Copy of ME452 Final Project.xlsx]Sheet2!PivotTable1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Steer</a:t>
            </a:r>
            <a:r>
              <a:rPr lang="en-US" baseline="0" dirty="0"/>
              <a:t> Angles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3.1856482448669121E-2"/>
          <c:y val="0.11924785792472679"/>
          <c:w val="0.91787340764592429"/>
          <c:h val="0.5724015203493754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Sheet2!$B$4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Sheet2!$A$5:$A$51</c:f>
              <c:multiLvlStrCache>
                <c:ptCount val="38"/>
                <c:lvl>
                  <c:pt idx="0">
                    <c:v>328 Gran Turismo</c:v>
                  </c:pt>
                  <c:pt idx="1">
                    <c:v>Camaro</c:v>
                  </c:pt>
                  <c:pt idx="2">
                    <c:v>Challenger</c:v>
                  </c:pt>
                  <c:pt idx="3">
                    <c:v>MX-5 Miata</c:v>
                  </c:pt>
                  <c:pt idx="4">
                    <c:v>Rc-F</c:v>
                  </c:pt>
                  <c:pt idx="5">
                    <c:v>BRZ</c:v>
                  </c:pt>
                  <c:pt idx="6">
                    <c:v>Crosstrek</c:v>
                  </c:pt>
                  <c:pt idx="7">
                    <c:v>CRV</c:v>
                  </c:pt>
                  <c:pt idx="8">
                    <c:v>Edge</c:v>
                  </c:pt>
                  <c:pt idx="9">
                    <c:v>HR-V</c:v>
                  </c:pt>
                  <c:pt idx="10">
                    <c:v>Trax</c:v>
                  </c:pt>
                  <c:pt idx="11">
                    <c:v>500</c:v>
                  </c:pt>
                  <c:pt idx="12">
                    <c:v>Cooper</c:v>
                  </c:pt>
                  <c:pt idx="13">
                    <c:v>Focus</c:v>
                  </c:pt>
                  <c:pt idx="14">
                    <c:v>fourtwo</c:v>
                  </c:pt>
                  <c:pt idx="15">
                    <c:v>Caravan</c:v>
                  </c:pt>
                  <c:pt idx="16">
                    <c:v>Town and Country</c:v>
                  </c:pt>
                  <c:pt idx="17">
                    <c:v>Villager</c:v>
                  </c:pt>
                  <c:pt idx="18">
                    <c:v>Odyssey</c:v>
                  </c:pt>
                  <c:pt idx="19">
                    <c:v>A8</c:v>
                  </c:pt>
                  <c:pt idx="20">
                    <c:v>Altima</c:v>
                  </c:pt>
                  <c:pt idx="21">
                    <c:v>Cirrus</c:v>
                  </c:pt>
                  <c:pt idx="22">
                    <c:v>CSTV</c:v>
                  </c:pt>
                  <c:pt idx="23">
                    <c:v>Elantra</c:v>
                  </c:pt>
                  <c:pt idx="24">
                    <c:v>Lasabre</c:v>
                  </c:pt>
                  <c:pt idx="25">
                    <c:v>Malibu</c:v>
                  </c:pt>
                  <c:pt idx="26">
                    <c:v>H3</c:v>
                  </c:pt>
                  <c:pt idx="27">
                    <c:v>M-Class</c:v>
                  </c:pt>
                  <c:pt idx="28">
                    <c:v>Wrangler</c:v>
                  </c:pt>
                  <c:pt idx="29">
                    <c:v>F-150</c:v>
                  </c:pt>
                  <c:pt idx="30">
                    <c:v>Sierra 1500</c:v>
                  </c:pt>
                  <c:pt idx="31">
                    <c:v>Silverado</c:v>
                  </c:pt>
                  <c:pt idx="32">
                    <c:v>Tundra</c:v>
                  </c:pt>
                  <c:pt idx="33">
                    <c:v>3500</c:v>
                  </c:pt>
                  <c:pt idx="34">
                    <c:v>Colorado</c:v>
                  </c:pt>
                  <c:pt idx="35">
                    <c:v>Express 2500</c:v>
                  </c:pt>
                  <c:pt idx="36">
                    <c:v>Savanna 1500</c:v>
                  </c:pt>
                  <c:pt idx="37">
                    <c:v>Transit-Connect</c:v>
                  </c:pt>
                </c:lvl>
                <c:lvl>
                  <c:pt idx="0">
                    <c:v>Coupe</c:v>
                  </c:pt>
                  <c:pt idx="6">
                    <c:v>Crossover</c:v>
                  </c:pt>
                  <c:pt idx="11">
                    <c:v>Hatchback</c:v>
                  </c:pt>
                  <c:pt idx="15">
                    <c:v>Mini-Van</c:v>
                  </c:pt>
                  <c:pt idx="19">
                    <c:v>Sedan</c:v>
                  </c:pt>
                  <c:pt idx="26">
                    <c:v>SUV</c:v>
                  </c:pt>
                  <c:pt idx="29">
                    <c:v>Truck</c:v>
                  </c:pt>
                  <c:pt idx="35">
                    <c:v>Van</c:v>
                  </c:pt>
                </c:lvl>
              </c:multiLvlStrCache>
            </c:multiLvlStrRef>
          </c:cat>
          <c:val>
            <c:numRef>
              <c:f>Sheet2!$B$5:$B$51</c:f>
              <c:numCache>
                <c:formatCode>General</c:formatCode>
                <c:ptCount val="38"/>
                <c:pt idx="0">
                  <c:v>19.099104721565702</c:v>
                </c:pt>
                <c:pt idx="1">
                  <c:v>20.028708153307779</c:v>
                </c:pt>
                <c:pt idx="2">
                  <c:v>20.334113032500525</c:v>
                </c:pt>
                <c:pt idx="3">
                  <c:v>22.901827214804722</c:v>
                </c:pt>
                <c:pt idx="4">
                  <c:v>21.094360457611899</c:v>
                </c:pt>
                <c:pt idx="5">
                  <c:v>20.283913695141688</c:v>
                </c:pt>
                <c:pt idx="6">
                  <c:v>20.92122304328657</c:v>
                </c:pt>
                <c:pt idx="7">
                  <c:v>19.76189354038986</c:v>
                </c:pt>
                <c:pt idx="8">
                  <c:v>20.384608415617283</c:v>
                </c:pt>
                <c:pt idx="9">
                  <c:v>19.24577731418837</c:v>
                </c:pt>
                <c:pt idx="10">
                  <c:v>19.694547521596366</c:v>
                </c:pt>
                <c:pt idx="11">
                  <c:v>21.829975247172335</c:v>
                </c:pt>
                <c:pt idx="12">
                  <c:v>19.508689161365513</c:v>
                </c:pt>
                <c:pt idx="13">
                  <c:v>21.000031780290179</c:v>
                </c:pt>
                <c:pt idx="14">
                  <c:v>20.364274433981151</c:v>
                </c:pt>
                <c:pt idx="15">
                  <c:v>20.591998891767602</c:v>
                </c:pt>
                <c:pt idx="16">
                  <c:v>20.591998891767602</c:v>
                </c:pt>
                <c:pt idx="17">
                  <c:v>19.021765258669227</c:v>
                </c:pt>
                <c:pt idx="18">
                  <c:v>22.985050781369935</c:v>
                </c:pt>
                <c:pt idx="19">
                  <c:v>19.422067112750597</c:v>
                </c:pt>
                <c:pt idx="20">
                  <c:v>19.73610253604431</c:v>
                </c:pt>
                <c:pt idx="21">
                  <c:v>19.714294515298057</c:v>
                </c:pt>
                <c:pt idx="22">
                  <c:v>20.93808860250692</c:v>
                </c:pt>
                <c:pt idx="23">
                  <c:v>21.559830932177185</c:v>
                </c:pt>
                <c:pt idx="24">
                  <c:v>18.270830234345205</c:v>
                </c:pt>
                <c:pt idx="25">
                  <c:v>19.686833606279148</c:v>
                </c:pt>
                <c:pt idx="26">
                  <c:v>21.844042532599165</c:v>
                </c:pt>
                <c:pt idx="27">
                  <c:v>20.247562816393689</c:v>
                </c:pt>
                <c:pt idx="28">
                  <c:v>20.876475117851527</c:v>
                </c:pt>
                <c:pt idx="29">
                  <c:v>19.751021120805373</c:v>
                </c:pt>
                <c:pt idx="30">
                  <c:v>19.455014334163753</c:v>
                </c:pt>
                <c:pt idx="31">
                  <c:v>17.331889040270568</c:v>
                </c:pt>
                <c:pt idx="32">
                  <c:v>17.776983644267332</c:v>
                </c:pt>
                <c:pt idx="33">
                  <c:v>18.700959966088803</c:v>
                </c:pt>
                <c:pt idx="34">
                  <c:v>18.823754047635834</c:v>
                </c:pt>
                <c:pt idx="35">
                  <c:v>16.650753076838175</c:v>
                </c:pt>
                <c:pt idx="36">
                  <c:v>16.832849761436531</c:v>
                </c:pt>
                <c:pt idx="37">
                  <c:v>18.551601080159308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AA-4878-AB6A-04F90C2D1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1485592"/>
        <c:axId val="441485984"/>
      </c:barChart>
      <c:catAx>
        <c:axId val="4414855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Car Class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1485984"/>
        <c:crosses val="autoZero"/>
        <c:auto val="1"/>
        <c:lblAlgn val="ctr"/>
        <c:lblOffset val="100"/>
        <c:noMultiLvlLbl val="0"/>
      </c:catAx>
      <c:valAx>
        <c:axId val="441485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Steering Angle (degrees)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1485592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[Copy of ME452 Final Project.xlsx]Sheet3!PivotTable4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 w="0">
            <a:solidFill>
              <a:schemeClr val="accent1"/>
            </a:solidFill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 w="0">
            <a:solidFill>
              <a:schemeClr val="accent1"/>
            </a:solidFill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 w="0">
            <a:solidFill>
              <a:schemeClr val="accent1"/>
            </a:solidFill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Average of (degrees)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Sheet3!$A$2:$A$10</c:f>
              <c:strCache>
                <c:ptCount val="8"/>
                <c:pt idx="0">
                  <c:v>Coupe</c:v>
                </c:pt>
                <c:pt idx="1">
                  <c:v>Crossover</c:v>
                </c:pt>
                <c:pt idx="2">
                  <c:v>Hatchback</c:v>
                </c:pt>
                <c:pt idx="3">
                  <c:v>Mini-Van</c:v>
                </c:pt>
                <c:pt idx="4">
                  <c:v>Sedan</c:v>
                </c:pt>
                <c:pt idx="5">
                  <c:v>SUV</c:v>
                </c:pt>
                <c:pt idx="6">
                  <c:v>Truck</c:v>
                </c:pt>
                <c:pt idx="7">
                  <c:v>Van</c:v>
                </c:pt>
              </c:strCache>
            </c:strRef>
          </c:cat>
          <c:val>
            <c:numRef>
              <c:f>Sheet3!$B$2:$B$10</c:f>
              <c:numCache>
                <c:formatCode>General</c:formatCode>
                <c:ptCount val="8"/>
                <c:pt idx="0">
                  <c:v>20.62367121248872</c:v>
                </c:pt>
                <c:pt idx="1">
                  <c:v>20.001609967015689</c:v>
                </c:pt>
                <c:pt idx="2">
                  <c:v>20.675742655702294</c:v>
                </c:pt>
                <c:pt idx="3">
                  <c:v>20.79770345589359</c:v>
                </c:pt>
                <c:pt idx="4">
                  <c:v>19.904006791343061</c:v>
                </c:pt>
                <c:pt idx="5">
                  <c:v>20.989360155614794</c:v>
                </c:pt>
                <c:pt idx="6">
                  <c:v>18.639937025538611</c:v>
                </c:pt>
                <c:pt idx="7">
                  <c:v>17.345067972811336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1A-41C3-8CB0-A77ED7CF1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7"/>
        <c:overlap val="-11"/>
        <c:axId val="441487160"/>
        <c:axId val="441487552"/>
      </c:barChart>
      <c:barChart>
        <c:barDir val="col"/>
        <c:grouping val="clustered"/>
        <c:varyColors val="0"/>
        <c:ser>
          <c:idx val="1"/>
          <c:order val="1"/>
          <c:tx>
            <c:strRef>
              <c:f>Sheet3!$C$1</c:f>
              <c:strCache>
                <c:ptCount val="1"/>
                <c:pt idx="0">
                  <c:v>Average of Wheelbase</c:v>
                </c:pt>
              </c:strCache>
            </c:strRef>
          </c:tx>
          <c:spPr>
            <a:solidFill>
              <a:schemeClr val="accent2"/>
            </a:solidFill>
            <a:ln w="0">
              <a:solidFill>
                <a:schemeClr val="accent1"/>
              </a:solidFill>
            </a:ln>
            <a:effectLst/>
          </c:spPr>
          <c:invertIfNegative val="0"/>
          <c:cat>
            <c:strRef>
              <c:f>Sheet3!$A$2:$A$10</c:f>
              <c:strCache>
                <c:ptCount val="8"/>
                <c:pt idx="0">
                  <c:v>Coupe</c:v>
                </c:pt>
                <c:pt idx="1">
                  <c:v>Crossover</c:v>
                </c:pt>
                <c:pt idx="2">
                  <c:v>Hatchback</c:v>
                </c:pt>
                <c:pt idx="3">
                  <c:v>Mini-Van</c:v>
                </c:pt>
                <c:pt idx="4">
                  <c:v>Sedan</c:v>
                </c:pt>
                <c:pt idx="5">
                  <c:v>SUV</c:v>
                </c:pt>
                <c:pt idx="6">
                  <c:v>Truck</c:v>
                </c:pt>
                <c:pt idx="7">
                  <c:v>Van</c:v>
                </c:pt>
              </c:strCache>
            </c:strRef>
          </c:cat>
          <c:val>
            <c:numRef>
              <c:f>Sheet3!$C$2:$C$10</c:f>
              <c:numCache>
                <c:formatCode>General</c:formatCode>
                <c:ptCount val="8"/>
                <c:pt idx="0">
                  <c:v>2.718223333333333</c:v>
                </c:pt>
                <c:pt idx="1">
                  <c:v>2.6487119999999997</c:v>
                </c:pt>
                <c:pt idx="2">
                  <c:v>2.3126699999999998</c:v>
                </c:pt>
                <c:pt idx="3">
                  <c:v>3.0016449999999999</c:v>
                </c:pt>
                <c:pt idx="4">
                  <c:v>2.8128685714285711</c:v>
                </c:pt>
                <c:pt idx="5">
                  <c:v>2.7931533333333332</c:v>
                </c:pt>
                <c:pt idx="6">
                  <c:v>3.3574566666666663</c:v>
                </c:pt>
                <c:pt idx="7">
                  <c:v>3.2562799999999998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1A-41C3-8CB0-A77ED7CF1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48"/>
        <c:axId val="441488336"/>
        <c:axId val="441487944"/>
      </c:barChart>
      <c:catAx>
        <c:axId val="4414871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Car Class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1487552"/>
        <c:crosses val="autoZero"/>
        <c:auto val="1"/>
        <c:lblAlgn val="ctr"/>
        <c:lblOffset val="100"/>
        <c:noMultiLvlLbl val="0"/>
      </c:catAx>
      <c:valAx>
        <c:axId val="441487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Max</a:t>
                </a:r>
                <a:r>
                  <a:rPr lang="en-US" baseline="0"/>
                  <a:t> Steering Angle (Deg)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1487160"/>
        <c:crosses val="autoZero"/>
        <c:crossBetween val="between"/>
      </c:valAx>
      <c:valAx>
        <c:axId val="44148794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Wheelbase (m)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1488336"/>
        <c:crosses val="max"/>
        <c:crossBetween val="between"/>
      </c:valAx>
      <c:catAx>
        <c:axId val="4414883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414879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2001 Corvette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δinside Measured</c:v>
          </c:tx>
          <c:spPr>
            <a:ln>
              <a:noFill/>
            </a:ln>
          </c:spPr>
          <c:marker>
            <c:symbol val="diamond"/>
            <c:size val="8"/>
            <c:spPr>
              <a:solidFill>
                <a:srgbClr val="C00000"/>
              </a:solidFill>
              <a:ln>
                <a:noFill/>
              </a:ln>
            </c:spPr>
          </c:marker>
          <c:xVal>
            <c:numRef>
              <c:f>Corvette!$G$5:$G$9</c:f>
              <c:numCache>
                <c:formatCode>0.00</c:formatCode>
                <c:ptCount val="5"/>
                <c:pt idx="0">
                  <c:v>27.796382699031206</c:v>
                </c:pt>
                <c:pt idx="1">
                  <c:v>14.049792320691793</c:v>
                </c:pt>
                <c:pt idx="2">
                  <c:v>9.2939032818862621</c:v>
                </c:pt>
                <c:pt idx="3">
                  <c:v>6.8503381865326594</c:v>
                </c:pt>
                <c:pt idx="4">
                  <c:v>5.3420884880386454</c:v>
                </c:pt>
              </c:numCache>
            </c:numRef>
          </c:xVal>
          <c:yVal>
            <c:numRef>
              <c:f>Corvette!$B$5:$B$9</c:f>
              <c:numCache>
                <c:formatCode>0.0</c:formatCode>
                <c:ptCount val="5"/>
                <c:pt idx="0">
                  <c:v>6</c:v>
                </c:pt>
                <c:pt idx="1">
                  <c:v>11.5</c:v>
                </c:pt>
                <c:pt idx="2">
                  <c:v>17</c:v>
                </c:pt>
                <c:pt idx="3">
                  <c:v>22.5</c:v>
                </c:pt>
                <c:pt idx="4">
                  <c:v>28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7C6-4A24-9835-75921FB9BC7E}"/>
            </c:ext>
          </c:extLst>
        </c:ser>
        <c:ser>
          <c:idx val="1"/>
          <c:order val="1"/>
          <c:tx>
            <c:v>δoutside Measured</c:v>
          </c:tx>
          <c:spPr>
            <a:ln>
              <a:noFill/>
            </a:ln>
          </c:spPr>
          <c:marker>
            <c:symbol val="diamond"/>
            <c:size val="8"/>
            <c:spPr>
              <a:solidFill>
                <a:srgbClr val="002060"/>
              </a:solidFill>
              <a:ln>
                <a:noFill/>
              </a:ln>
            </c:spPr>
          </c:marker>
          <c:xVal>
            <c:numRef>
              <c:f>Corvette!$G$5:$G$9</c:f>
              <c:numCache>
                <c:formatCode>0.00</c:formatCode>
                <c:ptCount val="5"/>
                <c:pt idx="0">
                  <c:v>27.796382699031206</c:v>
                </c:pt>
                <c:pt idx="1">
                  <c:v>14.049792320691793</c:v>
                </c:pt>
                <c:pt idx="2">
                  <c:v>9.2939032818862621</c:v>
                </c:pt>
                <c:pt idx="3">
                  <c:v>6.8503381865326594</c:v>
                </c:pt>
                <c:pt idx="4">
                  <c:v>5.3420884880386454</c:v>
                </c:pt>
              </c:numCache>
            </c:numRef>
          </c:xVal>
          <c:yVal>
            <c:numRef>
              <c:f>Corvette!$C$5:$C$9</c:f>
              <c:numCache>
                <c:formatCode>0.0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7C6-4A24-9835-75921FB9BC7E}"/>
            </c:ext>
          </c:extLst>
        </c:ser>
        <c:ser>
          <c:idx val="2"/>
          <c:order val="2"/>
          <c:tx>
            <c:v>δinside Calculated</c:v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xVal>
            <c:numRef>
              <c:f>Corvette!$G$5:$G$9</c:f>
              <c:numCache>
                <c:formatCode>0.00</c:formatCode>
                <c:ptCount val="5"/>
                <c:pt idx="0">
                  <c:v>27.796382699031206</c:v>
                </c:pt>
                <c:pt idx="1">
                  <c:v>14.049792320691793</c:v>
                </c:pt>
                <c:pt idx="2">
                  <c:v>9.2939032818862621</c:v>
                </c:pt>
                <c:pt idx="3">
                  <c:v>6.8503381865326594</c:v>
                </c:pt>
                <c:pt idx="4">
                  <c:v>5.3420884880386454</c:v>
                </c:pt>
              </c:numCache>
            </c:numRef>
          </c:xVal>
          <c:yVal>
            <c:numRef>
              <c:f>Corvette!$I$5:$I$9</c:f>
              <c:numCache>
                <c:formatCode>0.00</c:formatCode>
                <c:ptCount val="5"/>
                <c:pt idx="0">
                  <c:v>5.612703528298475</c:v>
                </c:pt>
                <c:pt idx="1">
                  <c:v>11.317498950299379</c:v>
                </c:pt>
                <c:pt idx="2">
                  <c:v>17.329585020384531</c:v>
                </c:pt>
                <c:pt idx="3">
                  <c:v>23.643372493395386</c:v>
                </c:pt>
                <c:pt idx="4">
                  <c:v>30.23201294805115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57C6-4A24-9835-75921FB9BC7E}"/>
            </c:ext>
          </c:extLst>
        </c:ser>
        <c:ser>
          <c:idx val="3"/>
          <c:order val="3"/>
          <c:tx>
            <c:v>δoutside Calculated</c:v>
          </c:tx>
          <c:spPr>
            <a:ln>
              <a:solidFill>
                <a:srgbClr val="002060"/>
              </a:solidFill>
            </a:ln>
          </c:spPr>
          <c:marker>
            <c:symbol val="none"/>
          </c:marker>
          <c:xVal>
            <c:numRef>
              <c:f>Corvette!$G$5:$G$9</c:f>
              <c:numCache>
                <c:formatCode>0.00</c:formatCode>
                <c:ptCount val="5"/>
                <c:pt idx="0">
                  <c:v>27.796382699031206</c:v>
                </c:pt>
                <c:pt idx="1">
                  <c:v>14.049792320691793</c:v>
                </c:pt>
                <c:pt idx="2">
                  <c:v>9.2939032818862621</c:v>
                </c:pt>
                <c:pt idx="3">
                  <c:v>6.8503381865326594</c:v>
                </c:pt>
                <c:pt idx="4">
                  <c:v>5.3420884880386454</c:v>
                </c:pt>
              </c:numCache>
            </c:numRef>
          </c:xVal>
          <c:yVal>
            <c:numRef>
              <c:f>Corvette!$J$5:$J$9</c:f>
              <c:numCache>
                <c:formatCode>0.00</c:formatCode>
                <c:ptCount val="5"/>
                <c:pt idx="0">
                  <c:v>5.3052916603467901</c:v>
                </c:pt>
                <c:pt idx="1">
                  <c:v>10.142638814174004</c:v>
                </c:pt>
                <c:pt idx="2">
                  <c:v>14.750607752869001</c:v>
                </c:pt>
                <c:pt idx="3">
                  <c:v>19.163584185069979</c:v>
                </c:pt>
                <c:pt idx="4">
                  <c:v>23.414433742935984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57C6-4A24-9835-75921FB9BC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1489120"/>
        <c:axId val="441489512"/>
      </c:scatterChart>
      <c:valAx>
        <c:axId val="441489120"/>
        <c:scaling>
          <c:orientation val="minMax"/>
          <c:max val="4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Turn Radius (m)</a:t>
                </a:r>
              </a:p>
            </c:rich>
          </c:tx>
          <c:overlay val="0"/>
        </c:title>
        <c:numFmt formatCode="0.00" sourceLinked="1"/>
        <c:majorTickMark val="out"/>
        <c:minorTickMark val="none"/>
        <c:tickLblPos val="nextTo"/>
        <c:crossAx val="441489512"/>
        <c:crosses val="autoZero"/>
        <c:crossBetween val="midCat"/>
      </c:valAx>
      <c:valAx>
        <c:axId val="44148951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Steering Angle (Degrees)</a:t>
                </a:r>
              </a:p>
            </c:rich>
          </c:tx>
          <c:overlay val="0"/>
        </c:title>
        <c:numFmt formatCode="0.0" sourceLinked="1"/>
        <c:majorTickMark val="out"/>
        <c:minorTickMark val="none"/>
        <c:tickLblPos val="nextTo"/>
        <c:crossAx val="441489120"/>
        <c:crosses val="autoZero"/>
        <c:crossBetween val="midCat"/>
      </c:valAx>
      <c:spPr>
        <a:ln>
          <a:solidFill>
            <a:schemeClr val="tx1"/>
          </a:solidFill>
        </a:ln>
      </c:spPr>
    </c:plotArea>
    <c:legend>
      <c:legendPos val="b"/>
      <c:overlay val="0"/>
    </c:legend>
    <c:plotVisOnly val="1"/>
    <c:dispBlanksAs val="gap"/>
    <c:showDLblsOverMax val="0"/>
  </c:chart>
  <c:spPr>
    <a:solidFill>
      <a:schemeClr val="bg1"/>
    </a:solidFill>
    <a:ln>
      <a:solidFill>
        <a:schemeClr val="tx1"/>
      </a:solidFill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2008 Dodge Ram 1500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δinside Measured</c:v>
          </c:tx>
          <c:spPr>
            <a:ln>
              <a:noFill/>
            </a:ln>
          </c:spPr>
          <c:marker>
            <c:symbol val="diamond"/>
            <c:size val="8"/>
            <c:spPr>
              <a:solidFill>
                <a:srgbClr val="C00000"/>
              </a:solidFill>
              <a:ln>
                <a:noFill/>
              </a:ln>
            </c:spPr>
          </c:marker>
          <c:xVal>
            <c:numRef>
              <c:f>'Ram 1500'!$G$5:$G$9</c:f>
              <c:numCache>
                <c:formatCode>0.00</c:formatCode>
                <c:ptCount val="5"/>
                <c:pt idx="0">
                  <c:v>37.372170040324306</c:v>
                </c:pt>
                <c:pt idx="1">
                  <c:v>18.514258450682767</c:v>
                </c:pt>
                <c:pt idx="2">
                  <c:v>12.318520044082327</c:v>
                </c:pt>
                <c:pt idx="3">
                  <c:v>9.2102633034242807</c:v>
                </c:pt>
                <c:pt idx="4">
                  <c:v>7.1824251920519586</c:v>
                </c:pt>
              </c:numCache>
            </c:numRef>
          </c:xVal>
          <c:yVal>
            <c:numRef>
              <c:f>'Ram 1500'!$B$5:$B$9</c:f>
              <c:numCache>
                <c:formatCode>0.0</c:formatCode>
                <c:ptCount val="5"/>
                <c:pt idx="0">
                  <c:v>6</c:v>
                </c:pt>
                <c:pt idx="1">
                  <c:v>12</c:v>
                </c:pt>
                <c:pt idx="2">
                  <c:v>17.5</c:v>
                </c:pt>
                <c:pt idx="3">
                  <c:v>22.5</c:v>
                </c:pt>
                <c:pt idx="4">
                  <c:v>28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F23-417D-B482-93C66FF833F5}"/>
            </c:ext>
          </c:extLst>
        </c:ser>
        <c:ser>
          <c:idx val="1"/>
          <c:order val="1"/>
          <c:tx>
            <c:v>δoutside Measured</c:v>
          </c:tx>
          <c:spPr>
            <a:ln>
              <a:noFill/>
            </a:ln>
          </c:spPr>
          <c:marker>
            <c:symbol val="diamond"/>
            <c:size val="8"/>
            <c:spPr>
              <a:solidFill>
                <a:srgbClr val="002060"/>
              </a:solidFill>
              <a:ln>
                <a:noFill/>
              </a:ln>
            </c:spPr>
          </c:marker>
          <c:xVal>
            <c:numRef>
              <c:f>'Ram 1500'!$G$5:$G$9</c:f>
              <c:numCache>
                <c:formatCode>0.00</c:formatCode>
                <c:ptCount val="5"/>
                <c:pt idx="0">
                  <c:v>37.372170040324306</c:v>
                </c:pt>
                <c:pt idx="1">
                  <c:v>18.514258450682767</c:v>
                </c:pt>
                <c:pt idx="2">
                  <c:v>12.318520044082327</c:v>
                </c:pt>
                <c:pt idx="3">
                  <c:v>9.2102633034242807</c:v>
                </c:pt>
                <c:pt idx="4">
                  <c:v>7.1824251920519586</c:v>
                </c:pt>
              </c:numCache>
            </c:numRef>
          </c:xVal>
          <c:yVal>
            <c:numRef>
              <c:f>'Ram 1500'!$C$5:$C$9</c:f>
              <c:numCache>
                <c:formatCode>0.0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F23-417D-B482-93C66FF833F5}"/>
            </c:ext>
          </c:extLst>
        </c:ser>
        <c:ser>
          <c:idx val="2"/>
          <c:order val="2"/>
          <c:tx>
            <c:v>δinside Calculated</c:v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xVal>
            <c:numRef>
              <c:f>'Ram 1500'!$G$5:$G$9</c:f>
              <c:numCache>
                <c:formatCode>0.00</c:formatCode>
                <c:ptCount val="5"/>
                <c:pt idx="0">
                  <c:v>37.372170040324306</c:v>
                </c:pt>
                <c:pt idx="1">
                  <c:v>18.514258450682767</c:v>
                </c:pt>
                <c:pt idx="2">
                  <c:v>12.318520044082327</c:v>
                </c:pt>
                <c:pt idx="3">
                  <c:v>9.2102633034242807</c:v>
                </c:pt>
                <c:pt idx="4">
                  <c:v>7.1824251920519586</c:v>
                </c:pt>
              </c:numCache>
            </c:numRef>
          </c:xVal>
          <c:yVal>
            <c:numRef>
              <c:f>'Ram 1500'!$I$5:$I$9</c:f>
              <c:numCache>
                <c:formatCode>0.00</c:formatCode>
                <c:ptCount val="5"/>
                <c:pt idx="0">
                  <c:v>5.5675099015395126</c:v>
                </c:pt>
                <c:pt idx="1">
                  <c:v>11.366552797089508</c:v>
                </c:pt>
                <c:pt idx="2">
                  <c:v>17.160899008958154</c:v>
                </c:pt>
                <c:pt idx="3">
                  <c:v>22.900079769726553</c:v>
                </c:pt>
                <c:pt idx="4">
                  <c:v>29.06685766191946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2F23-417D-B482-93C66FF833F5}"/>
            </c:ext>
          </c:extLst>
        </c:ser>
        <c:ser>
          <c:idx val="3"/>
          <c:order val="3"/>
          <c:tx>
            <c:v>δoutside Calculated</c:v>
          </c:tx>
          <c:spPr>
            <a:ln>
              <a:solidFill>
                <a:srgbClr val="002060"/>
              </a:solidFill>
            </a:ln>
          </c:spPr>
          <c:marker>
            <c:symbol val="none"/>
          </c:marker>
          <c:xVal>
            <c:numRef>
              <c:f>'Ram 1500'!$G$5:$G$9</c:f>
              <c:numCache>
                <c:formatCode>0.00</c:formatCode>
                <c:ptCount val="5"/>
                <c:pt idx="0">
                  <c:v>37.372170040324306</c:v>
                </c:pt>
                <c:pt idx="1">
                  <c:v>18.514258450682767</c:v>
                </c:pt>
                <c:pt idx="2">
                  <c:v>12.318520044082327</c:v>
                </c:pt>
                <c:pt idx="3">
                  <c:v>9.2102633034242807</c:v>
                </c:pt>
                <c:pt idx="4">
                  <c:v>7.1824251920519586</c:v>
                </c:pt>
              </c:numCache>
            </c:numRef>
          </c:xVal>
          <c:yVal>
            <c:numRef>
              <c:f>'Ram 1500'!$J$5:$J$9</c:f>
              <c:numCache>
                <c:formatCode>0.00</c:formatCode>
                <c:ptCount val="5"/>
                <c:pt idx="0">
                  <c:v>5.3463249187786062</c:v>
                </c:pt>
                <c:pt idx="1">
                  <c:v>10.488667876589975</c:v>
                </c:pt>
                <c:pt idx="2">
                  <c:v>15.26035930854597</c:v>
                </c:pt>
                <c:pt idx="3">
                  <c:v>19.690388612294647</c:v>
                </c:pt>
                <c:pt idx="4">
                  <c:v>24.19000142976115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2F23-417D-B482-93C66FF833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1490296"/>
        <c:axId val="441490688"/>
      </c:scatterChart>
      <c:valAx>
        <c:axId val="4414902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Turn Radius (m)</a:t>
                </a:r>
              </a:p>
            </c:rich>
          </c:tx>
          <c:overlay val="0"/>
        </c:title>
        <c:numFmt formatCode="0.00" sourceLinked="1"/>
        <c:majorTickMark val="out"/>
        <c:minorTickMark val="none"/>
        <c:tickLblPos val="nextTo"/>
        <c:crossAx val="441490688"/>
        <c:crosses val="autoZero"/>
        <c:crossBetween val="midCat"/>
      </c:valAx>
      <c:valAx>
        <c:axId val="44149068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Steering Angle (Degrees)</a:t>
                </a:r>
              </a:p>
            </c:rich>
          </c:tx>
          <c:overlay val="0"/>
        </c:title>
        <c:numFmt formatCode="0.0" sourceLinked="1"/>
        <c:majorTickMark val="out"/>
        <c:minorTickMark val="none"/>
        <c:tickLblPos val="nextTo"/>
        <c:crossAx val="441490296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solidFill>
      <a:schemeClr val="bg1"/>
    </a:solidFill>
    <a:ln>
      <a:solidFill>
        <a:schemeClr val="tx1"/>
      </a:solidFill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1978</a:t>
            </a:r>
            <a:r>
              <a:rPr lang="en-US" baseline="0"/>
              <a:t> El Camino</a:t>
            </a:r>
            <a:endParaRPr lang="en-US"/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δinside Measured</c:v>
          </c:tx>
          <c:spPr>
            <a:ln>
              <a:noFill/>
            </a:ln>
          </c:spPr>
          <c:marker>
            <c:symbol val="diamond"/>
            <c:size val="8"/>
            <c:spPr>
              <a:solidFill>
                <a:srgbClr val="C00000"/>
              </a:solidFill>
              <a:ln>
                <a:noFill/>
              </a:ln>
            </c:spPr>
          </c:marker>
          <c:xVal>
            <c:numRef>
              <c:f>'El Camino'!$G$5:$G$9</c:f>
              <c:numCache>
                <c:formatCode>0.00</c:formatCode>
                <c:ptCount val="5"/>
                <c:pt idx="0">
                  <c:v>30.025491640246134</c:v>
                </c:pt>
                <c:pt idx="1">
                  <c:v>15.417567535444002</c:v>
                </c:pt>
                <c:pt idx="2">
                  <c:v>10.258127011798091</c:v>
                </c:pt>
                <c:pt idx="3">
                  <c:v>7.583037727945138</c:v>
                </c:pt>
                <c:pt idx="4">
                  <c:v>5.9232101927422729</c:v>
                </c:pt>
              </c:numCache>
            </c:numRef>
          </c:xVal>
          <c:yVal>
            <c:numRef>
              <c:f>'El Camino'!$B$5:$B$9</c:f>
              <c:numCache>
                <c:formatCode>0.0</c:formatCode>
                <c:ptCount val="5"/>
                <c:pt idx="0">
                  <c:v>6.5</c:v>
                </c:pt>
                <c:pt idx="1">
                  <c:v>12</c:v>
                </c:pt>
                <c:pt idx="2">
                  <c:v>17.5</c:v>
                </c:pt>
                <c:pt idx="3">
                  <c:v>23</c:v>
                </c:pt>
                <c:pt idx="4">
                  <c:v>28.5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5AC-4E76-80C5-AA39435A5EF0}"/>
            </c:ext>
          </c:extLst>
        </c:ser>
        <c:ser>
          <c:idx val="1"/>
          <c:order val="1"/>
          <c:tx>
            <c:v>δoutside Measured</c:v>
          </c:tx>
          <c:spPr>
            <a:ln>
              <a:noFill/>
            </a:ln>
          </c:spPr>
          <c:marker>
            <c:symbol val="diamond"/>
            <c:size val="8"/>
            <c:spPr>
              <a:solidFill>
                <a:srgbClr val="002060"/>
              </a:solidFill>
              <a:ln>
                <a:noFill/>
              </a:ln>
            </c:spPr>
          </c:marker>
          <c:xVal>
            <c:numRef>
              <c:f>'El Camino'!$G$5:$G$9</c:f>
              <c:numCache>
                <c:formatCode>0.00</c:formatCode>
                <c:ptCount val="5"/>
                <c:pt idx="0">
                  <c:v>30.025491640246134</c:v>
                </c:pt>
                <c:pt idx="1">
                  <c:v>15.417567535444002</c:v>
                </c:pt>
                <c:pt idx="2">
                  <c:v>10.258127011798091</c:v>
                </c:pt>
                <c:pt idx="3">
                  <c:v>7.583037727945138</c:v>
                </c:pt>
                <c:pt idx="4">
                  <c:v>5.9232101927422729</c:v>
                </c:pt>
              </c:numCache>
            </c:numRef>
          </c:xVal>
          <c:yVal>
            <c:numRef>
              <c:f>'El Camino'!$C$5:$C$9</c:f>
              <c:numCache>
                <c:formatCode>0.0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5AC-4E76-80C5-AA39435A5EF0}"/>
            </c:ext>
          </c:extLst>
        </c:ser>
        <c:ser>
          <c:idx val="2"/>
          <c:order val="2"/>
          <c:tx>
            <c:v>δinside Calculated</c:v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xVal>
            <c:numRef>
              <c:f>'El Camino'!$G$5:$G$9</c:f>
              <c:numCache>
                <c:formatCode>0.00</c:formatCode>
                <c:ptCount val="5"/>
                <c:pt idx="0">
                  <c:v>30.025491640246134</c:v>
                </c:pt>
                <c:pt idx="1">
                  <c:v>15.417567535444002</c:v>
                </c:pt>
                <c:pt idx="2">
                  <c:v>10.258127011798091</c:v>
                </c:pt>
                <c:pt idx="3">
                  <c:v>7.583037727945138</c:v>
                </c:pt>
                <c:pt idx="4">
                  <c:v>5.9232101927422729</c:v>
                </c:pt>
              </c:numCache>
            </c:numRef>
          </c:xVal>
          <c:yVal>
            <c:numRef>
              <c:f>'El Camino'!$I$5:$I$9</c:f>
              <c:numCache>
                <c:formatCode>0.00</c:formatCode>
                <c:ptCount val="5"/>
                <c:pt idx="0">
                  <c:v>5.7943171714911106</c:v>
                </c:pt>
                <c:pt idx="1">
                  <c:v>11.445897635739446</c:v>
                </c:pt>
                <c:pt idx="2">
                  <c:v>17.339298993108965</c:v>
                </c:pt>
                <c:pt idx="3">
                  <c:v>23.473693117987523</c:v>
                </c:pt>
                <c:pt idx="4">
                  <c:v>29.826783693407627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55AC-4E76-80C5-AA39435A5EF0}"/>
            </c:ext>
          </c:extLst>
        </c:ser>
        <c:ser>
          <c:idx val="3"/>
          <c:order val="3"/>
          <c:tx>
            <c:v>δoutside Calculated</c:v>
          </c:tx>
          <c:spPr>
            <a:ln>
              <a:solidFill>
                <a:srgbClr val="002060"/>
              </a:solidFill>
            </a:ln>
          </c:spPr>
          <c:marker>
            <c:symbol val="none"/>
          </c:marker>
          <c:xVal>
            <c:numRef>
              <c:f>'El Camino'!$G$5:$G$9</c:f>
              <c:numCache>
                <c:formatCode>0.00</c:formatCode>
                <c:ptCount val="5"/>
                <c:pt idx="0">
                  <c:v>30.025491640246134</c:v>
                </c:pt>
                <c:pt idx="1">
                  <c:v>15.417567535444002</c:v>
                </c:pt>
                <c:pt idx="2">
                  <c:v>10.258127011798091</c:v>
                </c:pt>
                <c:pt idx="3">
                  <c:v>7.583037727945138</c:v>
                </c:pt>
                <c:pt idx="4">
                  <c:v>5.9232101927422729</c:v>
                </c:pt>
              </c:numCache>
            </c:numRef>
          </c:xVal>
          <c:yVal>
            <c:numRef>
              <c:f>'El Camino'!$J$5:$J$9</c:f>
              <c:numCache>
                <c:formatCode>0.00</c:formatCode>
                <c:ptCount val="5"/>
                <c:pt idx="0">
                  <c:v>5.5174218401648725</c:v>
                </c:pt>
                <c:pt idx="1">
                  <c:v>10.421860468249495</c:v>
                </c:pt>
                <c:pt idx="2">
                  <c:v>15.121065349182253</c:v>
                </c:pt>
                <c:pt idx="3">
                  <c:v>19.649958512187791</c:v>
                </c:pt>
                <c:pt idx="4">
                  <c:v>24.0376503836833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55AC-4E76-80C5-AA39435A5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1697520"/>
        <c:axId val="441697912"/>
      </c:scatterChart>
      <c:valAx>
        <c:axId val="441697520"/>
        <c:scaling>
          <c:orientation val="minMax"/>
          <c:max val="4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Turn Radius (m)</a:t>
                </a:r>
              </a:p>
            </c:rich>
          </c:tx>
          <c:overlay val="0"/>
        </c:title>
        <c:numFmt formatCode="0.00" sourceLinked="1"/>
        <c:majorTickMark val="out"/>
        <c:minorTickMark val="none"/>
        <c:tickLblPos val="nextTo"/>
        <c:crossAx val="441697912"/>
        <c:crosses val="autoZero"/>
        <c:crossBetween val="midCat"/>
      </c:valAx>
      <c:valAx>
        <c:axId val="44169791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Steering Angle (Degrees)</a:t>
                </a:r>
              </a:p>
            </c:rich>
          </c:tx>
          <c:overlay val="0"/>
        </c:title>
        <c:numFmt formatCode="0.0" sourceLinked="1"/>
        <c:majorTickMark val="out"/>
        <c:minorTickMark val="none"/>
        <c:tickLblPos val="nextTo"/>
        <c:crossAx val="441697520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solidFill>
      <a:schemeClr val="bg1"/>
    </a:solidFill>
    <a:ln>
      <a:solidFill>
        <a:schemeClr val="tx1"/>
      </a:solidFill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Ackerman Condition Analysis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Corvette Measured</c:v>
          </c:tx>
          <c:spPr>
            <a:ln w="50800"/>
          </c:spPr>
          <c:marker>
            <c:symbol val="none"/>
          </c:marker>
          <c:xVal>
            <c:numRef>
              <c:f>Sheet2!$B$4:$B$8</c:f>
              <c:numCache>
                <c:formatCode>0.00</c:formatCode>
                <c:ptCount val="5"/>
                <c:pt idx="1">
                  <c:v>14.049792320691793</c:v>
                </c:pt>
                <c:pt idx="2">
                  <c:v>9.2939032818862621</c:v>
                </c:pt>
                <c:pt idx="3">
                  <c:v>6.8503381865326585</c:v>
                </c:pt>
                <c:pt idx="4">
                  <c:v>5.3420884880386454</c:v>
                </c:pt>
              </c:numCache>
            </c:numRef>
          </c:xVal>
          <c:yVal>
            <c:numRef>
              <c:f>Sheet2!$C$4:$C$8</c:f>
              <c:numCache>
                <c:formatCode>0.00</c:formatCode>
                <c:ptCount val="5"/>
                <c:pt idx="1">
                  <c:v>0.75612478854650478</c:v>
                </c:pt>
                <c:pt idx="2">
                  <c:v>0.46119818908473731</c:v>
                </c:pt>
                <c:pt idx="3">
                  <c:v>0.33326385708152761</c:v>
                </c:pt>
                <c:pt idx="4">
                  <c:v>0.26378045516322657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23A-472B-AD83-3237008585F8}"/>
            </c:ext>
          </c:extLst>
        </c:ser>
        <c:ser>
          <c:idx val="1"/>
          <c:order val="1"/>
          <c:tx>
            <c:v>Ram Measured</c:v>
          </c:tx>
          <c:spPr>
            <a:ln w="50800"/>
          </c:spPr>
          <c:marker>
            <c:symbol val="none"/>
          </c:marker>
          <c:xVal>
            <c:numRef>
              <c:f>Sheet2!$F$4:$F$8</c:f>
              <c:numCache>
                <c:formatCode>General</c:formatCode>
                <c:ptCount val="5"/>
                <c:pt idx="1">
                  <c:v>19.27625845068275</c:v>
                </c:pt>
                <c:pt idx="2">
                  <c:v>13.080520044082327</c:v>
                </c:pt>
                <c:pt idx="3">
                  <c:v>9.9722633034242936</c:v>
                </c:pt>
                <c:pt idx="4">
                  <c:v>7.9444251920519591</c:v>
                </c:pt>
              </c:numCache>
            </c:numRef>
          </c:xVal>
          <c:yVal>
            <c:numRef>
              <c:f>Sheet2!$G$4:$G$8</c:f>
              <c:numCache>
                <c:formatCode>General</c:formatCode>
                <c:ptCount val="5"/>
                <c:pt idx="1">
                  <c:v>0.96665171013925499</c:v>
                </c:pt>
                <c:pt idx="2">
                  <c:v>0.56045600520566463</c:v>
                </c:pt>
                <c:pt idx="3">
                  <c:v>0.33326385708152761</c:v>
                </c:pt>
                <c:pt idx="4">
                  <c:v>0.26378045516322657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23A-472B-AD83-3237008585F8}"/>
            </c:ext>
          </c:extLst>
        </c:ser>
        <c:ser>
          <c:idx val="2"/>
          <c:order val="2"/>
          <c:tx>
            <c:v>El Camino Measured</c:v>
          </c:tx>
          <c:spPr>
            <a:ln w="50800"/>
          </c:spPr>
          <c:marker>
            <c:symbol val="none"/>
          </c:marker>
          <c:xVal>
            <c:numRef>
              <c:f>Sheet2!$J$4:$J$8</c:f>
              <c:numCache>
                <c:formatCode>General</c:formatCode>
                <c:ptCount val="5"/>
                <c:pt idx="1">
                  <c:v>15.417567535443998</c:v>
                </c:pt>
                <c:pt idx="2">
                  <c:v>10.258127011798091</c:v>
                </c:pt>
                <c:pt idx="3">
                  <c:v>7.583037727945138</c:v>
                </c:pt>
                <c:pt idx="4">
                  <c:v>5.923210192742272</c:v>
                </c:pt>
              </c:numCache>
            </c:numRef>
          </c:xVal>
          <c:yVal>
            <c:numRef>
              <c:f>Sheet2!$K$4:$K$8</c:f>
              <c:numCache>
                <c:formatCode>General</c:formatCode>
                <c:ptCount val="5"/>
                <c:pt idx="1">
                  <c:v>0.96665171013925499</c:v>
                </c:pt>
                <c:pt idx="2">
                  <c:v>0.56045600520566463</c:v>
                </c:pt>
                <c:pt idx="3">
                  <c:v>0.39162505363087002</c:v>
                </c:pt>
                <c:pt idx="4">
                  <c:v>0.30273603447610059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823A-472B-AD83-3237008585F8}"/>
            </c:ext>
          </c:extLst>
        </c:ser>
        <c:ser>
          <c:idx val="3"/>
          <c:order val="3"/>
          <c:tx>
            <c:v>Corvette w/l</c:v>
          </c:tx>
          <c:spPr>
            <a:ln w="50800">
              <a:solidFill>
                <a:schemeClr val="accent1"/>
              </a:solidFill>
              <a:prstDash val="sysDot"/>
            </a:ln>
          </c:spPr>
          <c:marker>
            <c:symbol val="none"/>
          </c:marker>
          <c:xVal>
            <c:numRef>
              <c:f>Sheet2!$B$4:$B$8</c:f>
              <c:numCache>
                <c:formatCode>0.00</c:formatCode>
                <c:ptCount val="5"/>
                <c:pt idx="1">
                  <c:v>14.049792320691793</c:v>
                </c:pt>
                <c:pt idx="2">
                  <c:v>9.2939032818862621</c:v>
                </c:pt>
                <c:pt idx="3">
                  <c:v>6.8503381865326585</c:v>
                </c:pt>
                <c:pt idx="4">
                  <c:v>5.3420884880386454</c:v>
                </c:pt>
              </c:numCache>
            </c:numRef>
          </c:xVal>
          <c:yVal>
            <c:numRef>
              <c:f>Sheet2!$D$4:$D$8</c:f>
              <c:numCache>
                <c:formatCode>0.00</c:formatCode>
                <c:ptCount val="5"/>
                <c:pt idx="1">
                  <c:v>0.59330143540669855</c:v>
                </c:pt>
                <c:pt idx="2">
                  <c:v>0.59330143540669855</c:v>
                </c:pt>
                <c:pt idx="3">
                  <c:v>0.59330143540669855</c:v>
                </c:pt>
                <c:pt idx="4">
                  <c:v>0.59330143540669855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823A-472B-AD83-3237008585F8}"/>
            </c:ext>
          </c:extLst>
        </c:ser>
        <c:ser>
          <c:idx val="4"/>
          <c:order val="4"/>
          <c:tx>
            <c:v>Ram w/l</c:v>
          </c:tx>
          <c:spPr>
            <a:ln w="50800">
              <a:solidFill>
                <a:schemeClr val="accent2"/>
              </a:solidFill>
              <a:prstDash val="sysDot"/>
            </a:ln>
          </c:spPr>
          <c:marker>
            <c:symbol val="none"/>
          </c:marker>
          <c:xVal>
            <c:numRef>
              <c:f>Sheet2!$F$4:$F$8</c:f>
              <c:numCache>
                <c:formatCode>General</c:formatCode>
                <c:ptCount val="5"/>
                <c:pt idx="1">
                  <c:v>19.27625845068275</c:v>
                </c:pt>
                <c:pt idx="2">
                  <c:v>13.080520044082327</c:v>
                </c:pt>
                <c:pt idx="3">
                  <c:v>9.9722633034242936</c:v>
                </c:pt>
                <c:pt idx="4">
                  <c:v>7.9444251920519591</c:v>
                </c:pt>
              </c:numCache>
            </c:numRef>
          </c:xVal>
          <c:yVal>
            <c:numRef>
              <c:f>Sheet2!$H$4:$H$8</c:f>
              <c:numCache>
                <c:formatCode>General</c:formatCode>
                <c:ptCount val="5"/>
                <c:pt idx="1">
                  <c:v>0.42704626334519591</c:v>
                </c:pt>
                <c:pt idx="2">
                  <c:v>0.42704626334519591</c:v>
                </c:pt>
                <c:pt idx="3">
                  <c:v>0.42704626334519591</c:v>
                </c:pt>
                <c:pt idx="4">
                  <c:v>0.42704626334519591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823A-472B-AD83-3237008585F8}"/>
            </c:ext>
          </c:extLst>
        </c:ser>
        <c:ser>
          <c:idx val="5"/>
          <c:order val="5"/>
          <c:tx>
            <c:v>El Camino w/l</c:v>
          </c:tx>
          <c:spPr>
            <a:ln w="50800">
              <a:solidFill>
                <a:schemeClr val="accent3"/>
              </a:solidFill>
              <a:prstDash val="sysDot"/>
            </a:ln>
          </c:spPr>
          <c:marker>
            <c:symbol val="none"/>
          </c:marker>
          <c:xVal>
            <c:numRef>
              <c:f>Sheet2!$J$4:$J$8</c:f>
              <c:numCache>
                <c:formatCode>General</c:formatCode>
                <c:ptCount val="5"/>
                <c:pt idx="1">
                  <c:v>15.417567535443998</c:v>
                </c:pt>
                <c:pt idx="2">
                  <c:v>10.258127011798091</c:v>
                </c:pt>
                <c:pt idx="3">
                  <c:v>7.583037727945138</c:v>
                </c:pt>
                <c:pt idx="4">
                  <c:v>5.923210192742272</c:v>
                </c:pt>
              </c:numCache>
            </c:numRef>
          </c:xVal>
          <c:yVal>
            <c:numRef>
              <c:f>Sheet2!$L$4:$L$8</c:f>
              <c:numCache>
                <c:formatCode>General</c:formatCode>
                <c:ptCount val="5"/>
                <c:pt idx="1">
                  <c:v>0.49786324786324804</c:v>
                </c:pt>
                <c:pt idx="2">
                  <c:v>0.49786324786324804</c:v>
                </c:pt>
                <c:pt idx="3">
                  <c:v>0.49786324786324804</c:v>
                </c:pt>
                <c:pt idx="4">
                  <c:v>0.49786324786324804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823A-472B-AD83-3237008585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1699088"/>
        <c:axId val="441699480"/>
      </c:scatterChart>
      <c:valAx>
        <c:axId val="441699088"/>
        <c:scaling>
          <c:orientation val="minMax"/>
          <c:min val="6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Turn Radius (m)</a:t>
                </a:r>
              </a:p>
            </c:rich>
          </c:tx>
          <c:overlay val="0"/>
        </c:title>
        <c:numFmt formatCode="0.00" sourceLinked="1"/>
        <c:majorTickMark val="out"/>
        <c:minorTickMark val="none"/>
        <c:tickLblPos val="nextTo"/>
        <c:crossAx val="441699480"/>
        <c:crosses val="autoZero"/>
        <c:crossBetween val="midCat"/>
        <c:majorUnit val="2"/>
      </c:valAx>
      <c:valAx>
        <c:axId val="44169948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Ackerman</a:t>
                </a:r>
                <a:r>
                  <a:rPr lang="en-US" baseline="0"/>
                  <a:t> Condition</a:t>
                </a:r>
                <a:endParaRPr lang="en-US"/>
              </a:p>
            </c:rich>
          </c:tx>
          <c:overlay val="0"/>
        </c:title>
        <c:numFmt formatCode="0.00" sourceLinked="1"/>
        <c:majorTickMark val="out"/>
        <c:minorTickMark val="none"/>
        <c:tickLblPos val="nextTo"/>
        <c:crossAx val="441699088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solidFill>
      <a:schemeClr val="bg1"/>
    </a:solidFill>
    <a:ln>
      <a:solidFill>
        <a:schemeClr val="tx1"/>
      </a:solidFill>
    </a:ln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6-05-01T16:34:21.183" idx="1">
    <p:pos x="10" y="10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583" cy="480388"/>
          </a:xfrm>
          <a:prstGeom prst="rect">
            <a:avLst/>
          </a:prstGeom>
        </p:spPr>
        <p:txBody>
          <a:bodyPr vert="horz" lIns="94837" tIns="47418" rIns="94837" bIns="47418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2962" y="0"/>
            <a:ext cx="3170583" cy="480388"/>
          </a:xfrm>
          <a:prstGeom prst="rect">
            <a:avLst/>
          </a:prstGeom>
        </p:spPr>
        <p:txBody>
          <a:bodyPr vert="horz" lIns="94837" tIns="47418" rIns="94837" bIns="47418" rtlCol="0"/>
          <a:lstStyle>
            <a:lvl1pPr algn="r">
              <a:defRPr sz="1200"/>
            </a:lvl1pPr>
          </a:lstStyle>
          <a:p>
            <a:pPr>
              <a:defRPr/>
            </a:pPr>
            <a:fld id="{29E366BA-564D-42C0-9732-E7B51C87D2AA}" type="datetimeFigureOut">
              <a:rPr lang="en-US"/>
              <a:pPr>
                <a:defRPr/>
              </a:pPr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173"/>
            <a:ext cx="3170583" cy="480388"/>
          </a:xfrm>
          <a:prstGeom prst="rect">
            <a:avLst/>
          </a:prstGeom>
        </p:spPr>
        <p:txBody>
          <a:bodyPr vert="horz" lIns="94837" tIns="47418" rIns="94837" bIns="47418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2962" y="9119173"/>
            <a:ext cx="3170583" cy="480388"/>
          </a:xfrm>
          <a:prstGeom prst="rect">
            <a:avLst/>
          </a:prstGeom>
        </p:spPr>
        <p:txBody>
          <a:bodyPr vert="horz" lIns="94837" tIns="47418" rIns="94837" bIns="47418" rtlCol="0" anchor="b"/>
          <a:lstStyle>
            <a:lvl1pPr algn="r">
              <a:defRPr sz="1200"/>
            </a:lvl1pPr>
          </a:lstStyle>
          <a:p>
            <a:pPr>
              <a:defRPr/>
            </a:pPr>
            <a:fld id="{4FB2CBF1-01CA-43F8-8D00-1865A5ACC7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50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583" cy="480388"/>
          </a:xfrm>
          <a:prstGeom prst="rect">
            <a:avLst/>
          </a:prstGeom>
        </p:spPr>
        <p:txBody>
          <a:bodyPr vert="horz" lIns="96639" tIns="48320" rIns="96639" bIns="483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2962" y="0"/>
            <a:ext cx="3170583" cy="480388"/>
          </a:xfrm>
          <a:prstGeom prst="rect">
            <a:avLst/>
          </a:prstGeom>
        </p:spPr>
        <p:txBody>
          <a:bodyPr vert="horz" lIns="96639" tIns="48320" rIns="96639" bIns="48320" rtlCol="0"/>
          <a:lstStyle>
            <a:lvl1pPr algn="r">
              <a:defRPr sz="1200"/>
            </a:lvl1pPr>
          </a:lstStyle>
          <a:p>
            <a:pPr>
              <a:defRPr/>
            </a:pPr>
            <a:fld id="{2F500811-B2BA-43C6-82AE-50AE919F2C71}" type="datetimeFigureOut">
              <a:rPr lang="en-US"/>
              <a:pPr>
                <a:defRPr/>
              </a:pPr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9" tIns="48320" rIns="96639" bIns="483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2183" y="4561226"/>
            <a:ext cx="5850835" cy="4320213"/>
          </a:xfrm>
          <a:prstGeom prst="rect">
            <a:avLst/>
          </a:prstGeom>
        </p:spPr>
        <p:txBody>
          <a:bodyPr vert="horz" lIns="96639" tIns="48320" rIns="96639" bIns="483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173"/>
            <a:ext cx="3170583" cy="480388"/>
          </a:xfrm>
          <a:prstGeom prst="rect">
            <a:avLst/>
          </a:prstGeom>
        </p:spPr>
        <p:txBody>
          <a:bodyPr vert="horz" lIns="96639" tIns="48320" rIns="96639" bIns="483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2962" y="9119173"/>
            <a:ext cx="3170583" cy="480388"/>
          </a:xfrm>
          <a:prstGeom prst="rect">
            <a:avLst/>
          </a:prstGeom>
        </p:spPr>
        <p:txBody>
          <a:bodyPr vert="horz" lIns="96639" tIns="48320" rIns="96639" bIns="48320" rtlCol="0" anchor="b"/>
          <a:lstStyle>
            <a:lvl1pPr algn="r">
              <a:defRPr sz="1200"/>
            </a:lvl1pPr>
          </a:lstStyle>
          <a:p>
            <a:pPr>
              <a:defRPr/>
            </a:pPr>
            <a:fld id="{A1D72677-5075-4283-81CD-C7D762C597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590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24A4B8F-FB93-4293-88E6-261A83B9D9DB}" type="slidenum">
              <a:rPr lang="en-US" sz="1200"/>
              <a:pPr eaLnBrk="1" hangingPunct="1"/>
              <a:t>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420041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D72677-5075-4283-81CD-C7D762C5979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87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F08FBB8-E5AD-42D8-8CB2-EE5F976DD309}" type="slidenum">
              <a:rPr lang="en-US" sz="1200"/>
              <a:pPr eaLnBrk="1" hangingPunct="1"/>
              <a:t>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4021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2A2269E-A3B9-4F3F-BC82-492FFFFCF8DB}" type="slidenum">
              <a:rPr lang="en-US" sz="1200"/>
              <a:pPr eaLnBrk="1" hangingPunct="1"/>
              <a:t>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458668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C8605AD-9815-4DDB-B931-82AEDF4A0D6E}" type="slidenum">
              <a:rPr lang="en-US" sz="1200"/>
              <a:pPr eaLnBrk="1" hangingPunct="1"/>
              <a:t>10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214465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calculated the maximum steering angel for each car.</a:t>
            </a:r>
            <a:r>
              <a:rPr lang="en-US" baseline="0" dirty="0"/>
              <a:t>  You can see that tracks and vans have a lower steer angle. The Mazda Miata and Honda Odyssey have the largest steering angles.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249A68-C2BD-47B0-AE82-CF7CFC897D7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81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</a:t>
            </a:r>
            <a:r>
              <a:rPr lang="en-US" baseline="0" dirty="0"/>
              <a:t> plotting Wheelbase and steering angle for each class of cars, we would expect classes with higher wheelbases would have a greater steering angle. However, our calculations showed otherwise.  The trucks and vans, which had the longest wheelbase, happened to have the lowest steering angle.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249A68-C2BD-47B0-AE82-CF7CFC897D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08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9FBE79B-CA7A-4D2A-B4A9-CCDF0669C42D}" type="slidenum">
              <a:rPr lang="en-US" sz="1200"/>
              <a:pPr eaLnBrk="1" hangingPunct="1"/>
              <a:t>28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306168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452AAF9-3814-476F-951E-54AF62CE495D}" type="slidenum">
              <a:rPr lang="en-US" sz="1200"/>
              <a:pPr eaLnBrk="1" hangingPunct="1"/>
              <a:t>29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300405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638E09E-F28B-4BA9-A062-AEA95C5DDF9A}" type="slidenum">
              <a:rPr lang="en-US" sz="1200"/>
              <a:pPr eaLnBrk="1" hangingPunct="1"/>
              <a:t>31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328902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1774846-5690-42C2-90F2-D85B1DD7F4E5}" type="slidenum">
              <a:rPr lang="en-US" sz="1200"/>
              <a:pPr eaLnBrk="1" hangingPunct="1"/>
              <a:t>32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67292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FF10985-0FC5-4635-A0C4-363D79AA0933}" type="slidenum">
              <a:rPr lang="en-US" sz="1200"/>
              <a:pPr eaLnBrk="1" hangingPunct="1"/>
              <a:t>34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928208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1ACAE41-4F0D-43F8-9B4F-54ACB94639C6}" type="slidenum">
              <a:rPr lang="en-US" sz="1200"/>
              <a:pPr eaLnBrk="1" hangingPunct="1"/>
              <a:t>35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8943346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BFBB2A4-7914-425B-A202-40B1FEF99656}" type="slidenum">
              <a:rPr lang="en-US" sz="1200"/>
              <a:pPr eaLnBrk="1" hangingPunct="1"/>
              <a:t>36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643973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D72677-5075-4283-81CD-C7D762C59799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63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D72677-5075-4283-81CD-C7D762C59799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192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D72677-5075-4283-81CD-C7D762C59799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99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Lesson 5, Slide 9</a:t>
            </a:r>
          </a:p>
          <a:p>
            <a:endParaRPr 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039E471-F64F-42D9-85A2-695EF6C612A6}" type="slidenum">
              <a:rPr lang="en-US" sz="1200"/>
              <a:pPr eaLnBrk="1" hangingPunct="1"/>
              <a:t>41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862952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4F0939-7553-4CC6-8A77-B484CA7F0B92}" type="slidenum">
              <a:rPr lang="en-US" sz="1200"/>
              <a:pPr eaLnBrk="1" hangingPunct="1"/>
              <a:t>42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5539333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9DE7E87-B7B5-413E-8027-8E43CDF0C720}" type="slidenum">
              <a:rPr lang="en-US" sz="1200"/>
              <a:pPr eaLnBrk="1" hangingPunct="1"/>
              <a:t>43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572840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3D040D7-A523-4F81-AE10-5A3D674526AD}" type="slidenum">
              <a:rPr lang="en-US" sz="1200"/>
              <a:pPr eaLnBrk="1" hangingPunct="1"/>
              <a:t>44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4766654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Lesson 5, Slide 13</a:t>
            </a: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3BF0667-05BD-45B6-944E-D9B14B6BD571}" type="slidenum">
              <a:rPr lang="en-US" sz="1200"/>
              <a:pPr eaLnBrk="1" hangingPunct="1"/>
              <a:t>45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2799331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E57F3B7-1D86-4CE2-8AB1-841033386F47}" type="slidenum">
              <a:rPr lang="en-US" sz="1200"/>
              <a:pPr eaLnBrk="1" hangingPunct="1"/>
              <a:t>46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7811483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Lesson 5, Slide 18</a:t>
            </a:r>
          </a:p>
          <a:p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7B342B3-BA16-41B4-9AC3-E3E820A7C119}" type="slidenum">
              <a:rPr lang="en-US" sz="1200"/>
              <a:pPr eaLnBrk="1" hangingPunct="1"/>
              <a:t>47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0786343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1C230FC-E31E-45F0-9147-ADEB0B3BA09E}" type="slidenum">
              <a:rPr lang="en-US" sz="1200"/>
              <a:pPr eaLnBrk="1" hangingPunct="1"/>
              <a:t>48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751065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EDCBEFE-471B-49EF-8198-566BF4D1DFA0}" type="slidenum">
              <a:rPr lang="en-US" sz="1200"/>
              <a:pPr eaLnBrk="1" hangingPunct="1"/>
              <a:t>49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090697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4C7D971-7B14-4DA3-BEB9-4AF5856FFD4D}" type="slidenum">
              <a:rPr lang="en-US" sz="1200"/>
              <a:pPr eaLnBrk="1" hangingPunct="1"/>
              <a:t>50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3234667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0662" indent="-296408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85634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59887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34141" indent="-237127" eaLnBrk="0" hangingPunct="0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0839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082648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56902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31155" indent="-23712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D335C04-DE65-4456-B013-CE1211B05F51}" type="slidenum">
              <a:rPr lang="en-US" sz="1200"/>
              <a:pPr eaLnBrk="1" hangingPunct="1"/>
              <a:t>51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1699557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920E3-12B2-46D5-ADB2-30CF091DD3D6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39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920E3-12B2-46D5-ADB2-30CF091DD3D6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657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920E3-12B2-46D5-ADB2-30CF091DD3D6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646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920E3-12B2-46D5-ADB2-30CF091DD3D6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466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920E3-12B2-46D5-ADB2-30CF091DD3D6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818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920E3-12B2-46D5-ADB2-30CF091DD3D6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099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920E3-12B2-46D5-ADB2-30CF091DD3D6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623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D72677-5075-4283-81CD-C7D762C59799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448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D72677-5075-4283-81CD-C7D762C59799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685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920E3-12B2-46D5-ADB2-30CF091DD3D6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0362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920E3-12B2-46D5-ADB2-30CF091DD3D6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46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6840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32C797-A9A6-46C2-9874-031A087A8571}" type="datetimeFigureOut">
              <a:rPr lang="en-US"/>
              <a:pPr>
                <a:defRPr/>
              </a:pPr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A1BD64-9C4A-4AB3-B6CB-6C83A56BF3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172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C18C8C-44E8-4D2B-A59C-6E9606D3EBF4}" type="datetimeFigureOut">
              <a:rPr lang="en-US"/>
              <a:pPr>
                <a:defRPr/>
              </a:pPr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6D29C2-24D7-4141-838F-EB3E10715E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55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8476B4-55CF-4A48-AFFC-F5ADB1BF9C68}" type="datetimeFigureOut">
              <a:rPr lang="en-US"/>
              <a:pPr>
                <a:defRPr/>
              </a:pPr>
              <a:t>2/8/2026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AD0BC2-B18A-4B27-8050-88AC3A26F2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090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001A2-86BA-4AA8-A4BC-40E709A4F1D0}" type="datetimeFigureOut">
              <a:rPr lang="en-US"/>
              <a:pPr>
                <a:defRPr/>
              </a:pPr>
              <a:t>2/8/2026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0E029-47E4-4413-A7A1-EAF0022ACC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7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137399-1709-4C0D-AD9F-A3219D58A515}" type="datetimeFigureOut">
              <a:rPr lang="en-US"/>
              <a:pPr>
                <a:defRPr/>
              </a:pPr>
              <a:t>2/8/2026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628E3-A69C-4738-8FBD-19ACEDBAF1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43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29470-5365-4986-8BE4-D7B81FE42645}" type="datetimeFigureOut">
              <a:rPr lang="en-US"/>
              <a:pPr>
                <a:defRPr/>
              </a:pPr>
              <a:t>2/8/2026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1F4914-FBF8-4D62-A083-D6F8C31F51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AF586E-9D5B-46EA-A3B4-054BFAD5EC8C}" type="datetimeFigureOut">
              <a:rPr lang="en-US"/>
              <a:pPr>
                <a:defRPr/>
              </a:pPr>
              <a:t>2/8/2026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25CF2E-DC9E-4408-B610-150BD0F4F7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79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8C4982-D993-4946-881D-4BE6E1CC3854}" type="datetimeFigureOut">
              <a:rPr lang="en-US"/>
              <a:pPr>
                <a:defRPr/>
              </a:pPr>
              <a:t>2/8/2026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89835F-07BC-469B-B6EF-E21325627F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31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49BC6-A8E8-45C3-9E9E-89100D672BB5}" type="datetimeFigureOut">
              <a:rPr lang="en-US"/>
              <a:pPr>
                <a:defRPr/>
              </a:pPr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03CACC-707A-44F1-A9CB-64E5415F5D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3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86418B-55B8-4E91-A8BE-4073F776EF42}" type="datetimeFigureOut">
              <a:rPr lang="en-US"/>
              <a:pPr>
                <a:defRPr/>
              </a:pPr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6A103-A666-4ADC-83F0-32D94F7F91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06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112"/>
          <p:cNvSpPr txBox="1">
            <a:spLocks noChangeArrowheads="1"/>
          </p:cNvSpPr>
          <p:nvPr userDrawn="1"/>
        </p:nvSpPr>
        <p:spPr bwMode="auto">
          <a:xfrm>
            <a:off x="685800" y="6427788"/>
            <a:ext cx="187262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000" dirty="0"/>
              <a:t>Automotive Vehicle Dynamics</a:t>
            </a:r>
          </a:p>
          <a:p>
            <a:pPr>
              <a:defRPr/>
            </a:pPr>
            <a:r>
              <a:rPr lang="en-US" sz="1000" dirty="0"/>
              <a:t>Copyright </a:t>
            </a:r>
            <a:r>
              <a:rPr lang="en-US" sz="1000" dirty="0">
                <a:cs typeface="Times New Roman" pitchFamily="18" charset="0"/>
              </a:rPr>
              <a:t>© 2016 Sean Brennan</a:t>
            </a:r>
            <a:endParaRPr lang="en-US" sz="1000" dirty="0"/>
          </a:p>
        </p:txBody>
      </p:sp>
      <p:sp>
        <p:nvSpPr>
          <p:cNvPr id="8" name="Text Box 113"/>
          <p:cNvSpPr txBox="1">
            <a:spLocks noChangeArrowheads="1"/>
          </p:cNvSpPr>
          <p:nvPr userDrawn="1"/>
        </p:nvSpPr>
        <p:spPr bwMode="auto">
          <a:xfrm>
            <a:off x="7602188" y="6427788"/>
            <a:ext cx="13163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000" dirty="0"/>
              <a:t>ME 452  – Lecture 07</a:t>
            </a:r>
          </a:p>
          <a:p>
            <a:pPr algn="r">
              <a:defRPr/>
            </a:pPr>
            <a:r>
              <a:rPr lang="en-US" sz="1000" dirty="0"/>
              <a:t>Slide </a:t>
            </a:r>
            <a:fld id="{EBFB2E56-D666-4F0E-A16A-DF2BB4332D3B}" type="slidenum">
              <a:rPr lang="en-US" sz="1000" smtClean="0"/>
              <a:pPr algn="r">
                <a:defRPr/>
              </a:pPr>
              <a:t>‹#›</a:t>
            </a:fld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9" name="Line 114"/>
          <p:cNvSpPr>
            <a:spLocks noChangeShapeType="1"/>
          </p:cNvSpPr>
          <p:nvPr userDrawn="1"/>
        </p:nvSpPr>
        <p:spPr bwMode="auto">
          <a:xfrm>
            <a:off x="685800" y="6410325"/>
            <a:ext cx="815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consumerguideauto.howstuffworks.com/2008-mercedes-benz-slk-class-4.htm?photo=1158795&amp;perspective=exterio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en.wikipedia.org/wiki/Chario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://www.pbs.org/wgbh/nova/ancient/pharaoh-chariot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5.bin"/><Relationship Id="rId3" Type="http://schemas.openxmlformats.org/officeDocument/2006/relationships/hyperlink" Target="http://consumerguideauto.howstuffworks.com/2008-mercedes-benz-slk-class-4.htm?photo=1158795&amp;perspective=exterior" TargetMode="Externa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35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4.wmf"/><Relationship Id="rId4" Type="http://schemas.openxmlformats.org/officeDocument/2006/relationships/image" Target="../media/image10.jpe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3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41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42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46.wmf"/><Relationship Id="rId3" Type="http://schemas.openxmlformats.org/officeDocument/2006/relationships/hyperlink" Target="http://consumerguideauto.howstuffworks.com/2008-mercedes-benz-slk-class-4.htm?photo=1158795&amp;perspective=exterior" TargetMode="External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44.wmf"/><Relationship Id="rId17" Type="http://schemas.openxmlformats.org/officeDocument/2006/relationships/oleObject" Target="../embeddings/oleObject18.bin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5.wmf"/><Relationship Id="rId20" Type="http://schemas.openxmlformats.org/officeDocument/2006/relationships/image" Target="../media/image4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19.bin"/><Relationship Id="rId4" Type="http://schemas.openxmlformats.org/officeDocument/2006/relationships/image" Target="../media/image10.jpeg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36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4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5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consumerguideauto.howstuffworks.com/2008-mercedes-benz-slk-class-4.htm?photo=1158795&amp;perspective=exterior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e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consumerguideauto.howstuffworks.com/2008-mercedes-benz-slk-class-4.htm?photo=1158795&amp;perspective=exterior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61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consumerguideauto.howstuffworks.com/2008-mercedes-benz-slk-class-4.htm?photo=1158795&amp;perspective=exterior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jpeg"/><Relationship Id="rId4" Type="http://schemas.openxmlformats.org/officeDocument/2006/relationships/image" Target="../media/image66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wmf"/><Relationship Id="rId4" Type="http://schemas.openxmlformats.org/officeDocument/2006/relationships/oleObject" Target="../embeddings/oleObject2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jokes?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/>
              <a:t>If Apple made a car would it have windows?</a:t>
            </a:r>
          </a:p>
          <a:p>
            <a:pPr marL="0" indent="0">
              <a:buNone/>
            </a:pPr>
            <a:r>
              <a:rPr lang="en-US" sz="1600" dirty="0"/>
              <a:t> </a:t>
            </a:r>
          </a:p>
          <a:p>
            <a:pPr marL="0" indent="0">
              <a:buNone/>
            </a:pPr>
            <a:r>
              <a:rPr lang="en-US" sz="1600" dirty="0"/>
              <a:t>What do you call a newspaper article about a Porsche 911 driver?...An obituary</a:t>
            </a:r>
          </a:p>
          <a:p>
            <a:pPr marL="0" indent="0">
              <a:buNone/>
            </a:pPr>
            <a:r>
              <a:rPr lang="en-US" sz="1600" dirty="0"/>
              <a:t> </a:t>
            </a:r>
          </a:p>
          <a:p>
            <a:pPr marL="0" indent="0">
              <a:buNone/>
            </a:pPr>
            <a:r>
              <a:rPr lang="en-US" sz="1600" dirty="0"/>
              <a:t>What happens when a frog parks in a no-parking space?...It gets toad away.</a:t>
            </a:r>
          </a:p>
          <a:p>
            <a:pPr marL="0" indent="0">
              <a:buNone/>
            </a:pPr>
            <a:r>
              <a:rPr lang="en-US" sz="1600" dirty="0"/>
              <a:t> </a:t>
            </a:r>
          </a:p>
          <a:p>
            <a:pPr marL="0" indent="0">
              <a:buNone/>
            </a:pPr>
            <a:r>
              <a:rPr lang="en-US" sz="1600" dirty="0"/>
              <a:t>A guy walks into a parts store and says, "I need a gas cap for my Kia." The clerk says, "Okay, sounds like a fair trade."</a:t>
            </a:r>
          </a:p>
          <a:p>
            <a:pPr marL="0" indent="0">
              <a:buNone/>
            </a:pPr>
            <a:r>
              <a:rPr lang="en-US" sz="1600" dirty="0"/>
              <a:t> </a:t>
            </a:r>
          </a:p>
          <a:p>
            <a:pPr marL="0" indent="0">
              <a:buNone/>
            </a:pPr>
            <a:r>
              <a:rPr lang="en-US" sz="1600" dirty="0"/>
              <a:t>A mechanical engineer, electrical engineer, and computer engineer are in a car that breaks down on the side of the road. "Hang on," says the mechanical engineer, " The problem is probably the engine. Let me take a look at it and I'll have us on the road in no time." "Wait," says the electrical engineer, "The way it just stopped like that, I think it's the electrical system. Let me have a look and I'll get us going again in a minute or two." "Hold on," says the computer engineer, "Why don't we all just get out of the car and get in again and then see if it starts?"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2644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Automotive Vehicle Dynamics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 fontScale="55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600" b="1" dirty="0">
                <a:solidFill>
                  <a:schemeClr val="tx1"/>
                </a:solidFill>
              </a:rPr>
              <a:t>Lecture 07 – Steady-State Cornering 1</a:t>
            </a:r>
            <a:br>
              <a:rPr lang="en-US" sz="3600" b="1" dirty="0">
                <a:solidFill>
                  <a:schemeClr val="tx1"/>
                </a:solidFill>
              </a:rPr>
            </a:br>
            <a:r>
              <a:rPr lang="en-US" sz="3600" b="1" dirty="0">
                <a:solidFill>
                  <a:schemeClr val="tx1"/>
                </a:solidFill>
              </a:rPr>
              <a:t>Kinematic Steering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Sean Brennan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Department of Mechanical and Nuclear Engineering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Penn State University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sbrennan@psu.edu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800" y="228600"/>
            <a:ext cx="1776259" cy="21076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8600" y="609600"/>
            <a:ext cx="3426619" cy="16790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Is it possible to have motion without force?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743200" y="2362200"/>
                <a:ext cx="3630523" cy="16395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nary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𝑚𝑎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2362200"/>
                <a:ext cx="3630523" cy="163955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190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forget about that “other” law…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</a:t>
            </a:r>
            <a:r>
              <a:rPr lang="en-US" i="1" dirty="0"/>
              <a:t>An object in motion must stay in motion, </a:t>
            </a:r>
            <a:br>
              <a:rPr lang="en-US" i="1" dirty="0"/>
            </a:br>
            <a:r>
              <a:rPr lang="en-US" i="1" dirty="0"/>
              <a:t>unless acted upon by an outside force.”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819400"/>
            <a:ext cx="3723600" cy="3027477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6477000" y="3276600"/>
            <a:ext cx="1295400" cy="0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249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66237" y="0"/>
            <a:ext cx="1039672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Kinematics is really only </a:t>
            </a:r>
            <a:br>
              <a:rPr lang="en-US" dirty="0"/>
            </a:br>
            <a:r>
              <a:rPr lang="en-US" dirty="0"/>
              <a:t>valid in outer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124200" cy="4525963"/>
          </a:xfrm>
          <a:solidFill>
            <a:schemeClr val="bg1">
              <a:alpha val="5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It’s one of the rare places we’ve been where we’re not acted on by (obvious) outside forces.</a:t>
            </a:r>
          </a:p>
        </p:txBody>
      </p:sp>
    </p:spTree>
    <p:extLst>
      <p:ext uri="{BB962C8B-B14F-4D97-AF65-F5344CB8AC3E}">
        <p14:creationId xmlns:p14="http://schemas.microsoft.com/office/powerpoint/2010/main" val="1745352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626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9001328" cy="1143000"/>
          </a:xfrm>
        </p:spPr>
        <p:txBody>
          <a:bodyPr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But there are situations where the only motion we care about is along a constrained path. This is also  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							kinematics.</a:t>
            </a:r>
          </a:p>
        </p:txBody>
      </p:sp>
    </p:spTree>
    <p:extLst>
      <p:ext uri="{BB962C8B-B14F-4D97-AF65-F5344CB8AC3E}">
        <p14:creationId xmlns:p14="http://schemas.microsoft.com/office/powerpoint/2010/main" val="2135546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 descr="http://aeweb.tamu.edu/aeroel/Gallery/Interest/BA3_(1)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Tires are like wings: they produce force proportional to slip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343400"/>
            <a:ext cx="8229600" cy="2133600"/>
          </a:xfrm>
          <a:solidFill>
            <a:schemeClr val="bg1">
              <a:alpha val="73000"/>
            </a:schemeClr>
          </a:solidFill>
        </p:spPr>
        <p:txBody>
          <a:bodyPr/>
          <a:lstStyle/>
          <a:p>
            <a:pPr>
              <a:buNone/>
            </a:pPr>
            <a:r>
              <a:rPr lang="en-US" dirty="0"/>
              <a:t>* But only in a small region around the operating point. We call deviations from this region “skidding” in vehicles, or “stall” in aircraft. Both are deadly.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We usually assume that low-speed motion is kinematic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Parallel parking is an example!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95" y="2363181"/>
            <a:ext cx="5942857" cy="3000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513" y="2649434"/>
            <a:ext cx="2857143" cy="3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62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33400" y="1905000"/>
            <a:ext cx="7958138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  <a:defRPr/>
            </a:pPr>
            <a:r>
              <a:rPr lang="en-US" dirty="0">
                <a:latin typeface="+mn-lt"/>
              </a:rPr>
              <a:t>Consider a simplified steering schematic for a given turning radius.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1143000"/>
          </a:xfrm>
        </p:spPr>
        <p:txBody>
          <a:bodyPr/>
          <a:lstStyle/>
          <a:p>
            <a:pPr algn="l"/>
            <a:r>
              <a:rPr lang="en-US" sz="3600" dirty="0"/>
              <a:t>A poorly designed steering system may have the tires turning around different radii, which violates kinematic assumptions</a:t>
            </a:r>
          </a:p>
        </p:txBody>
      </p:sp>
      <p:pic>
        <p:nvPicPr>
          <p:cNvPr id="9222" name="Picture 6" descr="Convertible Overhead View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rot="16200000">
            <a:off x="5168900" y="2832100"/>
            <a:ext cx="3759200" cy="2819400"/>
          </a:xfrm>
          <a:prstGeom prst="rect">
            <a:avLst/>
          </a:prstGeom>
          <a:noFill/>
        </p:spPr>
      </p:pic>
      <p:sp>
        <p:nvSpPr>
          <p:cNvPr id="10" name="Plus 9"/>
          <p:cNvSpPr/>
          <p:nvPr/>
        </p:nvSpPr>
        <p:spPr>
          <a:xfrm>
            <a:off x="1981200" y="5029200"/>
            <a:ext cx="304800" cy="45720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Plus 10"/>
          <p:cNvSpPr/>
          <p:nvPr/>
        </p:nvSpPr>
        <p:spPr>
          <a:xfrm>
            <a:off x="2667000" y="5029200"/>
            <a:ext cx="304800" cy="45720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2" name="Straight Connector 11"/>
          <p:cNvCxnSpPr>
            <a:stCxn id="10" idx="0"/>
          </p:cNvCxnSpPr>
          <p:nvPr/>
        </p:nvCxnSpPr>
        <p:spPr>
          <a:xfrm>
            <a:off x="2246313" y="5257800"/>
            <a:ext cx="49164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10" idx="2"/>
          </p:cNvCxnSpPr>
          <p:nvPr/>
        </p:nvCxnSpPr>
        <p:spPr>
          <a:xfrm>
            <a:off x="1447800" y="4800600"/>
            <a:ext cx="573088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4800" y="3886200"/>
            <a:ext cx="1493838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latin typeface="+mj-lt"/>
              </a:rPr>
              <a:t>Center of</a:t>
            </a:r>
          </a:p>
          <a:p>
            <a:pPr>
              <a:defRPr/>
            </a:pPr>
            <a:r>
              <a:rPr lang="en-US" sz="1800" dirty="0">
                <a:latin typeface="+mj-lt"/>
              </a:rPr>
              <a:t>turning radius</a:t>
            </a:r>
          </a:p>
          <a:p>
            <a:pPr>
              <a:defRPr/>
            </a:pPr>
            <a:r>
              <a:rPr lang="en-US" sz="1800" dirty="0">
                <a:latin typeface="+mj-lt"/>
              </a:rPr>
              <a:t>for left wheel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3600" y="2971800"/>
            <a:ext cx="1566863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latin typeface="+mj-lt"/>
              </a:rPr>
              <a:t>Center of</a:t>
            </a:r>
          </a:p>
          <a:p>
            <a:pPr>
              <a:defRPr/>
            </a:pPr>
            <a:r>
              <a:rPr lang="en-US" sz="1800" dirty="0">
                <a:latin typeface="+mj-lt"/>
              </a:rPr>
              <a:t>turning radius</a:t>
            </a:r>
          </a:p>
          <a:p>
            <a:pPr>
              <a:defRPr/>
            </a:pPr>
            <a:r>
              <a:rPr lang="en-US" sz="1800" dirty="0">
                <a:latin typeface="+mj-lt"/>
              </a:rPr>
              <a:t>for right wheel</a:t>
            </a:r>
          </a:p>
        </p:txBody>
      </p:sp>
      <p:cxnSp>
        <p:nvCxnSpPr>
          <p:cNvPr id="23" name="Straight Arrow Connector 22"/>
          <p:cNvCxnSpPr>
            <a:stCxn id="22" idx="2"/>
            <a:endCxn id="11" idx="3"/>
          </p:cNvCxnSpPr>
          <p:nvPr/>
        </p:nvCxnSpPr>
        <p:spPr>
          <a:xfrm rot="5400000">
            <a:off x="2271713" y="4443412"/>
            <a:ext cx="1193800" cy="984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 rot="-1740000">
            <a:off x="7543800" y="3048000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 rot="-1740000">
            <a:off x="6324600" y="3048000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7543800" y="4953000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6324600" y="4953000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2" name="Straight Connector 31"/>
          <p:cNvCxnSpPr>
            <a:stCxn id="0" idx="1"/>
            <a:endCxn id="10" idx="2"/>
          </p:cNvCxnSpPr>
          <p:nvPr/>
        </p:nvCxnSpPr>
        <p:spPr>
          <a:xfrm rot="10800000" flipV="1">
            <a:off x="2020888" y="3370263"/>
            <a:ext cx="4318000" cy="1887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0" idx="1"/>
            <a:endCxn id="11" idx="2"/>
          </p:cNvCxnSpPr>
          <p:nvPr/>
        </p:nvCxnSpPr>
        <p:spPr>
          <a:xfrm rot="10800000" flipV="1">
            <a:off x="2706688" y="3370263"/>
            <a:ext cx="4851400" cy="1887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This causes problems…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4648200" cy="45720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Small vehicles, which sometimes have inexpensive steering systems, often show high tire wear.</a:t>
            </a:r>
          </a:p>
          <a:p>
            <a:pPr marL="0" indent="0">
              <a:buNone/>
            </a:pPr>
            <a:r>
              <a:rPr lang="en-US" sz="2800" dirty="0"/>
              <a:t>This is usually because the two front tires don’t turn about the same turning radius.</a:t>
            </a:r>
          </a:p>
          <a:p>
            <a:pPr marL="0" indent="0">
              <a:buNone/>
            </a:pPr>
            <a:r>
              <a:rPr lang="en-US" sz="2800" dirty="0"/>
              <a:t>This creates tire ‘scrub’ as the wheels tend to fight each other.</a:t>
            </a:r>
          </a:p>
          <a:p>
            <a:pPr>
              <a:buFont typeface="Arial" charset="0"/>
              <a:buNone/>
            </a:pPr>
            <a:endParaRPr lang="en-US" sz="2800" dirty="0"/>
          </a:p>
        </p:txBody>
      </p:sp>
      <p:pic>
        <p:nvPicPr>
          <p:cNvPr id="30722" name="Picture 2" descr="http://upload.wikimedia.org/wikipedia/commons/8/8b/Tire_Severe_Under_Inflation_Wear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10200" y="1676400"/>
            <a:ext cx="3230880" cy="2423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/>
              <a:t>But in kinematic motion, tires are assumed to NOT slip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7958138" cy="4191000"/>
          </a:xfrm>
        </p:spPr>
        <p:txBody>
          <a:bodyPr/>
          <a:lstStyle/>
          <a:p>
            <a:r>
              <a:rPr lang="en-US" dirty="0"/>
              <a:t>For kinematic motion, tires MUST be pointed in the direction they are rolling</a:t>
            </a:r>
          </a:p>
          <a:p>
            <a:r>
              <a:rPr lang="en-US" dirty="0"/>
              <a:t>This means that the tire should be tangent to any radii it is moving around</a:t>
            </a:r>
          </a:p>
          <a:p>
            <a:pPr>
              <a:buFont typeface="Arial" charset="0"/>
              <a:buNone/>
            </a:pPr>
            <a:endParaRPr lang="en-US" dirty="0"/>
          </a:p>
        </p:txBody>
      </p:sp>
      <p:pic>
        <p:nvPicPr>
          <p:cNvPr id="10244" name="Picture 2" descr="http://www.sonirodban.com/images/auto-articles-images/tire-wear_pattern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76400" y="3962400"/>
            <a:ext cx="5715000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 </a:t>
            </a:r>
            <a:r>
              <a:rPr lang="en-US" dirty="0" err="1"/>
              <a:t>Holbert</a:t>
            </a:r>
            <a:r>
              <a:rPr lang="en-US" dirty="0"/>
              <a:t> and Mark Joyce</a:t>
            </a:r>
          </a:p>
        </p:txBody>
      </p:sp>
    </p:spTree>
    <p:extLst>
      <p:ext uri="{BB962C8B-B14F-4D97-AF65-F5344CB8AC3E}">
        <p14:creationId xmlns:p14="http://schemas.microsoft.com/office/powerpoint/2010/main" val="2905321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Steering Angle for Each Car</a:t>
            </a:r>
          </a:p>
        </p:txBody>
      </p:sp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91656" y="1944111"/>
          <a:ext cx="8960688" cy="3506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0183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Steering Angle and Wheelbase by Class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28650" y="2226469"/>
          <a:ext cx="7681269" cy="3215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97900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take a detour through history</a:t>
            </a:r>
          </a:p>
        </p:txBody>
      </p:sp>
      <p:pic>
        <p:nvPicPr>
          <p:cNvPr id="10244" name="Picture 4" descr="http://www.pipllp.com/wp-content/uploads/2015/08/evolution-of-cars_CKO-300x22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2400" y="2286000"/>
            <a:ext cx="3581400" cy="2733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169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The earliest vehicles were in Mesopotamia, 3000 BC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4290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Here, chariots were typically used in warfare to deliver fresh warriors to crucial parts of the battlefield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67201" y="5562600"/>
            <a:ext cx="3657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Approximate historical map of the spread of the spoke-wheeled chariot, 2000–500 BC (</a:t>
            </a:r>
            <a:r>
              <a:rPr lang="en-US" sz="1400" dirty="0">
                <a:hlinkClick r:id="rId2"/>
              </a:rPr>
              <a:t>http://en.wikipedia.org/wiki/Chariot</a:t>
            </a:r>
            <a:r>
              <a:rPr lang="en-US" sz="1400" dirty="0"/>
              <a:t> 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136" y="2133600"/>
            <a:ext cx="3809524" cy="2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01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The Standard of Ur, 2500 BC, is the earliest documentation of vehicles in the context of war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r>
              <a:rPr lang="en-US" sz="2400" dirty="0"/>
              <a:t>Note the solid wheels and oxen. Horses started appearing in 2000 BC. </a:t>
            </a:r>
            <a:r>
              <a:rPr lang="en-US" sz="2400" dirty="0" err="1"/>
              <a:t>Spoked</a:t>
            </a:r>
            <a:r>
              <a:rPr lang="en-US" sz="2400" dirty="0"/>
              <a:t> wheels didn’t appear in Mesopotamia until mid-2000’s BC. </a:t>
            </a:r>
            <a:r>
              <a:rPr lang="en-US" sz="1400" dirty="0"/>
              <a:t>(http://en.wikipedia.org/wiki/Chariot)</a:t>
            </a:r>
            <a:endParaRPr lang="en-US" sz="2400" dirty="0"/>
          </a:p>
        </p:txBody>
      </p:sp>
      <p:pic>
        <p:nvPicPr>
          <p:cNvPr id="10242" name="Picture 2" descr="http://upload.wikimedia.org/wikipedia/commons/f/f9/Standard_of_Ur_-_Wa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3660" y="1524000"/>
            <a:ext cx="7356680" cy="328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01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300 ancient chariots are known to exist, but only 6 are complete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The best in existence in in the Metropolitan museum in New York (go see it!). For a while (2010), King </a:t>
            </a:r>
            <a:r>
              <a:rPr lang="en-US" sz="2400" dirty="0" err="1"/>
              <a:t>Tut’s</a:t>
            </a:r>
            <a:r>
              <a:rPr lang="en-US" sz="2400" dirty="0"/>
              <a:t> Chariot was there too!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1400" dirty="0"/>
              <a:t>Want to learn more? Read the “The rise and decline of the Tutankhamun-class chariot” by </a:t>
            </a:r>
            <a:r>
              <a:rPr lang="en-US" sz="1400" dirty="0" err="1"/>
              <a:t>Bela</a:t>
            </a:r>
            <a:r>
              <a:rPr lang="en-US" sz="1400" dirty="0"/>
              <a:t> Sandor, or watch “Building Pharaoh’s Chariot”,  </a:t>
            </a:r>
            <a:r>
              <a:rPr lang="en-US" sz="1400" dirty="0">
                <a:hlinkClick r:id="rId2"/>
              </a:rPr>
              <a:t>http://www.pbs.org/wgbh/nova/ancient/pharaoh-chariot.html</a:t>
            </a:r>
            <a:r>
              <a:rPr lang="en-US" sz="1400" dirty="0"/>
              <a:t> </a:t>
            </a:r>
            <a:endParaRPr lang="en-US" sz="18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11266" name="Picture 2" descr="http://www.metmuseum.org/toah/images/hb/hb_03.23.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0330" y="2733472"/>
            <a:ext cx="4210050" cy="303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387" y="2743200"/>
            <a:ext cx="3774649" cy="20760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57736" y="5001819"/>
            <a:ext cx="35621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http://www.nytimes.com/2010/08/03/arts/design/03chariot.html?ref=design&amp;_r=0</a:t>
            </a:r>
          </a:p>
        </p:txBody>
      </p:sp>
    </p:spTree>
    <p:extLst>
      <p:ext uri="{BB962C8B-B14F-4D97-AF65-F5344CB8AC3E}">
        <p14:creationId xmlns:p14="http://schemas.microsoft.com/office/powerpoint/2010/main" val="2714748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dirty="0"/>
              <a:t>Since Roman times, leaf springs consisting of elastic wooden poles were used on a 2-wheeled </a:t>
            </a:r>
            <a:r>
              <a:rPr lang="en-US" sz="2800" i="1" dirty="0" err="1"/>
              <a:t>Pilentum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Originally used for sacred transport, e.g. statues of gods and cult objects. Later modified for delivery of mail.</a:t>
            </a:r>
          </a:p>
        </p:txBody>
      </p:sp>
      <p:pic>
        <p:nvPicPr>
          <p:cNvPr id="12290" name="Picture 2" descr="Whe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3076575"/>
            <a:ext cx="2381250" cy="146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66800" y="6019800"/>
            <a:ext cx="48056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http://www.euachei.com.br/educacao/curiosidades/roda/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743200"/>
            <a:ext cx="4381083" cy="24596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0" y="5236022"/>
            <a:ext cx="3533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Looks surprisingly similar!</a:t>
            </a:r>
          </a:p>
        </p:txBody>
      </p:sp>
    </p:spTree>
    <p:extLst>
      <p:ext uri="{BB962C8B-B14F-4D97-AF65-F5344CB8AC3E}">
        <p14:creationId xmlns:p14="http://schemas.microsoft.com/office/powerpoint/2010/main" val="1552715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77962"/>
          </a:xfrm>
        </p:spPr>
        <p:txBody>
          <a:bodyPr/>
          <a:lstStyle/>
          <a:p>
            <a:pPr algn="l"/>
            <a:r>
              <a:rPr lang="en-US" sz="2800" dirty="0"/>
              <a:t>The word “car” comes either from cart or carriage, and originates from Old Northern French around 14</a:t>
            </a:r>
            <a:r>
              <a:rPr lang="en-US" sz="2800" baseline="30000" dirty="0"/>
              <a:t>th</a:t>
            </a:r>
            <a:r>
              <a:rPr lang="en-US" sz="2800" dirty="0"/>
              <a:t> century, or from Latin </a:t>
            </a:r>
            <a:r>
              <a:rPr lang="en-US" sz="2800" dirty="0" err="1"/>
              <a:t>carrum</a:t>
            </a:r>
            <a:r>
              <a:rPr lang="en-US" sz="2800" dirty="0"/>
              <a:t> or </a:t>
            </a:r>
            <a:r>
              <a:rPr lang="en-US" sz="2800" dirty="0" err="1"/>
              <a:t>Gaulish</a:t>
            </a:r>
            <a:r>
              <a:rPr lang="en-US" sz="2800" dirty="0"/>
              <a:t> </a:t>
            </a:r>
            <a:r>
              <a:rPr lang="en-US" sz="2800" dirty="0" err="1"/>
              <a:t>karros</a:t>
            </a:r>
            <a:r>
              <a:rPr lang="en-US" sz="2800" dirty="0"/>
              <a:t>, from British Isles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3810000" cy="39925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These were influenced by Roman sprung wagons </a:t>
            </a:r>
          </a:p>
          <a:p>
            <a:pPr marL="0" indent="0">
              <a:buNone/>
            </a:pPr>
            <a:r>
              <a:rPr lang="en-US" sz="2400" dirty="0"/>
              <a:t>(1</a:t>
            </a:r>
            <a:r>
              <a:rPr lang="en-US" sz="2400" baseline="30000" dirty="0"/>
              <a:t>st</a:t>
            </a:r>
            <a:r>
              <a:rPr lang="en-US" sz="2400" dirty="0"/>
              <a:t> century AD)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752600"/>
            <a:ext cx="3161905" cy="39428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9501" y="5755524"/>
            <a:ext cx="346120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/>
              <a:t>http://en.wikipedia.org/wiki/Carriage#mediaviewer/File:Kobelwagen,_Jean_Le_Tavernier,_nach_1455.jpg</a:t>
            </a:r>
          </a:p>
        </p:txBody>
      </p:sp>
    </p:spTree>
    <p:extLst>
      <p:ext uri="{BB962C8B-B14F-4D97-AF65-F5344CB8AC3E}">
        <p14:creationId xmlns:p14="http://schemas.microsoft.com/office/powerpoint/2010/main" val="1443956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“Fast” transportation started in Hungary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 King Mathias </a:t>
            </a:r>
            <a:r>
              <a:rPr lang="en-US" dirty="0" err="1"/>
              <a:t>Corvinus</a:t>
            </a:r>
            <a:r>
              <a:rPr lang="en-US" dirty="0"/>
              <a:t>, Hungarians developed fast road transport between Budapest and Vienna</a:t>
            </a:r>
          </a:p>
          <a:p>
            <a:r>
              <a:rPr lang="en-US" dirty="0"/>
              <a:t>Fast = faster than a horse or human could easily jog, or faster than about 5 mph</a:t>
            </a:r>
          </a:p>
          <a:p>
            <a:r>
              <a:rPr lang="en-US" dirty="0"/>
              <a:t>From 1475 to 1550, the Hungarian coach spread through Europe that utilized a leather-strap suspension to create a smooth ride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0292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/>
              <a:t>The next key advancement was the improvement in roads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Roman roads were good, but the Romans required the land-owners to maintain them. Which didn’t happen (and still doesn’t).</a:t>
            </a:r>
          </a:p>
          <a:p>
            <a:r>
              <a:rPr lang="en-US" dirty="0"/>
              <a:t>It wasn’t until 1700’s that governments became rich enough to re-discover Roman building methods and once again produce usable roads.</a:t>
            </a:r>
          </a:p>
          <a:p>
            <a:r>
              <a:rPr lang="en-US" dirty="0"/>
              <a:t>As a result, speeds on some major roads rose from 5 mph in 1800 to about 10 mph in 1820.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295400"/>
            <a:ext cx="1647619" cy="2380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90800" y="5972274"/>
            <a:ext cx="41488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http://en.wikipedia.org/wiki/History_of_road_transport</a:t>
            </a:r>
          </a:p>
        </p:txBody>
      </p:sp>
    </p:spTree>
    <p:extLst>
      <p:ext uri="{BB962C8B-B14F-4D97-AF65-F5344CB8AC3E}">
        <p14:creationId xmlns:p14="http://schemas.microsoft.com/office/powerpoint/2010/main" val="3392104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One result of traveling faster? Sore bums!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013918"/>
            <a:ext cx="3398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http://www.motorera.com/history/hist08.htm</a:t>
            </a:r>
          </a:p>
        </p:txBody>
      </p:sp>
      <p:pic>
        <p:nvPicPr>
          <p:cNvPr id="11266" name="Picture 2" descr="https://edc2.healthtap.com/ht-staging/user_answer/avatars/460422/large/stringio.jpeg?13866127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06556" y="2286000"/>
            <a:ext cx="4114800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829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How to fix sore bums and backs? Suspension!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The first steel springs were used in a leaf-spring design on French carriages in the 18th century</a:t>
            </a:r>
          </a:p>
          <a:p>
            <a:pPr marL="0" indent="0">
              <a:buNone/>
            </a:pPr>
            <a:r>
              <a:rPr lang="en-US" sz="2400" dirty="0"/>
              <a:t>The first leaf spring suspensions were “invented” by Obadiah Elliot of London in 1804, though leaf springs have been around since early Egyptians</a:t>
            </a:r>
          </a:p>
          <a:p>
            <a:pPr marL="0" indent="0">
              <a:buNone/>
            </a:pPr>
            <a:r>
              <a:rPr lang="en-US" sz="2400" dirty="0"/>
              <a:t>The coil spring is not recent, either. The first patent for such a spring (British patent No. 792) was issued to R. </a:t>
            </a:r>
            <a:r>
              <a:rPr lang="en-US" sz="2400" dirty="0" err="1"/>
              <a:t>Tredwell</a:t>
            </a:r>
            <a:r>
              <a:rPr lang="en-US" sz="2400" dirty="0"/>
              <a:t> in 1763. The main advantage of coil springs was that they did not have to be spread apart and lubricated periodically to keep them from squeaking, as leaf springs did.</a:t>
            </a:r>
          </a:p>
          <a:p>
            <a:pPr marL="0" indent="0">
              <a:buNone/>
            </a:pPr>
            <a:r>
              <a:rPr lang="en-US" sz="2400" dirty="0"/>
              <a:t>Roads improved dramatically around this time as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013918"/>
            <a:ext cx="3398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http://www.motorera.com/history/hist08.htm</a:t>
            </a:r>
          </a:p>
        </p:txBody>
      </p:sp>
    </p:spTree>
    <p:extLst>
      <p:ext uri="{BB962C8B-B14F-4D97-AF65-F5344CB8AC3E}">
        <p14:creationId xmlns:p14="http://schemas.microsoft.com/office/powerpoint/2010/main" val="285334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/>
              <a:t>Until the late 1700’s, steering was usually accomplished with a 5</a:t>
            </a:r>
            <a:r>
              <a:rPr lang="en-US" sz="3600" baseline="30000" dirty="0"/>
              <a:t>th</a:t>
            </a:r>
            <a:r>
              <a:rPr lang="en-US" sz="3600" dirty="0"/>
              <a:t> wheel system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62" y="1776554"/>
            <a:ext cx="4214242" cy="2771286"/>
          </a:xfrm>
          <a:prstGeom prst="rect">
            <a:avLst/>
          </a:prstGeom>
        </p:spPr>
      </p:pic>
      <p:sp>
        <p:nvSpPr>
          <p:cNvPr id="5" name="Plus 4"/>
          <p:cNvSpPr/>
          <p:nvPr/>
        </p:nvSpPr>
        <p:spPr>
          <a:xfrm>
            <a:off x="2667000" y="5029200"/>
            <a:ext cx="304800" cy="45720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" name="Straight Connector 10"/>
          <p:cNvCxnSpPr>
            <a:endCxn id="5" idx="0"/>
          </p:cNvCxnSpPr>
          <p:nvPr/>
        </p:nvCxnSpPr>
        <p:spPr>
          <a:xfrm flipH="1">
            <a:off x="2931399" y="3370263"/>
            <a:ext cx="4626689" cy="1887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09800" y="5791200"/>
            <a:ext cx="1598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Turn center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7010400" y="3603375"/>
            <a:ext cx="0" cy="1616325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6324600" y="4953000"/>
            <a:ext cx="1447800" cy="533400"/>
            <a:chOff x="6324600" y="4953000"/>
            <a:chExt cx="1447800" cy="533400"/>
          </a:xfrm>
        </p:grpSpPr>
        <p:sp>
          <p:nvSpPr>
            <p:cNvPr id="9" name="Rounded Rectangle 8"/>
            <p:cNvSpPr/>
            <p:nvPr/>
          </p:nvSpPr>
          <p:spPr>
            <a:xfrm>
              <a:off x="7543800" y="49530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324600" y="49530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5" name="Straight Connector 14"/>
            <p:cNvCxnSpPr>
              <a:stCxn id="10" idx="3"/>
              <a:endCxn id="9" idx="1"/>
            </p:cNvCxnSpPr>
            <p:nvPr/>
          </p:nvCxnSpPr>
          <p:spPr>
            <a:xfrm>
              <a:off x="6553200" y="5219700"/>
              <a:ext cx="990600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 rot="20212581">
            <a:off x="6286500" y="3321036"/>
            <a:ext cx="1447800" cy="533400"/>
            <a:chOff x="6324600" y="4953000"/>
            <a:chExt cx="1447800" cy="533400"/>
          </a:xfrm>
        </p:grpSpPr>
        <p:sp>
          <p:nvSpPr>
            <p:cNvPr id="20" name="Rounded Rectangle 19"/>
            <p:cNvSpPr/>
            <p:nvPr/>
          </p:nvSpPr>
          <p:spPr>
            <a:xfrm>
              <a:off x="7543800" y="49530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324600" y="49530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22" name="Straight Connector 21"/>
            <p:cNvCxnSpPr>
              <a:stCxn id="21" idx="3"/>
              <a:endCxn id="20" idx="1"/>
            </p:cNvCxnSpPr>
            <p:nvPr/>
          </p:nvCxnSpPr>
          <p:spPr>
            <a:xfrm>
              <a:off x="6553200" y="5219700"/>
              <a:ext cx="990600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381000" y="4538158"/>
            <a:ext cx="332815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http://www.weddingbycolor.com/gorgeous6/horse-drawn-carriage-so-excited----68061</a:t>
            </a:r>
          </a:p>
        </p:txBody>
      </p:sp>
      <p:cxnSp>
        <p:nvCxnSpPr>
          <p:cNvPr id="24" name="Straight Connector 23"/>
          <p:cNvCxnSpPr>
            <a:stCxn id="9" idx="1"/>
            <a:endCxn id="5" idx="0"/>
          </p:cNvCxnSpPr>
          <p:nvPr/>
        </p:nvCxnSpPr>
        <p:spPr>
          <a:xfrm flipH="1">
            <a:off x="2931399" y="5219700"/>
            <a:ext cx="4612401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845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In the early 1800’s, a doctor riding about 10,000 miles a year to visit patients all over England got a better idea…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432" y="1600200"/>
            <a:ext cx="2095238" cy="253333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24776" y="4163695"/>
            <a:ext cx="3019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http://en.wikipedia.org/wiki/Erasmus_Darwin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0" y="1752600"/>
            <a:ext cx="3248158" cy="41414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5960705"/>
            <a:ext cx="52341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http://en.wikipedia.org/wiki/Lichfield#mediaviewer/File:Staffordshire_UK_location_map.svg</a:t>
            </a:r>
          </a:p>
        </p:txBody>
      </p:sp>
    </p:spTree>
    <p:extLst>
      <p:ext uri="{BB962C8B-B14F-4D97-AF65-F5344CB8AC3E}">
        <p14:creationId xmlns:p14="http://schemas.microsoft.com/office/powerpoint/2010/main" val="1062671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4045"/>
            <a:ext cx="8229600" cy="1143000"/>
          </a:xfrm>
        </p:spPr>
        <p:txBody>
          <a:bodyPr/>
          <a:lstStyle/>
          <a:p>
            <a:pPr marL="0" indent="0" algn="l">
              <a:buNone/>
            </a:pPr>
            <a:r>
              <a:rPr lang="en-US" sz="2800" dirty="0"/>
              <a:t>He found two essential problems or shortcomings of the commonly used Hungarian carriage. First, he recognized the danger of overturning. Apparently popes were not immune!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4267200" y="4226925"/>
            <a:ext cx="0" cy="1616325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3581400" y="5576550"/>
            <a:ext cx="1447800" cy="533400"/>
            <a:chOff x="6324600" y="4953000"/>
            <a:chExt cx="1447800" cy="533400"/>
          </a:xfrm>
        </p:grpSpPr>
        <p:sp>
          <p:nvSpPr>
            <p:cNvPr id="6" name="Rounded Rectangle 5"/>
            <p:cNvSpPr/>
            <p:nvPr/>
          </p:nvSpPr>
          <p:spPr>
            <a:xfrm>
              <a:off x="7543800" y="49530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24600" y="49530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8" name="Straight Connector 7"/>
            <p:cNvCxnSpPr>
              <a:stCxn id="7" idx="3"/>
              <a:endCxn id="6" idx="1"/>
            </p:cNvCxnSpPr>
            <p:nvPr/>
          </p:nvCxnSpPr>
          <p:spPr>
            <a:xfrm>
              <a:off x="6553200" y="5219700"/>
              <a:ext cx="990600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 rot="18954517">
            <a:off x="3543300" y="3944586"/>
            <a:ext cx="1447800" cy="533400"/>
            <a:chOff x="6324600" y="4953000"/>
            <a:chExt cx="1447800" cy="533400"/>
          </a:xfrm>
        </p:grpSpPr>
        <p:sp>
          <p:nvSpPr>
            <p:cNvPr id="10" name="Rounded Rectangle 9"/>
            <p:cNvSpPr/>
            <p:nvPr/>
          </p:nvSpPr>
          <p:spPr>
            <a:xfrm>
              <a:off x="7543800" y="49530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324600" y="49530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2" name="Straight Connector 11"/>
            <p:cNvCxnSpPr>
              <a:stCxn id="11" idx="3"/>
              <a:endCxn id="10" idx="1"/>
            </p:cNvCxnSpPr>
            <p:nvPr/>
          </p:nvCxnSpPr>
          <p:spPr>
            <a:xfrm>
              <a:off x="6553200" y="5219700"/>
              <a:ext cx="990600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/>
          <p:cNvCxnSpPr/>
          <p:nvPr/>
        </p:nvCxnSpPr>
        <p:spPr>
          <a:xfrm>
            <a:off x="7829660" y="4261799"/>
            <a:ext cx="0" cy="1616325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7143860" y="5611424"/>
            <a:ext cx="1447800" cy="533400"/>
            <a:chOff x="6324600" y="4953000"/>
            <a:chExt cx="1447800" cy="533400"/>
          </a:xfrm>
        </p:grpSpPr>
        <p:sp>
          <p:nvSpPr>
            <p:cNvPr id="15" name="Rounded Rectangle 14"/>
            <p:cNvSpPr/>
            <p:nvPr/>
          </p:nvSpPr>
          <p:spPr>
            <a:xfrm>
              <a:off x="7543800" y="49530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324600" y="49530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7" name="Straight Connector 16"/>
            <p:cNvCxnSpPr>
              <a:stCxn id="16" idx="3"/>
              <a:endCxn id="15" idx="1"/>
            </p:cNvCxnSpPr>
            <p:nvPr/>
          </p:nvCxnSpPr>
          <p:spPr>
            <a:xfrm>
              <a:off x="6553200" y="5219700"/>
              <a:ext cx="990600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16200000">
            <a:off x="7105760" y="3979460"/>
            <a:ext cx="1447800" cy="533400"/>
            <a:chOff x="6324600" y="4953000"/>
            <a:chExt cx="1447800" cy="533400"/>
          </a:xfrm>
        </p:grpSpPr>
        <p:sp>
          <p:nvSpPr>
            <p:cNvPr id="19" name="Rounded Rectangle 18"/>
            <p:cNvSpPr/>
            <p:nvPr/>
          </p:nvSpPr>
          <p:spPr>
            <a:xfrm>
              <a:off x="7543800" y="49530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324600" y="49530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21" name="Straight Connector 20"/>
            <p:cNvCxnSpPr>
              <a:stCxn id="20" idx="3"/>
              <a:endCxn id="19" idx="1"/>
            </p:cNvCxnSpPr>
            <p:nvPr/>
          </p:nvCxnSpPr>
          <p:spPr>
            <a:xfrm>
              <a:off x="6553200" y="5219700"/>
              <a:ext cx="990600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/>
          <p:cNvCxnSpPr/>
          <p:nvPr/>
        </p:nvCxnSpPr>
        <p:spPr>
          <a:xfrm>
            <a:off x="1665358" y="4248002"/>
            <a:ext cx="0" cy="1616325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979558" y="5597627"/>
            <a:ext cx="1447800" cy="533400"/>
            <a:chOff x="6324600" y="4953000"/>
            <a:chExt cx="1447800" cy="533400"/>
          </a:xfrm>
        </p:grpSpPr>
        <p:sp>
          <p:nvSpPr>
            <p:cNvPr id="24" name="Rounded Rectangle 23"/>
            <p:cNvSpPr/>
            <p:nvPr/>
          </p:nvSpPr>
          <p:spPr>
            <a:xfrm>
              <a:off x="7543800" y="49530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324600" y="49530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26" name="Straight Connector 25"/>
            <p:cNvCxnSpPr>
              <a:stCxn id="25" idx="3"/>
              <a:endCxn id="24" idx="1"/>
            </p:cNvCxnSpPr>
            <p:nvPr/>
          </p:nvCxnSpPr>
          <p:spPr>
            <a:xfrm>
              <a:off x="6553200" y="5219700"/>
              <a:ext cx="990600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941458" y="3965663"/>
            <a:ext cx="1447800" cy="533400"/>
            <a:chOff x="6324600" y="4953000"/>
            <a:chExt cx="1447800" cy="533400"/>
          </a:xfrm>
        </p:grpSpPr>
        <p:sp>
          <p:nvSpPr>
            <p:cNvPr id="28" name="Rounded Rectangle 27"/>
            <p:cNvSpPr/>
            <p:nvPr/>
          </p:nvSpPr>
          <p:spPr>
            <a:xfrm>
              <a:off x="7543800" y="49530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324600" y="49530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0" name="Straight Connector 29"/>
            <p:cNvCxnSpPr>
              <a:stCxn id="29" idx="3"/>
              <a:endCxn id="28" idx="1"/>
            </p:cNvCxnSpPr>
            <p:nvPr/>
          </p:nvCxnSpPr>
          <p:spPr>
            <a:xfrm>
              <a:off x="6553200" y="5219700"/>
              <a:ext cx="990600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Freeform 31"/>
          <p:cNvSpPr/>
          <p:nvPr/>
        </p:nvSpPr>
        <p:spPr>
          <a:xfrm>
            <a:off x="1053548" y="4244009"/>
            <a:ext cx="1252330" cy="1649895"/>
          </a:xfrm>
          <a:custGeom>
            <a:avLst/>
            <a:gdLst>
              <a:gd name="connsiteX0" fmla="*/ 0 w 1252330"/>
              <a:gd name="connsiteY0" fmla="*/ 0 h 1649895"/>
              <a:gd name="connsiteX1" fmla="*/ 1232452 w 1252330"/>
              <a:gd name="connsiteY1" fmla="*/ 19878 h 1649895"/>
              <a:gd name="connsiteX2" fmla="*/ 1252330 w 1252330"/>
              <a:gd name="connsiteY2" fmla="*/ 1649895 h 1649895"/>
              <a:gd name="connsiteX3" fmla="*/ 29817 w 1252330"/>
              <a:gd name="connsiteY3" fmla="*/ 1639956 h 1649895"/>
              <a:gd name="connsiteX4" fmla="*/ 0 w 1252330"/>
              <a:gd name="connsiteY4" fmla="*/ 0 h 1649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2330" h="1649895">
                <a:moveTo>
                  <a:pt x="0" y="0"/>
                </a:moveTo>
                <a:lnTo>
                  <a:pt x="1232452" y="19878"/>
                </a:lnTo>
                <a:lnTo>
                  <a:pt x="1252330" y="1649895"/>
                </a:lnTo>
                <a:lnTo>
                  <a:pt x="29817" y="16399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3657600" y="3786809"/>
            <a:ext cx="1242391" cy="2067339"/>
          </a:xfrm>
          <a:custGeom>
            <a:avLst/>
            <a:gdLst>
              <a:gd name="connsiteX0" fmla="*/ 139148 w 1242391"/>
              <a:gd name="connsiteY0" fmla="*/ 864704 h 2067339"/>
              <a:gd name="connsiteX1" fmla="*/ 1043609 w 1242391"/>
              <a:gd name="connsiteY1" fmla="*/ 0 h 2067339"/>
              <a:gd name="connsiteX2" fmla="*/ 1242391 w 1242391"/>
              <a:gd name="connsiteY2" fmla="*/ 2027582 h 2067339"/>
              <a:gd name="connsiteX3" fmla="*/ 0 w 1242391"/>
              <a:gd name="connsiteY3" fmla="*/ 2067339 h 2067339"/>
              <a:gd name="connsiteX4" fmla="*/ 139148 w 1242391"/>
              <a:gd name="connsiteY4" fmla="*/ 864704 h 206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2391" h="2067339">
                <a:moveTo>
                  <a:pt x="139148" y="864704"/>
                </a:moveTo>
                <a:lnTo>
                  <a:pt x="1043609" y="0"/>
                </a:lnTo>
                <a:lnTo>
                  <a:pt x="1242391" y="2027582"/>
                </a:lnTo>
                <a:lnTo>
                  <a:pt x="0" y="2067339"/>
                </a:lnTo>
                <a:lnTo>
                  <a:pt x="139148" y="864704"/>
                </a:lnTo>
                <a:close/>
              </a:path>
            </a:pathLst>
          </a:custGeom>
          <a:solidFill>
            <a:schemeClr val="accent2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7208464" y="3613383"/>
            <a:ext cx="1242392" cy="2295939"/>
          </a:xfrm>
          <a:custGeom>
            <a:avLst/>
            <a:gdLst>
              <a:gd name="connsiteX0" fmla="*/ 0 w 1242392"/>
              <a:gd name="connsiteY0" fmla="*/ 2295939 h 2295939"/>
              <a:gd name="connsiteX1" fmla="*/ 606287 w 1242392"/>
              <a:gd name="connsiteY1" fmla="*/ 0 h 2295939"/>
              <a:gd name="connsiteX2" fmla="*/ 1242392 w 1242392"/>
              <a:gd name="connsiteY2" fmla="*/ 2246244 h 2295939"/>
              <a:gd name="connsiteX3" fmla="*/ 0 w 1242392"/>
              <a:gd name="connsiteY3" fmla="*/ 2295939 h 229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2392" h="2295939">
                <a:moveTo>
                  <a:pt x="0" y="2295939"/>
                </a:moveTo>
                <a:lnTo>
                  <a:pt x="606287" y="0"/>
                </a:lnTo>
                <a:lnTo>
                  <a:pt x="1242392" y="2246244"/>
                </a:lnTo>
                <a:lnTo>
                  <a:pt x="0" y="2295939"/>
                </a:lnTo>
                <a:close/>
              </a:path>
            </a:pathLst>
          </a:custGeom>
          <a:solidFill>
            <a:schemeClr val="accent2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032" y="1638476"/>
            <a:ext cx="2380952" cy="206666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65418" y="1541763"/>
            <a:ext cx="3206327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1415 coach overturn of Pope John XXIII</a:t>
            </a:r>
          </a:p>
          <a:p>
            <a:r>
              <a:rPr lang="en-US" sz="1050" dirty="0"/>
              <a:t>http://www.euachei.com.br/educacao/curiosidades/roda/</a:t>
            </a:r>
          </a:p>
        </p:txBody>
      </p:sp>
    </p:spTree>
    <p:extLst>
      <p:ext uri="{BB962C8B-B14F-4D97-AF65-F5344CB8AC3E}">
        <p14:creationId xmlns:p14="http://schemas.microsoft.com/office/powerpoint/2010/main" val="4132886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32828" y="0"/>
            <a:ext cx="95768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648200" cy="1143000"/>
          </a:xfrm>
        </p:spPr>
        <p:txBody>
          <a:bodyPr/>
          <a:lstStyle/>
          <a:p>
            <a:pPr algn="l"/>
            <a:r>
              <a:rPr lang="en-US" sz="3200" dirty="0">
                <a:solidFill>
                  <a:schemeClr val="bg1"/>
                </a:solidFill>
              </a:rPr>
              <a:t>Second, the front wheels were quite small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052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The rider, carriage and horse felt the brunt of every bump on the road.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6276637"/>
            <a:ext cx="71769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http://upload.wikimedia.org/wikipedia/commons/4/4d/James_Pollard_-_The_London-Faringdon_Coach_passing_Buckland_House,_Berkshire_-_Google_Art_Project.jpg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52400"/>
            <a:ext cx="2380952" cy="16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05400" y="1764374"/>
            <a:ext cx="36531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http://www.euachei.com.br/educacao/curiosidades/roda/</a:t>
            </a:r>
          </a:p>
        </p:txBody>
      </p:sp>
    </p:spTree>
    <p:extLst>
      <p:ext uri="{BB962C8B-B14F-4D97-AF65-F5344CB8AC3E}">
        <p14:creationId xmlns:p14="http://schemas.microsoft.com/office/powerpoint/2010/main" val="1440442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That doctor was Erasmus Darwin, grandfather of Charles Darwin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4800600" cy="4414838"/>
          </a:xfrm>
        </p:spPr>
        <p:txBody>
          <a:bodyPr/>
          <a:lstStyle/>
          <a:p>
            <a:pPr marL="0" indent="0">
              <a:lnSpc>
                <a:spcPct val="110000"/>
              </a:lnSpc>
              <a:buFont typeface="Arial" charset="0"/>
              <a:buNone/>
            </a:pPr>
            <a:r>
              <a:rPr lang="en-US" sz="1800" dirty="0"/>
              <a:t>A particular technology was first introduced in 1758 by Erasmus Darwin, father of Charles Darwin, in a paper entitled "Erasmus Darwin's improved design for steering carriages--and cars". In 1816, George </a:t>
            </a:r>
            <a:r>
              <a:rPr lang="en-US" sz="1800" dirty="0" err="1"/>
              <a:t>Langensperger</a:t>
            </a:r>
            <a:r>
              <a:rPr lang="en-US" sz="1800" dirty="0"/>
              <a:t> introduced this same double-pivot mechanism in Munich, Germany.  Rudolf Ackerman met </a:t>
            </a:r>
            <a:r>
              <a:rPr lang="en-US" sz="1800" dirty="0" err="1"/>
              <a:t>Langensperger</a:t>
            </a:r>
            <a:r>
              <a:rPr lang="en-US" sz="1800" dirty="0"/>
              <a:t> and acted as his patent agent in London, introducing it to British carriage builders. Unfortunately, Ackerman’s name has been on this device ever since! Charles </a:t>
            </a:r>
            <a:r>
              <a:rPr lang="en-US" sz="1800" dirty="0" err="1"/>
              <a:t>Jeantaud</a:t>
            </a:r>
            <a:r>
              <a:rPr lang="en-US" sz="1800" dirty="0"/>
              <a:t> added the concept mentioned above to eliminate wheel scrubbing when cornering, to keep carriage wheels from upsetting smooth gravel driveways.</a:t>
            </a:r>
          </a:p>
          <a:p>
            <a:pPr marL="0" indent="0">
              <a:lnSpc>
                <a:spcPct val="110000"/>
              </a:lnSpc>
              <a:buFont typeface="Arial" charset="0"/>
              <a:buNone/>
            </a:pPr>
            <a:endParaRPr lang="en-US" sz="1800" dirty="0"/>
          </a:p>
        </p:txBody>
      </p:sp>
      <p:pic>
        <p:nvPicPr>
          <p:cNvPr id="13316" name="Picture 2" descr="http://www.alltackle.com/GravelDrivewayExampl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38800" y="2895600"/>
            <a:ext cx="3238500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2" descr="http://blogs.poz.com/paul/upload/charles_darwin_l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6412" y="1562100"/>
            <a:ext cx="2020888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0037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1"/>
          <p:cNvSpPr>
            <a:spLocks noChangeArrowheads="1"/>
          </p:cNvSpPr>
          <p:nvPr/>
        </p:nvSpPr>
        <p:spPr bwMode="auto">
          <a:xfrm>
            <a:off x="3657600" y="5486400"/>
            <a:ext cx="1981200" cy="7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/>
              <a:t>Ackermann geometry is implemented in practice via a tie-rod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type of steering geometry </a:t>
            </a:r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</a:t>
            </a:r>
            <a:r>
              <a:rPr lang="en-US" i="1" baseline="-25000" dirty="0" err="1">
                <a:solidFill>
                  <a:srgbClr val="000000"/>
                </a:solidFill>
                <a:sym typeface="Symbol" pitchFamily="18" charset="2"/>
              </a:rPr>
              <a:t>i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 &gt; </a:t>
            </a:r>
            <a:r>
              <a:rPr lang="en-US" i="1" baseline="-25000" dirty="0">
                <a:solidFill>
                  <a:srgbClr val="000000"/>
                </a:solidFill>
                <a:sym typeface="Symbol" pitchFamily="18" charset="2"/>
              </a:rPr>
              <a:t>o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)</a:t>
            </a:r>
            <a:r>
              <a:rPr lang="en-US" dirty="0">
                <a:sym typeface="Symbol" pitchFamily="18" charset="2"/>
              </a:rPr>
              <a:t> is called Ackermann geometry.  On typical cars, some level of Ackermann geometry is developed by a trapezoidal linkage.</a:t>
            </a:r>
            <a:endParaRPr lang="en-US" dirty="0"/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4403725" y="4838700"/>
            <a:ext cx="717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</a:rPr>
              <a:t>tierod</a:t>
            </a:r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 flipV="1">
            <a:off x="4724400" y="4724400"/>
            <a:ext cx="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5988050" y="4419600"/>
            <a:ext cx="615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</a:rPr>
              <a:t>steer</a:t>
            </a:r>
          </a:p>
          <a:p>
            <a:pPr eaLnBrk="1" hangingPunct="1"/>
            <a:r>
              <a:rPr lang="en-US" sz="1800">
                <a:solidFill>
                  <a:srgbClr val="000000"/>
                </a:solidFill>
              </a:rPr>
              <a:t> arm</a:t>
            </a:r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>
            <a:off x="5638800" y="4572000"/>
            <a:ext cx="4572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5" name="Rectangle 14"/>
          <p:cNvSpPr>
            <a:spLocks noChangeArrowheads="1"/>
          </p:cNvSpPr>
          <p:nvPr/>
        </p:nvSpPr>
        <p:spPr bwMode="auto">
          <a:xfrm>
            <a:off x="3505200" y="4114800"/>
            <a:ext cx="304800" cy="685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5"/>
          <p:cNvSpPr>
            <a:spLocks noChangeArrowheads="1"/>
          </p:cNvSpPr>
          <p:nvPr/>
        </p:nvSpPr>
        <p:spPr bwMode="auto">
          <a:xfrm>
            <a:off x="5638800" y="4114800"/>
            <a:ext cx="304800" cy="685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Rectangle 16"/>
          <p:cNvSpPr>
            <a:spLocks noChangeArrowheads="1"/>
          </p:cNvSpPr>
          <p:nvPr/>
        </p:nvSpPr>
        <p:spPr bwMode="auto">
          <a:xfrm>
            <a:off x="3810000" y="4419600"/>
            <a:ext cx="1828800" cy="7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8" name="Rectangle 22"/>
          <p:cNvSpPr>
            <a:spLocks noChangeArrowheads="1"/>
          </p:cNvSpPr>
          <p:nvPr/>
        </p:nvSpPr>
        <p:spPr bwMode="auto">
          <a:xfrm rot="-2876344">
            <a:off x="3771900" y="4416425"/>
            <a:ext cx="85725" cy="295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9" name="Rectangle 23"/>
          <p:cNvSpPr>
            <a:spLocks noChangeArrowheads="1"/>
          </p:cNvSpPr>
          <p:nvPr/>
        </p:nvSpPr>
        <p:spPr bwMode="auto">
          <a:xfrm rot="2203615">
            <a:off x="5600700" y="4419600"/>
            <a:ext cx="76200" cy="304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50" name="Rectangle 24"/>
          <p:cNvSpPr>
            <a:spLocks noChangeArrowheads="1"/>
          </p:cNvSpPr>
          <p:nvPr/>
        </p:nvSpPr>
        <p:spPr bwMode="auto">
          <a:xfrm>
            <a:off x="3905250" y="4638675"/>
            <a:ext cx="1676400" cy="7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51" name="Rectangle 25"/>
          <p:cNvSpPr>
            <a:spLocks noChangeArrowheads="1"/>
          </p:cNvSpPr>
          <p:nvPr/>
        </p:nvSpPr>
        <p:spPr bwMode="auto">
          <a:xfrm rot="1141807">
            <a:off x="3429000" y="5219700"/>
            <a:ext cx="304800" cy="6858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2" name="Rectangle 26"/>
          <p:cNvSpPr>
            <a:spLocks noChangeArrowheads="1"/>
          </p:cNvSpPr>
          <p:nvPr/>
        </p:nvSpPr>
        <p:spPr bwMode="auto">
          <a:xfrm rot="2170150">
            <a:off x="5448300" y="5295900"/>
            <a:ext cx="304800" cy="6858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3" name="Rectangle 35"/>
          <p:cNvSpPr>
            <a:spLocks noChangeArrowheads="1"/>
          </p:cNvSpPr>
          <p:nvPr/>
        </p:nvSpPr>
        <p:spPr bwMode="auto">
          <a:xfrm>
            <a:off x="3657600" y="5715000"/>
            <a:ext cx="1676400" cy="7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54" name="Oval 40"/>
          <p:cNvSpPr>
            <a:spLocks noChangeArrowheads="1"/>
          </p:cNvSpPr>
          <p:nvPr/>
        </p:nvSpPr>
        <p:spPr bwMode="auto">
          <a:xfrm>
            <a:off x="3910013" y="4633913"/>
            <a:ext cx="76200" cy="762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5" name="Oval 41"/>
          <p:cNvSpPr>
            <a:spLocks noChangeArrowheads="1"/>
          </p:cNvSpPr>
          <p:nvPr/>
        </p:nvSpPr>
        <p:spPr bwMode="auto">
          <a:xfrm>
            <a:off x="3657600" y="4419600"/>
            <a:ext cx="76200" cy="762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6" name="Oval 42"/>
          <p:cNvSpPr>
            <a:spLocks noChangeArrowheads="1"/>
          </p:cNvSpPr>
          <p:nvPr/>
        </p:nvSpPr>
        <p:spPr bwMode="auto">
          <a:xfrm>
            <a:off x="5681663" y="4419600"/>
            <a:ext cx="76200" cy="762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Oval 43"/>
          <p:cNvSpPr>
            <a:spLocks noChangeArrowheads="1"/>
          </p:cNvSpPr>
          <p:nvPr/>
        </p:nvSpPr>
        <p:spPr bwMode="auto">
          <a:xfrm>
            <a:off x="5510213" y="4638675"/>
            <a:ext cx="76200" cy="762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358" name="Group 48"/>
          <p:cNvGrpSpPr>
            <a:grpSpLocks/>
          </p:cNvGrpSpPr>
          <p:nvPr/>
        </p:nvGrpSpPr>
        <p:grpSpPr bwMode="auto">
          <a:xfrm rot="1879721">
            <a:off x="3525838" y="5538788"/>
            <a:ext cx="228600" cy="228600"/>
            <a:chOff x="1205" y="3471"/>
            <a:chExt cx="208" cy="177"/>
          </a:xfrm>
        </p:grpSpPr>
        <p:sp>
          <p:nvSpPr>
            <p:cNvPr id="14363" name="Rectangle 33"/>
            <p:cNvSpPr>
              <a:spLocks noChangeArrowheads="1"/>
            </p:cNvSpPr>
            <p:nvPr/>
          </p:nvSpPr>
          <p:spPr bwMode="auto">
            <a:xfrm rot="-2876344">
              <a:off x="1285" y="3461"/>
              <a:ext cx="47" cy="20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4" name="Oval 44"/>
            <p:cNvSpPr>
              <a:spLocks noChangeArrowheads="1"/>
            </p:cNvSpPr>
            <p:nvPr/>
          </p:nvSpPr>
          <p:spPr bwMode="auto">
            <a:xfrm>
              <a:off x="1344" y="3600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5" name="Oval 45"/>
            <p:cNvSpPr>
              <a:spLocks noChangeArrowheads="1"/>
            </p:cNvSpPr>
            <p:nvPr/>
          </p:nvSpPr>
          <p:spPr bwMode="auto">
            <a:xfrm>
              <a:off x="1209" y="3471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359" name="Group 49"/>
          <p:cNvGrpSpPr>
            <a:grpSpLocks/>
          </p:cNvGrpSpPr>
          <p:nvPr/>
        </p:nvGrpSpPr>
        <p:grpSpPr bwMode="auto">
          <a:xfrm rot="1471967">
            <a:off x="5291138" y="5503863"/>
            <a:ext cx="287337" cy="347662"/>
            <a:chOff x="2337" y="3453"/>
            <a:chExt cx="159" cy="195"/>
          </a:xfrm>
        </p:grpSpPr>
        <p:sp>
          <p:nvSpPr>
            <p:cNvPr id="14360" name="Rectangle 34"/>
            <p:cNvSpPr>
              <a:spLocks noChangeArrowheads="1"/>
            </p:cNvSpPr>
            <p:nvPr/>
          </p:nvSpPr>
          <p:spPr bwMode="auto">
            <a:xfrm rot="2203615">
              <a:off x="2395" y="3453"/>
              <a:ext cx="48" cy="19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1" name="Oval 46"/>
            <p:cNvSpPr>
              <a:spLocks noChangeArrowheads="1"/>
            </p:cNvSpPr>
            <p:nvPr/>
          </p:nvSpPr>
          <p:spPr bwMode="auto">
            <a:xfrm>
              <a:off x="2337" y="3600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2" name="Oval 47"/>
            <p:cNvSpPr>
              <a:spLocks noChangeArrowheads="1"/>
            </p:cNvSpPr>
            <p:nvPr/>
          </p:nvSpPr>
          <p:spPr bwMode="auto">
            <a:xfrm>
              <a:off x="2448" y="3456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8128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Simple approximation for Ackermann Geometry set-up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22358" t="-4715" r="-28052" b="-1"/>
          <a:stretch/>
        </p:blipFill>
        <p:spPr>
          <a:xfrm>
            <a:off x="457201" y="1905000"/>
            <a:ext cx="4191000" cy="3962439"/>
          </a:xfrm>
        </p:spPr>
      </p:pic>
      <p:sp>
        <p:nvSpPr>
          <p:cNvPr id="10" name="TextBox 9"/>
          <p:cNvSpPr txBox="1"/>
          <p:nvPr/>
        </p:nvSpPr>
        <p:spPr>
          <a:xfrm>
            <a:off x="4569413" y="1945344"/>
            <a:ext cx="401721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When the wheels are perfectly straight (no steering angle), the steer arms </a:t>
            </a:r>
            <a:r>
              <a:rPr lang="en-US" dirty="0"/>
              <a:t>will approximately </a:t>
            </a:r>
            <a:r>
              <a:rPr lang="en-US" sz="2400" dirty="0"/>
              <a:t>align with the center of the rear axle</a:t>
            </a:r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The tie rod is a rigid bar used to connect the steer arms to create a trapezoidal linkage</a:t>
            </a:r>
          </a:p>
          <a:p>
            <a:pPr marL="285750" indent="-285750">
              <a:buFont typeface="Arial"/>
              <a:buChar char="•"/>
            </a:pP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2029316" y="3123520"/>
            <a:ext cx="885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Tie Rod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3262" y="171407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Steer Arms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1725609" y="2083402"/>
            <a:ext cx="303707" cy="69155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774779" y="2083402"/>
            <a:ext cx="496975" cy="8019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938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229600" cy="1143000"/>
          </a:xfrm>
        </p:spPr>
        <p:txBody>
          <a:bodyPr/>
          <a:lstStyle/>
          <a:p>
            <a:r>
              <a:rPr lang="en-US" dirty="0"/>
              <a:t>The kinematics of a well-designed steering system have the tires all turning around the same center</a:t>
            </a:r>
          </a:p>
        </p:txBody>
      </p:sp>
      <p:pic>
        <p:nvPicPr>
          <p:cNvPr id="4" name="Picture 6" descr="Convertible Overhead View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rot="16200000">
            <a:off x="5168900" y="3111500"/>
            <a:ext cx="3759200" cy="2819400"/>
          </a:xfrm>
          <a:prstGeom prst="rect">
            <a:avLst/>
          </a:prstGeom>
          <a:noFill/>
        </p:spPr>
      </p:pic>
      <p:sp>
        <p:nvSpPr>
          <p:cNvPr id="5" name="Plus 4"/>
          <p:cNvSpPr/>
          <p:nvPr/>
        </p:nvSpPr>
        <p:spPr>
          <a:xfrm>
            <a:off x="1981200" y="5308600"/>
            <a:ext cx="304800" cy="45720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Connector 6"/>
          <p:cNvCxnSpPr>
            <a:stCxn id="5" idx="0"/>
          </p:cNvCxnSpPr>
          <p:nvPr/>
        </p:nvCxnSpPr>
        <p:spPr>
          <a:xfrm>
            <a:off x="2246313" y="5537200"/>
            <a:ext cx="4916487" cy="0"/>
          </a:xfrm>
          <a:prstGeom prst="line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9" idx="2"/>
            <a:endCxn id="5" idx="2"/>
          </p:cNvCxnSpPr>
          <p:nvPr/>
        </p:nvCxnSpPr>
        <p:spPr>
          <a:xfrm rot="16200000" flipH="1">
            <a:off x="1326356" y="4842669"/>
            <a:ext cx="1133475" cy="255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3400" y="3479800"/>
            <a:ext cx="2465388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latin typeface="+mj-lt"/>
              </a:rPr>
              <a:t>Center of</a:t>
            </a:r>
          </a:p>
          <a:p>
            <a:pPr>
              <a:defRPr/>
            </a:pPr>
            <a:r>
              <a:rPr lang="en-US" sz="1800" dirty="0">
                <a:latin typeface="+mj-lt"/>
              </a:rPr>
              <a:t>turning radius</a:t>
            </a:r>
          </a:p>
          <a:p>
            <a:pPr>
              <a:defRPr/>
            </a:pPr>
            <a:r>
              <a:rPr lang="en-US" sz="1800" dirty="0">
                <a:latin typeface="+mj-lt"/>
              </a:rPr>
              <a:t>for left  AND right wheel</a:t>
            </a:r>
          </a:p>
        </p:txBody>
      </p:sp>
      <p:sp>
        <p:nvSpPr>
          <p:cNvPr id="12" name="Rounded Rectangle 11"/>
          <p:cNvSpPr/>
          <p:nvPr/>
        </p:nvSpPr>
        <p:spPr>
          <a:xfrm rot="-1740000">
            <a:off x="7543800" y="3327400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 rot="-1740000">
            <a:off x="6324600" y="3327400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7543800" y="5232400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6324600" y="5232400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6" name="Straight Connector 15"/>
          <p:cNvCxnSpPr>
            <a:endCxn id="5" idx="2"/>
          </p:cNvCxnSpPr>
          <p:nvPr/>
        </p:nvCxnSpPr>
        <p:spPr>
          <a:xfrm rot="10800000" flipV="1">
            <a:off x="2020888" y="3649663"/>
            <a:ext cx="4318000" cy="1887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5" idx="2"/>
          </p:cNvCxnSpPr>
          <p:nvPr/>
        </p:nvCxnSpPr>
        <p:spPr>
          <a:xfrm rot="10800000" flipV="1">
            <a:off x="2020888" y="3649663"/>
            <a:ext cx="5537200" cy="1887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5334000" y="5232400"/>
          <a:ext cx="7683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4668" imgH="228501" progId="">
                  <p:embed/>
                </p:oleObj>
              </mc:Choice>
              <mc:Fallback>
                <p:oleObj name="Equation" r:id="rId5" imgW="304668" imgH="228501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232400"/>
                        <a:ext cx="768350" cy="5762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Straight Connector 21"/>
          <p:cNvCxnSpPr/>
          <p:nvPr/>
        </p:nvCxnSpPr>
        <p:spPr>
          <a:xfrm>
            <a:off x="6477000" y="2413000"/>
            <a:ext cx="1219200" cy="0"/>
          </a:xfrm>
          <a:prstGeom prst="line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6897688" y="2295525"/>
          <a:ext cx="3841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334" imgH="139639" progId="">
                  <p:embed/>
                </p:oleObj>
              </mc:Choice>
              <mc:Fallback>
                <p:oleObj name="Equation" r:id="rId7" imgW="152334" imgH="139639" progId="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688" y="2295525"/>
                        <a:ext cx="384175" cy="352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Straight Connector 26"/>
          <p:cNvCxnSpPr/>
          <p:nvPr/>
        </p:nvCxnSpPr>
        <p:spPr>
          <a:xfrm rot="5400000">
            <a:off x="6019800" y="279400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7239000" y="279400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7848600" y="5499100"/>
            <a:ext cx="3206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7832725" y="3556000"/>
            <a:ext cx="3206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16200000" flipV="1">
            <a:off x="7124700" y="4508500"/>
            <a:ext cx="1905000" cy="0"/>
          </a:xfrm>
          <a:prstGeom prst="line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8" name="Object 6"/>
          <p:cNvGraphicFramePr>
            <a:graphicFrameLocks noChangeAspect="1"/>
          </p:cNvGraphicFramePr>
          <p:nvPr/>
        </p:nvGraphicFramePr>
        <p:xfrm>
          <a:off x="8001000" y="4270375"/>
          <a:ext cx="22383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8669" imgH="177338" progId="">
                  <p:embed/>
                </p:oleObj>
              </mc:Choice>
              <mc:Fallback>
                <p:oleObj name="Equation" r:id="rId9" imgW="88669" imgH="177338" progId="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4270375"/>
                        <a:ext cx="223838" cy="447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7"/>
          <p:cNvGraphicFramePr>
            <a:graphicFrameLocks noChangeAspect="1"/>
          </p:cNvGraphicFramePr>
          <p:nvPr/>
        </p:nvGraphicFramePr>
        <p:xfrm>
          <a:off x="4343400" y="4800600"/>
          <a:ext cx="3841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334" imgH="228501" progId="">
                  <p:embed/>
                </p:oleObj>
              </mc:Choice>
              <mc:Fallback>
                <p:oleObj name="Equation" r:id="rId11" imgW="152334" imgH="228501" progId="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800600"/>
                        <a:ext cx="384175" cy="5762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Arc 47"/>
          <p:cNvSpPr/>
          <p:nvPr/>
        </p:nvSpPr>
        <p:spPr>
          <a:xfrm>
            <a:off x="3276600" y="4927600"/>
            <a:ext cx="457200" cy="1066800"/>
          </a:xfrm>
          <a:prstGeom prst="arc">
            <a:avLst>
              <a:gd name="adj1" fmla="val 17099669"/>
              <a:gd name="adj2" fmla="val 1016951"/>
            </a:avLst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Arc 48"/>
          <p:cNvSpPr/>
          <p:nvPr/>
        </p:nvSpPr>
        <p:spPr>
          <a:xfrm>
            <a:off x="3733800" y="4546600"/>
            <a:ext cx="533400" cy="1371600"/>
          </a:xfrm>
          <a:prstGeom prst="arc">
            <a:avLst>
              <a:gd name="adj1" fmla="val 16758924"/>
              <a:gd name="adj2" fmla="val 2754566"/>
            </a:avLst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030" name="Object 8"/>
          <p:cNvGraphicFramePr>
            <a:graphicFrameLocks noChangeAspect="1"/>
          </p:cNvGraphicFramePr>
          <p:nvPr/>
        </p:nvGraphicFramePr>
        <p:xfrm>
          <a:off x="3775075" y="4953000"/>
          <a:ext cx="41592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5028" imgH="228501" progId="">
                  <p:embed/>
                </p:oleObj>
              </mc:Choice>
              <mc:Fallback>
                <p:oleObj name="Equation" r:id="rId13" imgW="165028" imgH="228501" progId="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5075" y="4953000"/>
                        <a:ext cx="415925" cy="5762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8229600" cy="1143000"/>
          </a:xfrm>
        </p:spPr>
        <p:txBody>
          <a:bodyPr/>
          <a:lstStyle/>
          <a:p>
            <a:pPr algn="l"/>
            <a:r>
              <a:rPr lang="en-US" sz="4000" dirty="0"/>
              <a:t>It is easy to derive the relationship between zero-slip steering angle and the angle subtended by the vehicle. </a:t>
            </a:r>
          </a:p>
        </p:txBody>
      </p:sp>
      <p:sp>
        <p:nvSpPr>
          <p:cNvPr id="20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408237"/>
            <a:ext cx="8229600" cy="4144963"/>
          </a:xfrm>
        </p:spPr>
        <p:txBody>
          <a:bodyPr/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Inside the triangle: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At steered wheel: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So: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endParaRPr lang="en-US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the steer angle should be the angle subtended by the distance from the rear axle to the front wheel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Plus 28"/>
          <p:cNvSpPr/>
          <p:nvPr/>
        </p:nvSpPr>
        <p:spPr>
          <a:xfrm>
            <a:off x="3962400" y="4800600"/>
            <a:ext cx="304800" cy="45720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0" name="Straight Connector 29"/>
          <p:cNvCxnSpPr>
            <a:stCxn id="29" idx="0"/>
          </p:cNvCxnSpPr>
          <p:nvPr/>
        </p:nvCxnSpPr>
        <p:spPr>
          <a:xfrm flipV="1">
            <a:off x="4227513" y="4991100"/>
            <a:ext cx="4078287" cy="3810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 rot="-1740000">
            <a:off x="8305800" y="2819548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8305800" y="4724548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7" name="Straight Connector 36"/>
          <p:cNvCxnSpPr>
            <a:endCxn id="29" idx="2"/>
          </p:cNvCxnSpPr>
          <p:nvPr/>
        </p:nvCxnSpPr>
        <p:spPr>
          <a:xfrm rot="10800000" flipV="1">
            <a:off x="4002088" y="3141662"/>
            <a:ext cx="4318000" cy="18875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5400000">
            <a:off x="7296150" y="3562350"/>
            <a:ext cx="2286000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Arc 49"/>
          <p:cNvSpPr/>
          <p:nvPr/>
        </p:nvSpPr>
        <p:spPr>
          <a:xfrm>
            <a:off x="5715000" y="4038600"/>
            <a:ext cx="533400" cy="1371600"/>
          </a:xfrm>
          <a:prstGeom prst="arc">
            <a:avLst>
              <a:gd name="adj1" fmla="val 16758924"/>
              <a:gd name="adj2" fmla="val 2754566"/>
            </a:avLst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2050" name="Object 6"/>
          <p:cNvGraphicFramePr>
            <a:graphicFrameLocks noChangeAspect="1"/>
          </p:cNvGraphicFramePr>
          <p:nvPr/>
        </p:nvGraphicFramePr>
        <p:xfrm>
          <a:off x="6337300" y="4364037"/>
          <a:ext cx="3206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725" imgH="177415" progId="">
                  <p:embed/>
                </p:oleObj>
              </mc:Choice>
              <mc:Fallback>
                <p:oleObj name="Equation" r:id="rId3" imgW="126725" imgH="177415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4364037"/>
                        <a:ext cx="320675" cy="4492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4" name="Straight Connector 53"/>
          <p:cNvCxnSpPr/>
          <p:nvPr/>
        </p:nvCxnSpPr>
        <p:spPr>
          <a:xfrm rot="16200000" flipV="1">
            <a:off x="7239000" y="2438400"/>
            <a:ext cx="2286000" cy="121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8077200" y="1905000"/>
          <a:ext cx="35242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579" imgH="177646" progId="">
                  <p:embed/>
                </p:oleObj>
              </mc:Choice>
              <mc:Fallback>
                <p:oleObj name="Equation" r:id="rId5" imgW="139579" imgH="177646" progId="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1905000"/>
                        <a:ext cx="352425" cy="4492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Arc 58"/>
          <p:cNvSpPr/>
          <p:nvPr/>
        </p:nvSpPr>
        <p:spPr>
          <a:xfrm rot="16200000">
            <a:off x="8305800" y="2208212"/>
            <a:ext cx="533400" cy="1143000"/>
          </a:xfrm>
          <a:prstGeom prst="arc">
            <a:avLst>
              <a:gd name="adj1" fmla="val 17543581"/>
              <a:gd name="adj2" fmla="val 20274933"/>
            </a:avLst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8043863" y="4600575"/>
            <a:ext cx="3810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2" name="Rectangle 61"/>
          <p:cNvSpPr/>
          <p:nvPr/>
        </p:nvSpPr>
        <p:spPr>
          <a:xfrm rot="19890526">
            <a:off x="7931150" y="2825750"/>
            <a:ext cx="3810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2052" name="Object 9"/>
          <p:cNvGraphicFramePr>
            <a:graphicFrameLocks noChangeAspect="1"/>
          </p:cNvGraphicFramePr>
          <p:nvPr/>
        </p:nvGraphicFramePr>
        <p:xfrm>
          <a:off x="8016875" y="3400425"/>
          <a:ext cx="319088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835" imgH="139518" progId="">
                  <p:embed/>
                </p:oleObj>
              </mc:Choice>
              <mc:Fallback>
                <p:oleObj name="Equation" r:id="rId7" imgW="126835" imgH="139518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75" y="3400425"/>
                        <a:ext cx="319088" cy="354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10"/>
          <p:cNvGraphicFramePr>
            <a:graphicFrameLocks noChangeAspect="1"/>
          </p:cNvGraphicFramePr>
          <p:nvPr/>
        </p:nvGraphicFramePr>
        <p:xfrm>
          <a:off x="2984500" y="2271712"/>
          <a:ext cx="1763713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98197" imgH="203112" progId="">
                  <p:embed/>
                </p:oleObj>
              </mc:Choice>
              <mc:Fallback>
                <p:oleObj name="Equation" r:id="rId9" imgW="698197" imgH="203112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2271712"/>
                        <a:ext cx="1763713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" name="Object 6"/>
          <p:cNvGraphicFramePr>
            <a:graphicFrameLocks noChangeAspect="1"/>
          </p:cNvGraphicFramePr>
          <p:nvPr/>
        </p:nvGraphicFramePr>
        <p:xfrm>
          <a:off x="2908300" y="2805112"/>
          <a:ext cx="17653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98197" imgH="203112" progId="">
                  <p:embed/>
                </p:oleObj>
              </mc:Choice>
              <mc:Fallback>
                <p:oleObj name="Equation" r:id="rId11" imgW="698197" imgH="203112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2805112"/>
                        <a:ext cx="17653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1524000" y="3581400"/>
          <a:ext cx="220027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99920" imgH="406080" progId="Equation.3">
                  <p:embed/>
                </p:oleObj>
              </mc:Choice>
              <mc:Fallback>
                <p:oleObj name="Equation" r:id="rId13" imgW="799920" imgH="4060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581400"/>
                        <a:ext cx="2200275" cy="111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/>
              <a:t>One consequence: buses have to turn a LOT more than passenger cars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Passenger cars are usually limited to 25 to 30 degrees of road wheel angle</a:t>
            </a:r>
          </a:p>
          <a:p>
            <a:pPr marL="0" indent="0">
              <a:buNone/>
            </a:pPr>
            <a:r>
              <a:rPr lang="en-US" dirty="0"/>
              <a:t>Buses usually have 50 to 60 degrees of road wheel angle!</a:t>
            </a:r>
          </a:p>
        </p:txBody>
      </p:sp>
      <p:sp>
        <p:nvSpPr>
          <p:cNvPr id="5" name="AutoShape 2" descr="http://www.urban75.org/brixton/photos/images/wrong-turn-bus-02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966" y="1905000"/>
            <a:ext cx="4047619" cy="2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755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8915400" cy="1143000"/>
          </a:xfrm>
        </p:spPr>
        <p:txBody>
          <a:bodyPr/>
          <a:lstStyle/>
          <a:p>
            <a:r>
              <a:rPr lang="en-US" sz="3600" dirty="0"/>
              <a:t>The relationship required for inside/outside steering is known as the Ackerman condition</a:t>
            </a:r>
          </a:p>
        </p:txBody>
      </p:sp>
      <p:sp>
        <p:nvSpPr>
          <p:cNvPr id="3083" name="Content Placeholder 2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/>
              <a:t>For the inside tires:</a:t>
            </a:r>
          </a:p>
          <a:p>
            <a:pPr>
              <a:buFont typeface="Arial" charset="0"/>
              <a:buNone/>
            </a:pPr>
            <a:endParaRPr lang="en-US" sz="2400"/>
          </a:p>
          <a:p>
            <a:pPr>
              <a:buFont typeface="Arial" charset="0"/>
              <a:buNone/>
            </a:pPr>
            <a:endParaRPr lang="en-US" sz="2400"/>
          </a:p>
          <a:p>
            <a:pPr>
              <a:buFont typeface="Arial" charset="0"/>
              <a:buNone/>
            </a:pPr>
            <a:endParaRPr lang="en-US" sz="2400"/>
          </a:p>
          <a:p>
            <a:pPr>
              <a:buFont typeface="Arial" charset="0"/>
              <a:buNone/>
            </a:pPr>
            <a:endParaRPr lang="en-US" sz="2400"/>
          </a:p>
          <a:p>
            <a:pPr>
              <a:buFont typeface="Arial" charset="0"/>
              <a:buNone/>
            </a:pPr>
            <a:endParaRPr lang="en-US" sz="2400"/>
          </a:p>
          <a:p>
            <a:pPr>
              <a:buFont typeface="Arial" charset="0"/>
              <a:buNone/>
            </a:pPr>
            <a:r>
              <a:rPr lang="en-US" sz="2400"/>
              <a:t>And for outside: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</p:txBody>
      </p:sp>
      <p:pic>
        <p:nvPicPr>
          <p:cNvPr id="4" name="Picture 6" descr="Convertible Overhead View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rot="16200000">
            <a:off x="5854700" y="3568700"/>
            <a:ext cx="3759200" cy="2819400"/>
          </a:xfrm>
          <a:prstGeom prst="rect">
            <a:avLst/>
          </a:prstGeom>
          <a:noFill/>
        </p:spPr>
      </p:pic>
      <p:sp>
        <p:nvSpPr>
          <p:cNvPr id="5" name="Plus 4"/>
          <p:cNvSpPr/>
          <p:nvPr/>
        </p:nvSpPr>
        <p:spPr>
          <a:xfrm>
            <a:off x="2667000" y="5765800"/>
            <a:ext cx="304800" cy="45720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Connector 6"/>
          <p:cNvCxnSpPr>
            <a:stCxn id="5" idx="0"/>
          </p:cNvCxnSpPr>
          <p:nvPr/>
        </p:nvCxnSpPr>
        <p:spPr>
          <a:xfrm>
            <a:off x="2932113" y="5994400"/>
            <a:ext cx="4916487" cy="0"/>
          </a:xfrm>
          <a:prstGeom prst="line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 rot="-1740000">
            <a:off x="8229600" y="3784600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 rot="-1740000">
            <a:off x="7010400" y="3784600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8229600" y="5689600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7010400" y="5689600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6" name="Straight Connector 15"/>
          <p:cNvCxnSpPr>
            <a:stCxn id="0" idx="1"/>
            <a:endCxn id="5" idx="2"/>
          </p:cNvCxnSpPr>
          <p:nvPr/>
        </p:nvCxnSpPr>
        <p:spPr>
          <a:xfrm rot="10800000" flipV="1">
            <a:off x="2706688" y="4106863"/>
            <a:ext cx="4318000" cy="1887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0" idx="1"/>
            <a:endCxn id="5" idx="2"/>
          </p:cNvCxnSpPr>
          <p:nvPr/>
        </p:nvCxnSpPr>
        <p:spPr>
          <a:xfrm rot="10800000" flipV="1">
            <a:off x="2706688" y="4106863"/>
            <a:ext cx="5537200" cy="1887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6019800" y="5689600"/>
          <a:ext cx="7683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4668" imgH="228501" progId="">
                  <p:embed/>
                </p:oleObj>
              </mc:Choice>
              <mc:Fallback>
                <p:oleObj name="Equation" r:id="rId5" imgW="304668" imgH="228501" progId="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689600"/>
                        <a:ext cx="768350" cy="5762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Straight Connector 21"/>
          <p:cNvCxnSpPr/>
          <p:nvPr/>
        </p:nvCxnSpPr>
        <p:spPr>
          <a:xfrm>
            <a:off x="7162800" y="2870200"/>
            <a:ext cx="1219200" cy="0"/>
          </a:xfrm>
          <a:prstGeom prst="line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7583488" y="2752725"/>
          <a:ext cx="3841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334" imgH="139639" progId="">
                  <p:embed/>
                </p:oleObj>
              </mc:Choice>
              <mc:Fallback>
                <p:oleObj name="Equation" r:id="rId7" imgW="152334" imgH="139639" progId="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3488" y="2752725"/>
                        <a:ext cx="384175" cy="352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Straight Connector 26"/>
          <p:cNvCxnSpPr>
            <a:endCxn id="0" idx="0"/>
          </p:cNvCxnSpPr>
          <p:nvPr/>
        </p:nvCxnSpPr>
        <p:spPr>
          <a:xfrm rot="5400000">
            <a:off x="6705600" y="325120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0" idx="0"/>
          </p:cNvCxnSpPr>
          <p:nvPr/>
        </p:nvCxnSpPr>
        <p:spPr>
          <a:xfrm rot="5400000">
            <a:off x="7924800" y="325120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8534400" y="5956300"/>
            <a:ext cx="3206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8518525" y="4013200"/>
            <a:ext cx="3206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16200000" flipV="1">
            <a:off x="7810500" y="4965700"/>
            <a:ext cx="1905000" cy="0"/>
          </a:xfrm>
          <a:prstGeom prst="line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76" name="Object 6"/>
          <p:cNvGraphicFramePr>
            <a:graphicFrameLocks noChangeAspect="1"/>
          </p:cNvGraphicFramePr>
          <p:nvPr/>
        </p:nvGraphicFramePr>
        <p:xfrm>
          <a:off x="8686800" y="4727575"/>
          <a:ext cx="22383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8669" imgH="177338" progId="">
                  <p:embed/>
                </p:oleObj>
              </mc:Choice>
              <mc:Fallback>
                <p:oleObj name="Equation" r:id="rId9" imgW="88669" imgH="177338" progId="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4727575"/>
                        <a:ext cx="223838" cy="447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7"/>
          <p:cNvGraphicFramePr>
            <a:graphicFrameLocks noChangeAspect="1"/>
          </p:cNvGraphicFramePr>
          <p:nvPr/>
        </p:nvGraphicFramePr>
        <p:xfrm>
          <a:off x="5029200" y="5334000"/>
          <a:ext cx="3841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334" imgH="228501" progId="">
                  <p:embed/>
                </p:oleObj>
              </mc:Choice>
              <mc:Fallback>
                <p:oleObj name="Equation" r:id="rId11" imgW="152334" imgH="228501" progId="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334000"/>
                        <a:ext cx="384175" cy="5762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Arc 47"/>
          <p:cNvSpPr/>
          <p:nvPr/>
        </p:nvSpPr>
        <p:spPr>
          <a:xfrm>
            <a:off x="3962400" y="5384800"/>
            <a:ext cx="457200" cy="1066800"/>
          </a:xfrm>
          <a:prstGeom prst="arc">
            <a:avLst>
              <a:gd name="adj1" fmla="val 17099669"/>
              <a:gd name="adj2" fmla="val 1016951"/>
            </a:avLst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Arc 48"/>
          <p:cNvSpPr/>
          <p:nvPr/>
        </p:nvSpPr>
        <p:spPr>
          <a:xfrm>
            <a:off x="4419600" y="5003800"/>
            <a:ext cx="533400" cy="1371600"/>
          </a:xfrm>
          <a:prstGeom prst="arc">
            <a:avLst>
              <a:gd name="adj1" fmla="val 16758924"/>
              <a:gd name="adj2" fmla="val 2754566"/>
            </a:avLst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3078" name="Object 8"/>
          <p:cNvGraphicFramePr>
            <a:graphicFrameLocks noChangeAspect="1"/>
          </p:cNvGraphicFramePr>
          <p:nvPr/>
        </p:nvGraphicFramePr>
        <p:xfrm>
          <a:off x="4495800" y="5410200"/>
          <a:ext cx="41592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5028" imgH="228501" progId="">
                  <p:embed/>
                </p:oleObj>
              </mc:Choice>
              <mc:Fallback>
                <p:oleObj name="Equation" r:id="rId13" imgW="165028" imgH="228501" progId="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410200"/>
                        <a:ext cx="415925" cy="5762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7"/>
          <p:cNvGraphicFramePr>
            <a:graphicFrameLocks noChangeAspect="1"/>
          </p:cNvGraphicFramePr>
          <p:nvPr/>
        </p:nvGraphicFramePr>
        <p:xfrm>
          <a:off x="5200650" y="40751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4102" imgH="177492" progId="">
                  <p:embed/>
                </p:oleObj>
              </mc:Choice>
              <mc:Fallback>
                <p:oleObj name="Equation" r:id="rId15" imgW="114102" imgH="177492" progId="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0650" y="4075113"/>
                        <a:ext cx="1143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8"/>
          <p:cNvGraphicFramePr>
            <a:graphicFrameLocks noChangeAspect="1"/>
          </p:cNvGraphicFramePr>
          <p:nvPr/>
        </p:nvGraphicFramePr>
        <p:xfrm>
          <a:off x="3036888" y="1447800"/>
          <a:ext cx="3138487" cy="232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74800" imgH="1168400" progId="">
                  <p:embed/>
                </p:oleObj>
              </mc:Choice>
              <mc:Fallback>
                <p:oleObj name="Equation" r:id="rId17" imgW="1574800" imgH="1168400" progId="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88" y="1447800"/>
                        <a:ext cx="3138487" cy="232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1" name="Object 9"/>
          <p:cNvGraphicFramePr>
            <a:graphicFrameLocks noChangeAspect="1"/>
          </p:cNvGraphicFramePr>
          <p:nvPr/>
        </p:nvGraphicFramePr>
        <p:xfrm>
          <a:off x="2727325" y="4143375"/>
          <a:ext cx="28352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22400" imgH="254000" progId="">
                  <p:embed/>
                </p:oleObj>
              </mc:Choice>
              <mc:Fallback>
                <p:oleObj name="Equation" r:id="rId19" imgW="1422400" imgH="254000" progId="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325" y="4143375"/>
                        <a:ext cx="283527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8915400" cy="1143000"/>
          </a:xfrm>
        </p:spPr>
        <p:txBody>
          <a:bodyPr/>
          <a:lstStyle/>
          <a:p>
            <a:r>
              <a:rPr lang="en-US" sz="3600" dirty="0"/>
              <a:t>The Ackerman condition can be easily derived</a:t>
            </a:r>
          </a:p>
        </p:txBody>
      </p:sp>
      <p:sp>
        <p:nvSpPr>
          <p:cNvPr id="4101" name="Content Placeholder 2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400" dirty="0"/>
              <a:t>Equating the two:</a:t>
            </a:r>
          </a:p>
          <a:p>
            <a:pPr>
              <a:buFont typeface="Arial" charset="0"/>
              <a:buNone/>
            </a:pPr>
            <a:endParaRPr lang="en-US" sz="2400" dirty="0"/>
          </a:p>
          <a:p>
            <a:pPr>
              <a:buFont typeface="Arial" charset="0"/>
              <a:buNone/>
            </a:pPr>
            <a:endParaRPr lang="en-US" sz="2400" dirty="0"/>
          </a:p>
          <a:p>
            <a:pPr>
              <a:buFont typeface="Arial" charset="0"/>
              <a:buNone/>
            </a:pPr>
            <a:endParaRPr lang="en-US" sz="2400" dirty="0"/>
          </a:p>
          <a:p>
            <a:pPr>
              <a:buFont typeface="Arial" charset="0"/>
              <a:buNone/>
            </a:pPr>
            <a:endParaRPr lang="en-US" sz="2400" dirty="0"/>
          </a:p>
          <a:p>
            <a:pPr>
              <a:buFont typeface="Arial" charset="0"/>
              <a:buNone/>
            </a:pPr>
            <a:endParaRPr lang="en-US" sz="2400" dirty="0"/>
          </a:p>
          <a:p>
            <a:endParaRPr lang="en-US" sz="2400" b="1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4098" name="Object 10"/>
          <p:cNvGraphicFramePr>
            <a:graphicFrameLocks noChangeAspect="1"/>
          </p:cNvGraphicFramePr>
          <p:nvPr/>
        </p:nvGraphicFramePr>
        <p:xfrm>
          <a:off x="2971800" y="1600200"/>
          <a:ext cx="41513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82800" imgH="254000" progId="">
                  <p:embed/>
                </p:oleObj>
              </mc:Choice>
              <mc:Fallback>
                <p:oleObj name="Equation" r:id="rId3" imgW="2082800" imgH="25400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600200"/>
                        <a:ext cx="4151313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11"/>
          <p:cNvGraphicFramePr>
            <a:graphicFrameLocks noChangeAspect="1"/>
          </p:cNvGraphicFramePr>
          <p:nvPr/>
        </p:nvGraphicFramePr>
        <p:xfrm>
          <a:off x="2590800" y="2438400"/>
          <a:ext cx="34099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310" imgH="393529" progId="">
                  <p:embed/>
                </p:oleObj>
              </mc:Choice>
              <mc:Fallback>
                <p:oleObj name="Equation" r:id="rId5" imgW="1358310" imgH="393529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438400"/>
                        <a:ext cx="340995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2" name="Picture 12"/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09800" y="3352800"/>
            <a:ext cx="4538663" cy="272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04825"/>
            <a:ext cx="8229600" cy="1143000"/>
          </a:xfrm>
        </p:spPr>
        <p:txBody>
          <a:bodyPr/>
          <a:lstStyle/>
          <a:p>
            <a:pPr algn="l"/>
            <a:r>
              <a:rPr lang="en-US" sz="3200" dirty="0"/>
              <a:t>One approximation (inexact) to Ackermann geometry is to have the steer arm projections intersect at the center of the rear axle.</a:t>
            </a:r>
          </a:p>
        </p:txBody>
      </p:sp>
      <p:sp>
        <p:nvSpPr>
          <p:cNvPr id="16387" name="Rectangle 6"/>
          <p:cNvSpPr>
            <a:spLocks noChangeArrowheads="1"/>
          </p:cNvSpPr>
          <p:nvPr/>
        </p:nvSpPr>
        <p:spPr bwMode="auto">
          <a:xfrm>
            <a:off x="1295400" y="1828800"/>
            <a:ext cx="152400" cy="1828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Rectangle 7"/>
          <p:cNvSpPr>
            <a:spLocks noChangeArrowheads="1"/>
          </p:cNvSpPr>
          <p:nvPr/>
        </p:nvSpPr>
        <p:spPr bwMode="auto">
          <a:xfrm>
            <a:off x="5181600" y="1828800"/>
            <a:ext cx="3276600" cy="152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Rectangle 8"/>
          <p:cNvSpPr>
            <a:spLocks noChangeArrowheads="1"/>
          </p:cNvSpPr>
          <p:nvPr/>
        </p:nvSpPr>
        <p:spPr bwMode="auto">
          <a:xfrm>
            <a:off x="8324850" y="3962400"/>
            <a:ext cx="133350" cy="2362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Rectangle 9"/>
          <p:cNvSpPr>
            <a:spLocks noChangeArrowheads="1"/>
          </p:cNvSpPr>
          <p:nvPr/>
        </p:nvSpPr>
        <p:spPr bwMode="auto">
          <a:xfrm>
            <a:off x="1295400" y="6096000"/>
            <a:ext cx="3429000" cy="152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6391" name="Picture 10" descr="9-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1550" y="2457450"/>
            <a:ext cx="7934325" cy="27813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/>
              <a:t>A Case Study on Steering Angle Difference of Two-Front Wheels of a ¼ Tractor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533400" y="1600200"/>
            <a:ext cx="8229600" cy="268508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dimensions were obtained through measurement as follows…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0"/>
            <a:ext cx="3810000" cy="3078163"/>
          </a:xfrm>
        </p:spPr>
        <p:txBody>
          <a:bodyPr/>
          <a:lstStyle/>
          <a:p>
            <a:r>
              <a:rPr lang="en-US" dirty="0"/>
              <a:t>Need to decide between three W/L ratios, but on tractors, only allowed to steer the tires in parallel!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1000" y="1905000"/>
          <a:ext cx="3505200" cy="841248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L (in.)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W(in.)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62</a:t>
                      </a:r>
                      <a:endParaRPr lang="en-US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35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 descr="X:\ME 452\Fitted Line_ Bruising Incidence versus Rotating Speed (RPM)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67200" y="1752600"/>
            <a:ext cx="4332021" cy="28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1143000"/>
          </a:xfrm>
        </p:spPr>
        <p:txBody>
          <a:bodyPr/>
          <a:lstStyle/>
          <a:p>
            <a:pPr algn="l"/>
            <a:r>
              <a:rPr lang="en-US" sz="4000" dirty="0"/>
              <a:t>Result: longer tractors are better in terms of preventing skidding front tires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876800" cy="4114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Also true in other long vehicles…</a:t>
            </a:r>
          </a:p>
          <a:p>
            <a:r>
              <a:rPr lang="en-US" dirty="0"/>
              <a:t>Problem is: long vehicles have large turn radii, so the tradeoff was originally made by placing tires close to each other. (Illegal now)</a:t>
            </a:r>
          </a:p>
          <a:p>
            <a:r>
              <a:rPr lang="en-US" dirty="0"/>
              <a:t>Today, Ackermann geometry is used</a:t>
            </a:r>
          </a:p>
        </p:txBody>
      </p:sp>
      <p:sp>
        <p:nvSpPr>
          <p:cNvPr id="92162" name="AutoShape 2" descr="data:image/jpeg;base64,/9j/4AAQSkZJRgABAQAAAQABAAD/2wCEAAkGBxQTEhUUExQWFhUXFRUXFBgVFhgYGBcYFBUXFxgXFBcYHiggGBwlHBQUITEiJSkrLi4uFx8zODMuNygtLisBCgoKDg0OGhAQGy8kHCQsLCwsLCwsLCwsLCwsLCwsLCwsLCwsLCwsLCwsLCwsLCwsLCwsLCwsLCwsLCwsLCwsLP/AABEIAJ0BQQMBIgACEQEDEQH/xAAcAAABBAMBAAAAAAAAAAAAAAAAAwQFBgECBwj/xABPEAACAQIDAwgECQcJBwUAAAABAgMAEQQSIQUxQQYTIlFhcYGRBzKhsRRCUoKSssHR8CMzcpOiwtIVJENEU2Jz4fEXJTVUY4PTCEWjpLP/xAAYAQEBAQEBAAAAAAAAAAAAAAAAAQIDBP/EACcRAQACAQQCAgICAwEAAAAAAAABEQIDEiExQVFxoWGBE5EyYsEi/9oADAMBAAIRAxEAPwDuNFFFAUUUUBRTTG4zJoqlmOoA6vH8fbUMby3a5CoBY2333do31vDCc5qGcsqXqsXrmU3K+dtxt3CmW0uUB+Duxmk56zZF6ITTdmLanwFby0Zx7+otmM76dWfEoN7AeIpnPtuBN8q+dcg2NyhUrnmXnCdyCR9De1+gCTfq7aj5sXJ8IRkU2BzZSujKpBYEPY6EoN4tY9dWNOLnifrn/pu/LsUvK3DD49+6mU3LmEblJrnuPxs0zBmiAsLAXRFA7kzUikEh/sx4s32LXTDSxmLyjljLOb4lfJOXw+LH7632nynxEWXMsYLbgCGPiAdKoqYJuMg+alvrFqd4LZd2ALufoD6qimWnzExVeeLv74/qSM+JtM7T5ezRLc5fKmOA9JmJeKWcLh8kTANG7sJSptZ1sLHfrpwqn8sTkVlzFgHYDMbnTtqmxm517faKxqY3W3j9fTphNd8u77O9K0L/AJyFx2xMkv7KnN7KsWC5bYGQgDEKrfJkvG3k4FeZsg/0pxFipFFhI1uom48jpUnDEuXq6GZXF1YMOtSCPMUpXljCbYljIK2BHGMtEfKMgeYqy7O9JOLj/pZP+4qTDu3KfbWZ0/UruegqK5Ns30uk6SRxP+izRt5OCv7VWjAekbCyWzLLH1nJzijveIsKzOnku6FxoqM2fygws35qeJ+wOL+R1qTrNUooooqAooooCiiigKKKKAooooCiiigKKKKAooooCiiigKKKKArBNtTWajOUc2WBh8uyeDevbtyBz4VYi5FC5RYuSZyzyhEOqKqahT6uZmJBbLlJ0FibVAPAny5G+cF+oBTja0zPIxtxpmsDV78cYiHlnKZanCx/Jv8ApMzfWJreOFV9VVXXgoHupRcOeutMWFjUux0F9B3G3ttSZhIJwPZYwOC3HeRb96nEIFy2vyR3Df7b+QqPncIwHUY18LdL3ipuCBQALXNte08T51IlZI5l/BrIkHV76dhV4KKUXupaG0dyRp7Kl9n4Zrg24GmqDWrNsdbisZ5VDWLjXLyXpEf9Rz5mqij6jvqf5Zz5nHifMmq3esOpwW1rIekpTrWoNA6V63V6aq1ZD0Du4O8Vsqgai4PYaaq9KLJVD8YyX5ea39oofyzXqV2fysxMPqM6/wCHKw/ZYlB9Gq+HrKvQdG2f6VsQls5zD/qRg+bxlfqmrPs70rxN+cjHaY5AfZKEJ8L1xdXrawO8CszjEly9FYXltg3FzIY+2RGRfByMp86nMLjI5BeN0cdaMG91eXISVN0ZlPWrEU9g2hMpuHBPWyjN9MdL21mdOF3PTtFcA2fy6xkVunIQOAkzjx54MfIirFgPS1ILCVUPWWR4/wBpS4PlWZ05Xc67RVI2b6TMNJ6ysO1WRx4AEP8As1P4XlPhJLATIpO5ZLxt5PY1mcZhbhMUVhWBFwQR2VmsqKKKKAooooCiiigKKKKAooooCq5yuxWWw6lZiOotop8llHjVjrm3LrHkzSj5ICd4shB83mHhW9OLyY1JrFXeeuazmpphmpyK9rytg1R23wWREHxpAPfp7af02xH52I/FXOx003C2vXesysTyY4gZpF6jOSPm6+5fZViU1WcOfykRa9gHbsubj972VNLj1HX5VIXI+BpRXNRp2kvbWP5UHUatMpxHvpVl2Q1oyeoE+QvVFw207nd7at0OJthJm6opD5Ia5anTph24Ryje79xt5AVEVLYyAySOArNbXobxoovuNM5cJl9bOv6UZHtvUdTdzu7h7qMprEy2tqDpwoEptUtWy7/GgUGQmsmQXOnGraDNWVkFJM/VWtTcp4rUBqaxsQRQHIq7kPVelVkpmj6VlcQO2rYe85SqzUzaQaa/jStke+6qiQWatxNUVPKRuNqVSe4uN9LEjZTvUeWvnS0TFRZHdQd4DGx7wb1DwY3g1qfJJVipExgtsYiI9Bx83NEfExEX8aseA9ImMT1izD+8EkHgOi/m1UcSUuktJiJS3U8B6VV3Sxr3gsh+iwIHD41WTA8usLJa5dT2rnA72jLAeNcM5ysqB1eWnurM6eMtbpejcHtWGX83LG/YrAnxG+nlecVxD6dNjbdmswHcGqVwXKfFRepIfpN9ViU9lYnR9Lvd5oqi8juXDYiRYZlUO3qFQQDZSxvqRw3dtXquUxMTUtiiiioCiiigK4fyqxV8TKt9ece/cJZmUfRlTyruFeeNoz58RI3Xlv3mOO/1a66XbnqdFBisosKx8Obu7qb80TurS1eiMnHactiGPE1h3OXs6Vu+wv8Au03BpvNOc+XgEJ7Lsyj90UmSISGYWHWAPcB9lYz02Rum/ZlA9tKE1Y6SW5egPSV6wDSxIYR9RVzmmtgJu2Nh9IEfbVFwra1Yto4v+ZS67si+1QffWNTprDtyyXEZZSdTqbgEi9juuNbaUnLi83RKJrxscw7iTTjZ2zjiJxFmyXzm+Rn3XawVBcmpPbXJP4NEJhMZPyojdWgeIrnRmV+mxzKSpW9t9crdVZnFj+Oyk6WxW+kKitgay51PeaI148B7T1UpnP8ArQIk0UrfsHl91YsOryJopOsvvPea3yjt9hrJQX3+YohMGsXpQx9orXmj+LUoAOnjWQ9t1YKG247xw761oF2cEa7+usKdCPd4/fSN63Vh1fi4oDNSsOIIO+m5oFLEnLjNQRutrTvCzZhf7agqVguDcG1ajKUpYgdKyjUlC1wL77VstdLZOkelEkpuhrYGrZRxsnaBgxuHlzEKGRmF9LK5B0/RA869K15X2kbZD/ef3J/nXpnYOK53DQScXijY97ICfbXDUdMT+iiiuTSB5V4/ERfB+YjMgadFmC2JEZPSIB8vGpqFrjcRqd/s9lq5h6bNpNGcKinRucftDRhQpH0yfAVdeQ20efwUElwWMcYexv01jUMD1G43VfCXyl8fLkikb5KM3kpNec2e8r9sknkHZfsFd95WSZcFiT/0JQO8oQPfXnaBrurdalj85iw+tW9NjNMxqaQxAsxpzhprixptiiAT+OFdWZJM9qj0JaVulfRBw4tp9X206a/id349ndr10p8EyEHfmePhbcCT7b1pDaOOzFlJtnII4b7216yTr2jhT4G+oojw/rX3Ek+BreMBN6s3cL+OnX7++r0zJO1Kxw9d/Cn8egBIA79LedanGIN7p9JfvpaE4YNRa+/iPtFK4wlcNiBmU/lE3E/JU7iP7tbx7Thv+cTwN/dTTbcgGHktfpOpBysBYR23kW31nLprG7QXIfaBjneRYBM4ibICzLlJZFL9DVtGOnbfhVtxe2mxMM2HxGFVGMbmJwZAecjGdF6bG4JX/KqtyFxmHgdJpJArc80Tak2jeEkPlUFj+UUKSBpcVeuUW1YGEY51ejlmU/FeM2vlPElToONxXKpdJccnkvrSSi5tSkq2v4e6sqLDtPsH+dRoHqG4fi9ArIFbCtxiltQtZtS+EwzyuEjUu7blUXJ+4dp0FXzZ/IuDDR8/tCQWHxATlvwBI6Ujabhp30mccSImVGwGAlmbLFG8h45FJt+kdy+NWXBejvGOAX5uIcc73I8EBHtqeHKLESqEwEEeHhGiyzZUFutE3eQfwpReREuIGbFY55Afix6r4Fjl8lFYnUn4ajFAzci4IzabaUCHqCgnyMl/ZTSfYmAX/wBxv3YZ2+qatE/JTZWH6M8tmte0k4VrdeVMp9lN3/kJNPW7vhL+3dUjO/f9Lt+FRk2fhB6uPv34WZfdemM8Kj1Z0fsCzAnweMD21dnxmw/7JvATj94U2eTYh+JMvcZvtY1uMvxLO34UjwHkPsrGUdXtNW2bCbHb1cTiY++MsP8A87+2msmwMK35naER6hMjxebG/uq7o9fSUrfNjt8x91Y5kdZ8v86mpeTc++Pm5h1wSpJ+yDm9lRUsTIcrqytxDAqfEHWrxKctEgvxHtpeHDEHXQ8Nb9+6nOwtlvip0w8WXnJCwXOcqnKjObnhopqefkFjhM8AgzSRojuEkS2SQsEZSxF7mNxpr0aVAh8MtuvXrpwDTjB7JxGV2EEpSNnSVgrEI0frhyBYZePVWzwsCQysCDYggggjUgg7j2VuIQgpra9bhRWebFWg1xUTOtlFyGU+BDfcK9B+jmYts3DE7wjL9B2T92uBoNfL7a7l6LJL7PQfJeQftlv3q5akcW1jPK3UUUVwbU70jbFMsaYiNGeWANlVVVjle2YqDx6I3cL6GovkPyuwEUXNc5zLZizrIgjCsQAQANOFdFqD2/yTwuLH5aJc3BwLMPGrCUb8qcbHNgplikV2aM5VRlLNqLhQSNa8+47ECB8rxyBgoFmKg6ADUC9qv3Kj0eR4HD4jEFy0aqt7Gz2Mi6AFSPWybzwrk+IhUsSDkU6qHvfKd18osfCt4zUcMzFzyl15SDhF9J/uArSXbxJvlQeDEH9qotcKp/pLnsUnQak7+oE+FZWBM1mYjTpbgB2A8TWrlKhJx7ddj6wHci9vWD10nNtgk6u5I3Wyj3Cm4w0HGRvMfw1i+GHEnxP+VW59lQ0l2rKTpI4H6RoE7OPWOYdp14fjtt1m20MsTGyQlzwALMfIE1tKsiqHOHKIbAOY3Cm43ByLG4B9tRTXDzkHWx79anEYW4CoyXEgC6gZr69Bdb34nU7hr2nq1k8NNcDrI3CkElMPjube6uFujLewNmJWxPVpm9lWNeUhSTnPh6FdC0YgzR2FuhkF7acRrvqtYuTKhN9bWHZeo/CN+TlHWo99vtrey2bWPlNyxSXE87EzgArzcaRqkahbaE3Ba5uSSvG3AVX+VnKSTHz89IqqcoUBdQAABv7wTu3saj5Y9Tu8x99ac0eqsbWmkKg7yB33tx32FLiEH46/tfw1vhcE7mwVrcSF0HedAPEip3B4XDRau0JbrlYz26/yEHR+k7VqMZSZhF7P2JPObQpzlt5Qiw7ybAVY8LyJjjIONxUcV9yKwzH5z8ewKadHb0JWxkxUqjckSiCMDqCRlCR2EmnXJrbOGebmoMNzZIZi2VAdOJI1J3VuNOZ80zOcR4SezMRhcKCMLhp3JtdljN275Jiot2DSq5tvY2OxspkkyRrqI0Z7hF6rKDcniePcABZ+UG348KoLXZ29RBvNuJPxR2++qHtDllipTZW5sHQLGNdeGY6k91qRpYYTc8yn8mWUcdHw5A26UuIRRx6H2swpxszCYTCOHTaBVgdRGyWbsdQGzDvqBXZuKbpSMYwfjTy839c5j5UocNEg/K49e0RLJL+1oK3x6Tn2ve0MNHj4VkYPLGuZldVVDZbhgCQGtdTp1iqYZtljdHiG7jb3sKuolOBwIzlubANswVZGMpLZQtyL9I6ECwBvuNUA7Rwg0GGdv0njX6kdc8J76prKPkq2K2bwgxH0x/HSLz4A7ocSO50+29JPtDDH+p//AGH+xRSL4rDndhmHdOx96Vu/hK+W7nB8Bih3mI/YKbSLD8V5fnRp7xJ9laO0Z3Iw+eP4awHT5Lj5wP7orNrTDDgDcdorMmJe2UuxXgpYlfAHQUAJwL/RB/eFGRPlt4p9zGoqT5HbRjgxsM0tsiGQtdcw6UUii6jf0mWrlya5eqZ5MRjEgDGPDQokcbKoQYhjIyetZgs0jbxfLaueR4bMbK637Qw/dpyYDYAFb/O3fRpVlusYHacUuDx8XwmFJJMRjWRueaNWWbpKyLukBuwsftrXYu0GLYUwSIcRPDiJGzkWXEx4WLDpfqDGCVtR/SGuaw7rC2m+xFIOGN7rx6wb+2m2ILdqhwJkTaKSRx87ZecfKjKsrYGEvlNwy2cs1x8uqXyrxSSJhnTDRQ54i7GJcqszOy5SAOHNE/ONUMq6+qJBcWNs1iDwNt9OMPtKQALJnKj1b5rKNToDu1J8zSOw/I6XhXZ/RG98CR1TuP2UP21xOHEqx0PCux+huT+bTL1T3+lGn3VNX/Fce1/ooorzOgooooKR6Z3tsjEdrQDznjrzosulmF19o7V7ff7vQ3pu/wCEy/4kF/1y150FdcOmcmZY8hG4gi6ngQbi/mCOwg052Vjlicu0UcvQIVZUDpmLL0ip42Da9vbWuXNCeuN83zJLKx7gyx/rDTUUmKlE9DygRVQfBYLpIsmYQwAmzuxQsY2YrZlABJAy7jpYx3Kh5DIcirny5dEunRyOFyRqCHTokWqDFYIqKtMnLvEc7zq3zZCnSmxDaFsx1EgNrgdHcKgMXtGSRVR3YqpYqCzEDNwAJsANwsNATTTMOv8AHnWUsd2vdUoYtT6DEFBZbd/GkhhJN/NvbTUq1tTYa2tvtUnhOTuKkICwPruzDLfuDWJ8K3jxzKVM8QZzYosLHrogPRf9H95asp5BSohkxEscSi2mrSam1why6X0prtXY0UOGEySM+dsgvlGqgs4KbwR+SO8giQVqNTG6vknTyq64VqU6mtKy1KmLo3uO6qjfA4R5nWKMZmObKCQPVUudSbDRSactsx4nImXLlANrg3vu1BtSOyscYJUlVVYoTZXF1N1K9Icd/uqS27j2nKEoiM6glY1yr2afjdWInP8Ak6/8V+7brDZ/tf0YHaBB00FTGwNqhZlly9NQQ4Hx0I6WXrYaN22qJbY2ly4B7beymClonGtiDcEcCNxFdP5Jvlz2xToPKnY/w0LiMK6yELlKg+sASRa/qsCzaG3s1phw80LWYSREmxNmU+B0v4GksQ9nzpdc3SGU2tfeoI4Brjwo/lCX+1l/WP8AfWpyieUiJjhqcMS5Cgsd5J03i92J3d5NTWyXwuFIlmIxEq6xxRm8StvDSynRiDwXMB28K8xvv176K5zy1HCY2ztubGyZpXAAvkUXCICQLAcSdNTqfZUPWVcjcSO6sXqxUdDFbvGQA2lj+Na0pzgsTkkjZrlUkRyBa9lYEgX04HfpQN1NYqW5Q4+KaZnhV1TIABIEDXBO/JpuIqIrOGU5YxMxU+vTWeMRlMRNx7bIdR31k760rN60yeYOMiQX38QdCNKxKhzaXpOOY5r8bH3HrreOYlie/wB9ahExh9m3VmVszkXKcbf3es9nlUflLhQN/Dx400+FSxnMAy63DWI1G4huFO5J7kyAaNrYD43xgo4am9uAIpcSUVxezHjytcFTuZd1xrl76HxbqeiRbtFM8BtIgsjeq+hGuhGqtbrBse3UbjWyONcxAN+37BWbjwtHIx8nHKfA/fXZvQlNmgm6y0ZNu1T9xriWdflD2/aK7R6EFQQy5ZAzMsRdQykoQ0wFwDdbjrrGeXHLeOMzcx4dOooorioooooIzlGkZgbnQpTS+f1dTlGbsuRrwrl+B5GRNh42xGEvJmZZGhCi13bKzlNMoUC5HZV99Ic0ZwOJgZgJJYJRGvEtlOXu6VtTXCuTu2cdhSFLMYSQJInlTKVPrAXbom19QRW8cZnk3VFLVtvkTh4MNPNCjMY0BkQu2VkZlJGa99PWBsNUqjx7Swi7sCO4zO31ga7BtLlRg2jdOeJDo0ZGaIjIwtltzvySRe289gtw04FhoWjBHXIn31uMZ8szMSml5Q4cbtnYb5wDfuilo+Vir6mCwSd0Av53FQPwMcZYvpMfqqayMOv9pH/8v/jrW1m1kXltP8VIF/Rit9taT8ssWw/OKO6NPuqBESf2q+COfeBWDHHxlY90X3uKbYLW7kbtObF46BJpWdFLOVJsn5NCV6K2G+1dekwcSljmCxZVcZdFNjezZbW3LqTxrhXJfbUeCn55Q0hyMlnjFrMRrpJv09tWHa3pF5+F4eayq6lSUyqQDvCkhrXrGWFt45Vwm9qcvMPA0iwNJicxbRiBGuY7s1ruOoW+Ma5vt/abzkEhERQciRiyrmNyesk2GpN9B1UleLqk/WJ/46xMyZdEY/pOD7Ag99ajHG78pOU1XhGGrDJydI2amN524aQxmKw0s7Le+a/xb+rxpnsaPCsX+Eu8VsvN5FZ8175gd9rWX6R6qnl2fsPecZib8bYd/flrMZ3lONTx+Jr9T5JxqLUupTBNdizahVA8BUrtrD7KWFjhZ55JujlWSNlQjMM1zYWstyO0VBRSdE2ABJG6+vma3fDKcwnJzE4mMzqvQuQCbgMRe4SwN7WPVuPUar2MiYXVwQy9e/TeK9G7KSJUSHDh2ChYikiuEDYVmUuAyEISwJzccqnW1cm9KWyhDOrgWz5g63JyshGhJAvoxtv0A1O887aUYG6js+3/AE9tYp7sQwc6oxIfmbtzhi/OWynLkucvrZb34XqzGTYY+JtE/qP4q6R0yplYq5tiNiD+h2j5wfx0k+L2PmXLh8dl1zgtDmOnRy2a2+970FRoq5DG7F/5XHn58P8AFQcfsUf1TG/rIvvoKbRVtix+yQXzYTFEFrx2kjFkyro2upzZzpwIpYbT2RYkYHE2HXMlBTV491a3q24va+zSv5LAyq2ty0ynQqR8k8Sp8Lca2j2zssAX2fKTYXPwgC54kdHSlin1mrgdubL4bMc9+K+5KSXbmzxf/dmbU2vimFhwGkevfQVUNTjBC5t1lffVlfbeAFv90jXd/PH/APHUHjMWrSl4olhjJBWMEPksouOcKhmuQTc9duFLEjOJGiLZLwE5Tu3A2zDiNfjbr6VH7NjYNkHSOeyAC92awFh26V0zkysL4VcM6JmOHuSDoVlF7/pgutx1hqpfo/dY9owGQlbFrkLms4SREOWxv0svDt7al8qgtt4dlc51yupsw/0rEWuvX9wq++lnDxMkWIQqGOZSq9GygsFBQi9xkPVvOm61R2LtSKJCsmDTEEm4Zpmiyi1stl9bcTc61IDLLXVfQLAqviGEisZI0LIPWj5uaZAH1+MCGG7Q1SP5ew1/+Fw9/wALl++rH6L9p85tSMQQJhkMb86sbmQMFBIzM2vrFfwaT0sO7UUUVxaFFFFByH/1CbNzR4We3qu8bfOXMv1G865Muw57fmZPVzD8m3q2BuNN1mXzHXXo70mbFbF7PmjRS0gyyRgaksjA2HaVzDxql4XlFtMRRR/ybKSjhyTE3Ss4kA1GnSA17BuIvVuYjhYiPLksmQW6Tbt2Xcb6i9+u58aa4lhmNrkdZ49tWzlByex82Jlm+ATqJJGfKsZNszE2uO+orEcl8UNDg516syN9wrcTwxMcoPnKzztZkw2UlW0IJBB3gjeDpWhRev8AHlVsZ52s87WllrZct+A7Tf7KllNhJVj5H8nWxspjVwllBuRf1nVFAHe47hfuqusVG4g9wbTzApxs/abQuHjYqw3EXB/GgPgKmU8cNR26efRRIBKOfTPGuYC2hBzZbm+l8hPZp4c3mW2lO8RytxDmQmV7yAhzmPSBtoddRoNOyod8VfhWcJmO1yqemG31ikzL2Vjneyuu6HOioFKo1gCOB+6myyUoraVJyKd3TaksiZ2YpnLZFRgVK3zxszEqVZrA8QPMGo+kti2HhZyxdppLXKkEKiglWUkkHMp1692+mXJLaiMoDyc2yhEzMpkXIhuFCbg2pF7dXVqw5dbaWeVFjuIoVKpfeSzFmc20BYkmw0AAHCngVRBv7zWK6B6H8NDiMQcNiMNBKhjkkDOhMmYMmma9iLMdLcK7EvIfZw/qWH/VL91TfS08vs5Nr8N1YJ0r1OnJHADdg8N+pj+6l05O4QbsLhx3Qx/dTeU8oBwOPtrZiTv1r1muyIBugiHdGn3V5h5fcnpMDjZYmBEbOzwNrlaNjcBT1rfKR2dopvKRVqyDUfeiruKP71rpTIVctkejbGTwpKOYjVxmUTTZGy8CVCki+/uIqbilazqOI8xWRMvyh512X0acj4sCZzj5cBJznNCMZ0kyZOczayKLXzLu6qnOVuztj4jDyx85s+OVoysUgaBWRt6kMDe1944i9N5TgHPL1isiVSdDTFoyGK6EgkHKQwuDbQrcMO0aGl4MHKd0Uh7o3PuFXcU7d6KJFeH4QwGWHDiKQtawyvmJ8FUk94rlmy9oZcaswOS8jG9r5RKXBNt2mes7Ljxiq0aRYjLJowEUmvYRbWk4uTWOcnLg8VbtgkG7dvFLFs9IOMvhoxYqzuz2Ja5jjUhSwJI1ZmF+OTTtU5J+jCXGYZMQJ40V75RlZjZWK3O62oNO+SXo7xGLP8+SSGJVsNyyOdLAA3sLbzbqrsewtkx4SBIIr5IwQuY3OrFjc95NZnL0RCg7G9DuHQ3xMrzH5Kjm18dSx8xV+2TsXD4ZcsEKRjjlXU97bz40/orMzMtCiiioCiiigKKKKAooooOAcqfRdtGXGYiSONGSSaV0POqOi7lhcNYg61TuUfJDGYEA4mEop0Dghkv1Fl0B7DXqmaAtukdf0cn2qaj8bsISqySTzMjCzLeOxHVolW0eSawTXpH/AGQ7M/spP1rj3Gt09Emyx/Qv+ul/ipauXcnvRFjMTAszPHhw+qpKGz5eDMB6t+o61IN6F5R62Oww+a32tXTP9mmzj60LN+nNM3vegejDZX/JR+b/AMVLHLJPRQi+vtXCL3gD3yU2k9HuET1ttYPwCn3S12aLkBs1d2Cw/jGD76dpyRwI3YPD/qk+6g4Q3I3Zo9bbeH+bFf3SVoeTOyRv2uW/w8JIfdevQsOxcOvqwQr3RoPspymFQbkUdygUseato8ncEImOFxWJmlA6KnBShG6xmtp31A4XY2KcgJhp2J6oZP4a9cAVmlo8uwcjtob1wmIH/bP21Ydi+j/GZ82JwLzJlPQ+EJDrwJYEm3YK9A0UspynYXJvF4SXnsLsuGJ8pUGTHySaNv6OW3AVPvLt5vVTZ8fe0znzFqu9FRVF+A7ebfisCn6MLn61JPyd22/rbVjT/Dwye8ir/RQc+XkTtJvzm2ZvmRKvuNIY30VGcAYnaOKmANwGKkA9YBuAa6RRVscxi9CeCHrSzt85B7lp7D6HdmrvWVv0pT9lq6DRUFJj9FGyx/Vye+WX+KpCD0f7NVAgwcJUEsAy59SACbtc30HlVmooIGLkVs5d2Bwv6iP7RUlDsmBAAsMSgbgsai3dYU8ooE1hUblA7gKUtRRQFFFFAUUUUBRRRQFFFFB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21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17787" y="3062592"/>
            <a:ext cx="3057525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64" name="Picture 4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8400" y="1509240"/>
            <a:ext cx="2204606" cy="146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6539" y="4623679"/>
            <a:ext cx="2215118" cy="166133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dirty="0"/>
              <a:t>As noted before, the ability to pivot along an axis closer to the center makes 3-wheelers prone to rollover</a:t>
            </a:r>
          </a:p>
        </p:txBody>
      </p:sp>
      <p:pic>
        <p:nvPicPr>
          <p:cNvPr id="4" name="Video_2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5625" y="1600200"/>
            <a:ext cx="8034338" cy="4525963"/>
          </a:xfrm>
        </p:spPr>
      </p:pic>
    </p:spTree>
    <p:extLst>
      <p:ext uri="{BB962C8B-B14F-4D97-AF65-F5344CB8AC3E}">
        <p14:creationId xmlns:p14="http://schemas.microsoft.com/office/powerpoint/2010/main" val="271786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Thought question</a:t>
            </a: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600" dirty="0">
                <a:latin typeface="+mn-lt"/>
              </a:rPr>
              <a:t>How would Ackerman geometry change for a three-wheel vehicle, where the rear axle is a single wheel?</a:t>
            </a:r>
          </a:p>
        </p:txBody>
      </p:sp>
      <p:pic>
        <p:nvPicPr>
          <p:cNvPr id="25" name="Picture 6" descr="Convertible Overhead View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2959100" y="3289300"/>
            <a:ext cx="3759200" cy="2362200"/>
          </a:xfrm>
          <a:prstGeom prst="rect">
            <a:avLst/>
          </a:prstGeom>
          <a:noFill/>
        </p:spPr>
      </p:pic>
      <p:sp>
        <p:nvSpPr>
          <p:cNvPr id="26" name="Rounded Rectangle 25"/>
          <p:cNvSpPr/>
          <p:nvPr/>
        </p:nvSpPr>
        <p:spPr>
          <a:xfrm rot="19860000">
            <a:off x="5296568" y="3298575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 rot="19860000">
            <a:off x="4153568" y="3374775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4724400" y="5334000"/>
            <a:ext cx="228600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4367213" y="3586163"/>
            <a:ext cx="942975" cy="3492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5400000" flipH="1" flipV="1">
            <a:off x="3986213" y="4471987"/>
            <a:ext cx="1714500" cy="952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There are many different types of steering systems… you see variants everywhere!</a:t>
            </a: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819400" y="1524000"/>
          <a:ext cx="3724275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117645" imgH="5225004" progId="">
                  <p:embed/>
                </p:oleObj>
              </mc:Choice>
              <mc:Fallback>
                <p:oleObj r:id="rId3" imgW="4117645" imgH="5225004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524000"/>
                        <a:ext cx="3724275" cy="4724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333333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86800" cy="1143000"/>
          </a:xfrm>
        </p:spPr>
        <p:txBody>
          <a:bodyPr/>
          <a:lstStyle/>
          <a:p>
            <a:r>
              <a:rPr lang="en-US" dirty="0"/>
              <a:t>Can we use kinematics to predict the steering angle required for a turn?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sz="2600"/>
              <a:t>Simplest turning maneuver is rounding a long curve of constant radius at constant speed.      </a:t>
            </a:r>
            <a:br>
              <a:rPr lang="en-US" sz="2600"/>
            </a:br>
            <a:br>
              <a:rPr lang="en-US" sz="1600"/>
            </a:br>
            <a:r>
              <a:rPr lang="en-US" sz="2600"/>
              <a:t>	This is called a steady state turn.  </a:t>
            </a:r>
            <a:br>
              <a:rPr lang="en-US" sz="2600"/>
            </a:br>
            <a:r>
              <a:rPr lang="en-US" sz="2600"/>
              <a:t>	All the states of the vehicle are in equilibrium.</a:t>
            </a:r>
            <a:br>
              <a:rPr lang="en-US" sz="2600"/>
            </a:br>
            <a:endParaRPr lang="en-US" sz="1800"/>
          </a:p>
          <a:p>
            <a:pPr>
              <a:lnSpc>
                <a:spcPct val="110000"/>
              </a:lnSpc>
            </a:pPr>
            <a:r>
              <a:rPr lang="en-US" sz="2600"/>
              <a:t>Let’s first consider low speed turning.</a:t>
            </a:r>
            <a:br>
              <a:rPr lang="en-US" sz="2600"/>
            </a:br>
            <a:r>
              <a:rPr lang="en-US" sz="2600"/>
              <a:t>At low speed, the tire slip is minimal and vehicle cornering is based largely on kinematic constraints.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We have to impose some assumptions here…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7263" y="1600200"/>
            <a:ext cx="7958137" cy="47244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2400" dirty="0"/>
              <a:t>Assume that the front wheels are the only ones being steered.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If the rear wheels generate no slip then the rear wheels must be perpendicular to the radius of curve at the wheels.</a:t>
            </a:r>
            <a:br>
              <a:rPr lang="en-US" sz="2400" dirty="0"/>
            </a:br>
            <a:r>
              <a:rPr lang="en-US" sz="2400" dirty="0"/>
              <a:t>	i.e.  the projection of the rear axle intersects</a:t>
            </a:r>
            <a:br>
              <a:rPr lang="en-US" sz="2400" dirty="0"/>
            </a:br>
            <a:r>
              <a:rPr lang="en-US" sz="2400" dirty="0"/>
              <a:t>	the turn center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For the front wheels to not slip, they must also have perpendiculars that pass through the turn center.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Again, this is called kinematic steering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algn="l"/>
            <a:r>
              <a:rPr lang="en-US" sz="4000" dirty="0"/>
              <a:t>Here’s the geometry for low speed steady-state turning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12954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dirty="0">
                <a:latin typeface="+mn-lt"/>
              </a:rPr>
              <a:t>Since the radii of curvature are usually much larger than the vehicle dimensions, small angle approximations apply.</a:t>
            </a:r>
          </a:p>
        </p:txBody>
      </p:sp>
      <p:pic>
        <p:nvPicPr>
          <p:cNvPr id="8" name="Picture 6" descr="Convertible Overhead View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3540111">
            <a:off x="2651452" y="3301089"/>
            <a:ext cx="3759200" cy="2604668"/>
          </a:xfrm>
          <a:prstGeom prst="rect">
            <a:avLst/>
          </a:prstGeom>
          <a:noFill/>
        </p:spPr>
      </p:pic>
      <p:sp>
        <p:nvSpPr>
          <p:cNvPr id="9" name="Rounded Rectangle 8"/>
          <p:cNvSpPr/>
          <p:nvPr/>
        </p:nvSpPr>
        <p:spPr>
          <a:xfrm rot="19053646">
            <a:off x="5502150" y="4509947"/>
            <a:ext cx="233802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 rot="19053646">
            <a:off x="4740148" y="5271947"/>
            <a:ext cx="233802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 rot="21024172">
            <a:off x="4300502" y="3093266"/>
            <a:ext cx="233802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 rot="20479343">
            <a:off x="3355852" y="3896237"/>
            <a:ext cx="233802" cy="533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0497" name="Group 37"/>
          <p:cNvGrpSpPr>
            <a:grpSpLocks noChangeAspect="1"/>
          </p:cNvGrpSpPr>
          <p:nvPr/>
        </p:nvGrpSpPr>
        <p:grpSpPr bwMode="auto">
          <a:xfrm rot="-2684887">
            <a:off x="4367213" y="4271963"/>
            <a:ext cx="182562" cy="182562"/>
            <a:chOff x="192" y="2014"/>
            <a:chExt cx="432" cy="434"/>
          </a:xfrm>
        </p:grpSpPr>
        <p:grpSp>
          <p:nvGrpSpPr>
            <p:cNvPr id="20533" name="Group 38"/>
            <p:cNvGrpSpPr>
              <a:grpSpLocks noChangeAspect="1"/>
            </p:cNvGrpSpPr>
            <p:nvPr/>
          </p:nvGrpSpPr>
          <p:grpSpPr bwMode="auto">
            <a:xfrm>
              <a:off x="192" y="2016"/>
              <a:ext cx="432" cy="432"/>
              <a:chOff x="192" y="2016"/>
              <a:chExt cx="432" cy="432"/>
            </a:xfrm>
          </p:grpSpPr>
          <p:sp>
            <p:nvSpPr>
              <p:cNvPr id="20536" name="Oval 39"/>
              <p:cNvSpPr>
                <a:spLocks noChangeAspect="1" noChangeArrowheads="1"/>
              </p:cNvSpPr>
              <p:nvPr/>
            </p:nvSpPr>
            <p:spPr bwMode="auto">
              <a:xfrm>
                <a:off x="192" y="2016"/>
                <a:ext cx="432" cy="4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0537" name="AutoShape 40"/>
              <p:cNvCxnSpPr>
                <a:cxnSpLocks noChangeAspect="1" noChangeShapeType="1"/>
                <a:stCxn id="20536" idx="0"/>
                <a:endCxn id="20536" idx="4"/>
              </p:cNvCxnSpPr>
              <p:nvPr/>
            </p:nvCxnSpPr>
            <p:spPr bwMode="auto">
              <a:xfrm>
                <a:off x="408" y="2016"/>
                <a:ext cx="0" cy="432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538" name="AutoShape 41"/>
              <p:cNvCxnSpPr>
                <a:cxnSpLocks noChangeAspect="1" noChangeShapeType="1"/>
                <a:stCxn id="20536" idx="2"/>
                <a:endCxn id="20536" idx="6"/>
              </p:cNvCxnSpPr>
              <p:nvPr/>
            </p:nvCxnSpPr>
            <p:spPr bwMode="auto">
              <a:xfrm>
                <a:off x="192" y="2232"/>
                <a:ext cx="432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0534" name="Arc 42"/>
            <p:cNvSpPr>
              <a:spLocks noChangeAspect="1"/>
            </p:cNvSpPr>
            <p:nvPr/>
          </p:nvSpPr>
          <p:spPr bwMode="auto">
            <a:xfrm rot="10800000" flipV="1">
              <a:off x="194" y="2014"/>
              <a:ext cx="216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5" name="Arc 43"/>
            <p:cNvSpPr>
              <a:spLocks noChangeAspect="1"/>
            </p:cNvSpPr>
            <p:nvPr/>
          </p:nvSpPr>
          <p:spPr bwMode="auto">
            <a:xfrm flipV="1">
              <a:off x="408" y="2229"/>
              <a:ext cx="216" cy="2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20" name="Straight Connector 19"/>
          <p:cNvCxnSpPr/>
          <p:nvPr/>
        </p:nvCxnSpPr>
        <p:spPr>
          <a:xfrm rot="16200000" flipV="1">
            <a:off x="3276600" y="2159000"/>
            <a:ext cx="1019175" cy="98107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191002" y="2133602"/>
            <a:ext cx="182561" cy="9636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Arc 21"/>
          <p:cNvSpPr/>
          <p:nvPr/>
        </p:nvSpPr>
        <p:spPr>
          <a:xfrm rot="17592005">
            <a:off x="3670300" y="2413000"/>
            <a:ext cx="862013" cy="741363"/>
          </a:xfrm>
          <a:prstGeom prst="arc">
            <a:avLst>
              <a:gd name="adj1" fmla="val 16200000"/>
              <a:gd name="adj2" fmla="val 21236388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4133850" y="2354263"/>
            <a:ext cx="119063" cy="333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02" name="TextBox 197"/>
          <p:cNvSpPr txBox="1">
            <a:spLocks noChangeArrowheads="1"/>
          </p:cNvSpPr>
          <p:nvPr/>
        </p:nvSpPr>
        <p:spPr bwMode="auto">
          <a:xfrm>
            <a:off x="3876675" y="2444750"/>
            <a:ext cx="39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l-GR">
                <a:cs typeface="Times New Roman" pitchFamily="18" charset="0"/>
              </a:rPr>
              <a:t>δ</a:t>
            </a:r>
            <a:r>
              <a:rPr lang="en-US" sz="800">
                <a:cs typeface="Times New Roman" pitchFamily="18" charset="0"/>
              </a:rPr>
              <a:t>i</a:t>
            </a:r>
            <a:endParaRPr lang="en-US">
              <a:cs typeface="Times New Roman" pitchFamily="18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 rot="16200000" flipH="1">
            <a:off x="2594768" y="3117057"/>
            <a:ext cx="1179513" cy="4064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16200000" flipV="1">
            <a:off x="2295525" y="2973388"/>
            <a:ext cx="1019175" cy="98107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Arc 26"/>
          <p:cNvSpPr/>
          <p:nvPr/>
        </p:nvSpPr>
        <p:spPr>
          <a:xfrm rot="16450172">
            <a:off x="2789238" y="3138488"/>
            <a:ext cx="566737" cy="611187"/>
          </a:xfrm>
          <a:prstGeom prst="arc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2986088" y="3140075"/>
            <a:ext cx="157162" cy="381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07" name="TextBox 202"/>
          <p:cNvSpPr txBox="1">
            <a:spLocks noChangeArrowheads="1"/>
          </p:cNvSpPr>
          <p:nvPr/>
        </p:nvSpPr>
        <p:spPr bwMode="auto">
          <a:xfrm>
            <a:off x="2814638" y="3230563"/>
            <a:ext cx="39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l-GR">
                <a:cs typeface="Times New Roman" pitchFamily="18" charset="0"/>
              </a:rPr>
              <a:t>δ</a:t>
            </a:r>
            <a:r>
              <a:rPr lang="en-US" sz="800">
                <a:cs typeface="Times New Roman" pitchFamily="18" charset="0"/>
              </a:rPr>
              <a:t>o</a:t>
            </a:r>
            <a:endParaRPr lang="en-US">
              <a:cs typeface="Times New Roman" pitchFamily="18" charset="0"/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3582988" y="3421063"/>
            <a:ext cx="712787" cy="70485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943475" y="4856163"/>
            <a:ext cx="588963" cy="60325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16200000" flipV="1">
            <a:off x="3905250" y="3806825"/>
            <a:ext cx="1347788" cy="134778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11" name="TextBox 206"/>
          <p:cNvSpPr txBox="1">
            <a:spLocks noChangeArrowheads="1"/>
          </p:cNvSpPr>
          <p:nvPr/>
        </p:nvSpPr>
        <p:spPr bwMode="auto">
          <a:xfrm>
            <a:off x="4176713" y="3835400"/>
            <a:ext cx="2952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a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5205413" y="5902325"/>
            <a:ext cx="352425" cy="338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967413" y="5164138"/>
            <a:ext cx="366712" cy="3381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10800000" flipV="1">
            <a:off x="5476875" y="5892800"/>
            <a:ext cx="271463" cy="2619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5400000" flipH="1" flipV="1">
            <a:off x="5943601" y="5411787"/>
            <a:ext cx="271462" cy="2524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16" name="TextBox 211"/>
          <p:cNvSpPr txBox="1">
            <a:spLocks noChangeArrowheads="1"/>
          </p:cNvSpPr>
          <p:nvPr/>
        </p:nvSpPr>
        <p:spPr bwMode="auto">
          <a:xfrm>
            <a:off x="4786313" y="4421188"/>
            <a:ext cx="3063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b</a:t>
            </a:r>
          </a:p>
        </p:txBody>
      </p:sp>
      <p:sp>
        <p:nvSpPr>
          <p:cNvPr id="20517" name="TextBox 212"/>
          <p:cNvSpPr txBox="1">
            <a:spLocks noChangeArrowheads="1"/>
          </p:cNvSpPr>
          <p:nvPr/>
        </p:nvSpPr>
        <p:spPr bwMode="auto">
          <a:xfrm>
            <a:off x="5705475" y="5621338"/>
            <a:ext cx="306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T</a:t>
            </a:r>
          </a:p>
        </p:txBody>
      </p:sp>
      <p:cxnSp>
        <p:nvCxnSpPr>
          <p:cNvPr id="40" name="Straight Connector 39"/>
          <p:cNvCxnSpPr/>
          <p:nvPr/>
        </p:nvCxnSpPr>
        <p:spPr>
          <a:xfrm rot="10800000" flipV="1">
            <a:off x="4262438" y="5721350"/>
            <a:ext cx="452437" cy="4476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10800000" flipV="1">
            <a:off x="2867025" y="4344988"/>
            <a:ext cx="447675" cy="4381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rot="16200000" flipV="1">
            <a:off x="3083719" y="4580731"/>
            <a:ext cx="547688" cy="5238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6200000" flipH="1">
            <a:off x="3871913" y="5411787"/>
            <a:ext cx="585788" cy="5572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22" name="TextBox 217"/>
          <p:cNvSpPr txBox="1">
            <a:spLocks noChangeArrowheads="1"/>
          </p:cNvSpPr>
          <p:nvPr/>
        </p:nvSpPr>
        <p:spPr bwMode="auto">
          <a:xfrm>
            <a:off x="3595688" y="5054600"/>
            <a:ext cx="282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L</a:t>
            </a:r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4532313" y="3011488"/>
            <a:ext cx="2840037" cy="3286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5695950" y="4059238"/>
            <a:ext cx="638175" cy="6286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3605213" y="3016250"/>
            <a:ext cx="3776662" cy="11572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510088" y="3187700"/>
            <a:ext cx="138112" cy="19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rot="16200000" flipV="1">
            <a:off x="4576762" y="3249613"/>
            <a:ext cx="142875" cy="19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6548438" y="3025775"/>
            <a:ext cx="823912" cy="8191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29" name="TextBox 224"/>
          <p:cNvSpPr txBox="1">
            <a:spLocks noChangeArrowheads="1"/>
          </p:cNvSpPr>
          <p:nvPr/>
        </p:nvSpPr>
        <p:spPr bwMode="auto">
          <a:xfrm>
            <a:off x="6238875" y="3740150"/>
            <a:ext cx="2905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R</a:t>
            </a:r>
            <a:r>
              <a:rPr lang="en-US" sz="900"/>
              <a:t>rear  </a:t>
            </a:r>
            <a:r>
              <a:rPr lang="en-US" sz="1600"/>
              <a:t>(to center of wheel track)</a:t>
            </a:r>
          </a:p>
        </p:txBody>
      </p:sp>
      <p:sp>
        <p:nvSpPr>
          <p:cNvPr id="20530" name="Rectangle 225"/>
          <p:cNvSpPr>
            <a:spLocks noChangeArrowheads="1"/>
          </p:cNvSpPr>
          <p:nvPr/>
        </p:nvSpPr>
        <p:spPr bwMode="auto">
          <a:xfrm>
            <a:off x="5911850" y="3430588"/>
            <a:ext cx="314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R</a:t>
            </a:r>
            <a:endParaRPr lang="en-US" sz="900"/>
          </a:p>
        </p:txBody>
      </p:sp>
      <p:cxnSp>
        <p:nvCxnSpPr>
          <p:cNvPr id="53" name="Straight Connector 52"/>
          <p:cNvCxnSpPr/>
          <p:nvPr/>
        </p:nvCxnSpPr>
        <p:spPr>
          <a:xfrm rot="10800000" flipV="1">
            <a:off x="4514850" y="3702050"/>
            <a:ext cx="1390650" cy="619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rot="10800000" flipV="1">
            <a:off x="6267450" y="3025775"/>
            <a:ext cx="1114425" cy="514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now approximate the angle required for low-speed steering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small angle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As L increases (for example a long truck) one needs a sharper steer angle than if L is smaller (car)</a:t>
            </a:r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2973388" y="2209800"/>
          <a:ext cx="206692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38080" imgH="393480" progId="Equation.3">
                  <p:embed/>
                </p:oleObj>
              </mc:Choice>
              <mc:Fallback>
                <p:oleObj name="Equation" r:id="rId3" imgW="838080" imgH="3934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388" y="2209800"/>
                        <a:ext cx="2066925" cy="968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1963738" y="3403600"/>
          <a:ext cx="4530725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01720" imgH="393480" progId="Equation.3">
                  <p:embed/>
                </p:oleObj>
              </mc:Choice>
              <mc:Fallback>
                <p:oleObj name="Equation" r:id="rId5" imgW="1701720" imgH="3934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738" y="3403600"/>
                        <a:ext cx="4530725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4495800" y="3505200"/>
            <a:ext cx="8429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</a:rPr>
              <a:t>steer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</a:rPr>
              <a:t>angle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Variations on Ackermann Geometry</a:t>
            </a:r>
          </a:p>
        </p:txBody>
      </p:sp>
      <p:pic>
        <p:nvPicPr>
          <p:cNvPr id="31" name="Picture 6" descr="Convertible Overhead View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545" y="1540144"/>
            <a:ext cx="2694368" cy="1459006"/>
          </a:xfrm>
          <a:prstGeom prst="rect">
            <a:avLst/>
          </a:prstGeom>
          <a:noFill/>
        </p:spPr>
      </p:pic>
      <p:sp>
        <p:nvSpPr>
          <p:cNvPr id="32" name="Rounded Rectangle 31"/>
          <p:cNvSpPr/>
          <p:nvPr/>
        </p:nvSpPr>
        <p:spPr>
          <a:xfrm rot="5513535">
            <a:off x="632998" y="2518239"/>
            <a:ext cx="185164" cy="37457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 rot="5513535">
            <a:off x="624776" y="1688254"/>
            <a:ext cx="185164" cy="37457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5" name="Straight Connector 34"/>
          <p:cNvCxnSpPr>
            <a:endCxn id="0" idx="3"/>
          </p:cNvCxnSpPr>
          <p:nvPr/>
        </p:nvCxnSpPr>
        <p:spPr>
          <a:xfrm rot="5400000" flipH="1" flipV="1">
            <a:off x="-197644" y="3615532"/>
            <a:ext cx="3267075" cy="156051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Arc 35"/>
          <p:cNvSpPr/>
          <p:nvPr/>
        </p:nvSpPr>
        <p:spPr>
          <a:xfrm rot="18837998">
            <a:off x="822326" y="3824287"/>
            <a:ext cx="798512" cy="633413"/>
          </a:xfrm>
          <a:prstGeom prst="arc">
            <a:avLst>
              <a:gd name="adj1" fmla="val 18394822"/>
              <a:gd name="adj2" fmla="val 21236388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1417638" y="3795713"/>
            <a:ext cx="95250" cy="476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rot="5400000">
            <a:off x="-929482" y="4387057"/>
            <a:ext cx="3236913" cy="63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2247900" y="2844801"/>
            <a:ext cx="111125" cy="50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519" name="TextBox 224"/>
          <p:cNvSpPr txBox="1">
            <a:spLocks noChangeArrowheads="1"/>
          </p:cNvSpPr>
          <p:nvPr/>
        </p:nvSpPr>
        <p:spPr bwMode="auto">
          <a:xfrm>
            <a:off x="1525588" y="4191000"/>
            <a:ext cx="18272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Ackermann</a:t>
            </a:r>
            <a:endParaRPr lang="en-US" sz="1600"/>
          </a:p>
        </p:txBody>
      </p:sp>
      <p:cxnSp>
        <p:nvCxnSpPr>
          <p:cNvPr id="43" name="Straight Connector 42"/>
          <p:cNvCxnSpPr/>
          <p:nvPr/>
        </p:nvCxnSpPr>
        <p:spPr>
          <a:xfrm>
            <a:off x="2168525" y="2870200"/>
            <a:ext cx="107950" cy="50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rot="5400000" flipH="1" flipV="1">
            <a:off x="-593724" y="3178175"/>
            <a:ext cx="4095750" cy="15970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10800000" flipV="1">
            <a:off x="588963" y="6030913"/>
            <a:ext cx="131762" cy="31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rot="5400000" flipH="1" flipV="1">
            <a:off x="580232" y="6012656"/>
            <a:ext cx="157162" cy="31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rot="5400000">
            <a:off x="2298700" y="1998663"/>
            <a:ext cx="93663" cy="333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2214563" y="2017713"/>
            <a:ext cx="117475" cy="444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Arc 50"/>
          <p:cNvSpPr/>
          <p:nvPr/>
        </p:nvSpPr>
        <p:spPr>
          <a:xfrm rot="831419">
            <a:off x="1068388" y="3854450"/>
            <a:ext cx="736600" cy="687388"/>
          </a:xfrm>
          <a:prstGeom prst="arc">
            <a:avLst>
              <a:gd name="adj1" fmla="val 18394822"/>
              <a:gd name="adj2" fmla="val 21236388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2" name="Straight Arrow Connector 51"/>
          <p:cNvCxnSpPr/>
          <p:nvPr/>
        </p:nvCxnSpPr>
        <p:spPr>
          <a:xfrm rot="16200000" flipV="1">
            <a:off x="1663700" y="3930650"/>
            <a:ext cx="68263" cy="6191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Arc 52"/>
          <p:cNvSpPr/>
          <p:nvPr/>
        </p:nvSpPr>
        <p:spPr>
          <a:xfrm rot="17800518">
            <a:off x="150019" y="1797844"/>
            <a:ext cx="2870200" cy="2608262"/>
          </a:xfrm>
          <a:prstGeom prst="arc">
            <a:avLst>
              <a:gd name="adj1" fmla="val 19462264"/>
              <a:gd name="adj2" fmla="val 21236388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4" name="Arc 53"/>
          <p:cNvSpPr/>
          <p:nvPr/>
        </p:nvSpPr>
        <p:spPr>
          <a:xfrm rot="19962178">
            <a:off x="246063" y="1758950"/>
            <a:ext cx="3094037" cy="3052763"/>
          </a:xfrm>
          <a:prstGeom prst="arc">
            <a:avLst>
              <a:gd name="adj1" fmla="val 19462264"/>
              <a:gd name="adj2" fmla="val 21236388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5" name="Arc 54"/>
          <p:cNvSpPr/>
          <p:nvPr/>
        </p:nvSpPr>
        <p:spPr>
          <a:xfrm rot="20367286">
            <a:off x="357188" y="2473325"/>
            <a:ext cx="2643187" cy="2830513"/>
          </a:xfrm>
          <a:prstGeom prst="arc">
            <a:avLst>
              <a:gd name="adj1" fmla="val 19462264"/>
              <a:gd name="adj2" fmla="val 21236388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955675" y="1296988"/>
            <a:ext cx="1149350" cy="4699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" name="Picture 6" descr="Convertible Overhead View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25773" y="1605458"/>
            <a:ext cx="2694368" cy="1459006"/>
          </a:xfrm>
          <a:prstGeom prst="rect">
            <a:avLst/>
          </a:prstGeom>
          <a:noFill/>
        </p:spPr>
      </p:pic>
      <p:sp>
        <p:nvSpPr>
          <p:cNvPr id="59" name="Rounded Rectangle 58"/>
          <p:cNvSpPr/>
          <p:nvPr/>
        </p:nvSpPr>
        <p:spPr>
          <a:xfrm rot="5513535">
            <a:off x="3659226" y="2583553"/>
            <a:ext cx="185164" cy="37457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0" name="Rounded Rectangle 59"/>
          <p:cNvSpPr/>
          <p:nvPr/>
        </p:nvSpPr>
        <p:spPr>
          <a:xfrm rot="5513535">
            <a:off x="3651004" y="1753568"/>
            <a:ext cx="185164" cy="37457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1" name="Straight Connector 60"/>
          <p:cNvCxnSpPr>
            <a:endCxn id="0" idx="3"/>
          </p:cNvCxnSpPr>
          <p:nvPr/>
        </p:nvCxnSpPr>
        <p:spPr>
          <a:xfrm rot="5400000" flipH="1" flipV="1">
            <a:off x="3771107" y="3466306"/>
            <a:ext cx="2112962" cy="84137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rot="5400000">
            <a:off x="2097881" y="4453732"/>
            <a:ext cx="3235325" cy="6191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rot="5400000">
            <a:off x="5283200" y="2901951"/>
            <a:ext cx="103187" cy="365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542" name="TextBox 224"/>
          <p:cNvSpPr txBox="1">
            <a:spLocks noChangeArrowheads="1"/>
          </p:cNvSpPr>
          <p:nvPr/>
        </p:nvSpPr>
        <p:spPr bwMode="auto">
          <a:xfrm>
            <a:off x="4210050" y="4979988"/>
            <a:ext cx="1306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Parallel</a:t>
            </a:r>
            <a:endParaRPr lang="en-US" sz="1600"/>
          </a:p>
        </p:txBody>
      </p:sp>
      <p:cxnSp>
        <p:nvCxnSpPr>
          <p:cNvPr id="65" name="Straight Connector 64"/>
          <p:cNvCxnSpPr/>
          <p:nvPr/>
        </p:nvCxnSpPr>
        <p:spPr>
          <a:xfrm>
            <a:off x="5207000" y="2928938"/>
            <a:ext cx="112713" cy="428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rot="5400000" flipH="1" flipV="1">
            <a:off x="3698875" y="2640013"/>
            <a:ext cx="2230437" cy="91598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rot="10800000" flipV="1">
            <a:off x="3614738" y="6096000"/>
            <a:ext cx="131762" cy="31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rot="5400000" flipH="1" flipV="1">
            <a:off x="3606800" y="6078538"/>
            <a:ext cx="155575" cy="31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rot="5400000">
            <a:off x="5106194" y="1969294"/>
            <a:ext cx="95250" cy="492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132388" y="2035175"/>
            <a:ext cx="100012" cy="41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Arc 70"/>
          <p:cNvSpPr/>
          <p:nvPr/>
        </p:nvSpPr>
        <p:spPr>
          <a:xfrm rot="17800518">
            <a:off x="3188494" y="1862932"/>
            <a:ext cx="2870200" cy="2608262"/>
          </a:xfrm>
          <a:prstGeom prst="arc">
            <a:avLst>
              <a:gd name="adj1" fmla="val 19462264"/>
              <a:gd name="adj2" fmla="val 21236388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Arc 71"/>
          <p:cNvSpPr/>
          <p:nvPr/>
        </p:nvSpPr>
        <p:spPr>
          <a:xfrm rot="18217939">
            <a:off x="2842419" y="2499519"/>
            <a:ext cx="3094038" cy="3054350"/>
          </a:xfrm>
          <a:prstGeom prst="arc">
            <a:avLst>
              <a:gd name="adj1" fmla="val 19462264"/>
              <a:gd name="adj2" fmla="val 21236388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3" name="Arc 72"/>
          <p:cNvSpPr/>
          <p:nvPr/>
        </p:nvSpPr>
        <p:spPr>
          <a:xfrm rot="20367286">
            <a:off x="3382963" y="2538413"/>
            <a:ext cx="2643187" cy="2830512"/>
          </a:xfrm>
          <a:prstGeom prst="arc">
            <a:avLst>
              <a:gd name="adj1" fmla="val 19462264"/>
              <a:gd name="adj2" fmla="val 21236388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4" name="Straight Connector 73"/>
          <p:cNvCxnSpPr/>
          <p:nvPr/>
        </p:nvCxnSpPr>
        <p:spPr>
          <a:xfrm>
            <a:off x="3983038" y="1362075"/>
            <a:ext cx="1147762" cy="4699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3995738" y="2108200"/>
            <a:ext cx="1109662" cy="54451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endCxn id="0" idx="3"/>
          </p:cNvCxnSpPr>
          <p:nvPr/>
        </p:nvCxnSpPr>
        <p:spPr>
          <a:xfrm rot="5400000">
            <a:off x="4844256" y="2394744"/>
            <a:ext cx="839788" cy="3175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rot="5400000" flipH="1" flipV="1">
            <a:off x="2650331" y="3485357"/>
            <a:ext cx="3648075" cy="155733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8" name="Picture 6" descr="Convertible Overhead View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44745" y="1629044"/>
            <a:ext cx="2694368" cy="1459006"/>
          </a:xfrm>
          <a:prstGeom prst="rect">
            <a:avLst/>
          </a:prstGeom>
          <a:noFill/>
        </p:spPr>
      </p:pic>
      <p:sp>
        <p:nvSpPr>
          <p:cNvPr id="79" name="Rounded Rectangle 78"/>
          <p:cNvSpPr/>
          <p:nvPr/>
        </p:nvSpPr>
        <p:spPr>
          <a:xfrm rot="5513535">
            <a:off x="6678198" y="2607139"/>
            <a:ext cx="185164" cy="37457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" name="Rounded Rectangle 79"/>
          <p:cNvSpPr/>
          <p:nvPr/>
        </p:nvSpPr>
        <p:spPr>
          <a:xfrm rot="5513535">
            <a:off x="6669976" y="1777154"/>
            <a:ext cx="185164" cy="37457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1" name="Straight Connector 80"/>
          <p:cNvCxnSpPr>
            <a:endCxn id="0" idx="3"/>
          </p:cNvCxnSpPr>
          <p:nvPr/>
        </p:nvCxnSpPr>
        <p:spPr>
          <a:xfrm rot="5400000" flipH="1" flipV="1">
            <a:off x="6285707" y="3834606"/>
            <a:ext cx="2963862" cy="100647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rot="5400000">
            <a:off x="5115718" y="4475957"/>
            <a:ext cx="3236913" cy="63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rot="5400000">
            <a:off x="8302626" y="2921000"/>
            <a:ext cx="100012" cy="333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566" name="TextBox 224"/>
          <p:cNvSpPr txBox="1">
            <a:spLocks noChangeArrowheads="1"/>
          </p:cNvSpPr>
          <p:nvPr/>
        </p:nvSpPr>
        <p:spPr bwMode="auto">
          <a:xfrm>
            <a:off x="7315200" y="4724400"/>
            <a:ext cx="17160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/>
              <a:t>Reverse</a:t>
            </a:r>
          </a:p>
          <a:p>
            <a:pPr algn="ctr" eaLnBrk="1" hangingPunct="1"/>
            <a:r>
              <a:rPr lang="en-US"/>
              <a:t>Ackermann</a:t>
            </a:r>
            <a:endParaRPr lang="en-US" sz="1600"/>
          </a:p>
        </p:txBody>
      </p:sp>
      <p:cxnSp>
        <p:nvCxnSpPr>
          <p:cNvPr id="85" name="Straight Connector 84"/>
          <p:cNvCxnSpPr/>
          <p:nvPr/>
        </p:nvCxnSpPr>
        <p:spPr>
          <a:xfrm>
            <a:off x="8228013" y="2949575"/>
            <a:ext cx="112712" cy="381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 rot="5400000" flipH="1" flipV="1">
            <a:off x="6300788" y="2641600"/>
            <a:ext cx="2630487" cy="136366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rot="10800000" flipV="1">
            <a:off x="6634163" y="6119813"/>
            <a:ext cx="131762" cy="31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rot="5400000" flipH="1" flipV="1">
            <a:off x="6625432" y="6101556"/>
            <a:ext cx="157162" cy="31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rot="5400000">
            <a:off x="8129588" y="1989137"/>
            <a:ext cx="88900" cy="47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8150225" y="2051050"/>
            <a:ext cx="106363" cy="555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Arc 90"/>
          <p:cNvSpPr/>
          <p:nvPr/>
        </p:nvSpPr>
        <p:spPr>
          <a:xfrm rot="19962178">
            <a:off x="3230563" y="1847850"/>
            <a:ext cx="3094037" cy="3052763"/>
          </a:xfrm>
          <a:prstGeom prst="arc">
            <a:avLst>
              <a:gd name="adj1" fmla="val 19462264"/>
              <a:gd name="adj2" fmla="val 21236388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" name="Arc 91"/>
          <p:cNvSpPr/>
          <p:nvPr/>
        </p:nvSpPr>
        <p:spPr>
          <a:xfrm rot="19962178">
            <a:off x="6249988" y="1863725"/>
            <a:ext cx="3094037" cy="3052763"/>
          </a:xfrm>
          <a:prstGeom prst="arc">
            <a:avLst>
              <a:gd name="adj1" fmla="val 19462264"/>
              <a:gd name="adj2" fmla="val 21236388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3" name="Arc 92"/>
          <p:cNvSpPr/>
          <p:nvPr/>
        </p:nvSpPr>
        <p:spPr>
          <a:xfrm rot="20367286">
            <a:off x="6413500" y="2554288"/>
            <a:ext cx="2643188" cy="2830512"/>
          </a:xfrm>
          <a:prstGeom prst="arc">
            <a:avLst>
              <a:gd name="adj1" fmla="val 19462264"/>
              <a:gd name="adj2" fmla="val 21236388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4" name="Arc 93"/>
          <p:cNvSpPr/>
          <p:nvPr/>
        </p:nvSpPr>
        <p:spPr>
          <a:xfrm rot="17800518">
            <a:off x="6191250" y="1882775"/>
            <a:ext cx="2868613" cy="2608263"/>
          </a:xfrm>
          <a:prstGeom prst="arc">
            <a:avLst>
              <a:gd name="adj1" fmla="val 19462264"/>
              <a:gd name="adj2" fmla="val 21236388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5" name="Arc 94"/>
          <p:cNvSpPr/>
          <p:nvPr/>
        </p:nvSpPr>
        <p:spPr>
          <a:xfrm rot="18217939">
            <a:off x="5853113" y="2547937"/>
            <a:ext cx="3094038" cy="3052763"/>
          </a:xfrm>
          <a:prstGeom prst="arc">
            <a:avLst>
              <a:gd name="adj1" fmla="val 19462264"/>
              <a:gd name="adj2" fmla="val 21236388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6" name="Straight Connector 95"/>
          <p:cNvCxnSpPr/>
          <p:nvPr/>
        </p:nvCxnSpPr>
        <p:spPr>
          <a:xfrm rot="5400000">
            <a:off x="7873206" y="2407444"/>
            <a:ext cx="839788" cy="3175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rot="5400000" flipH="1" flipV="1">
            <a:off x="5643563" y="3473450"/>
            <a:ext cx="3706812" cy="158908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 rot="6655100">
            <a:off x="5189318" y="2557488"/>
            <a:ext cx="185164" cy="37457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" name="Rounded Rectangle 98"/>
          <p:cNvSpPr/>
          <p:nvPr/>
        </p:nvSpPr>
        <p:spPr>
          <a:xfrm rot="6850219">
            <a:off x="5215617" y="1720108"/>
            <a:ext cx="185164" cy="37457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" name="Rounded Rectangle 99"/>
          <p:cNvSpPr/>
          <p:nvPr/>
        </p:nvSpPr>
        <p:spPr>
          <a:xfrm rot="6939232">
            <a:off x="2163090" y="2492174"/>
            <a:ext cx="185164" cy="37457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" name="Rounded Rectangle 100"/>
          <p:cNvSpPr/>
          <p:nvPr/>
        </p:nvSpPr>
        <p:spPr>
          <a:xfrm rot="6647690">
            <a:off x="2189389" y="1654794"/>
            <a:ext cx="185164" cy="37457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" name="Rounded Rectangle 101"/>
          <p:cNvSpPr/>
          <p:nvPr/>
        </p:nvSpPr>
        <p:spPr>
          <a:xfrm rot="6507312">
            <a:off x="8208290" y="2581074"/>
            <a:ext cx="185164" cy="37457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3" name="Rounded Rectangle 102"/>
          <p:cNvSpPr/>
          <p:nvPr/>
        </p:nvSpPr>
        <p:spPr>
          <a:xfrm rot="7036655">
            <a:off x="8234589" y="1743694"/>
            <a:ext cx="185164" cy="37457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4" name="Straight Connector 103"/>
          <p:cNvCxnSpPr/>
          <p:nvPr/>
        </p:nvCxnSpPr>
        <p:spPr>
          <a:xfrm>
            <a:off x="7051675" y="1333500"/>
            <a:ext cx="1098550" cy="52228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6932613" y="2225675"/>
            <a:ext cx="1182687" cy="4699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Arc 105"/>
          <p:cNvSpPr/>
          <p:nvPr/>
        </p:nvSpPr>
        <p:spPr>
          <a:xfrm rot="18217939">
            <a:off x="-180975" y="2436812"/>
            <a:ext cx="3094038" cy="3052763"/>
          </a:xfrm>
          <a:prstGeom prst="arc">
            <a:avLst>
              <a:gd name="adj1" fmla="val 19462264"/>
              <a:gd name="adj2" fmla="val 21236388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7" name="Straight Connector 56"/>
          <p:cNvCxnSpPr/>
          <p:nvPr/>
        </p:nvCxnSpPr>
        <p:spPr>
          <a:xfrm>
            <a:off x="969963" y="2043113"/>
            <a:ext cx="1109662" cy="54451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High-speed Ackermann Geometry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sz="2800"/>
              <a:t>Small deviations from the Ackermann geometry have little effect on high speed directional response but greatly affect front tire wear.  Deviations do affect the self-centering torque at low speeds.</a:t>
            </a:r>
          </a:p>
          <a:p>
            <a:pPr>
              <a:lnSpc>
                <a:spcPct val="110000"/>
              </a:lnSpc>
            </a:pPr>
            <a:r>
              <a:rPr lang="en-US" sz="2800"/>
              <a:t>With Ackermann and const speed, the resisting torque will grow with steer angle.  If the steer angle is the same for </a:t>
            </a:r>
            <a:r>
              <a:rPr lang="en-US" sz="2800" i="1">
                <a:solidFill>
                  <a:srgbClr val="000000"/>
                </a:solidFill>
                <a:sym typeface="Symbol" pitchFamily="18" charset="2"/>
              </a:rPr>
              <a:t></a:t>
            </a:r>
            <a:r>
              <a:rPr lang="en-US" sz="2800" i="1" baseline="-25000">
                <a:solidFill>
                  <a:srgbClr val="000000"/>
                </a:solidFill>
                <a:sym typeface="Symbol" pitchFamily="18" charset="2"/>
              </a:rPr>
              <a:t>i</a:t>
            </a:r>
            <a:r>
              <a:rPr lang="en-US" sz="2800" i="1">
                <a:solidFill>
                  <a:srgbClr val="000000"/>
                </a:solidFill>
                <a:sym typeface="Symbol" pitchFamily="18" charset="2"/>
              </a:rPr>
              <a:t> = </a:t>
            </a:r>
            <a:r>
              <a:rPr lang="en-US" sz="2800" i="1" baseline="-25000">
                <a:solidFill>
                  <a:srgbClr val="000000"/>
                </a:solidFill>
                <a:sym typeface="Symbol" pitchFamily="18" charset="2"/>
              </a:rPr>
              <a:t>o</a:t>
            </a:r>
            <a:r>
              <a:rPr lang="en-US" sz="2800">
                <a:sym typeface="Symbol" pitchFamily="18" charset="2"/>
              </a:rPr>
              <a:t>, the resisting torque will first grow with steer angle but may diminish at high steer angles.</a:t>
            </a:r>
            <a:endParaRPr lang="en-US" sz="28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/>
              <a:t>What is the difference between Ackerman angle and Ackerman geometry?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2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If we eliminate the angle and force differences between inner and outer wheels, we can treat the car as a “bicycle model”</a:t>
                </a:r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for low speed turning with no slip. This angle is called the “Ackermann angle”</a:t>
                </a:r>
              </a:p>
            </p:txBody>
          </p:sp>
        </mc:Choice>
        <mc:Fallback xmlns="">
          <p:sp>
            <p:nvSpPr>
              <p:cNvPr id="717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3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8" name="TextBox 17"/>
          <p:cNvSpPr txBox="1">
            <a:spLocks noChangeArrowheads="1"/>
          </p:cNvSpPr>
          <p:nvPr/>
        </p:nvSpPr>
        <p:spPr bwMode="auto">
          <a:xfrm>
            <a:off x="1219200" y="5486400"/>
            <a:ext cx="6826250" cy="830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Not to be confused with Ackerman steering geometry.</a:t>
            </a:r>
          </a:p>
          <a:p>
            <a:pPr eaLnBrk="1" hangingPunct="1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331891" y="2895600"/>
            <a:ext cx="2821509" cy="1196975"/>
            <a:chOff x="5331891" y="2895600"/>
            <a:chExt cx="2821509" cy="1196975"/>
          </a:xfrm>
        </p:grpSpPr>
        <p:sp>
          <p:nvSpPr>
            <p:cNvPr id="7173" name="Text Box 5"/>
            <p:cNvSpPr txBox="1">
              <a:spLocks noChangeArrowheads="1"/>
            </p:cNvSpPr>
            <p:nvPr/>
          </p:nvSpPr>
          <p:spPr bwMode="auto">
            <a:xfrm>
              <a:off x="5505450" y="2971800"/>
              <a:ext cx="2841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sym typeface="Symbol" pitchFamily="18" charset="2"/>
                </a:rPr>
                <a:t></a:t>
              </a: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7174" name="Rectangle 10"/>
            <p:cNvSpPr>
              <a:spLocks noChangeArrowheads="1"/>
            </p:cNvSpPr>
            <p:nvPr/>
          </p:nvSpPr>
          <p:spPr bwMode="auto">
            <a:xfrm rot="1057366">
              <a:off x="7772400" y="3940175"/>
              <a:ext cx="381000" cy="1524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5" name="Rectangle 11"/>
            <p:cNvSpPr>
              <a:spLocks noChangeArrowheads="1"/>
            </p:cNvSpPr>
            <p:nvPr/>
          </p:nvSpPr>
          <p:spPr bwMode="auto">
            <a:xfrm rot="4252817">
              <a:off x="5694363" y="3289300"/>
              <a:ext cx="381000" cy="1524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" name="Line 12"/>
            <p:cNvSpPr>
              <a:spLocks noChangeShapeType="1"/>
            </p:cNvSpPr>
            <p:nvPr/>
          </p:nvSpPr>
          <p:spPr bwMode="auto">
            <a:xfrm>
              <a:off x="5943600" y="3352800"/>
              <a:ext cx="1828800" cy="6096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7177" name="Group 35"/>
            <p:cNvGrpSpPr>
              <a:grpSpLocks noChangeAspect="1"/>
            </p:cNvGrpSpPr>
            <p:nvPr/>
          </p:nvGrpSpPr>
          <p:grpSpPr bwMode="auto">
            <a:xfrm rot="18915113">
              <a:off x="6858000" y="3581400"/>
              <a:ext cx="179388" cy="182563"/>
              <a:chOff x="192" y="2014"/>
              <a:chExt cx="432" cy="434"/>
            </a:xfrm>
          </p:grpSpPr>
          <p:grpSp>
            <p:nvGrpSpPr>
              <p:cNvPr id="7179" name="Group 24"/>
              <p:cNvGrpSpPr>
                <a:grpSpLocks noChangeAspect="1"/>
              </p:cNvGrpSpPr>
              <p:nvPr/>
            </p:nvGrpSpPr>
            <p:grpSpPr bwMode="auto">
              <a:xfrm>
                <a:off x="192" y="2016"/>
                <a:ext cx="432" cy="432"/>
                <a:chOff x="192" y="2016"/>
                <a:chExt cx="432" cy="432"/>
              </a:xfrm>
            </p:grpSpPr>
            <p:sp>
              <p:nvSpPr>
                <p:cNvPr id="7182" name="Oval 19"/>
                <p:cNvSpPr>
                  <a:spLocks noChangeAspect="1" noChangeArrowheads="1"/>
                </p:cNvSpPr>
                <p:nvPr/>
              </p:nvSpPr>
              <p:spPr bwMode="auto">
                <a:xfrm>
                  <a:off x="192" y="2016"/>
                  <a:ext cx="432" cy="43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cxnSp>
              <p:nvCxnSpPr>
                <p:cNvPr id="7183" name="AutoShape 20"/>
                <p:cNvCxnSpPr>
                  <a:cxnSpLocks noChangeAspect="1" noChangeShapeType="1"/>
                  <a:stCxn id="7182" idx="0"/>
                  <a:endCxn id="7182" idx="4"/>
                </p:cNvCxnSpPr>
                <p:nvPr/>
              </p:nvCxnSpPr>
              <p:spPr bwMode="auto">
                <a:xfrm>
                  <a:off x="408" y="2016"/>
                  <a:ext cx="0" cy="432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184" name="AutoShape 21"/>
                <p:cNvCxnSpPr>
                  <a:cxnSpLocks noChangeAspect="1" noChangeShapeType="1"/>
                  <a:stCxn id="7182" idx="2"/>
                  <a:endCxn id="7182" idx="6"/>
                </p:cNvCxnSpPr>
                <p:nvPr/>
              </p:nvCxnSpPr>
              <p:spPr bwMode="auto">
                <a:xfrm>
                  <a:off x="192" y="2232"/>
                  <a:ext cx="432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7180" name="Arc 32"/>
              <p:cNvSpPr>
                <a:spLocks noChangeAspect="1"/>
              </p:cNvSpPr>
              <p:nvPr/>
            </p:nvSpPr>
            <p:spPr bwMode="auto">
              <a:xfrm rot="10800000" flipV="1">
                <a:off x="194" y="2014"/>
                <a:ext cx="216" cy="21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81" name="Arc 34"/>
              <p:cNvSpPr>
                <a:spLocks noChangeAspect="1"/>
              </p:cNvSpPr>
              <p:nvPr/>
            </p:nvSpPr>
            <p:spPr bwMode="auto">
              <a:xfrm flipV="1">
                <a:off x="408" y="2229"/>
                <a:ext cx="216" cy="21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cxnSp>
          <p:nvCxnSpPr>
            <p:cNvPr id="3" name="Straight Connector 2"/>
            <p:cNvCxnSpPr/>
            <p:nvPr/>
          </p:nvCxnSpPr>
          <p:spPr>
            <a:xfrm flipH="1" flipV="1">
              <a:off x="5712619" y="2895600"/>
              <a:ext cx="153987" cy="45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flipH="1" flipV="1">
              <a:off x="5331891" y="3148663"/>
              <a:ext cx="552972" cy="2049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Arc 5"/>
            <p:cNvSpPr/>
            <p:nvPr/>
          </p:nvSpPr>
          <p:spPr>
            <a:xfrm rot="17994327">
              <a:off x="5409406" y="2931860"/>
              <a:ext cx="914400" cy="914400"/>
            </a:xfrm>
            <a:prstGeom prst="arc">
              <a:avLst>
                <a:gd name="adj1" fmla="val 16200000"/>
                <a:gd name="adj2" fmla="val 18675967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Automotive Vehicle Dynamics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Sean Brennan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Department of Mechanical and Nuclear Engineering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Penn State University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sbrennan@psu.edu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Drifting?</a:t>
            </a:r>
          </a:p>
        </p:txBody>
      </p:sp>
      <p:pic>
        <p:nvPicPr>
          <p:cNvPr id="24579" name="Picture 2" descr="http://minizcanada.com/tech/mzc-drifting0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71600" y="1371600"/>
            <a:ext cx="6248400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Ackerman Steering Study</a:t>
            </a:r>
          </a:p>
        </p:txBody>
      </p:sp>
    </p:spTree>
    <p:extLst>
      <p:ext uri="{BB962C8B-B14F-4D97-AF65-F5344CB8AC3E}">
        <p14:creationId xmlns:p14="http://schemas.microsoft.com/office/powerpoint/2010/main" val="19413250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2001 Chevrolet Corvette </a:t>
            </a:r>
          </a:p>
          <a:p>
            <a:r>
              <a:rPr lang="en-US" sz="2000" dirty="0"/>
              <a:t>2008 Dodge Ram 1500 4x4</a:t>
            </a:r>
          </a:p>
          <a:p>
            <a:r>
              <a:rPr lang="en-US" sz="2000" dirty="0"/>
              <a:t>1978 Chevrolet El Camino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Vehicles Tested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200" y="2895600"/>
          <a:ext cx="3429000" cy="20574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582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Vehicle Measurements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41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 (m)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 (m)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41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Corvette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1.575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2.654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41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1.524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3.569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58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El Camino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1.479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2.972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IMG_0580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15000" y="4724400"/>
            <a:ext cx="3276600" cy="1905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IMG_0581.JP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15000" y="990600"/>
            <a:ext cx="3276600" cy="187536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IMG_0606.JP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15000" y="2882900"/>
            <a:ext cx="3276600" cy="18161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08533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876800" cy="5257800"/>
          </a:xfrm>
        </p:spPr>
        <p:txBody>
          <a:bodyPr>
            <a:noAutofit/>
          </a:bodyPr>
          <a:lstStyle/>
          <a:p>
            <a:r>
              <a:rPr lang="en-US" sz="1800" dirty="0"/>
              <a:t>Turn plates where used to measure steering angle (</a:t>
            </a:r>
            <a:r>
              <a:rPr lang="el-GR" sz="1800" dirty="0"/>
              <a:t>δ</a:t>
            </a:r>
            <a:r>
              <a:rPr lang="en-US" sz="1800" dirty="0"/>
              <a:t>) at the tire</a:t>
            </a:r>
          </a:p>
          <a:p>
            <a:endParaRPr lang="en-US" sz="1800" dirty="0"/>
          </a:p>
          <a:p>
            <a:r>
              <a:rPr lang="en-US" sz="1800" dirty="0"/>
              <a:t>Steering wheel was turned until the outside tire (independent variable) was at a predetermined angle and then the inner tire steering angle was measured (dependent variable)</a:t>
            </a:r>
          </a:p>
          <a:p>
            <a:endParaRPr lang="en-US" sz="1800" dirty="0"/>
          </a:p>
          <a:p>
            <a:r>
              <a:rPr lang="en-US" sz="1800" dirty="0"/>
              <a:t>Both positive and negative steering inputs were measured, however the results were opposites of each other so only positive steering inputs are used in the analysis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Procedure</a:t>
            </a:r>
          </a:p>
        </p:txBody>
      </p:sp>
      <p:pic>
        <p:nvPicPr>
          <p:cNvPr id="4" name="Picture 3" descr="IMG_0576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3056" y="1022882"/>
            <a:ext cx="2987544" cy="223143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IMG_0578.JP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5867797" y="3597541"/>
            <a:ext cx="2787118" cy="2667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73220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524000"/>
          <a:ext cx="8140701" cy="4147185"/>
        </p:xfrm>
        <a:graphic>
          <a:graphicData uri="http://schemas.openxmlformats.org/drawingml/2006/table">
            <a:tbl>
              <a:tblPr/>
              <a:tblGrid>
                <a:gridCol w="748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3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8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5188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inside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Measured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(Degrees)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outside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Measured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(Degrees)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average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Measured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(Degrees)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inside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outside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avg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Steer Angle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L/R</a:t>
                      </a:r>
                      <a:r>
                        <a:rPr lang="en-US" sz="1200" b="1" i="0" u="none" strike="noStrike" baseline="-25000">
                          <a:solidFill>
                            <a:srgbClr val="000000"/>
                          </a:solidFill>
                          <a:latin typeface="Calibri"/>
                        </a:rPr>
                        <a:t>avg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>
                          <a:solidFill>
                            <a:srgbClr val="000000"/>
                          </a:solidFill>
                          <a:latin typeface="Calibri"/>
                        </a:rPr>
                        <a:t>inside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Calculated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>
                          <a:solidFill>
                            <a:srgbClr val="000000"/>
                          </a:solidFill>
                          <a:latin typeface="Calibri"/>
                        </a:rPr>
                        <a:t>outside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Calculated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inside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%error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outside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%error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Average </a:t>
                      </a:r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b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%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 gridSpan="1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2001 Chevrolet Corvette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26.0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13.8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 gridSpan="1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2008 Dodge Ram 1500 4x4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34.7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37.4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18.5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22.9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24.2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025">
                <a:tc gridSpan="1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1978 Chevrolet El Camino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24.0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Analysis</a:t>
            </a:r>
          </a:p>
        </p:txBody>
      </p:sp>
    </p:spTree>
    <p:extLst>
      <p:ext uri="{BB962C8B-B14F-4D97-AF65-F5344CB8AC3E}">
        <p14:creationId xmlns:p14="http://schemas.microsoft.com/office/powerpoint/2010/main" val="1920221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- Corvette</a:t>
            </a:r>
          </a:p>
        </p:txBody>
      </p:sp>
      <p:graphicFrame>
        <p:nvGraphicFramePr>
          <p:cNvPr id="4" name="Chart 3"/>
          <p:cNvGraphicFramePr/>
          <p:nvPr/>
        </p:nvGraphicFramePr>
        <p:xfrm>
          <a:off x="533400" y="1295400"/>
          <a:ext cx="82296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79791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- Ram</a:t>
            </a:r>
          </a:p>
        </p:txBody>
      </p:sp>
      <p:graphicFrame>
        <p:nvGraphicFramePr>
          <p:cNvPr id="4" name="Chart 3"/>
          <p:cNvGraphicFramePr/>
          <p:nvPr/>
        </p:nvGraphicFramePr>
        <p:xfrm>
          <a:off x="533400" y="1447800"/>
          <a:ext cx="82296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087863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El Camino</a:t>
            </a:r>
          </a:p>
        </p:txBody>
      </p:sp>
      <p:graphicFrame>
        <p:nvGraphicFramePr>
          <p:cNvPr id="4" name="Chart 3"/>
          <p:cNvGraphicFramePr/>
          <p:nvPr/>
        </p:nvGraphicFramePr>
        <p:xfrm>
          <a:off x="533400" y="1295400"/>
          <a:ext cx="82296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182223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81000" y="1295400"/>
          <a:ext cx="8140701" cy="4147185"/>
        </p:xfrm>
        <a:graphic>
          <a:graphicData uri="http://schemas.openxmlformats.org/drawingml/2006/table">
            <a:tbl>
              <a:tblPr/>
              <a:tblGrid>
                <a:gridCol w="748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3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8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5188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inside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Measured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(Degrees)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outside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Measured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(Degrees)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average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Measured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(Degrees)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inside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outside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avg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Steer Angle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L/R</a:t>
                      </a:r>
                      <a:r>
                        <a:rPr lang="en-US" sz="1200" b="1" i="0" u="none" strike="noStrike" baseline="-25000">
                          <a:solidFill>
                            <a:srgbClr val="000000"/>
                          </a:solidFill>
                          <a:latin typeface="Calibri"/>
                        </a:rPr>
                        <a:t>avg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>
                          <a:solidFill>
                            <a:srgbClr val="000000"/>
                          </a:solidFill>
                          <a:latin typeface="Calibri"/>
                        </a:rPr>
                        <a:t>inside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Calculated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>
                          <a:solidFill>
                            <a:srgbClr val="000000"/>
                          </a:solidFill>
                          <a:latin typeface="Calibri"/>
                        </a:rPr>
                        <a:t>outside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Calculated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>
                          <a:solidFill>
                            <a:srgbClr val="000000"/>
                          </a:solidFill>
                          <a:latin typeface="Calibri"/>
                        </a:rPr>
                        <a:t>inside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%error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>
                          <a:solidFill>
                            <a:srgbClr val="000000"/>
                          </a:solidFill>
                          <a:latin typeface="Calibri"/>
                        </a:rPr>
                        <a:t>outside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%error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Average </a:t>
                      </a:r>
                      <a:r>
                        <a:rPr lang="el-GR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br>
                        <a:rPr lang="el-GR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l-GR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%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 gridSpan="1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2001 Chevrolet Corvette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26.0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29.6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27.8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14.3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14.0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16.4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22.2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23.6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28.5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30.2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 gridSpan="1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2008 Dodge Ram 1500 4x4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34.7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37.4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18.5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16.6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17.2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22.2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19.7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24.2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025">
                <a:tc gridSpan="1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1978 Chevrolet El Camino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24.0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38800"/>
            <a:ext cx="8077200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All of the vehicles seem to have a “sweet spot” where the calculated </a:t>
            </a:r>
            <a:r>
              <a:rPr lang="el-GR" sz="1400" dirty="0"/>
              <a:t>δ</a:t>
            </a:r>
            <a:r>
              <a:rPr lang="en-US" sz="1400" dirty="0"/>
              <a:t> most closely matched the measured </a:t>
            </a:r>
            <a:r>
              <a:rPr lang="el-GR" sz="1400" dirty="0"/>
              <a:t>δ</a:t>
            </a:r>
            <a:r>
              <a:rPr lang="en-US" sz="1400" dirty="0"/>
              <a:t> (shown from lowest percent error).  In all three cases the “sweet spot” is for about a 10-11m radius turn.  This shows that a vehicles steering system is not designed for perfect ackerman condition for all radius turns, rather it optimized for certain turn radius or approximately 10-11m.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133600"/>
            <a:ext cx="609600" cy="33528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720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219200"/>
          <a:ext cx="8140701" cy="4147185"/>
        </p:xfrm>
        <a:graphic>
          <a:graphicData uri="http://schemas.openxmlformats.org/drawingml/2006/table">
            <a:tbl>
              <a:tblPr/>
              <a:tblGrid>
                <a:gridCol w="748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3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8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1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5188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inside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Measured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(Degrees)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outside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Measured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(Degrees)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average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Measured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(Degrees)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inside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outside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avg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Steer Angle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L/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lang="en-US" sz="1200" b="1" i="0" u="none" strike="noStrike" baseline="-25000" dirty="0" err="1">
                          <a:solidFill>
                            <a:srgbClr val="000000"/>
                          </a:solidFill>
                          <a:latin typeface="Calibri"/>
                        </a:rPr>
                        <a:t>avg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inside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Calculated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outside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Calculated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inside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%error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r>
                        <a:rPr lang="en-US" sz="12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outside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%error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Average </a:t>
                      </a:r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  <a:b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%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 gridSpan="1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2001 Chevrolet Corvette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26.0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29.6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14.0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16.4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23.6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30.2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 gridSpan="1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2008 Dodge Ram 1500 4x4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34.7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37.4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18.5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22.2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24.2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025">
                <a:tc gridSpan="1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1978 Chevrolet El Camino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24.0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81200" y="2057400"/>
            <a:ext cx="3276600" cy="6096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981200" y="3200400"/>
            <a:ext cx="3276600" cy="6096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981200" y="4343400"/>
            <a:ext cx="3276600" cy="6096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5638800"/>
            <a:ext cx="8077200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The </a:t>
            </a:r>
            <a:r>
              <a:rPr lang="el-GR" sz="1400" dirty="0"/>
              <a:t>δ</a:t>
            </a:r>
            <a:r>
              <a:rPr lang="en-US" sz="1400" dirty="0"/>
              <a:t>=L/R assumption for steady state turning around a large turn radius was also proved.  At larger turn radiuses this assumption is perfect and above about a 10m radius turn the assumption remains very accurate.</a:t>
            </a:r>
          </a:p>
        </p:txBody>
      </p:sp>
    </p:spTree>
    <p:extLst>
      <p:ext uri="{BB962C8B-B14F-4D97-AF65-F5344CB8AC3E}">
        <p14:creationId xmlns:p14="http://schemas.microsoft.com/office/powerpoint/2010/main" val="3748094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last metric I looked at was using the ackerman condition equation.  I calculated the ideal </a:t>
            </a:r>
            <a:r>
              <a:rPr lang="en-US" sz="2400" i="1" dirty="0"/>
              <a:t>w/l</a:t>
            </a:r>
            <a:r>
              <a:rPr lang="en-US" sz="2400" dirty="0"/>
              <a:t> and compared it to </a:t>
            </a:r>
            <a:r>
              <a:rPr lang="en-US" sz="2400" i="1" dirty="0"/>
              <a:t>cot(</a:t>
            </a:r>
            <a:r>
              <a:rPr lang="el-GR" sz="2400" i="1" dirty="0"/>
              <a:t>θ</a:t>
            </a:r>
            <a:r>
              <a:rPr lang="en-US" sz="2400" i="1" baseline="-25000" dirty="0"/>
              <a:t>o</a:t>
            </a:r>
            <a:r>
              <a:rPr lang="en-US" sz="2400" i="1" dirty="0"/>
              <a:t>) –cot(</a:t>
            </a:r>
            <a:r>
              <a:rPr lang="el-GR" sz="2400" i="1" dirty="0"/>
              <a:t>θ</a:t>
            </a:r>
            <a:r>
              <a:rPr lang="en-US" sz="2400" i="1" baseline="-25000" dirty="0" err="1"/>
              <a:t>i</a:t>
            </a:r>
            <a:r>
              <a:rPr lang="en-US" sz="2400" i="1" dirty="0"/>
              <a:t>) </a:t>
            </a:r>
            <a:r>
              <a:rPr lang="en-US" sz="2400" dirty="0"/>
              <a:t>for the </a:t>
            </a:r>
            <a:r>
              <a:rPr lang="el-GR" sz="2400" dirty="0"/>
              <a:t>θ</a:t>
            </a:r>
            <a:r>
              <a:rPr lang="en-US" sz="2400" dirty="0"/>
              <a:t>=</a:t>
            </a:r>
            <a:r>
              <a:rPr lang="el-GR" sz="2400" dirty="0"/>
              <a:t>δ</a:t>
            </a:r>
            <a:r>
              <a:rPr lang="en-US" sz="2400" dirty="0"/>
              <a:t> steering angles at all the measured turn radiuses.</a:t>
            </a:r>
          </a:p>
          <a:p>
            <a:endParaRPr lang="en-US" sz="2400" dirty="0"/>
          </a:p>
          <a:p>
            <a:r>
              <a:rPr lang="en-US" sz="2400" dirty="0"/>
              <a:t>As seen on the next slide, </a:t>
            </a:r>
            <a:r>
              <a:rPr lang="en-US" sz="2400" i="1" dirty="0"/>
              <a:t>cot(</a:t>
            </a:r>
            <a:r>
              <a:rPr lang="el-GR" sz="2400" i="1" dirty="0"/>
              <a:t>θ</a:t>
            </a:r>
            <a:r>
              <a:rPr lang="en-US" sz="2400" i="1" baseline="-25000" dirty="0"/>
              <a:t>o</a:t>
            </a:r>
            <a:r>
              <a:rPr lang="en-US" sz="2400" i="1" dirty="0"/>
              <a:t>) –cot(</a:t>
            </a:r>
            <a:r>
              <a:rPr lang="el-GR" sz="2400" i="1" dirty="0"/>
              <a:t>θ</a:t>
            </a:r>
            <a:r>
              <a:rPr lang="en-US" sz="2400" i="1" baseline="-25000" dirty="0" err="1"/>
              <a:t>i</a:t>
            </a:r>
            <a:r>
              <a:rPr lang="en-US" sz="2400" i="1" dirty="0"/>
              <a:t>) =w/l </a:t>
            </a:r>
            <a:r>
              <a:rPr lang="en-US" sz="2400" dirty="0"/>
              <a:t>at a turn radius around 9-11m for all 3 vehicles.  This again shows the design “sweet spot”</a:t>
            </a:r>
          </a:p>
          <a:p>
            <a:endParaRPr lang="en-US" sz="2400" dirty="0"/>
          </a:p>
          <a:p>
            <a:r>
              <a:rPr lang="en-US" sz="2400" dirty="0"/>
              <a:t>It is surprising a large truck has such a similar steering geometry as a sports car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Further Analysis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5257800" y="304800"/>
          <a:ext cx="3403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58310" imgH="393529" progId="">
                  <p:embed/>
                </p:oleObj>
              </mc:Choice>
              <mc:Fallback>
                <p:oleObj name="Equation" r:id="rId3" imgW="1358310" imgH="393529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04800"/>
                        <a:ext cx="34036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73114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11"/>
          <p:cNvGraphicFramePr/>
          <p:nvPr/>
        </p:nvGraphicFramePr>
        <p:xfrm>
          <a:off x="990600" y="1371600"/>
          <a:ext cx="7315199" cy="510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Further Analysis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5257800" y="381000"/>
          <a:ext cx="3403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310" imgH="393529" progId="">
                  <p:embed/>
                </p:oleObj>
              </mc:Choice>
              <mc:Fallback>
                <p:oleObj name="Equation" r:id="rId4" imgW="1358310" imgH="393529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81000"/>
                        <a:ext cx="34036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5-Point Star 8"/>
          <p:cNvSpPr/>
          <p:nvPr/>
        </p:nvSpPr>
        <p:spPr>
          <a:xfrm>
            <a:off x="4038600" y="3962400"/>
            <a:ext cx="152400" cy="152400"/>
          </a:xfrm>
          <a:prstGeom prst="star5">
            <a:avLst/>
          </a:prstGeom>
          <a:solidFill>
            <a:srgbClr val="51DE18"/>
          </a:solidFill>
          <a:ln>
            <a:solidFill>
              <a:srgbClr val="51DE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5-Point Star 9"/>
          <p:cNvSpPr/>
          <p:nvPr/>
        </p:nvSpPr>
        <p:spPr>
          <a:xfrm>
            <a:off x="4114800" y="3505200"/>
            <a:ext cx="152400" cy="152400"/>
          </a:xfrm>
          <a:prstGeom prst="star5">
            <a:avLst/>
          </a:prstGeom>
          <a:solidFill>
            <a:srgbClr val="51DE18"/>
          </a:solidFill>
          <a:ln>
            <a:solidFill>
              <a:srgbClr val="51DE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5-Point Star 10"/>
          <p:cNvSpPr/>
          <p:nvPr/>
        </p:nvSpPr>
        <p:spPr>
          <a:xfrm>
            <a:off x="3200400" y="3733800"/>
            <a:ext cx="152400" cy="152400"/>
          </a:xfrm>
          <a:prstGeom prst="star5">
            <a:avLst/>
          </a:prstGeom>
          <a:solidFill>
            <a:srgbClr val="51DE18"/>
          </a:solidFill>
          <a:ln>
            <a:solidFill>
              <a:srgbClr val="51DE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8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c7c738f6-68ec-422e-b0e4-3523873f7adf" xsi:nil="true"/>
    <Size xmlns="c7c738f6-68ec-422e-b0e4-3523873f7adf" xsi:nil="true"/>
    <lcf76f155ced4ddcb4097134ff3c332f xmlns="c7c738f6-68ec-422e-b0e4-3523873f7adf">
      <Terms xmlns="http://schemas.microsoft.com/office/infopath/2007/PartnerControls"/>
    </lcf76f155ced4ddcb4097134ff3c332f>
    <TaxCatchAll xmlns="542b8847-f5d4-4c9f-bd30-657d16e5db1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04A49901785041AF741C157FF60EBA" ma:contentTypeVersion="18" ma:contentTypeDescription="Create a new document." ma:contentTypeScope="" ma:versionID="53b17709f1baef69b61bd03463dafbd0">
  <xsd:schema xmlns:xsd="http://www.w3.org/2001/XMLSchema" xmlns:xs="http://www.w3.org/2001/XMLSchema" xmlns:p="http://schemas.microsoft.com/office/2006/metadata/properties" xmlns:ns2="c7c738f6-68ec-422e-b0e4-3523873f7adf" xmlns:ns3="542b8847-f5d4-4c9f-bd30-657d16e5db1d" targetNamespace="http://schemas.microsoft.com/office/2006/metadata/properties" ma:root="true" ma:fieldsID="5ba9c385811dc0e6eef34b0e6e0ce819" ns2:_="" ns3:_="">
    <xsd:import namespace="c7c738f6-68ec-422e-b0e4-3523873f7adf"/>
    <xsd:import namespace="542b8847-f5d4-4c9f-bd30-657d16e5db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Siz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c738f6-68ec-422e-b0e4-3523873f7a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12" nillable="true" ma:displayName="Sign-off status" ma:internalName="Sign_x002d_off_x0020_status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Size" ma:index="22" nillable="true" ma:displayName="Size " ma:format="Dropdown" ma:internalName="Size" ma:percentage="FALSE">
      <xsd:simpleType>
        <xsd:restriction base="dms:Number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28b28469-8996-4088-bd89-44d87d638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b8847-f5d4-4c9f-bd30-657d16e5db1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79eca24d-24b6-4c23-abe4-d1cce8e5186c}" ma:internalName="TaxCatchAll" ma:showField="CatchAllData" ma:web="542b8847-f5d4-4c9f-bd30-657d16e5db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E9F46E-046E-4D26-B122-3C5F4CA99380}">
  <ds:schemaRefs>
    <ds:schemaRef ds:uri="http://schemas.microsoft.com/office/2006/metadata/properties"/>
    <ds:schemaRef ds:uri="http://schemas.microsoft.com/office/infopath/2007/PartnerControls"/>
    <ds:schemaRef ds:uri="c7c738f6-68ec-422e-b0e4-3523873f7adf"/>
    <ds:schemaRef ds:uri="542b8847-f5d4-4c9f-bd30-657d16e5db1d"/>
  </ds:schemaRefs>
</ds:datastoreItem>
</file>

<file path=customXml/itemProps2.xml><?xml version="1.0" encoding="utf-8"?>
<ds:datastoreItem xmlns:ds="http://schemas.openxmlformats.org/officeDocument/2006/customXml" ds:itemID="{891FB112-0F31-4AC4-810F-CE5C761A39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c738f6-68ec-422e-b0e4-3523873f7adf"/>
    <ds:schemaRef ds:uri="542b8847-f5d4-4c9f-bd30-657d16e5db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560C53-076F-4FEB-AD7B-195C4EAB22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6789</TotalTime>
  <Words>3736</Words>
  <Application>Microsoft Office PowerPoint</Application>
  <PresentationFormat>On-screen Show (4:3)</PresentationFormat>
  <Paragraphs>906</Paragraphs>
  <Slides>63</Slides>
  <Notes>39</Notes>
  <HiddenSlides>15</HiddenSlides>
  <MMClips>1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1" baseType="lpstr"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Equation</vt:lpstr>
      <vt:lpstr>Best jokes?</vt:lpstr>
      <vt:lpstr>Automotive Vehicle Dynamics</vt:lpstr>
      <vt:lpstr>Is it possible to have motion without force?</vt:lpstr>
      <vt:lpstr>We forget about that “other” law…</vt:lpstr>
      <vt:lpstr>Kinematics is really only  valid in outer space</vt:lpstr>
      <vt:lpstr>But there are situations where the only motion we care about is along a constrained path. This is also          kinematics.</vt:lpstr>
      <vt:lpstr>Tires are like wings: they produce force proportional to slip</vt:lpstr>
      <vt:lpstr>We usually assume that low-speed motion is kinematic</vt:lpstr>
      <vt:lpstr>A poorly designed steering system may have the tires turning around different radii, which violates kinematic assumptions</vt:lpstr>
      <vt:lpstr>This causes problems…</vt:lpstr>
      <vt:lpstr>But in kinematic motion, tires are assumed to NOT slip</vt:lpstr>
      <vt:lpstr>Final Project</vt:lpstr>
      <vt:lpstr>Steering Angle for Each Car</vt:lpstr>
      <vt:lpstr>Average Steering Angle and Wheelbase by Class</vt:lpstr>
      <vt:lpstr>Let’s take a detour through history</vt:lpstr>
      <vt:lpstr>The earliest vehicles were in Mesopotamia, 3000 BC</vt:lpstr>
      <vt:lpstr>The Standard of Ur, 2500 BC, is the earliest documentation of vehicles in the context of war</vt:lpstr>
      <vt:lpstr>300 ancient chariots are known to exist, but only 6 are complete</vt:lpstr>
      <vt:lpstr>Since Roman times, leaf springs consisting of elastic wooden poles were used on a 2-wheeled Pilentum</vt:lpstr>
      <vt:lpstr>The word “car” comes either from cart or carriage, and originates from Old Northern French around 14th century, or from Latin carrum or Gaulish karros, from British Isles</vt:lpstr>
      <vt:lpstr>“Fast” transportation started in Hungary </vt:lpstr>
      <vt:lpstr>The next key advancement was the improvement in roads</vt:lpstr>
      <vt:lpstr>One result of traveling faster? Sore bums!</vt:lpstr>
      <vt:lpstr>How to fix sore bums and backs? Suspension!</vt:lpstr>
      <vt:lpstr>Until the late 1700’s, steering was usually accomplished with a 5th wheel system </vt:lpstr>
      <vt:lpstr>In the early 1800’s, a doctor riding about 10,000 miles a year to visit patients all over England got a better idea…</vt:lpstr>
      <vt:lpstr>He found two essential problems or shortcomings of the commonly used Hungarian carriage. First, he recognized the danger of overturning. Apparently popes were not immune!</vt:lpstr>
      <vt:lpstr>Second, the front wheels were quite small</vt:lpstr>
      <vt:lpstr>That doctor was Erasmus Darwin, grandfather of Charles Darwin</vt:lpstr>
      <vt:lpstr>Ackermann geometry is implemented in practice via a tie-rod</vt:lpstr>
      <vt:lpstr>Simple approximation for Ackermann Geometry set-up</vt:lpstr>
      <vt:lpstr>The kinematics of a well-designed steering system have the tires all turning around the same center</vt:lpstr>
      <vt:lpstr>It is easy to derive the relationship between zero-slip steering angle and the angle subtended by the vehicle. </vt:lpstr>
      <vt:lpstr>One consequence: buses have to turn a LOT more than passenger cars</vt:lpstr>
      <vt:lpstr>The relationship required for inside/outside steering is known as the Ackerman condition</vt:lpstr>
      <vt:lpstr>The Ackerman condition can be easily derived</vt:lpstr>
      <vt:lpstr>One approximation (inexact) to Ackermann geometry is to have the steer arm projections intersect at the center of the rear axle.</vt:lpstr>
      <vt:lpstr>A Case Study on Steering Angle Difference of Two-Front Wheels of a ¼ Tractor</vt:lpstr>
      <vt:lpstr>Basic dimensions were obtained through measurement as follows…</vt:lpstr>
      <vt:lpstr>Result: longer tractors are better in terms of preventing skidding front tires</vt:lpstr>
      <vt:lpstr>As noted before, the ability to pivot along an axis closer to the center makes 3-wheelers prone to rollover</vt:lpstr>
      <vt:lpstr>Thought question</vt:lpstr>
      <vt:lpstr>There are many different types of steering systems… you see variants everywhere!</vt:lpstr>
      <vt:lpstr>Can we use kinematics to predict the steering angle required for a turn?</vt:lpstr>
      <vt:lpstr>We have to impose some assumptions here…</vt:lpstr>
      <vt:lpstr>Here’s the geometry for low speed steady-state turning</vt:lpstr>
      <vt:lpstr>We can now approximate the angle required for low-speed steering</vt:lpstr>
      <vt:lpstr>Variations on Ackermann Geometry</vt:lpstr>
      <vt:lpstr>High-speed Ackermann Geometry</vt:lpstr>
      <vt:lpstr>What is the difference between Ackerman angle and Ackerman geometry?</vt:lpstr>
      <vt:lpstr>Automotive Vehicle Dynamics</vt:lpstr>
      <vt:lpstr>Drifting?</vt:lpstr>
      <vt:lpstr>Ackerman Steering Study</vt:lpstr>
      <vt:lpstr>Vehicles Tested</vt:lpstr>
      <vt:lpstr>Test Procedure</vt:lpstr>
      <vt:lpstr>Data and Analysis</vt:lpstr>
      <vt:lpstr>Results - Corvette</vt:lpstr>
      <vt:lpstr>Results - Ram</vt:lpstr>
      <vt:lpstr>Results – El Camino</vt:lpstr>
      <vt:lpstr>Observations</vt:lpstr>
      <vt:lpstr>Observations</vt:lpstr>
      <vt:lpstr>Further Analysis</vt:lpstr>
      <vt:lpstr>Further Analysis</vt:lpstr>
    </vt:vector>
  </TitlesOfParts>
  <Company>Dell Computer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452 Kinematic Steering</dc:title>
  <dc:creator>Sean Brennan</dc:creator>
  <cp:lastModifiedBy>Sean Brennan</cp:lastModifiedBy>
  <cp:revision>389</cp:revision>
  <cp:lastPrinted>2012-01-16T03:56:07Z</cp:lastPrinted>
  <dcterms:created xsi:type="dcterms:W3CDTF">2000-01-08T19:37:57Z</dcterms:created>
  <dcterms:modified xsi:type="dcterms:W3CDTF">2026-02-09T02:04:55Z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0x0101009204A49901785041AF741C157FF60EBA</vt:lpwstr>
  </property>
</Properties>
</file>