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5" r:id="rId5"/>
    <p:sldId id="266" r:id="rId6"/>
    <p:sldId id="267" r:id="rId7"/>
    <p:sldId id="268" r:id="rId8"/>
    <p:sldId id="270" r:id="rId9"/>
    <p:sldId id="271" r:id="rId10"/>
    <p:sldId id="269" r:id="rId11"/>
    <p:sldId id="263" r:id="rId12"/>
    <p:sldId id="272" r:id="rId13"/>
    <p:sldId id="273" r:id="rId14"/>
    <p:sldId id="274" r:id="rId15"/>
    <p:sldId id="264"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varScale="1">
        <p:scale>
          <a:sx n="150" d="100"/>
          <a:sy n="150" d="100"/>
        </p:scale>
        <p:origin x="294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5687C-1E5A-C477-C7A1-D805D43E8C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2F8943-AACD-EA19-9E04-3C6D59BBAB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AD17CB-8AC8-ED3A-547E-C1EB03A8B6D0}"/>
              </a:ext>
            </a:extLst>
          </p:cNvPr>
          <p:cNvSpPr>
            <a:spLocks noGrp="1"/>
          </p:cNvSpPr>
          <p:nvPr>
            <p:ph type="dt" sz="half" idx="10"/>
          </p:nvPr>
        </p:nvSpPr>
        <p:spPr/>
        <p:txBody>
          <a:bodyPr/>
          <a:lstStyle/>
          <a:p>
            <a:fld id="{DE3663BE-23BB-44AC-8300-69C1BB94E401}" type="datetimeFigureOut">
              <a:rPr lang="en-US" smtClean="0"/>
              <a:t>9/28/2026</a:t>
            </a:fld>
            <a:endParaRPr lang="en-US"/>
          </a:p>
        </p:txBody>
      </p:sp>
      <p:sp>
        <p:nvSpPr>
          <p:cNvPr id="5" name="Footer Placeholder 4">
            <a:extLst>
              <a:ext uri="{FF2B5EF4-FFF2-40B4-BE49-F238E27FC236}">
                <a16:creationId xmlns:a16="http://schemas.microsoft.com/office/drawing/2014/main" id="{E87ECE58-FA70-55D2-F16F-C4A9D1C9E6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E32314-C77B-953D-8914-97739BA179A0}"/>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3236184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A31E9-DCAF-E793-8C6B-6A99A91F04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908653-6538-B716-378F-C82B5DE546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C826E1-9A44-03C7-2E0F-30A6F4570F01}"/>
              </a:ext>
            </a:extLst>
          </p:cNvPr>
          <p:cNvSpPr>
            <a:spLocks noGrp="1"/>
          </p:cNvSpPr>
          <p:nvPr>
            <p:ph type="dt" sz="half" idx="10"/>
          </p:nvPr>
        </p:nvSpPr>
        <p:spPr/>
        <p:txBody>
          <a:bodyPr/>
          <a:lstStyle/>
          <a:p>
            <a:fld id="{DE3663BE-23BB-44AC-8300-69C1BB94E401}" type="datetimeFigureOut">
              <a:rPr lang="en-US" smtClean="0"/>
              <a:t>9/28/2026</a:t>
            </a:fld>
            <a:endParaRPr lang="en-US"/>
          </a:p>
        </p:txBody>
      </p:sp>
      <p:sp>
        <p:nvSpPr>
          <p:cNvPr id="5" name="Footer Placeholder 4">
            <a:extLst>
              <a:ext uri="{FF2B5EF4-FFF2-40B4-BE49-F238E27FC236}">
                <a16:creationId xmlns:a16="http://schemas.microsoft.com/office/drawing/2014/main" id="{27943086-0AAC-5CDE-B2F2-60EC643F9E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D95CF3-EC1D-7FC1-41A5-40E1D4A92416}"/>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1537838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C878B-0432-8535-0E1A-E4C90AE4EA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60F1A1-9275-D58A-6EB4-91CE0C64CA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2007C0-63B3-54F9-904F-E42070A91349}"/>
              </a:ext>
            </a:extLst>
          </p:cNvPr>
          <p:cNvSpPr>
            <a:spLocks noGrp="1"/>
          </p:cNvSpPr>
          <p:nvPr>
            <p:ph type="dt" sz="half" idx="10"/>
          </p:nvPr>
        </p:nvSpPr>
        <p:spPr/>
        <p:txBody>
          <a:bodyPr/>
          <a:lstStyle/>
          <a:p>
            <a:fld id="{DE3663BE-23BB-44AC-8300-69C1BB94E401}" type="datetimeFigureOut">
              <a:rPr lang="en-US" smtClean="0"/>
              <a:t>9/28/2026</a:t>
            </a:fld>
            <a:endParaRPr lang="en-US"/>
          </a:p>
        </p:txBody>
      </p:sp>
      <p:sp>
        <p:nvSpPr>
          <p:cNvPr id="5" name="Footer Placeholder 4">
            <a:extLst>
              <a:ext uri="{FF2B5EF4-FFF2-40B4-BE49-F238E27FC236}">
                <a16:creationId xmlns:a16="http://schemas.microsoft.com/office/drawing/2014/main" id="{ED020E03-D442-DD57-5360-F05B00BC33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0F6EDD-FB7C-E427-7642-ECDE9A619483}"/>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93927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6D63E-24A6-D702-38A6-0E5505757D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2E1959-B8A7-70A1-43A1-E001CCBBF1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42FDE8-6AB9-2FF6-5BDA-38A337EBCB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719A55-F482-0EB9-D12E-3770E668F5D5}"/>
              </a:ext>
            </a:extLst>
          </p:cNvPr>
          <p:cNvSpPr>
            <a:spLocks noGrp="1"/>
          </p:cNvSpPr>
          <p:nvPr>
            <p:ph type="dt" sz="half" idx="10"/>
          </p:nvPr>
        </p:nvSpPr>
        <p:spPr/>
        <p:txBody>
          <a:bodyPr/>
          <a:lstStyle/>
          <a:p>
            <a:fld id="{DE3663BE-23BB-44AC-8300-69C1BB94E401}" type="datetimeFigureOut">
              <a:rPr lang="en-US" smtClean="0"/>
              <a:t>9/28/2026</a:t>
            </a:fld>
            <a:endParaRPr lang="en-US"/>
          </a:p>
        </p:txBody>
      </p:sp>
      <p:sp>
        <p:nvSpPr>
          <p:cNvPr id="6" name="Footer Placeholder 5">
            <a:extLst>
              <a:ext uri="{FF2B5EF4-FFF2-40B4-BE49-F238E27FC236}">
                <a16:creationId xmlns:a16="http://schemas.microsoft.com/office/drawing/2014/main" id="{52B09042-0330-DF46-A27A-AAA59BC0AC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7F7E33-BF77-E391-B757-5DDE66A54ABA}"/>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2714434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D586D-3146-76A8-C6D9-5B08A88B3E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C54EF3-1242-E5EB-E9BC-C8412C1D77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1E3CFC-1A67-F8E4-369F-EAA48C34B0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7D1382-280F-6F14-38B0-87122017B5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387FFC-F09D-0089-601D-7238B0C592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45EEDC-6202-C071-2121-B5E34CBAC8F4}"/>
              </a:ext>
            </a:extLst>
          </p:cNvPr>
          <p:cNvSpPr>
            <a:spLocks noGrp="1"/>
          </p:cNvSpPr>
          <p:nvPr>
            <p:ph type="dt" sz="half" idx="10"/>
          </p:nvPr>
        </p:nvSpPr>
        <p:spPr/>
        <p:txBody>
          <a:bodyPr/>
          <a:lstStyle/>
          <a:p>
            <a:fld id="{DE3663BE-23BB-44AC-8300-69C1BB94E401}" type="datetimeFigureOut">
              <a:rPr lang="en-US" smtClean="0"/>
              <a:t>9/28/2026</a:t>
            </a:fld>
            <a:endParaRPr lang="en-US"/>
          </a:p>
        </p:txBody>
      </p:sp>
      <p:sp>
        <p:nvSpPr>
          <p:cNvPr id="8" name="Footer Placeholder 7">
            <a:extLst>
              <a:ext uri="{FF2B5EF4-FFF2-40B4-BE49-F238E27FC236}">
                <a16:creationId xmlns:a16="http://schemas.microsoft.com/office/drawing/2014/main" id="{17BA0365-03D1-70DC-F04E-F0294B18A3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66DAEF-F7C0-8741-EB83-4792E007CC51}"/>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1738718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A50D9-7A88-F828-C289-F66676BEEC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92375D-9E2B-CC09-6F6E-93596AF48B9C}"/>
              </a:ext>
            </a:extLst>
          </p:cNvPr>
          <p:cNvSpPr>
            <a:spLocks noGrp="1"/>
          </p:cNvSpPr>
          <p:nvPr>
            <p:ph type="dt" sz="half" idx="10"/>
          </p:nvPr>
        </p:nvSpPr>
        <p:spPr/>
        <p:txBody>
          <a:bodyPr/>
          <a:lstStyle/>
          <a:p>
            <a:fld id="{DE3663BE-23BB-44AC-8300-69C1BB94E401}" type="datetimeFigureOut">
              <a:rPr lang="en-US" smtClean="0"/>
              <a:t>9/28/2026</a:t>
            </a:fld>
            <a:endParaRPr lang="en-US"/>
          </a:p>
        </p:txBody>
      </p:sp>
      <p:sp>
        <p:nvSpPr>
          <p:cNvPr id="4" name="Footer Placeholder 3">
            <a:extLst>
              <a:ext uri="{FF2B5EF4-FFF2-40B4-BE49-F238E27FC236}">
                <a16:creationId xmlns:a16="http://schemas.microsoft.com/office/drawing/2014/main" id="{17EFC412-3207-866E-A15C-BAB57BBCC37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FC4C2C-D2B2-212E-12AE-6BA752B02D6C}"/>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3980907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1A84D6-7EEB-CBAB-5E30-F2C8C0F95C55}"/>
              </a:ext>
            </a:extLst>
          </p:cNvPr>
          <p:cNvSpPr>
            <a:spLocks noGrp="1"/>
          </p:cNvSpPr>
          <p:nvPr>
            <p:ph type="dt" sz="half" idx="10"/>
          </p:nvPr>
        </p:nvSpPr>
        <p:spPr/>
        <p:txBody>
          <a:bodyPr/>
          <a:lstStyle/>
          <a:p>
            <a:fld id="{DE3663BE-23BB-44AC-8300-69C1BB94E401}" type="datetimeFigureOut">
              <a:rPr lang="en-US" smtClean="0"/>
              <a:t>9/28/2026</a:t>
            </a:fld>
            <a:endParaRPr lang="en-US"/>
          </a:p>
        </p:txBody>
      </p:sp>
      <p:sp>
        <p:nvSpPr>
          <p:cNvPr id="3" name="Footer Placeholder 2">
            <a:extLst>
              <a:ext uri="{FF2B5EF4-FFF2-40B4-BE49-F238E27FC236}">
                <a16:creationId xmlns:a16="http://schemas.microsoft.com/office/drawing/2014/main" id="{3EF0ABE7-3E3C-7EEE-FCDA-12840BCCA9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A6D7AEF-D86E-03D8-BC9D-A941404A07BF}"/>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862449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A753C-0665-4CF1-8762-55799B3C9D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3B7732-F94D-393C-8DBD-C8766C784E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261FA-1E71-B59B-78F5-B694BBF97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F73BCD-7C61-5198-E593-3A182B9A0878}"/>
              </a:ext>
            </a:extLst>
          </p:cNvPr>
          <p:cNvSpPr>
            <a:spLocks noGrp="1"/>
          </p:cNvSpPr>
          <p:nvPr>
            <p:ph type="dt" sz="half" idx="10"/>
          </p:nvPr>
        </p:nvSpPr>
        <p:spPr/>
        <p:txBody>
          <a:bodyPr/>
          <a:lstStyle/>
          <a:p>
            <a:fld id="{DE3663BE-23BB-44AC-8300-69C1BB94E401}" type="datetimeFigureOut">
              <a:rPr lang="en-US" smtClean="0"/>
              <a:t>9/28/2026</a:t>
            </a:fld>
            <a:endParaRPr lang="en-US"/>
          </a:p>
        </p:txBody>
      </p:sp>
      <p:sp>
        <p:nvSpPr>
          <p:cNvPr id="6" name="Footer Placeholder 5">
            <a:extLst>
              <a:ext uri="{FF2B5EF4-FFF2-40B4-BE49-F238E27FC236}">
                <a16:creationId xmlns:a16="http://schemas.microsoft.com/office/drawing/2014/main" id="{02E95019-00FD-3BC8-97E1-CB422847B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A47BC7-98FB-D904-10CF-648944995E94}"/>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2291465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8A15B-BFF2-614A-6536-6C7C912BC3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2C2DDA-B6CA-C31D-914C-371805C1CC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03B10E-CC39-C5B4-873E-4B619DCF48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0CDBCB-AD62-7FA7-926A-44B14F788931}"/>
              </a:ext>
            </a:extLst>
          </p:cNvPr>
          <p:cNvSpPr>
            <a:spLocks noGrp="1"/>
          </p:cNvSpPr>
          <p:nvPr>
            <p:ph type="dt" sz="half" idx="10"/>
          </p:nvPr>
        </p:nvSpPr>
        <p:spPr/>
        <p:txBody>
          <a:bodyPr/>
          <a:lstStyle/>
          <a:p>
            <a:fld id="{DE3663BE-23BB-44AC-8300-69C1BB94E401}" type="datetimeFigureOut">
              <a:rPr lang="en-US" smtClean="0"/>
              <a:t>9/28/2026</a:t>
            </a:fld>
            <a:endParaRPr lang="en-US"/>
          </a:p>
        </p:txBody>
      </p:sp>
      <p:sp>
        <p:nvSpPr>
          <p:cNvPr id="6" name="Footer Placeholder 5">
            <a:extLst>
              <a:ext uri="{FF2B5EF4-FFF2-40B4-BE49-F238E27FC236}">
                <a16:creationId xmlns:a16="http://schemas.microsoft.com/office/drawing/2014/main" id="{6F98F9D4-0E8D-AE44-52A9-503AA321F4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B147FA-CB90-EB80-DE11-6A9F7C2BF974}"/>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2872592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CE119-68F7-B796-12DE-E320C27996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EB10EF-951D-4AC1-08A4-C8ED50E284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0E997F-3A0F-92FD-1F30-0E71ABBD727C}"/>
              </a:ext>
            </a:extLst>
          </p:cNvPr>
          <p:cNvSpPr>
            <a:spLocks noGrp="1"/>
          </p:cNvSpPr>
          <p:nvPr>
            <p:ph type="dt" sz="half" idx="10"/>
          </p:nvPr>
        </p:nvSpPr>
        <p:spPr/>
        <p:txBody>
          <a:bodyPr/>
          <a:lstStyle/>
          <a:p>
            <a:fld id="{DE3663BE-23BB-44AC-8300-69C1BB94E401}" type="datetimeFigureOut">
              <a:rPr lang="en-US" smtClean="0"/>
              <a:t>9/28/2026</a:t>
            </a:fld>
            <a:endParaRPr lang="en-US"/>
          </a:p>
        </p:txBody>
      </p:sp>
      <p:sp>
        <p:nvSpPr>
          <p:cNvPr id="5" name="Footer Placeholder 4">
            <a:extLst>
              <a:ext uri="{FF2B5EF4-FFF2-40B4-BE49-F238E27FC236}">
                <a16:creationId xmlns:a16="http://schemas.microsoft.com/office/drawing/2014/main" id="{A2D34CD9-8D79-0DAC-2FBB-2971D5604B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A2A2E-6926-B019-2AFB-357EEAFFD704}"/>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1957252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518475-86B7-D938-E9AD-0A050582D2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796CFA-43BA-5591-0976-602B82CAED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4EEF37-D0B8-02D3-6CD8-D04049C39335}"/>
              </a:ext>
            </a:extLst>
          </p:cNvPr>
          <p:cNvSpPr>
            <a:spLocks noGrp="1"/>
          </p:cNvSpPr>
          <p:nvPr>
            <p:ph type="dt" sz="half" idx="10"/>
          </p:nvPr>
        </p:nvSpPr>
        <p:spPr/>
        <p:txBody>
          <a:bodyPr/>
          <a:lstStyle/>
          <a:p>
            <a:fld id="{DE3663BE-23BB-44AC-8300-69C1BB94E401}" type="datetimeFigureOut">
              <a:rPr lang="en-US" smtClean="0"/>
              <a:t>9/28/2026</a:t>
            </a:fld>
            <a:endParaRPr lang="en-US"/>
          </a:p>
        </p:txBody>
      </p:sp>
      <p:sp>
        <p:nvSpPr>
          <p:cNvPr id="5" name="Footer Placeholder 4">
            <a:extLst>
              <a:ext uri="{FF2B5EF4-FFF2-40B4-BE49-F238E27FC236}">
                <a16:creationId xmlns:a16="http://schemas.microsoft.com/office/drawing/2014/main" id="{34377E05-1651-C45E-5561-0D73127FDB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4E0C4-6359-7C4D-076E-C8AA2025C676}"/>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2583794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777A6F-F764-852A-9F79-41797AA1C0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6EBFBC-6144-AECD-7E1D-9C3900DFC8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473465-3270-ED92-8A42-776C03DBEF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3663BE-23BB-44AC-8300-69C1BB94E401}" type="datetimeFigureOut">
              <a:rPr lang="en-US" smtClean="0"/>
              <a:t>9/28/2026</a:t>
            </a:fld>
            <a:endParaRPr lang="en-US"/>
          </a:p>
        </p:txBody>
      </p:sp>
      <p:sp>
        <p:nvSpPr>
          <p:cNvPr id="5" name="Footer Placeholder 4">
            <a:extLst>
              <a:ext uri="{FF2B5EF4-FFF2-40B4-BE49-F238E27FC236}">
                <a16:creationId xmlns:a16="http://schemas.microsoft.com/office/drawing/2014/main" id="{A539EF75-7D44-F445-FFCA-AE56C52E1B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6380F5-77E7-058C-FA52-489ED98C3A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7AF755-5B4F-4502-934C-A16B76FE8F7F}" type="slidenum">
              <a:rPr lang="en-US" smtClean="0"/>
              <a:t>‹#›</a:t>
            </a:fld>
            <a:endParaRPr lang="en-US"/>
          </a:p>
        </p:txBody>
      </p:sp>
    </p:spTree>
    <p:extLst>
      <p:ext uri="{BB962C8B-B14F-4D97-AF65-F5344CB8AC3E}">
        <p14:creationId xmlns:p14="http://schemas.microsoft.com/office/powerpoint/2010/main" val="12304961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6301F-E7F0-A12F-DC40-56E5B1B33E82}"/>
              </a:ext>
            </a:extLst>
          </p:cNvPr>
          <p:cNvSpPr>
            <a:spLocks noGrp="1"/>
          </p:cNvSpPr>
          <p:nvPr>
            <p:ph type="ctrTitle"/>
          </p:nvPr>
        </p:nvSpPr>
        <p:spPr>
          <a:xfrm>
            <a:off x="1608306" y="2235200"/>
            <a:ext cx="9144000" cy="2387600"/>
          </a:xfrm>
        </p:spPr>
        <p:txBody>
          <a:bodyPr>
            <a:normAutofit fontScale="90000"/>
          </a:bodyPr>
          <a:lstStyle/>
          <a:p>
            <a:r>
              <a:rPr lang="en-US" dirty="0"/>
              <a:t>How to Do HW 3:</a:t>
            </a:r>
            <a:br>
              <a:rPr lang="en-US" dirty="0"/>
            </a:br>
            <a:r>
              <a:rPr lang="en-US" dirty="0"/>
              <a:t>Simulations </a:t>
            </a:r>
            <a:br>
              <a:rPr lang="en-US" dirty="0"/>
            </a:br>
            <a:r>
              <a:rPr lang="en-US" dirty="0"/>
              <a:t>Using Runge-</a:t>
            </a:r>
            <a:r>
              <a:rPr lang="en-US" dirty="0" err="1"/>
              <a:t>Kutta</a:t>
            </a:r>
            <a:r>
              <a:rPr lang="en-US" dirty="0"/>
              <a:t> Methods </a:t>
            </a:r>
            <a:br>
              <a:rPr lang="en-US" dirty="0"/>
            </a:br>
            <a:r>
              <a:rPr lang="en-US" dirty="0"/>
              <a:t>of the </a:t>
            </a:r>
            <a:br>
              <a:rPr lang="en-US" dirty="0"/>
            </a:br>
            <a:r>
              <a:rPr lang="en-US" dirty="0"/>
              <a:t>Kinematic Bicycle Model</a:t>
            </a:r>
          </a:p>
        </p:txBody>
      </p:sp>
      <p:sp>
        <p:nvSpPr>
          <p:cNvPr id="3" name="Subtitle 2">
            <a:extLst>
              <a:ext uri="{FF2B5EF4-FFF2-40B4-BE49-F238E27FC236}">
                <a16:creationId xmlns:a16="http://schemas.microsoft.com/office/drawing/2014/main" id="{08BEADDF-50CF-7A27-83DD-C721F3BEDE2D}"/>
              </a:ext>
            </a:extLst>
          </p:cNvPr>
          <p:cNvSpPr>
            <a:spLocks noGrp="1"/>
          </p:cNvSpPr>
          <p:nvPr>
            <p:ph type="subTitle" idx="1"/>
          </p:nvPr>
        </p:nvSpPr>
        <p:spPr>
          <a:xfrm>
            <a:off x="1770434" y="5145493"/>
            <a:ext cx="9144000" cy="1655762"/>
          </a:xfrm>
        </p:spPr>
        <p:txBody>
          <a:bodyPr/>
          <a:lstStyle/>
          <a:p>
            <a:r>
              <a:rPr lang="en-US" dirty="0"/>
              <a:t>ME 452 – Vehicle Dynamics, Fall 2026</a:t>
            </a:r>
          </a:p>
        </p:txBody>
      </p:sp>
    </p:spTree>
    <p:extLst>
      <p:ext uri="{BB962C8B-B14F-4D97-AF65-F5344CB8AC3E}">
        <p14:creationId xmlns:p14="http://schemas.microsoft.com/office/powerpoint/2010/main" val="3161519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98E7031-A218-65D9-5D31-E5C35B8076D9}"/>
              </a:ext>
            </a:extLst>
          </p:cNvPr>
          <p:cNvSpPr>
            <a:spLocks noGrp="1"/>
          </p:cNvSpPr>
          <p:nvPr>
            <p:ph type="title"/>
          </p:nvPr>
        </p:nvSpPr>
        <p:spPr>
          <a:xfrm>
            <a:off x="1137034" y="609597"/>
            <a:ext cx="9392421" cy="1330841"/>
          </a:xfrm>
        </p:spPr>
        <p:txBody>
          <a:bodyPr>
            <a:normAutofit/>
          </a:bodyPr>
          <a:lstStyle/>
          <a:p>
            <a:r>
              <a:rPr lang="en-US" dirty="0"/>
              <a:t>First step: create a folder to work from for this homework (HW3 in this example)</a:t>
            </a:r>
          </a:p>
        </p:txBody>
      </p:sp>
      <p:sp>
        <p:nvSpPr>
          <p:cNvPr id="3" name="Content Placeholder 2">
            <a:extLst>
              <a:ext uri="{FF2B5EF4-FFF2-40B4-BE49-F238E27FC236}">
                <a16:creationId xmlns:a16="http://schemas.microsoft.com/office/drawing/2014/main" id="{7D0505B6-A811-9C59-92B0-5657B36A033B}"/>
              </a:ext>
            </a:extLst>
          </p:cNvPr>
          <p:cNvSpPr>
            <a:spLocks noGrp="1"/>
          </p:cNvSpPr>
          <p:nvPr>
            <p:ph idx="1"/>
          </p:nvPr>
        </p:nvSpPr>
        <p:spPr>
          <a:xfrm>
            <a:off x="1137034" y="2198362"/>
            <a:ext cx="4958966" cy="3917773"/>
          </a:xfrm>
        </p:spPr>
        <p:txBody>
          <a:bodyPr>
            <a:normAutofit/>
          </a:bodyPr>
          <a:lstStyle/>
          <a:p>
            <a:pPr marL="0" indent="0">
              <a:buNone/>
            </a:pPr>
            <a:r>
              <a:rPr lang="en-US" sz="1900"/>
              <a:t>In the homework assignments, we will need a place to save our scripts and, later, our own functions. By default, the “Assignments” folder and all subfolders that exist when running the main script are set to be visible to MATLAB. The suggestion for this assignment, and all future assignments, is to keep each assignment’s scripts, folders, data files in a sub-folder within each assignment. It’s suggested that the name match your Canvas student number and indicate which homework is being completed. For example, see the folder for Dr. B whose number is 9000000</a:t>
            </a:r>
          </a:p>
        </p:txBody>
      </p:sp>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Picture 7">
            <a:extLst>
              <a:ext uri="{FF2B5EF4-FFF2-40B4-BE49-F238E27FC236}">
                <a16:creationId xmlns:a16="http://schemas.microsoft.com/office/drawing/2014/main" id="{DBC534B9-DDE5-41EC-AA56-C5E69651F153}"/>
              </a:ext>
            </a:extLst>
          </p:cNvPr>
          <p:cNvPicPr>
            <a:picLocks noChangeAspect="1"/>
          </p:cNvPicPr>
          <p:nvPr/>
        </p:nvPicPr>
        <p:blipFill>
          <a:blip r:embed="rId2"/>
          <a:stretch>
            <a:fillRect/>
          </a:stretch>
        </p:blipFill>
        <p:spPr>
          <a:xfrm>
            <a:off x="6299003" y="2254250"/>
            <a:ext cx="4755963" cy="2112321"/>
          </a:xfrm>
          <a:prstGeom prst="rect">
            <a:avLst/>
          </a:prstGeom>
        </p:spPr>
      </p:pic>
    </p:spTree>
    <p:extLst>
      <p:ext uri="{BB962C8B-B14F-4D97-AF65-F5344CB8AC3E}">
        <p14:creationId xmlns:p14="http://schemas.microsoft.com/office/powerpoint/2010/main" val="162571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80ED64-4363-0A61-75BE-8546ABF7B2FD}"/>
              </a:ext>
            </a:extLst>
          </p:cNvPr>
          <p:cNvSpPr>
            <a:spLocks noGrp="1"/>
          </p:cNvSpPr>
          <p:nvPr>
            <p:ph type="title"/>
          </p:nvPr>
        </p:nvSpPr>
        <p:spPr>
          <a:xfrm>
            <a:off x="630935" y="639520"/>
            <a:ext cx="4299949" cy="1719072"/>
          </a:xfrm>
        </p:spPr>
        <p:txBody>
          <a:bodyPr anchor="b">
            <a:normAutofit fontScale="90000"/>
          </a:bodyPr>
          <a:lstStyle/>
          <a:p>
            <a:r>
              <a:rPr lang="en-US" sz="2600" dirty="0"/>
              <a:t>Unlike in previous assignments where scripts were given, in this assignment we ask students to use an existing script and copy/paste from it into their own scripts</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7E51537-F3CA-CBB4-3925-84A2B394EC1C}"/>
              </a:ext>
            </a:extLst>
          </p:cNvPr>
          <p:cNvSpPr>
            <a:spLocks noGrp="1"/>
          </p:cNvSpPr>
          <p:nvPr>
            <p:ph idx="1"/>
          </p:nvPr>
        </p:nvSpPr>
        <p:spPr>
          <a:xfrm>
            <a:off x="630936" y="2807208"/>
            <a:ext cx="4061714" cy="3860292"/>
          </a:xfrm>
        </p:spPr>
        <p:txBody>
          <a:bodyPr anchor="t">
            <a:normAutofit/>
          </a:bodyPr>
          <a:lstStyle/>
          <a:p>
            <a:pPr marL="0" indent="0">
              <a:buNone/>
            </a:pPr>
            <a:r>
              <a:rPr lang="en-US" sz="2200" dirty="0"/>
              <a:t>The scripts that show how to use various vehicle dynamic simulations are in the “Utilities” subfolder, specifically in the Vehicle Dynamic codes (called a “class” of codes). The name is “</a:t>
            </a:r>
            <a:r>
              <a:rPr lang="en-US" sz="2200" dirty="0" err="1"/>
              <a:t>VDClass</a:t>
            </a:r>
            <a:r>
              <a:rPr lang="en-US" sz="2200" dirty="0"/>
              <a:t>” with the date of the most recent version. See the example at right:</a:t>
            </a:r>
          </a:p>
        </p:txBody>
      </p:sp>
      <p:pic>
        <p:nvPicPr>
          <p:cNvPr id="5" name="Picture 4">
            <a:extLst>
              <a:ext uri="{FF2B5EF4-FFF2-40B4-BE49-F238E27FC236}">
                <a16:creationId xmlns:a16="http://schemas.microsoft.com/office/drawing/2014/main" id="{2D2CA6BB-B2F5-3475-F541-80ACEA9571B3}"/>
              </a:ext>
            </a:extLst>
          </p:cNvPr>
          <p:cNvPicPr>
            <a:picLocks noChangeAspect="1"/>
          </p:cNvPicPr>
          <p:nvPr/>
        </p:nvPicPr>
        <p:blipFill>
          <a:blip r:embed="rId2"/>
          <a:stretch>
            <a:fillRect/>
          </a:stretch>
        </p:blipFill>
        <p:spPr>
          <a:xfrm>
            <a:off x="5675002" y="499733"/>
            <a:ext cx="6011114" cy="4715533"/>
          </a:xfrm>
          <a:prstGeom prst="rect">
            <a:avLst/>
          </a:prstGeom>
        </p:spPr>
      </p:pic>
      <p:sp>
        <p:nvSpPr>
          <p:cNvPr id="6" name="Rectangle 5">
            <a:extLst>
              <a:ext uri="{FF2B5EF4-FFF2-40B4-BE49-F238E27FC236}">
                <a16:creationId xmlns:a16="http://schemas.microsoft.com/office/drawing/2014/main" id="{5239841E-E0EF-3EDD-43C5-9D53BA14F29C}"/>
              </a:ext>
            </a:extLst>
          </p:cNvPr>
          <p:cNvSpPr/>
          <p:nvPr/>
        </p:nvSpPr>
        <p:spPr>
          <a:xfrm>
            <a:off x="6707513" y="906881"/>
            <a:ext cx="2260600" cy="311150"/>
          </a:xfrm>
          <a:prstGeom prst="rect">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5137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7CD45-4DA9-AABD-AA3C-A74D20ACA11F}"/>
              </a:ext>
            </a:extLst>
          </p:cNvPr>
          <p:cNvSpPr>
            <a:spLocks noGrp="1"/>
          </p:cNvSpPr>
          <p:nvPr>
            <p:ph type="title"/>
          </p:nvPr>
        </p:nvSpPr>
        <p:spPr/>
        <p:txBody>
          <a:bodyPr/>
          <a:lstStyle/>
          <a:p>
            <a:r>
              <a:rPr lang="en-US" dirty="0"/>
              <a:t>The scripts we will use in this semester can be found in the “Functions” subfolder. </a:t>
            </a:r>
          </a:p>
        </p:txBody>
      </p:sp>
      <p:sp>
        <p:nvSpPr>
          <p:cNvPr id="3" name="Content Placeholder 2">
            <a:extLst>
              <a:ext uri="{FF2B5EF4-FFF2-40B4-BE49-F238E27FC236}">
                <a16:creationId xmlns:a16="http://schemas.microsoft.com/office/drawing/2014/main" id="{087E69A0-3A34-0114-DB2D-882E5E22C86F}"/>
              </a:ext>
            </a:extLst>
          </p:cNvPr>
          <p:cNvSpPr>
            <a:spLocks noGrp="1"/>
          </p:cNvSpPr>
          <p:nvPr>
            <p:ph idx="1"/>
          </p:nvPr>
        </p:nvSpPr>
        <p:spPr>
          <a:xfrm>
            <a:off x="838200" y="1825624"/>
            <a:ext cx="10515600" cy="4791075"/>
          </a:xfrm>
        </p:spPr>
        <p:txBody>
          <a:bodyPr>
            <a:normAutofit/>
          </a:bodyPr>
          <a:lstStyle/>
          <a:p>
            <a:pPr marL="0" indent="0">
              <a:buNone/>
            </a:pPr>
            <a:r>
              <a:rPr lang="en-US" dirty="0"/>
              <a:t>There’s a folder for each type of model. Note: this is an active area of research in Dr. B’s group, so the list grows and changes even throughout the semester. There are generally 3 types of codes for each type of model:</a:t>
            </a:r>
          </a:p>
          <a:p>
            <a:pPr marL="514350" indent="-514350">
              <a:buAutoNum type="arabicPeriod"/>
            </a:pPr>
            <a:r>
              <a:rPr lang="en-US" dirty="0"/>
              <a:t>MATLAB Runge-</a:t>
            </a:r>
            <a:r>
              <a:rPr lang="en-US" dirty="0" err="1"/>
              <a:t>Kutta</a:t>
            </a:r>
            <a:r>
              <a:rPr lang="en-US" dirty="0"/>
              <a:t> </a:t>
            </a:r>
            <a:r>
              <a:rPr lang="en-US" dirty="0">
                <a:sym typeface="Wingdings" panose="05000000000000000000" pitchFamily="2" charset="2"/>
              </a:rPr>
              <a:t> We’ll use these primarily (easiest)</a:t>
            </a:r>
            <a:endParaRPr lang="en-US" dirty="0"/>
          </a:p>
          <a:p>
            <a:pPr marL="514350" indent="-514350">
              <a:buAutoNum type="arabicPeriod"/>
            </a:pPr>
            <a:r>
              <a:rPr lang="en-US" dirty="0"/>
              <a:t>Simulink Runge-</a:t>
            </a:r>
            <a:r>
              <a:rPr lang="en-US" dirty="0" err="1"/>
              <a:t>Kutta</a:t>
            </a:r>
            <a:endParaRPr lang="en-US" dirty="0"/>
          </a:p>
          <a:p>
            <a:pPr marL="514350" indent="-514350">
              <a:buAutoNum type="arabicPeriod"/>
            </a:pPr>
            <a:r>
              <a:rPr lang="en-US" dirty="0"/>
              <a:t>Python codes (these are for real-time implementations)</a:t>
            </a:r>
          </a:p>
          <a:p>
            <a:pPr marL="0" indent="0">
              <a:buNone/>
            </a:pPr>
            <a:r>
              <a:rPr lang="en-US" dirty="0"/>
              <a:t>There is a subfolder of Comparison Scripts that run the MATLAB and Simulink versions side-by-side to show that they give exactly the same results</a:t>
            </a:r>
          </a:p>
        </p:txBody>
      </p:sp>
    </p:spTree>
    <p:extLst>
      <p:ext uri="{BB962C8B-B14F-4D97-AF65-F5344CB8AC3E}">
        <p14:creationId xmlns:p14="http://schemas.microsoft.com/office/powerpoint/2010/main" val="1760455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99502-1CE7-A196-E2FC-9FC8B7A36B44}"/>
              </a:ext>
            </a:extLst>
          </p:cNvPr>
          <p:cNvSpPr>
            <a:spLocks noGrp="1"/>
          </p:cNvSpPr>
          <p:nvPr>
            <p:ph type="title"/>
          </p:nvPr>
        </p:nvSpPr>
        <p:spPr/>
        <p:txBody>
          <a:bodyPr/>
          <a:lstStyle/>
          <a:p>
            <a:r>
              <a:rPr lang="en-US" dirty="0"/>
              <a:t>The scripts we will use for this homework are those for the kinematic bicycle model</a:t>
            </a:r>
          </a:p>
        </p:txBody>
      </p:sp>
      <p:sp>
        <p:nvSpPr>
          <p:cNvPr id="3" name="Content Placeholder 2">
            <a:extLst>
              <a:ext uri="{FF2B5EF4-FFF2-40B4-BE49-F238E27FC236}">
                <a16:creationId xmlns:a16="http://schemas.microsoft.com/office/drawing/2014/main" id="{E0748F8E-5E8D-06CB-7F34-7A410FBE1EAE}"/>
              </a:ext>
            </a:extLst>
          </p:cNvPr>
          <p:cNvSpPr>
            <a:spLocks noGrp="1"/>
          </p:cNvSpPr>
          <p:nvPr>
            <p:ph idx="1"/>
          </p:nvPr>
        </p:nvSpPr>
        <p:spPr>
          <a:xfrm>
            <a:off x="838200" y="1825625"/>
            <a:ext cx="6026150" cy="4351338"/>
          </a:xfrm>
        </p:spPr>
        <p:txBody>
          <a:bodyPr/>
          <a:lstStyle/>
          <a:p>
            <a:pPr marL="0" indent="0">
              <a:buNone/>
            </a:pPr>
            <a:r>
              <a:rPr lang="en-US" dirty="0"/>
              <a:t>This is a model of the 2-wheel vehicle (the “bicycle” model) driving at very low speeds such that no tires slip. It is kinematic because we can solve for the position of the vehicle without using dynamics (Newton’s laws). It can be found in the sub-folder of the same name</a:t>
            </a:r>
          </a:p>
        </p:txBody>
      </p:sp>
      <p:pic>
        <p:nvPicPr>
          <p:cNvPr id="5" name="Picture 4">
            <a:extLst>
              <a:ext uri="{FF2B5EF4-FFF2-40B4-BE49-F238E27FC236}">
                <a16:creationId xmlns:a16="http://schemas.microsoft.com/office/drawing/2014/main" id="{834D39A4-7C90-9238-2139-5A0610D7FF03}"/>
              </a:ext>
            </a:extLst>
          </p:cNvPr>
          <p:cNvPicPr>
            <a:picLocks noChangeAspect="1"/>
          </p:cNvPicPr>
          <p:nvPr/>
        </p:nvPicPr>
        <p:blipFill>
          <a:blip r:embed="rId2"/>
          <a:stretch>
            <a:fillRect/>
          </a:stretch>
        </p:blipFill>
        <p:spPr>
          <a:xfrm>
            <a:off x="7081172" y="1892300"/>
            <a:ext cx="4356017" cy="2750080"/>
          </a:xfrm>
          <a:prstGeom prst="rect">
            <a:avLst/>
          </a:prstGeom>
        </p:spPr>
      </p:pic>
    </p:spTree>
    <p:extLst>
      <p:ext uri="{BB962C8B-B14F-4D97-AF65-F5344CB8AC3E}">
        <p14:creationId xmlns:p14="http://schemas.microsoft.com/office/powerpoint/2010/main" val="1045471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99502-1CE7-A196-E2FC-9FC8B7A36B44}"/>
              </a:ext>
            </a:extLst>
          </p:cNvPr>
          <p:cNvSpPr>
            <a:spLocks noGrp="1"/>
          </p:cNvSpPr>
          <p:nvPr>
            <p:ph type="title"/>
          </p:nvPr>
        </p:nvSpPr>
        <p:spPr/>
        <p:txBody>
          <a:bodyPr/>
          <a:lstStyle/>
          <a:p>
            <a:r>
              <a:rPr lang="en-US" dirty="0"/>
              <a:t>The specific script we want to grab code from is in the “</a:t>
            </a:r>
            <a:r>
              <a:rPr lang="en-US" dirty="0" err="1"/>
              <a:t>script_test</a:t>
            </a:r>
            <a:r>
              <a:rPr lang="en-US" dirty="0"/>
              <a:t>_....” file.</a:t>
            </a:r>
          </a:p>
        </p:txBody>
      </p:sp>
      <p:sp>
        <p:nvSpPr>
          <p:cNvPr id="3" name="Content Placeholder 2">
            <a:extLst>
              <a:ext uri="{FF2B5EF4-FFF2-40B4-BE49-F238E27FC236}">
                <a16:creationId xmlns:a16="http://schemas.microsoft.com/office/drawing/2014/main" id="{E0748F8E-5E8D-06CB-7F34-7A410FBE1EAE}"/>
              </a:ext>
            </a:extLst>
          </p:cNvPr>
          <p:cNvSpPr>
            <a:spLocks noGrp="1"/>
          </p:cNvSpPr>
          <p:nvPr>
            <p:ph idx="1"/>
          </p:nvPr>
        </p:nvSpPr>
        <p:spPr>
          <a:xfrm>
            <a:off x="838200" y="1825625"/>
            <a:ext cx="6026150" cy="4351338"/>
          </a:xfrm>
        </p:spPr>
        <p:txBody>
          <a:bodyPr/>
          <a:lstStyle/>
          <a:p>
            <a:pPr marL="0" indent="0">
              <a:buNone/>
            </a:pPr>
            <a:r>
              <a:rPr lang="en-US" dirty="0"/>
              <a:t>See:</a:t>
            </a:r>
            <a:br>
              <a:rPr lang="en-US" dirty="0"/>
            </a:br>
            <a:r>
              <a:rPr lang="en-US" dirty="0"/>
              <a:t>script_test_fcn_VD_kinematicBicycleModelRK4</a:t>
            </a:r>
          </a:p>
        </p:txBody>
      </p:sp>
      <p:pic>
        <p:nvPicPr>
          <p:cNvPr id="6" name="Picture 5">
            <a:extLst>
              <a:ext uri="{FF2B5EF4-FFF2-40B4-BE49-F238E27FC236}">
                <a16:creationId xmlns:a16="http://schemas.microsoft.com/office/drawing/2014/main" id="{96BC9308-3801-35A4-BC50-DA1BC1384443}"/>
              </a:ext>
            </a:extLst>
          </p:cNvPr>
          <p:cNvPicPr>
            <a:picLocks noChangeAspect="1"/>
          </p:cNvPicPr>
          <p:nvPr/>
        </p:nvPicPr>
        <p:blipFill>
          <a:blip r:embed="rId2"/>
          <a:stretch>
            <a:fillRect/>
          </a:stretch>
        </p:blipFill>
        <p:spPr>
          <a:xfrm>
            <a:off x="3133136" y="2996950"/>
            <a:ext cx="8440328" cy="3581900"/>
          </a:xfrm>
          <a:prstGeom prst="rect">
            <a:avLst/>
          </a:prstGeom>
        </p:spPr>
      </p:pic>
    </p:spTree>
    <p:extLst>
      <p:ext uri="{BB962C8B-B14F-4D97-AF65-F5344CB8AC3E}">
        <p14:creationId xmlns:p14="http://schemas.microsoft.com/office/powerpoint/2010/main" val="337914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BE8FD-0302-2E10-658E-07DA9A9B5CFD}"/>
              </a:ext>
            </a:extLst>
          </p:cNvPr>
          <p:cNvSpPr>
            <a:spLocks noGrp="1"/>
          </p:cNvSpPr>
          <p:nvPr>
            <p:ph type="title"/>
          </p:nvPr>
        </p:nvSpPr>
        <p:spPr/>
        <p:txBody>
          <a:bodyPr>
            <a:normAutofit fontScale="90000"/>
          </a:bodyPr>
          <a:lstStyle/>
          <a:p>
            <a:r>
              <a:rPr lang="en-US" dirty="0"/>
              <a:t>Assuming you have already run the main 2026Fall script (which installs this library), you should be able to run the script.</a:t>
            </a:r>
          </a:p>
        </p:txBody>
      </p:sp>
      <p:sp>
        <p:nvSpPr>
          <p:cNvPr id="3" name="Content Placeholder 2">
            <a:extLst>
              <a:ext uri="{FF2B5EF4-FFF2-40B4-BE49-F238E27FC236}">
                <a16:creationId xmlns:a16="http://schemas.microsoft.com/office/drawing/2014/main" id="{3479C817-40A7-491A-4088-8B06FA63B20B}"/>
              </a:ext>
            </a:extLst>
          </p:cNvPr>
          <p:cNvSpPr>
            <a:spLocks noGrp="1"/>
          </p:cNvSpPr>
          <p:nvPr>
            <p:ph idx="1"/>
          </p:nvPr>
        </p:nvSpPr>
        <p:spPr>
          <a:xfrm>
            <a:off x="838200" y="1825625"/>
            <a:ext cx="6286500" cy="4351338"/>
          </a:xfrm>
        </p:spPr>
        <p:txBody>
          <a:bodyPr/>
          <a:lstStyle/>
          <a:p>
            <a:pPr marL="0" indent="0">
              <a:buNone/>
            </a:pPr>
            <a:r>
              <a:rPr lang="en-US" dirty="0"/>
              <a:t>Each section performs a different demonstration or test of the code, and the final section compares the speed of the code between two variations, a fast and slow mode. The difference is that the fast mode skips some tests in the code that make sure the inputs are correct. We can see the code runs in about 3 </a:t>
            </a:r>
            <a:r>
              <a:rPr lang="en-US" dirty="0" err="1"/>
              <a:t>ms</a:t>
            </a:r>
            <a:r>
              <a:rPr lang="en-US" dirty="0"/>
              <a:t> on Dr. B’s computer.</a:t>
            </a:r>
          </a:p>
        </p:txBody>
      </p:sp>
      <p:pic>
        <p:nvPicPr>
          <p:cNvPr id="5" name="Picture 4">
            <a:extLst>
              <a:ext uri="{FF2B5EF4-FFF2-40B4-BE49-F238E27FC236}">
                <a16:creationId xmlns:a16="http://schemas.microsoft.com/office/drawing/2014/main" id="{E118C860-BE2F-9CC8-E0D0-6D500E8F4BB9}"/>
              </a:ext>
            </a:extLst>
          </p:cNvPr>
          <p:cNvPicPr>
            <a:picLocks noChangeAspect="1"/>
          </p:cNvPicPr>
          <p:nvPr/>
        </p:nvPicPr>
        <p:blipFill>
          <a:blip r:embed="rId2"/>
          <a:stretch>
            <a:fillRect/>
          </a:stretch>
        </p:blipFill>
        <p:spPr>
          <a:xfrm>
            <a:off x="7425271" y="2178050"/>
            <a:ext cx="4388745" cy="2763838"/>
          </a:xfrm>
          <a:prstGeom prst="rect">
            <a:avLst/>
          </a:prstGeom>
        </p:spPr>
      </p:pic>
    </p:spTree>
    <p:extLst>
      <p:ext uri="{BB962C8B-B14F-4D97-AF65-F5344CB8AC3E}">
        <p14:creationId xmlns:p14="http://schemas.microsoft.com/office/powerpoint/2010/main" val="1524036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FA081-0BB0-D3EA-B663-8B420F70F910}"/>
              </a:ext>
            </a:extLst>
          </p:cNvPr>
          <p:cNvSpPr>
            <a:spLocks noGrp="1"/>
          </p:cNvSpPr>
          <p:nvPr>
            <p:ph type="title"/>
          </p:nvPr>
        </p:nvSpPr>
        <p:spPr/>
        <p:txBody>
          <a:bodyPr>
            <a:normAutofit fontScale="90000"/>
          </a:bodyPr>
          <a:lstStyle/>
          <a:p>
            <a:r>
              <a:rPr lang="en-US" dirty="0"/>
              <a:t>Each section of code has “assertions”. These are tests in the code that check that the outputs of the code are exactly as they should be.</a:t>
            </a:r>
          </a:p>
        </p:txBody>
      </p:sp>
      <p:sp>
        <p:nvSpPr>
          <p:cNvPr id="3" name="Content Placeholder 2">
            <a:extLst>
              <a:ext uri="{FF2B5EF4-FFF2-40B4-BE49-F238E27FC236}">
                <a16:creationId xmlns:a16="http://schemas.microsoft.com/office/drawing/2014/main" id="{135AF25C-DF6E-BA9D-CAFE-BD560DE8603B}"/>
              </a:ext>
            </a:extLst>
          </p:cNvPr>
          <p:cNvSpPr>
            <a:spLocks noGrp="1"/>
          </p:cNvSpPr>
          <p:nvPr>
            <p:ph idx="1"/>
          </p:nvPr>
        </p:nvSpPr>
        <p:spPr>
          <a:xfrm>
            <a:off x="838200" y="1825625"/>
            <a:ext cx="7759700" cy="4351338"/>
          </a:xfrm>
        </p:spPr>
        <p:txBody>
          <a:bodyPr/>
          <a:lstStyle/>
          <a:p>
            <a:pPr marL="0" indent="0">
              <a:buNone/>
            </a:pPr>
            <a:r>
              <a:rPr lang="en-US" dirty="0"/>
              <a:t>This is VERY good programming practice. Quite often, someone will change a script to fix a bug, but the “fix” breaks the code in other ways. The assertions confirm that, for all the ways the code is expected to work (called “tests”), the code passes. </a:t>
            </a:r>
            <a:br>
              <a:rPr lang="en-US" dirty="0"/>
            </a:br>
            <a:br>
              <a:rPr lang="en-US" dirty="0"/>
            </a:br>
            <a:r>
              <a:rPr lang="en-US" dirty="0"/>
              <a:t>For example: for production codes for autonomous vehicles, each code set may have to pass millions of tests before release.</a:t>
            </a:r>
          </a:p>
        </p:txBody>
      </p:sp>
      <p:pic>
        <p:nvPicPr>
          <p:cNvPr id="5" name="Picture 4">
            <a:extLst>
              <a:ext uri="{FF2B5EF4-FFF2-40B4-BE49-F238E27FC236}">
                <a16:creationId xmlns:a16="http://schemas.microsoft.com/office/drawing/2014/main" id="{BFA5858F-5954-273E-337D-B717F55FBE06}"/>
              </a:ext>
            </a:extLst>
          </p:cNvPr>
          <p:cNvPicPr>
            <a:picLocks noChangeAspect="1"/>
          </p:cNvPicPr>
          <p:nvPr/>
        </p:nvPicPr>
        <p:blipFill>
          <a:blip r:embed="rId2"/>
          <a:stretch>
            <a:fillRect/>
          </a:stretch>
        </p:blipFill>
        <p:spPr>
          <a:xfrm>
            <a:off x="8516238" y="1511300"/>
            <a:ext cx="3549783" cy="4000500"/>
          </a:xfrm>
          <a:prstGeom prst="rect">
            <a:avLst/>
          </a:prstGeom>
        </p:spPr>
      </p:pic>
      <p:sp>
        <p:nvSpPr>
          <p:cNvPr id="7" name="Rectangle 6">
            <a:extLst>
              <a:ext uri="{FF2B5EF4-FFF2-40B4-BE49-F238E27FC236}">
                <a16:creationId xmlns:a16="http://schemas.microsoft.com/office/drawing/2014/main" id="{6660F990-954B-2C38-E97E-C79A70F94A60}"/>
              </a:ext>
            </a:extLst>
          </p:cNvPr>
          <p:cNvSpPr/>
          <p:nvPr/>
        </p:nvSpPr>
        <p:spPr>
          <a:xfrm flipV="1">
            <a:off x="8718550" y="4464050"/>
            <a:ext cx="1670050" cy="882650"/>
          </a:xfrm>
          <a:prstGeom prst="rect">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3734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2B896-7B79-1C20-C353-2329A194646D}"/>
              </a:ext>
            </a:extLst>
          </p:cNvPr>
          <p:cNvSpPr>
            <a:spLocks noGrp="1"/>
          </p:cNvSpPr>
          <p:nvPr>
            <p:ph type="title"/>
          </p:nvPr>
        </p:nvSpPr>
        <p:spPr/>
        <p:txBody>
          <a:bodyPr/>
          <a:lstStyle/>
          <a:p>
            <a:r>
              <a:rPr lang="en-US" dirty="0"/>
              <a:t>Lesson: if our code does not have tests, it is not ready for use on a vehicle</a:t>
            </a:r>
          </a:p>
        </p:txBody>
      </p:sp>
      <p:sp>
        <p:nvSpPr>
          <p:cNvPr id="3" name="Content Placeholder 2">
            <a:extLst>
              <a:ext uri="{FF2B5EF4-FFF2-40B4-BE49-F238E27FC236}">
                <a16:creationId xmlns:a16="http://schemas.microsoft.com/office/drawing/2014/main" id="{803A4AFA-5AB5-6D4D-9525-B505B1607D6E}"/>
              </a:ext>
            </a:extLst>
          </p:cNvPr>
          <p:cNvSpPr>
            <a:spLocks noGrp="1"/>
          </p:cNvSpPr>
          <p:nvPr>
            <p:ph idx="1"/>
          </p:nvPr>
        </p:nvSpPr>
        <p:spPr>
          <a:xfrm>
            <a:off x="838200" y="1825625"/>
            <a:ext cx="5422900" cy="4351338"/>
          </a:xfrm>
        </p:spPr>
        <p:txBody>
          <a:bodyPr>
            <a:normAutofit fontScale="85000" lnSpcReduction="20000"/>
          </a:bodyPr>
          <a:lstStyle/>
          <a:p>
            <a:pPr marL="0" indent="0">
              <a:buNone/>
            </a:pPr>
            <a:r>
              <a:rPr lang="en-US" dirty="0"/>
              <a:t>The most basic types of tests are shown here:</a:t>
            </a:r>
          </a:p>
          <a:p>
            <a:pPr marL="514350" indent="-514350">
              <a:buAutoNum type="arabicParenR"/>
            </a:pPr>
            <a:r>
              <a:rPr lang="en-US" dirty="0"/>
              <a:t>Types: Make sure the output is of the right type (integers, strings, logical)</a:t>
            </a:r>
          </a:p>
          <a:p>
            <a:pPr marL="514350" indent="-514350">
              <a:buAutoNum type="arabicParenR"/>
            </a:pPr>
            <a:r>
              <a:rPr lang="en-US" dirty="0"/>
              <a:t>Sizes: Make sure the output is of the right size using the “size” command (an array of 2 rows and 10 columns, for example) </a:t>
            </a:r>
          </a:p>
          <a:p>
            <a:pPr marL="514350" indent="-514350">
              <a:buAutoNum type="arabicParenR"/>
            </a:pPr>
            <a:r>
              <a:rPr lang="en-US" dirty="0"/>
              <a:t>Values: Make sure the values of the outputs are as expected (for example: a function that “adds” gives a value of 4 when asked to perform 2+2)</a:t>
            </a:r>
          </a:p>
        </p:txBody>
      </p:sp>
      <p:pic>
        <p:nvPicPr>
          <p:cNvPr id="7" name="Picture 6">
            <a:extLst>
              <a:ext uri="{FF2B5EF4-FFF2-40B4-BE49-F238E27FC236}">
                <a16:creationId xmlns:a16="http://schemas.microsoft.com/office/drawing/2014/main" id="{0E955174-02A5-46A5-93E4-6A6EFCAB3C55}"/>
              </a:ext>
            </a:extLst>
          </p:cNvPr>
          <p:cNvPicPr>
            <a:picLocks noChangeAspect="1"/>
          </p:cNvPicPr>
          <p:nvPr/>
        </p:nvPicPr>
        <p:blipFill>
          <a:blip r:embed="rId2"/>
          <a:stretch>
            <a:fillRect/>
          </a:stretch>
        </p:blipFill>
        <p:spPr>
          <a:xfrm>
            <a:off x="8516238" y="1511300"/>
            <a:ext cx="3549783" cy="4000500"/>
          </a:xfrm>
          <a:prstGeom prst="rect">
            <a:avLst/>
          </a:prstGeom>
        </p:spPr>
      </p:pic>
      <p:sp>
        <p:nvSpPr>
          <p:cNvPr id="9" name="Rectangle 8">
            <a:extLst>
              <a:ext uri="{FF2B5EF4-FFF2-40B4-BE49-F238E27FC236}">
                <a16:creationId xmlns:a16="http://schemas.microsoft.com/office/drawing/2014/main" id="{0E9A8094-A050-6C14-C723-FFBCE90FF01E}"/>
              </a:ext>
            </a:extLst>
          </p:cNvPr>
          <p:cNvSpPr/>
          <p:nvPr/>
        </p:nvSpPr>
        <p:spPr>
          <a:xfrm flipV="1">
            <a:off x="8718550" y="4464050"/>
            <a:ext cx="1670050" cy="882650"/>
          </a:xfrm>
          <a:prstGeom prst="rect">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4900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26B0-2318-95FC-CA94-4A144F2E12E5}"/>
              </a:ext>
            </a:extLst>
          </p:cNvPr>
          <p:cNvSpPr>
            <a:spLocks noGrp="1"/>
          </p:cNvSpPr>
          <p:nvPr>
            <p:ph type="title"/>
          </p:nvPr>
        </p:nvSpPr>
        <p:spPr/>
        <p:txBody>
          <a:bodyPr/>
          <a:lstStyle/>
          <a:p>
            <a:r>
              <a:rPr lang="en-US" dirty="0"/>
              <a:t>The “basic call” section can be run by itself by clicking into it and running “run section” at top</a:t>
            </a:r>
          </a:p>
        </p:txBody>
      </p:sp>
      <p:sp>
        <p:nvSpPr>
          <p:cNvPr id="3" name="Content Placeholder 2">
            <a:extLst>
              <a:ext uri="{FF2B5EF4-FFF2-40B4-BE49-F238E27FC236}">
                <a16:creationId xmlns:a16="http://schemas.microsoft.com/office/drawing/2014/main" id="{F17552B4-DB04-6F00-2EEA-66E892860860}"/>
              </a:ext>
            </a:extLst>
          </p:cNvPr>
          <p:cNvSpPr>
            <a:spLocks noGrp="1"/>
          </p:cNvSpPr>
          <p:nvPr>
            <p:ph idx="1"/>
          </p:nvPr>
        </p:nvSpPr>
        <p:spPr/>
        <p:txBody>
          <a:bodyPr/>
          <a:lstStyle/>
          <a:p>
            <a:pPr marL="0" indent="0">
              <a:buNone/>
            </a:pPr>
            <a:r>
              <a:rPr lang="en-US" dirty="0"/>
              <a:t>It produces a plot of the vehicle following a sinewave steering input</a:t>
            </a:r>
          </a:p>
        </p:txBody>
      </p:sp>
      <p:pic>
        <p:nvPicPr>
          <p:cNvPr id="5" name="Picture 4">
            <a:extLst>
              <a:ext uri="{FF2B5EF4-FFF2-40B4-BE49-F238E27FC236}">
                <a16:creationId xmlns:a16="http://schemas.microsoft.com/office/drawing/2014/main" id="{FF186F20-6EF5-81D6-C9BF-C4489D90538A}"/>
              </a:ext>
            </a:extLst>
          </p:cNvPr>
          <p:cNvPicPr>
            <a:picLocks noChangeAspect="1"/>
          </p:cNvPicPr>
          <p:nvPr/>
        </p:nvPicPr>
        <p:blipFill>
          <a:blip r:embed="rId2"/>
          <a:stretch>
            <a:fillRect/>
          </a:stretch>
        </p:blipFill>
        <p:spPr>
          <a:xfrm>
            <a:off x="908938" y="2647950"/>
            <a:ext cx="4169586" cy="4699000"/>
          </a:xfrm>
          <a:prstGeom prst="rect">
            <a:avLst/>
          </a:prstGeom>
        </p:spPr>
      </p:pic>
      <p:sp>
        <p:nvSpPr>
          <p:cNvPr id="7" name="Rectangle 6">
            <a:extLst>
              <a:ext uri="{FF2B5EF4-FFF2-40B4-BE49-F238E27FC236}">
                <a16:creationId xmlns:a16="http://schemas.microsoft.com/office/drawing/2014/main" id="{E43E2D17-8899-ED8A-2DAA-4F6383D8B5A4}"/>
              </a:ext>
            </a:extLst>
          </p:cNvPr>
          <p:cNvSpPr/>
          <p:nvPr/>
        </p:nvSpPr>
        <p:spPr>
          <a:xfrm flipV="1">
            <a:off x="2504337" y="2736850"/>
            <a:ext cx="353163" cy="457200"/>
          </a:xfrm>
          <a:prstGeom prst="rect">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CCA1F75-5359-9B5F-DE97-38345934CDA8}"/>
              </a:ext>
            </a:extLst>
          </p:cNvPr>
          <p:cNvPicPr>
            <a:picLocks noChangeAspect="1"/>
          </p:cNvPicPr>
          <p:nvPr/>
        </p:nvPicPr>
        <p:blipFill>
          <a:blip r:embed="rId3"/>
          <a:stretch>
            <a:fillRect/>
          </a:stretch>
        </p:blipFill>
        <p:spPr>
          <a:xfrm>
            <a:off x="6096000" y="2736850"/>
            <a:ext cx="4410123" cy="3733800"/>
          </a:xfrm>
          <a:prstGeom prst="rect">
            <a:avLst/>
          </a:prstGeom>
        </p:spPr>
      </p:pic>
    </p:spTree>
    <p:extLst>
      <p:ext uri="{BB962C8B-B14F-4D97-AF65-F5344CB8AC3E}">
        <p14:creationId xmlns:p14="http://schemas.microsoft.com/office/powerpoint/2010/main" val="939702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9B55C-0A0A-AF6B-F627-4389BEFAA314}"/>
              </a:ext>
            </a:extLst>
          </p:cNvPr>
          <p:cNvSpPr>
            <a:spLocks noGrp="1"/>
          </p:cNvSpPr>
          <p:nvPr>
            <p:ph type="title"/>
          </p:nvPr>
        </p:nvSpPr>
        <p:spPr/>
        <p:txBody>
          <a:bodyPr>
            <a:normAutofit fontScale="90000"/>
          </a:bodyPr>
          <a:lstStyle/>
          <a:p>
            <a:r>
              <a:rPr lang="en-US" dirty="0"/>
              <a:t>Note: this script was taken from an example from the vehicle library, which you have a copy within your Utilities subfolder</a:t>
            </a:r>
          </a:p>
        </p:txBody>
      </p:sp>
      <p:sp>
        <p:nvSpPr>
          <p:cNvPr id="3" name="Content Placeholder 2">
            <a:extLst>
              <a:ext uri="{FF2B5EF4-FFF2-40B4-BE49-F238E27FC236}">
                <a16:creationId xmlns:a16="http://schemas.microsoft.com/office/drawing/2014/main" id="{B95A67F7-9323-0726-A85E-1AABE139EE93}"/>
              </a:ext>
            </a:extLst>
          </p:cNvPr>
          <p:cNvSpPr>
            <a:spLocks noGrp="1"/>
          </p:cNvSpPr>
          <p:nvPr>
            <p:ph idx="1"/>
          </p:nvPr>
        </p:nvSpPr>
        <p:spPr>
          <a:xfrm>
            <a:off x="838200" y="2310879"/>
            <a:ext cx="3403600" cy="3866084"/>
          </a:xfrm>
        </p:spPr>
        <p:txBody>
          <a:bodyPr/>
          <a:lstStyle/>
          <a:p>
            <a:r>
              <a:rPr lang="en-US" dirty="0"/>
              <a:t>We will be using functions and scripts out of this library increasingly throughout the semester</a:t>
            </a:r>
          </a:p>
        </p:txBody>
      </p:sp>
      <p:pic>
        <p:nvPicPr>
          <p:cNvPr id="5" name="Picture 4">
            <a:extLst>
              <a:ext uri="{FF2B5EF4-FFF2-40B4-BE49-F238E27FC236}">
                <a16:creationId xmlns:a16="http://schemas.microsoft.com/office/drawing/2014/main" id="{F8ED5E74-2B1C-0ED2-0697-57A46991515C}"/>
              </a:ext>
            </a:extLst>
          </p:cNvPr>
          <p:cNvPicPr>
            <a:picLocks noChangeAspect="1"/>
          </p:cNvPicPr>
          <p:nvPr/>
        </p:nvPicPr>
        <p:blipFill>
          <a:blip r:embed="rId2"/>
          <a:stretch>
            <a:fillRect/>
          </a:stretch>
        </p:blipFill>
        <p:spPr>
          <a:xfrm>
            <a:off x="4679696" y="2359558"/>
            <a:ext cx="6903720" cy="3866083"/>
          </a:xfrm>
          <a:prstGeom prst="rect">
            <a:avLst/>
          </a:prstGeom>
        </p:spPr>
      </p:pic>
      <p:sp>
        <p:nvSpPr>
          <p:cNvPr id="7" name="Rectangle 6">
            <a:extLst>
              <a:ext uri="{FF2B5EF4-FFF2-40B4-BE49-F238E27FC236}">
                <a16:creationId xmlns:a16="http://schemas.microsoft.com/office/drawing/2014/main" id="{2E414D56-7D64-F682-EC61-6543DB10FCF5}"/>
              </a:ext>
            </a:extLst>
          </p:cNvPr>
          <p:cNvSpPr/>
          <p:nvPr/>
        </p:nvSpPr>
        <p:spPr>
          <a:xfrm>
            <a:off x="7346950" y="2533650"/>
            <a:ext cx="2260600" cy="311150"/>
          </a:xfrm>
          <a:prstGeom prst="rect">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2138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0E8EB-292E-47E4-26EF-363B4B4CF925}"/>
              </a:ext>
            </a:extLst>
          </p:cNvPr>
          <p:cNvSpPr>
            <a:spLocks noGrp="1"/>
          </p:cNvSpPr>
          <p:nvPr>
            <p:ph type="title"/>
          </p:nvPr>
        </p:nvSpPr>
        <p:spPr/>
        <p:txBody>
          <a:bodyPr/>
          <a:lstStyle/>
          <a:p>
            <a:r>
              <a:rPr lang="en-US" dirty="0"/>
              <a:t>For our homework, we want to copy / paste the example parts of interest into our code</a:t>
            </a:r>
          </a:p>
        </p:txBody>
      </p:sp>
      <p:sp>
        <p:nvSpPr>
          <p:cNvPr id="3" name="Content Placeholder 2">
            <a:extLst>
              <a:ext uri="{FF2B5EF4-FFF2-40B4-BE49-F238E27FC236}">
                <a16:creationId xmlns:a16="http://schemas.microsoft.com/office/drawing/2014/main" id="{5867EA1E-977E-FCA9-8E51-7033A303FAEC}"/>
              </a:ext>
            </a:extLst>
          </p:cNvPr>
          <p:cNvSpPr>
            <a:spLocks noGrp="1"/>
          </p:cNvSpPr>
          <p:nvPr>
            <p:ph idx="1"/>
          </p:nvPr>
        </p:nvSpPr>
        <p:spPr>
          <a:xfrm>
            <a:off x="838200" y="1825625"/>
            <a:ext cx="4946650" cy="4351338"/>
          </a:xfrm>
        </p:spPr>
        <p:txBody>
          <a:bodyPr/>
          <a:lstStyle/>
          <a:p>
            <a:pPr marL="0" indent="0">
              <a:buNone/>
            </a:pPr>
            <a:r>
              <a:rPr lang="en-US" dirty="0"/>
              <a:t>The part of interest is where it shows the definition of the inputs and an example of how the function is called</a:t>
            </a:r>
          </a:p>
        </p:txBody>
      </p:sp>
      <p:pic>
        <p:nvPicPr>
          <p:cNvPr id="5" name="Picture 4">
            <a:extLst>
              <a:ext uri="{FF2B5EF4-FFF2-40B4-BE49-F238E27FC236}">
                <a16:creationId xmlns:a16="http://schemas.microsoft.com/office/drawing/2014/main" id="{57AB730A-9978-AF30-AE45-F27CA0668352}"/>
              </a:ext>
            </a:extLst>
          </p:cNvPr>
          <p:cNvPicPr>
            <a:picLocks noChangeAspect="1"/>
          </p:cNvPicPr>
          <p:nvPr/>
        </p:nvPicPr>
        <p:blipFill>
          <a:blip r:embed="rId2"/>
          <a:stretch>
            <a:fillRect/>
          </a:stretch>
        </p:blipFill>
        <p:spPr>
          <a:xfrm>
            <a:off x="6960488" y="1949450"/>
            <a:ext cx="3549783" cy="4000500"/>
          </a:xfrm>
          <a:prstGeom prst="rect">
            <a:avLst/>
          </a:prstGeom>
        </p:spPr>
      </p:pic>
      <p:sp>
        <p:nvSpPr>
          <p:cNvPr id="7" name="Rectangle 6">
            <a:extLst>
              <a:ext uri="{FF2B5EF4-FFF2-40B4-BE49-F238E27FC236}">
                <a16:creationId xmlns:a16="http://schemas.microsoft.com/office/drawing/2014/main" id="{91A21B47-4389-4E0A-1278-A435BE8CD3B0}"/>
              </a:ext>
            </a:extLst>
          </p:cNvPr>
          <p:cNvSpPr/>
          <p:nvPr/>
        </p:nvSpPr>
        <p:spPr>
          <a:xfrm flipV="1">
            <a:off x="7213599" y="2870200"/>
            <a:ext cx="3549783" cy="2101850"/>
          </a:xfrm>
          <a:prstGeom prst="rect">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6370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E943F-D2E6-0349-09D6-A5D91A154E04}"/>
              </a:ext>
            </a:extLst>
          </p:cNvPr>
          <p:cNvSpPr>
            <a:spLocks noGrp="1"/>
          </p:cNvSpPr>
          <p:nvPr>
            <p:ph type="title"/>
          </p:nvPr>
        </p:nvSpPr>
        <p:spPr/>
        <p:txBody>
          <a:bodyPr>
            <a:normAutofit fontScale="90000"/>
          </a:bodyPr>
          <a:lstStyle/>
          <a:p>
            <a:r>
              <a:rPr lang="en-US" dirty="0"/>
              <a:t>To code this HW, it is a good idea to start with the script we used in the last homework, and just copy/paste into this, using it as our template</a:t>
            </a:r>
          </a:p>
        </p:txBody>
      </p:sp>
      <p:sp>
        <p:nvSpPr>
          <p:cNvPr id="3" name="Content Placeholder 2">
            <a:extLst>
              <a:ext uri="{FF2B5EF4-FFF2-40B4-BE49-F238E27FC236}">
                <a16:creationId xmlns:a16="http://schemas.microsoft.com/office/drawing/2014/main" id="{C28881A2-A104-7261-5438-2CDCCCB8CCC2}"/>
              </a:ext>
            </a:extLst>
          </p:cNvPr>
          <p:cNvSpPr>
            <a:spLocks noGrp="1"/>
          </p:cNvSpPr>
          <p:nvPr>
            <p:ph idx="1"/>
          </p:nvPr>
        </p:nvSpPr>
        <p:spPr>
          <a:xfrm>
            <a:off x="838200" y="1825625"/>
            <a:ext cx="3803650" cy="4351338"/>
          </a:xfrm>
        </p:spPr>
        <p:txBody>
          <a:bodyPr/>
          <a:lstStyle/>
          <a:p>
            <a:pPr marL="0" indent="0">
              <a:buNone/>
            </a:pPr>
            <a:r>
              <a:rPr lang="en-US" dirty="0"/>
              <a:t>Here’s a screen copy of the results, for Dr. B’s code</a:t>
            </a:r>
          </a:p>
        </p:txBody>
      </p:sp>
      <p:pic>
        <p:nvPicPr>
          <p:cNvPr id="5" name="Picture 4">
            <a:extLst>
              <a:ext uri="{FF2B5EF4-FFF2-40B4-BE49-F238E27FC236}">
                <a16:creationId xmlns:a16="http://schemas.microsoft.com/office/drawing/2014/main" id="{AADBAB68-6A5B-1D5E-C3F1-38AD5B15F610}"/>
              </a:ext>
            </a:extLst>
          </p:cNvPr>
          <p:cNvPicPr>
            <a:picLocks noChangeAspect="1"/>
          </p:cNvPicPr>
          <p:nvPr/>
        </p:nvPicPr>
        <p:blipFill>
          <a:blip r:embed="rId2"/>
          <a:stretch>
            <a:fillRect/>
          </a:stretch>
        </p:blipFill>
        <p:spPr>
          <a:xfrm>
            <a:off x="6004626" y="2112963"/>
            <a:ext cx="4242388" cy="4064000"/>
          </a:xfrm>
          <a:prstGeom prst="rect">
            <a:avLst/>
          </a:prstGeom>
        </p:spPr>
      </p:pic>
      <p:sp>
        <p:nvSpPr>
          <p:cNvPr id="7" name="Rectangle 6">
            <a:extLst>
              <a:ext uri="{FF2B5EF4-FFF2-40B4-BE49-F238E27FC236}">
                <a16:creationId xmlns:a16="http://schemas.microsoft.com/office/drawing/2014/main" id="{C3EAF4C6-0F31-0676-5EEF-F11398A64C9B}"/>
              </a:ext>
            </a:extLst>
          </p:cNvPr>
          <p:cNvSpPr/>
          <p:nvPr/>
        </p:nvSpPr>
        <p:spPr>
          <a:xfrm flipV="1">
            <a:off x="6353042" y="3340100"/>
            <a:ext cx="4149857" cy="1651000"/>
          </a:xfrm>
          <a:prstGeom prst="rect">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BB3D219-548A-72B7-29C4-E7DF554F6A60}"/>
              </a:ext>
            </a:extLst>
          </p:cNvPr>
          <p:cNvSpPr/>
          <p:nvPr/>
        </p:nvSpPr>
        <p:spPr>
          <a:xfrm flipV="1">
            <a:off x="7823200" y="2520950"/>
            <a:ext cx="2101850" cy="311150"/>
          </a:xfrm>
          <a:prstGeom prst="rect">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0472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20FD0-85D3-EF8E-D24F-8A96315CC9A0}"/>
              </a:ext>
            </a:extLst>
          </p:cNvPr>
          <p:cNvSpPr>
            <a:spLocks noGrp="1"/>
          </p:cNvSpPr>
          <p:nvPr>
            <p:ph type="title"/>
          </p:nvPr>
        </p:nvSpPr>
        <p:spPr/>
        <p:txBody>
          <a:bodyPr/>
          <a:lstStyle/>
          <a:p>
            <a:r>
              <a:rPr lang="en-US" dirty="0"/>
              <a:t>Now, we must change the inputs to fit the assignment.</a:t>
            </a:r>
          </a:p>
        </p:txBody>
      </p:sp>
      <p:sp>
        <p:nvSpPr>
          <p:cNvPr id="3" name="Content Placeholder 2">
            <a:extLst>
              <a:ext uri="{FF2B5EF4-FFF2-40B4-BE49-F238E27FC236}">
                <a16:creationId xmlns:a16="http://schemas.microsoft.com/office/drawing/2014/main" id="{DDC9C406-5A29-22E2-CE31-F4A1C01A2325}"/>
              </a:ext>
            </a:extLst>
          </p:cNvPr>
          <p:cNvSpPr>
            <a:spLocks noGrp="1"/>
          </p:cNvSpPr>
          <p:nvPr>
            <p:ph idx="1"/>
          </p:nvPr>
        </p:nvSpPr>
        <p:spPr>
          <a:xfrm>
            <a:off x="838200" y="1825624"/>
            <a:ext cx="4552950" cy="5032375"/>
          </a:xfrm>
        </p:spPr>
        <p:txBody>
          <a:bodyPr>
            <a:normAutofit lnSpcReduction="10000"/>
          </a:bodyPr>
          <a:lstStyle/>
          <a:p>
            <a:r>
              <a:rPr lang="en-US" sz="2000" dirty="0"/>
              <a:t>We want 60 seconds of time total</a:t>
            </a:r>
          </a:p>
          <a:p>
            <a:r>
              <a:rPr lang="en-US" sz="2000" dirty="0"/>
              <a:t>We want the input to be a constant steering input (we create this by multiplying an array of “1” values by the steering amplitude we want)</a:t>
            </a:r>
          </a:p>
          <a:p>
            <a:pPr marL="0" indent="0">
              <a:buNone/>
            </a:pPr>
            <a:r>
              <a:rPr lang="en-US" sz="2000" dirty="0">
                <a:highlight>
                  <a:srgbClr val="FFFF00"/>
                </a:highlight>
              </a:rPr>
              <a:t>For your steering input, use the 2</a:t>
            </a:r>
            <a:r>
              <a:rPr lang="en-US" sz="2000" baseline="30000" dirty="0">
                <a:highlight>
                  <a:srgbClr val="FFFF00"/>
                </a:highlight>
              </a:rPr>
              <a:t>nd</a:t>
            </a:r>
            <a:r>
              <a:rPr lang="en-US" sz="2000" dirty="0">
                <a:highlight>
                  <a:srgbClr val="FFFF00"/>
                </a:highlight>
              </a:rPr>
              <a:t> number of your Canvas ID. If your 2</a:t>
            </a:r>
            <a:r>
              <a:rPr lang="en-US" sz="2000" baseline="30000" dirty="0">
                <a:highlight>
                  <a:srgbClr val="FFFF00"/>
                </a:highlight>
              </a:rPr>
              <a:t>nd</a:t>
            </a:r>
            <a:r>
              <a:rPr lang="en-US" sz="2000" dirty="0">
                <a:highlight>
                  <a:srgbClr val="FFFF00"/>
                </a:highlight>
              </a:rPr>
              <a:t> number is 0, use 10 degrees. For example, if your number is 7, use 7 degrees.</a:t>
            </a:r>
          </a:p>
          <a:p>
            <a:r>
              <a:rPr lang="en-US" sz="2000" dirty="0"/>
              <a:t>We want the speed to be 2 m/s</a:t>
            </a:r>
          </a:p>
          <a:p>
            <a:r>
              <a:rPr lang="en-US" sz="2000" dirty="0"/>
              <a:t>We want the length of our vehicle to match the wheelbase for our specific vehicle. Enter yours here.</a:t>
            </a:r>
          </a:p>
          <a:p>
            <a:pPr marL="0" indent="0">
              <a:buNone/>
            </a:pPr>
            <a:r>
              <a:rPr lang="en-US" sz="2000" dirty="0">
                <a:highlight>
                  <a:srgbClr val="FFFF00"/>
                </a:highlight>
              </a:rPr>
              <a:t>Each student’s vehicle length will be different, so each simulation’s results will be different!</a:t>
            </a:r>
          </a:p>
        </p:txBody>
      </p:sp>
      <p:pic>
        <p:nvPicPr>
          <p:cNvPr id="5" name="Picture 4">
            <a:extLst>
              <a:ext uri="{FF2B5EF4-FFF2-40B4-BE49-F238E27FC236}">
                <a16:creationId xmlns:a16="http://schemas.microsoft.com/office/drawing/2014/main" id="{6CD3F910-C51D-5747-5D8F-2AAECC405BDE}"/>
              </a:ext>
            </a:extLst>
          </p:cNvPr>
          <p:cNvPicPr>
            <a:picLocks noChangeAspect="1"/>
          </p:cNvPicPr>
          <p:nvPr/>
        </p:nvPicPr>
        <p:blipFill>
          <a:blip r:embed="rId2"/>
          <a:stretch>
            <a:fillRect/>
          </a:stretch>
        </p:blipFill>
        <p:spPr>
          <a:xfrm>
            <a:off x="5486400" y="1631950"/>
            <a:ext cx="5487165" cy="2996030"/>
          </a:xfrm>
          <a:prstGeom prst="rect">
            <a:avLst/>
          </a:prstGeom>
        </p:spPr>
      </p:pic>
    </p:spTree>
    <p:extLst>
      <p:ext uri="{BB962C8B-B14F-4D97-AF65-F5344CB8AC3E}">
        <p14:creationId xmlns:p14="http://schemas.microsoft.com/office/powerpoint/2010/main" val="2553043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FB49F-D20D-4411-1822-5AA36D9E2D2A}"/>
              </a:ext>
            </a:extLst>
          </p:cNvPr>
          <p:cNvSpPr>
            <a:spLocks noGrp="1"/>
          </p:cNvSpPr>
          <p:nvPr>
            <p:ph type="title"/>
          </p:nvPr>
        </p:nvSpPr>
        <p:spPr/>
        <p:txBody>
          <a:bodyPr/>
          <a:lstStyle/>
          <a:p>
            <a:r>
              <a:rPr lang="en-US" dirty="0"/>
              <a:t>Finally, we must run the script section that does the simulation.</a:t>
            </a:r>
          </a:p>
        </p:txBody>
      </p:sp>
      <p:sp>
        <p:nvSpPr>
          <p:cNvPr id="3" name="Content Placeholder 2">
            <a:extLst>
              <a:ext uri="{FF2B5EF4-FFF2-40B4-BE49-F238E27FC236}">
                <a16:creationId xmlns:a16="http://schemas.microsoft.com/office/drawing/2014/main" id="{86027325-F992-661B-CD07-8AD921E0975B}"/>
              </a:ext>
            </a:extLst>
          </p:cNvPr>
          <p:cNvSpPr>
            <a:spLocks noGrp="1"/>
          </p:cNvSpPr>
          <p:nvPr>
            <p:ph idx="1"/>
          </p:nvPr>
        </p:nvSpPr>
        <p:spPr>
          <a:xfrm>
            <a:off x="838200" y="1825625"/>
            <a:ext cx="5353050" cy="4351338"/>
          </a:xfrm>
        </p:spPr>
        <p:txBody>
          <a:bodyPr>
            <a:normAutofit/>
          </a:bodyPr>
          <a:lstStyle/>
          <a:p>
            <a:pPr marL="0" indent="0">
              <a:buNone/>
            </a:pPr>
            <a:r>
              <a:rPr lang="en-US" sz="2400" dirty="0"/>
              <a:t>As expected, the vehicle drives in a circle</a:t>
            </a:r>
          </a:p>
          <a:p>
            <a:pPr marL="0" indent="0">
              <a:buNone/>
            </a:pPr>
            <a:endParaRPr lang="en-US" sz="2400" dirty="0"/>
          </a:p>
          <a:p>
            <a:pPr marL="0" indent="0">
              <a:buNone/>
            </a:pPr>
            <a:endParaRPr lang="en-US" sz="2400" dirty="0"/>
          </a:p>
          <a:p>
            <a:pPr marL="0" indent="0">
              <a:buNone/>
            </a:pPr>
            <a:r>
              <a:rPr lang="en-US" sz="2400" dirty="0"/>
              <a:t>The expected radius is given by our kinematic steering angle formula</a:t>
            </a:r>
          </a:p>
          <a:p>
            <a:pPr marL="0" indent="0">
              <a:buNone/>
            </a:pPr>
            <a:endParaRPr lang="en-US" sz="2400" dirty="0"/>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E96179A-CE8E-2F7E-52C5-10357BAE3353}"/>
                  </a:ext>
                </a:extLst>
              </p:cNvPr>
              <p:cNvSpPr txBox="1"/>
              <p:nvPr/>
            </p:nvSpPr>
            <p:spPr>
              <a:xfrm>
                <a:off x="1054100" y="4368807"/>
                <a:ext cx="3498850" cy="1411220"/>
              </a:xfrm>
              <a:prstGeom prst="rect">
                <a:avLst/>
              </a:prstGeom>
              <a:noFill/>
            </p:spPr>
            <p:txBody>
              <a:bodyPr wrap="square" lIns="0" tIns="0" rIns="0" bIns="0" rtlCol="0">
                <a:spAutoFit/>
              </a:bodyPr>
              <a:lstStyle/>
              <a:p>
                <a14:m>
                  <m:oMathPara xmlns:m="http://schemas.openxmlformats.org/officeDocument/2006/math">
                    <m:oMath>
                      <m:func>
                        <m:funcPr>
                          <m:ctrlPr>
                            <a:rPr lang="en-US" sz="3200" b="0" i="0" smtClean="0">
                              <a:latin typeface="Cambria Math" panose="02040503050406030204" pitchFamily="18" charset="0"/>
                            </a:rPr>
                          </m:ctrlPr>
                        </m:funcPr>
                        <m:fName>
                          <m:r>
                            <m:rPr>
                              <m:sty m:val="p"/>
                            </m:rPr>
                            <a:rPr lang="en-US" sz="3200" b="0" i="0" smtClean="0">
                              <a:latin typeface="Cambria Math" panose="02040503050406030204" pitchFamily="18" charset="0"/>
                            </a:rPr>
                            <m:t>tan</m:t>
                          </m:r>
                        </m:fName>
                        <m:e>
                          <m:d>
                            <m:dPr>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𝛿</m:t>
                                  </m:r>
                                </m:e>
                                <m:sub>
                                  <m:r>
                                    <a:rPr lang="en-US" sz="3200" b="0" i="1" smtClean="0">
                                      <a:latin typeface="Cambria Math" panose="02040503050406030204" pitchFamily="18" charset="0"/>
                                    </a:rPr>
                                    <m:t>𝑓</m:t>
                                  </m:r>
                                </m:sub>
                              </m:sSub>
                            </m:e>
                          </m:d>
                        </m:e>
                      </m:func>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𝐿</m:t>
                          </m:r>
                        </m:num>
                        <m:den>
                          <m:r>
                            <a:rPr lang="en-US" sz="3200" b="0" i="1" smtClean="0">
                              <a:latin typeface="Cambria Math" panose="02040503050406030204" pitchFamily="18" charset="0"/>
                            </a:rPr>
                            <m:t>𝑅</m:t>
                          </m:r>
                        </m:den>
                      </m:f>
                    </m:oMath>
                  </m:oMathPara>
                </a14:m>
                <a:endParaRPr lang="en-US" sz="3200" b="0" i="1" dirty="0">
                  <a:latin typeface="Cambria Math" panose="02040503050406030204" pitchFamily="18" charset="0"/>
                </a:endParaRPr>
              </a:p>
              <a:p>
                <a14:m>
                  <m:oMathPara xmlns:m="http://schemas.openxmlformats.org/officeDocument/2006/math">
                    <m:oMath>
                      <m:r>
                        <a:rPr lang="en-US" sz="3200" b="0" i="1" smtClean="0">
                          <a:latin typeface="Cambria Math" panose="02040503050406030204" pitchFamily="18" charset="0"/>
                        </a:rPr>
                        <m:t> </m:t>
                      </m:r>
                    </m:oMath>
                  </m:oMathPara>
                </a14:m>
                <a:endParaRPr lang="en-US" sz="3200" dirty="0"/>
              </a:p>
            </p:txBody>
          </p:sp>
        </mc:Choice>
        <mc:Fallback>
          <p:sp>
            <p:nvSpPr>
              <p:cNvPr id="5" name="TextBox 4">
                <a:extLst>
                  <a:ext uri="{FF2B5EF4-FFF2-40B4-BE49-F238E27FC236}">
                    <a16:creationId xmlns:a16="http://schemas.microsoft.com/office/drawing/2014/main" id="{FE96179A-CE8E-2F7E-52C5-10357BAE3353}"/>
                  </a:ext>
                </a:extLst>
              </p:cNvPr>
              <p:cNvSpPr txBox="1">
                <a:spLocks noRot="1" noChangeAspect="1" noMove="1" noResize="1" noEditPoints="1" noAdjustHandles="1" noChangeArrowheads="1" noChangeShapeType="1" noTextEdit="1"/>
              </p:cNvSpPr>
              <p:nvPr/>
            </p:nvSpPr>
            <p:spPr>
              <a:xfrm>
                <a:off x="1054100" y="4368807"/>
                <a:ext cx="3498850" cy="1411220"/>
              </a:xfrm>
              <a:prstGeom prst="rect">
                <a:avLst/>
              </a:prstGeom>
              <a:blipFill>
                <a:blip r:embed="rId2"/>
                <a:stretch>
                  <a:fillRect/>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123A0FCC-C104-CEC4-D337-F52707B57824}"/>
              </a:ext>
            </a:extLst>
          </p:cNvPr>
          <p:cNvPicPr>
            <a:picLocks noChangeAspect="1"/>
          </p:cNvPicPr>
          <p:nvPr/>
        </p:nvPicPr>
        <p:blipFill>
          <a:blip r:embed="rId3"/>
          <a:stretch>
            <a:fillRect/>
          </a:stretch>
        </p:blipFill>
        <p:spPr>
          <a:xfrm>
            <a:off x="6820886" y="1825625"/>
            <a:ext cx="5371114" cy="4425950"/>
          </a:xfrm>
          <a:prstGeom prst="rect">
            <a:avLst/>
          </a:prstGeom>
        </p:spPr>
      </p:pic>
    </p:spTree>
    <p:extLst>
      <p:ext uri="{BB962C8B-B14F-4D97-AF65-F5344CB8AC3E}">
        <p14:creationId xmlns:p14="http://schemas.microsoft.com/office/powerpoint/2010/main" val="2765041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5D822-B12D-ECDE-8E69-B38021E05524}"/>
              </a:ext>
            </a:extLst>
          </p:cNvPr>
          <p:cNvSpPr>
            <a:spLocks noGrp="1"/>
          </p:cNvSpPr>
          <p:nvPr>
            <p:ph type="title"/>
          </p:nvPr>
        </p:nvSpPr>
        <p:spPr/>
        <p:txBody>
          <a:bodyPr>
            <a:normAutofit/>
          </a:bodyPr>
          <a:lstStyle/>
          <a:p>
            <a:r>
              <a:rPr lang="en-US" dirty="0"/>
              <a:t>We can add code to check this using an assert command (again, this is good practice). </a:t>
            </a:r>
          </a:p>
        </p:txBody>
      </p:sp>
      <p:sp>
        <p:nvSpPr>
          <p:cNvPr id="3" name="Content Placeholder 2">
            <a:extLst>
              <a:ext uri="{FF2B5EF4-FFF2-40B4-BE49-F238E27FC236}">
                <a16:creationId xmlns:a16="http://schemas.microsoft.com/office/drawing/2014/main" id="{C20CBE51-0A7B-C306-C33C-FFDADA22384F}"/>
              </a:ext>
            </a:extLst>
          </p:cNvPr>
          <p:cNvSpPr>
            <a:spLocks noGrp="1"/>
          </p:cNvSpPr>
          <p:nvPr>
            <p:ph idx="1"/>
          </p:nvPr>
        </p:nvSpPr>
        <p:spPr>
          <a:xfrm>
            <a:off x="838200" y="2012949"/>
            <a:ext cx="4578350" cy="4164013"/>
          </a:xfrm>
        </p:spPr>
        <p:txBody>
          <a:bodyPr/>
          <a:lstStyle/>
          <a:p>
            <a:pPr marL="0" indent="0">
              <a:buNone/>
            </a:pPr>
            <a:r>
              <a:rPr lang="en-US" dirty="0"/>
              <a:t>The prediction and simulation should agree to at least 2 decimal places (actually, they agree almost perfectly)</a:t>
            </a:r>
          </a:p>
        </p:txBody>
      </p:sp>
      <p:pic>
        <p:nvPicPr>
          <p:cNvPr id="5" name="Picture 4">
            <a:extLst>
              <a:ext uri="{FF2B5EF4-FFF2-40B4-BE49-F238E27FC236}">
                <a16:creationId xmlns:a16="http://schemas.microsoft.com/office/drawing/2014/main" id="{9F372B43-ACAA-E0E2-BD88-2AE84EC07D6D}"/>
              </a:ext>
            </a:extLst>
          </p:cNvPr>
          <p:cNvPicPr>
            <a:picLocks noChangeAspect="1"/>
          </p:cNvPicPr>
          <p:nvPr/>
        </p:nvPicPr>
        <p:blipFill>
          <a:blip r:embed="rId2"/>
          <a:stretch>
            <a:fillRect/>
          </a:stretch>
        </p:blipFill>
        <p:spPr>
          <a:xfrm>
            <a:off x="6490876" y="1783123"/>
            <a:ext cx="4862924" cy="4584340"/>
          </a:xfrm>
          <a:prstGeom prst="rect">
            <a:avLst/>
          </a:prstGeom>
        </p:spPr>
      </p:pic>
      <p:sp>
        <p:nvSpPr>
          <p:cNvPr id="6" name="Arrow: Right 5">
            <a:extLst>
              <a:ext uri="{FF2B5EF4-FFF2-40B4-BE49-F238E27FC236}">
                <a16:creationId xmlns:a16="http://schemas.microsoft.com/office/drawing/2014/main" id="{DB622DB3-271C-4C54-F025-0F91EAE65774}"/>
              </a:ext>
            </a:extLst>
          </p:cNvPr>
          <p:cNvSpPr/>
          <p:nvPr/>
        </p:nvSpPr>
        <p:spPr>
          <a:xfrm>
            <a:off x="5944776" y="4241800"/>
            <a:ext cx="528226" cy="4254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468C3A39-967E-1977-4B81-18B2F391CD44}"/>
              </a:ext>
            </a:extLst>
          </p:cNvPr>
          <p:cNvSpPr/>
          <p:nvPr/>
        </p:nvSpPr>
        <p:spPr>
          <a:xfrm>
            <a:off x="5948539" y="4959350"/>
            <a:ext cx="528226" cy="4254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03996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1550</TotalTime>
  <Words>1136</Words>
  <Application>Microsoft Office PowerPoint</Application>
  <PresentationFormat>Widescreen</PresentationFormat>
  <Paragraphs>49</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Cambria Math</vt:lpstr>
      <vt:lpstr>Wingdings</vt:lpstr>
      <vt:lpstr>Office Theme</vt:lpstr>
      <vt:lpstr>How to Do HW 3: Simulations  Using Runge-Kutta Methods  of the  Kinematic Bicycle Model</vt:lpstr>
      <vt:lpstr>First step: create a folder to work from for this homework (HW3 in this example)</vt:lpstr>
      <vt:lpstr>Unlike in previous assignments where scripts were given, in this assignment we ask students to use an existing script and copy/paste from it into their own scripts</vt:lpstr>
      <vt:lpstr>The scripts we will use in this semester can be found in the “Functions” subfolder. </vt:lpstr>
      <vt:lpstr>The scripts we will use for this homework are those for the kinematic bicycle model</vt:lpstr>
      <vt:lpstr>The specific script we want to grab code from is in the “script_test_....” file.</vt:lpstr>
      <vt:lpstr>Assuming you have already run the main 2026Fall script (which installs this library), you should be able to run the script.</vt:lpstr>
      <vt:lpstr>Each section of code has “assertions”. These are tests in the code that check that the outputs of the code are exactly as they should be.</vt:lpstr>
      <vt:lpstr>Lesson: if our code does not have tests, it is not ready for use on a vehicle</vt:lpstr>
      <vt:lpstr>The “basic call” section can be run by itself by clicking into it and running “run section” at top</vt:lpstr>
      <vt:lpstr>Note: this script was taken from an example from the vehicle library, which you have a copy within your Utilities subfolder</vt:lpstr>
      <vt:lpstr>For our homework, we want to copy / paste the example parts of interest into our code</vt:lpstr>
      <vt:lpstr>To code this HW, it is a good idea to start with the script we used in the last homework, and just copy/paste into this, using it as our template</vt:lpstr>
      <vt:lpstr>Now, we must change the inputs to fit the assignment.</vt:lpstr>
      <vt:lpstr>Finally, we must run the script section that does the simulation.</vt:lpstr>
      <vt:lpstr>We can add code to check this using an assert command (again, this is good practice).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Brennan, Sean N</dc:creator>
  <cp:lastModifiedBy>Brennan, Sean N</cp:lastModifiedBy>
  <cp:revision>8</cp:revision>
  <dcterms:created xsi:type="dcterms:W3CDTF">2026-09-18T15:12:38Z</dcterms:created>
  <dcterms:modified xsi:type="dcterms:W3CDTF">2026-09-28T15:54:07Z</dcterms:modified>
</cp:coreProperties>
</file>