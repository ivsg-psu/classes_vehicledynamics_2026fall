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687C-1E5A-C477-C7A1-D805D43E8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F8943-AACD-EA19-9E04-3C6D59BBAB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AD17CB-8AC8-ED3A-547E-C1EB03A8B6D0}"/>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E87ECE58-FA70-55D2-F16F-C4A9D1C9E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E32314-C77B-953D-8914-97739BA179A0}"/>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236184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A31E9-DCAF-E793-8C6B-6A99A91F04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908653-6538-B716-378F-C82B5DE546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C826E1-9A44-03C7-2E0F-30A6F4570F01}"/>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27943086-0AAC-5CDE-B2F2-60EC643F9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95CF3-EC1D-7FC1-41A5-40E1D4A9241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53783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C878B-0432-8535-0E1A-E4C90AE4E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60F1A1-9275-D58A-6EB4-91CE0C64CA2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2007C0-63B3-54F9-904F-E42070A91349}"/>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ED020E03-D442-DD57-5360-F05B00BC3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0F6EDD-FB7C-E427-7642-ECDE9A619483}"/>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93927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6D63E-24A6-D702-38A6-0E5505757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E1959-B8A7-70A1-43A1-E001CCBBF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42FDE8-6AB9-2FF6-5BDA-38A337EBCB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719A55-F482-0EB9-D12E-3770E668F5D5}"/>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6" name="Footer Placeholder 5">
            <a:extLst>
              <a:ext uri="{FF2B5EF4-FFF2-40B4-BE49-F238E27FC236}">
                <a16:creationId xmlns:a16="http://schemas.microsoft.com/office/drawing/2014/main" id="{52B09042-0330-DF46-A27A-AAA59BC0AC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7F7E33-BF77-E391-B757-5DDE66A54ABA}"/>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714434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586D-3146-76A8-C6D9-5B08A88B3E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C54EF3-1242-E5EB-E9BC-C8412C1D7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1E3CFC-1A67-F8E4-369F-EAA48C34B01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7D1382-280F-6F14-38B0-87122017B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387FFC-F09D-0089-601D-7238B0C592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45EEDC-6202-C071-2121-B5E34CBAC8F4}"/>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8" name="Footer Placeholder 7">
            <a:extLst>
              <a:ext uri="{FF2B5EF4-FFF2-40B4-BE49-F238E27FC236}">
                <a16:creationId xmlns:a16="http://schemas.microsoft.com/office/drawing/2014/main" id="{17BA0365-03D1-70DC-F04E-F0294B18A3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66DAEF-F7C0-8741-EB83-4792E007CC51}"/>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738718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A50D9-7A88-F828-C289-F66676BEE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92375D-9E2B-CC09-6F6E-93596AF48B9C}"/>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4" name="Footer Placeholder 3">
            <a:extLst>
              <a:ext uri="{FF2B5EF4-FFF2-40B4-BE49-F238E27FC236}">
                <a16:creationId xmlns:a16="http://schemas.microsoft.com/office/drawing/2014/main" id="{17EFC412-3207-866E-A15C-BAB57BBCC3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FC4C2C-D2B2-212E-12AE-6BA752B02D6C}"/>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3980907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1A84D6-7EEB-CBAB-5E30-F2C8C0F95C55}"/>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3" name="Footer Placeholder 2">
            <a:extLst>
              <a:ext uri="{FF2B5EF4-FFF2-40B4-BE49-F238E27FC236}">
                <a16:creationId xmlns:a16="http://schemas.microsoft.com/office/drawing/2014/main" id="{3EF0ABE7-3E3C-7EEE-FCDA-12840BCCA9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6D7AEF-D86E-03D8-BC9D-A941404A07BF}"/>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862449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A753C-0665-4CF1-8762-55799B3C9D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3B7732-F94D-393C-8DBD-C8766C784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261FA-1E71-B59B-78F5-B694BBF97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F73BCD-7C61-5198-E593-3A182B9A0878}"/>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6" name="Footer Placeholder 5">
            <a:extLst>
              <a:ext uri="{FF2B5EF4-FFF2-40B4-BE49-F238E27FC236}">
                <a16:creationId xmlns:a16="http://schemas.microsoft.com/office/drawing/2014/main" id="{02E95019-00FD-3BC8-97E1-CB422847B1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A47BC7-98FB-D904-10CF-648944995E9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29146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8A15B-BFF2-614A-6536-6C7C912BC3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2C2DDA-B6CA-C31D-914C-371805C1CC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03B10E-CC39-C5B4-873E-4B619DCF48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0CDBCB-AD62-7FA7-926A-44B14F788931}"/>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6" name="Footer Placeholder 5">
            <a:extLst>
              <a:ext uri="{FF2B5EF4-FFF2-40B4-BE49-F238E27FC236}">
                <a16:creationId xmlns:a16="http://schemas.microsoft.com/office/drawing/2014/main" id="{6F98F9D4-0E8D-AE44-52A9-503AA321F4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B147FA-CB90-EB80-DE11-6A9F7C2BF97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8725928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E119-68F7-B796-12DE-E320C27996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EB10EF-951D-4AC1-08A4-C8ED50E2844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E997F-3A0F-92FD-1F30-0E71ABBD727C}"/>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A2D34CD9-8D79-0DAC-2FBB-2971D5604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A2A2E-6926-B019-2AFB-357EEAFFD704}"/>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1957252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518475-86B7-D938-E9AD-0A050582D2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796CFA-43BA-5591-0976-602B82CAED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4EEF37-D0B8-02D3-6CD8-D04049C39335}"/>
              </a:ext>
            </a:extLst>
          </p:cNvPr>
          <p:cNvSpPr>
            <a:spLocks noGrp="1"/>
          </p:cNvSpPr>
          <p:nvPr>
            <p:ph type="dt" sz="half" idx="10"/>
          </p:nvPr>
        </p:nvSpPr>
        <p:spPr/>
        <p:txBody>
          <a:body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34377E05-1651-C45E-5561-0D73127FD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4E0C4-6359-7C4D-076E-C8AA2025C676}"/>
              </a:ext>
            </a:extLst>
          </p:cNvPr>
          <p:cNvSpPr>
            <a:spLocks noGrp="1"/>
          </p:cNvSpPr>
          <p:nvPr>
            <p:ph type="sldNum" sz="quarter" idx="12"/>
          </p:nvPr>
        </p:nvSpPr>
        <p:spPr/>
        <p:txBody>
          <a:bodyPr/>
          <a:lstStyle/>
          <a:p>
            <a:fld id="{B87AF755-5B4F-4502-934C-A16B76FE8F7F}" type="slidenum">
              <a:rPr lang="en-US" smtClean="0"/>
              <a:t>‹#›</a:t>
            </a:fld>
            <a:endParaRPr lang="en-US"/>
          </a:p>
        </p:txBody>
      </p:sp>
    </p:spTree>
    <p:extLst>
      <p:ext uri="{BB962C8B-B14F-4D97-AF65-F5344CB8AC3E}">
        <p14:creationId xmlns:p14="http://schemas.microsoft.com/office/powerpoint/2010/main" val="258379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77A6F-F764-852A-9F79-41797AA1C0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6EBFBC-6144-AECD-7E1D-9C3900DFC8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73465-3270-ED92-8A42-776C03DBEF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E3663BE-23BB-44AC-8300-69C1BB94E401}" type="datetimeFigureOut">
              <a:rPr lang="en-US" smtClean="0"/>
              <a:t>9/25/2026</a:t>
            </a:fld>
            <a:endParaRPr lang="en-US"/>
          </a:p>
        </p:txBody>
      </p:sp>
      <p:sp>
        <p:nvSpPr>
          <p:cNvPr id="5" name="Footer Placeholder 4">
            <a:extLst>
              <a:ext uri="{FF2B5EF4-FFF2-40B4-BE49-F238E27FC236}">
                <a16:creationId xmlns:a16="http://schemas.microsoft.com/office/drawing/2014/main" id="{A539EF75-7D44-F445-FFCA-AE56C52E1B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A6380F5-77E7-058C-FA52-489ED98C3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7AF755-5B4F-4502-934C-A16B76FE8F7F}" type="slidenum">
              <a:rPr lang="en-US" smtClean="0"/>
              <a:t>‹#›</a:t>
            </a:fld>
            <a:endParaRPr lang="en-US"/>
          </a:p>
        </p:txBody>
      </p:sp>
    </p:spTree>
    <p:extLst>
      <p:ext uri="{BB962C8B-B14F-4D97-AF65-F5344CB8AC3E}">
        <p14:creationId xmlns:p14="http://schemas.microsoft.com/office/powerpoint/2010/main" val="1230496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6301F-E7F0-A12F-DC40-56E5B1B33E82}"/>
              </a:ext>
            </a:extLst>
          </p:cNvPr>
          <p:cNvSpPr>
            <a:spLocks noGrp="1"/>
          </p:cNvSpPr>
          <p:nvPr>
            <p:ph type="ctrTitle"/>
          </p:nvPr>
        </p:nvSpPr>
        <p:spPr>
          <a:xfrm>
            <a:off x="1608306" y="2235200"/>
            <a:ext cx="9144000" cy="2387600"/>
          </a:xfrm>
        </p:spPr>
        <p:txBody>
          <a:bodyPr>
            <a:normAutofit fontScale="90000"/>
          </a:bodyPr>
          <a:lstStyle/>
          <a:p>
            <a:r>
              <a:rPr lang="en-US" dirty="0"/>
              <a:t>How to Do HW 2:</a:t>
            </a:r>
            <a:br>
              <a:rPr lang="en-US" dirty="0"/>
            </a:br>
            <a:r>
              <a:rPr lang="en-US" dirty="0"/>
              <a:t>Simulations </a:t>
            </a:r>
            <a:br>
              <a:rPr lang="en-US" dirty="0"/>
            </a:br>
            <a:r>
              <a:rPr lang="en-US" dirty="0"/>
              <a:t>Using Runge-</a:t>
            </a:r>
            <a:r>
              <a:rPr lang="en-US" dirty="0" err="1"/>
              <a:t>Kutta</a:t>
            </a:r>
            <a:r>
              <a:rPr lang="en-US" dirty="0"/>
              <a:t> Methods </a:t>
            </a:r>
            <a:br>
              <a:rPr lang="en-US" dirty="0"/>
            </a:br>
            <a:r>
              <a:rPr lang="en-US" dirty="0"/>
              <a:t>of the </a:t>
            </a:r>
            <a:br>
              <a:rPr lang="en-US" dirty="0"/>
            </a:br>
            <a:r>
              <a:rPr lang="en-US" dirty="0"/>
              <a:t>1st order Engine Model</a:t>
            </a:r>
          </a:p>
        </p:txBody>
      </p:sp>
      <p:sp>
        <p:nvSpPr>
          <p:cNvPr id="3" name="Subtitle 2">
            <a:extLst>
              <a:ext uri="{FF2B5EF4-FFF2-40B4-BE49-F238E27FC236}">
                <a16:creationId xmlns:a16="http://schemas.microsoft.com/office/drawing/2014/main" id="{08BEADDF-50CF-7A27-83DD-C721F3BEDE2D}"/>
              </a:ext>
            </a:extLst>
          </p:cNvPr>
          <p:cNvSpPr>
            <a:spLocks noGrp="1"/>
          </p:cNvSpPr>
          <p:nvPr>
            <p:ph type="subTitle" idx="1"/>
          </p:nvPr>
        </p:nvSpPr>
        <p:spPr>
          <a:xfrm>
            <a:off x="1770434" y="5145493"/>
            <a:ext cx="9144000" cy="1655762"/>
          </a:xfrm>
        </p:spPr>
        <p:txBody>
          <a:bodyPr/>
          <a:lstStyle/>
          <a:p>
            <a:r>
              <a:rPr lang="en-US" dirty="0"/>
              <a:t>ME 452 – Vehicle Dynamics, Fall 2026</a:t>
            </a:r>
          </a:p>
        </p:txBody>
      </p:sp>
    </p:spTree>
    <p:extLst>
      <p:ext uri="{BB962C8B-B14F-4D97-AF65-F5344CB8AC3E}">
        <p14:creationId xmlns:p14="http://schemas.microsoft.com/office/powerpoint/2010/main" val="316151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98E7031-A218-65D9-5D31-E5C35B8076D9}"/>
              </a:ext>
            </a:extLst>
          </p:cNvPr>
          <p:cNvSpPr>
            <a:spLocks noGrp="1"/>
          </p:cNvSpPr>
          <p:nvPr>
            <p:ph type="title"/>
          </p:nvPr>
        </p:nvSpPr>
        <p:spPr>
          <a:xfrm>
            <a:off x="1137034" y="609597"/>
            <a:ext cx="9392421" cy="1330841"/>
          </a:xfrm>
        </p:spPr>
        <p:txBody>
          <a:bodyPr>
            <a:normAutofit/>
          </a:bodyPr>
          <a:lstStyle/>
          <a:p>
            <a:r>
              <a:rPr lang="en-US" dirty="0"/>
              <a:t>First step: create a folder to work from</a:t>
            </a:r>
          </a:p>
        </p:txBody>
      </p:sp>
      <p:sp>
        <p:nvSpPr>
          <p:cNvPr id="3" name="Content Placeholder 2">
            <a:extLst>
              <a:ext uri="{FF2B5EF4-FFF2-40B4-BE49-F238E27FC236}">
                <a16:creationId xmlns:a16="http://schemas.microsoft.com/office/drawing/2014/main" id="{7D0505B6-A811-9C59-92B0-5657B36A033B}"/>
              </a:ext>
            </a:extLst>
          </p:cNvPr>
          <p:cNvSpPr>
            <a:spLocks noGrp="1"/>
          </p:cNvSpPr>
          <p:nvPr>
            <p:ph idx="1"/>
          </p:nvPr>
        </p:nvSpPr>
        <p:spPr>
          <a:xfrm>
            <a:off x="1137034" y="2198362"/>
            <a:ext cx="4958966" cy="3917773"/>
          </a:xfrm>
        </p:spPr>
        <p:txBody>
          <a:bodyPr>
            <a:normAutofit/>
          </a:bodyPr>
          <a:lstStyle/>
          <a:p>
            <a:pPr marL="0" indent="0">
              <a:buNone/>
            </a:pPr>
            <a:r>
              <a:rPr lang="en-US" sz="1900"/>
              <a:t>In the homework assignments, we will need a place to save our scripts and, later, our own functions. By default, the “Assignments” folder and all subfolders that exist when running the main script are set to be visible to MATLAB. The suggestion for this assignment, and all future assignments, is to keep each assignment’s scripts, folders, data files in a sub-folder within each assignment. It’s suggested that the name match your Canvas student number and indicate which homework is being completed. For example, see the folder for Dr. B whose number is 9000000</a:t>
            </a:r>
          </a:p>
        </p:txBody>
      </p:sp>
      <p:pic>
        <p:nvPicPr>
          <p:cNvPr id="5" name="Picture 4">
            <a:extLst>
              <a:ext uri="{FF2B5EF4-FFF2-40B4-BE49-F238E27FC236}">
                <a16:creationId xmlns:a16="http://schemas.microsoft.com/office/drawing/2014/main" id="{789F65A0-002D-34DF-54AD-C09FF15D42BD}"/>
              </a:ext>
            </a:extLst>
          </p:cNvPr>
          <p:cNvPicPr>
            <a:picLocks noChangeAspect="1"/>
          </p:cNvPicPr>
          <p:nvPr/>
        </p:nvPicPr>
        <p:blipFill>
          <a:blip r:embed="rId2"/>
          <a:stretch>
            <a:fillRect/>
          </a:stretch>
        </p:blipFill>
        <p:spPr>
          <a:xfrm>
            <a:off x="6719367" y="3075243"/>
            <a:ext cx="4788505" cy="1975257"/>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2571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0ED64-4363-0A61-75BE-8546ABF7B2FD}"/>
              </a:ext>
            </a:extLst>
          </p:cNvPr>
          <p:cNvSpPr>
            <a:spLocks noGrp="1"/>
          </p:cNvSpPr>
          <p:nvPr>
            <p:ph type="title"/>
          </p:nvPr>
        </p:nvSpPr>
        <p:spPr>
          <a:xfrm>
            <a:off x="630936" y="639520"/>
            <a:ext cx="3429000" cy="1719072"/>
          </a:xfrm>
        </p:spPr>
        <p:txBody>
          <a:bodyPr anchor="b">
            <a:normAutofit/>
          </a:bodyPr>
          <a:lstStyle/>
          <a:p>
            <a:r>
              <a:rPr lang="en-US" sz="2600" dirty="0"/>
              <a:t>Next, open up the existing simulation from deep within Dr B’s subfolder</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7E51537-F3CA-CBB4-3925-84A2B394EC1C}"/>
              </a:ext>
            </a:extLst>
          </p:cNvPr>
          <p:cNvSpPr>
            <a:spLocks noGrp="1"/>
          </p:cNvSpPr>
          <p:nvPr>
            <p:ph idx="1"/>
          </p:nvPr>
        </p:nvSpPr>
        <p:spPr>
          <a:xfrm>
            <a:off x="630936" y="2807208"/>
            <a:ext cx="3429000" cy="3410712"/>
          </a:xfrm>
        </p:spPr>
        <p:txBody>
          <a:bodyPr anchor="t">
            <a:normAutofit/>
          </a:bodyPr>
          <a:lstStyle/>
          <a:p>
            <a:pPr marL="0" indent="0">
              <a:buNone/>
            </a:pPr>
            <a:r>
              <a:rPr lang="en-US" sz="2200" dirty="0"/>
              <a:t>It’s located here. Copy it into your HW2 folder, or otherwise your edits will be lost each time you copy the repo from Dr B’s edits.</a:t>
            </a:r>
          </a:p>
        </p:txBody>
      </p:sp>
      <p:pic>
        <p:nvPicPr>
          <p:cNvPr id="8" name="Picture 7">
            <a:extLst>
              <a:ext uri="{FF2B5EF4-FFF2-40B4-BE49-F238E27FC236}">
                <a16:creationId xmlns:a16="http://schemas.microsoft.com/office/drawing/2014/main" id="{972087BC-BE3A-F28C-725D-190646F6F6BF}"/>
              </a:ext>
            </a:extLst>
          </p:cNvPr>
          <p:cNvPicPr>
            <a:picLocks noChangeAspect="1"/>
          </p:cNvPicPr>
          <p:nvPr/>
        </p:nvPicPr>
        <p:blipFill>
          <a:blip r:embed="rId2"/>
          <a:stretch>
            <a:fillRect/>
          </a:stretch>
        </p:blipFill>
        <p:spPr>
          <a:xfrm>
            <a:off x="4930885" y="2188169"/>
            <a:ext cx="6725487" cy="2999781"/>
          </a:xfrm>
          <a:prstGeom prst="rect">
            <a:avLst/>
          </a:prstGeom>
        </p:spPr>
      </p:pic>
      <p:sp>
        <p:nvSpPr>
          <p:cNvPr id="6" name="Rectangle 5">
            <a:extLst>
              <a:ext uri="{FF2B5EF4-FFF2-40B4-BE49-F238E27FC236}">
                <a16:creationId xmlns:a16="http://schemas.microsoft.com/office/drawing/2014/main" id="{5239841E-E0EF-3EDD-43C5-9D53BA14F29C}"/>
              </a:ext>
            </a:extLst>
          </p:cNvPr>
          <p:cNvSpPr/>
          <p:nvPr/>
        </p:nvSpPr>
        <p:spPr>
          <a:xfrm>
            <a:off x="7461250" y="2418181"/>
            <a:ext cx="2260600" cy="3111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513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9B55C-0A0A-AF6B-F627-4389BEFAA314}"/>
              </a:ext>
            </a:extLst>
          </p:cNvPr>
          <p:cNvSpPr>
            <a:spLocks noGrp="1"/>
          </p:cNvSpPr>
          <p:nvPr>
            <p:ph type="title"/>
          </p:nvPr>
        </p:nvSpPr>
        <p:spPr/>
        <p:txBody>
          <a:bodyPr>
            <a:normAutofit fontScale="90000"/>
          </a:bodyPr>
          <a:lstStyle/>
          <a:p>
            <a:r>
              <a:rPr lang="en-US" dirty="0"/>
              <a:t>Note: this script was taken from an example from the vehicle library, which you have a copy within your Utilities subfolder</a:t>
            </a:r>
          </a:p>
        </p:txBody>
      </p:sp>
      <p:sp>
        <p:nvSpPr>
          <p:cNvPr id="3" name="Content Placeholder 2">
            <a:extLst>
              <a:ext uri="{FF2B5EF4-FFF2-40B4-BE49-F238E27FC236}">
                <a16:creationId xmlns:a16="http://schemas.microsoft.com/office/drawing/2014/main" id="{B95A67F7-9323-0726-A85E-1AABE139EE93}"/>
              </a:ext>
            </a:extLst>
          </p:cNvPr>
          <p:cNvSpPr>
            <a:spLocks noGrp="1"/>
          </p:cNvSpPr>
          <p:nvPr>
            <p:ph idx="1"/>
          </p:nvPr>
        </p:nvSpPr>
        <p:spPr>
          <a:xfrm>
            <a:off x="838200" y="2310879"/>
            <a:ext cx="3403600" cy="3866084"/>
          </a:xfrm>
        </p:spPr>
        <p:txBody>
          <a:bodyPr/>
          <a:lstStyle/>
          <a:p>
            <a:r>
              <a:rPr lang="en-US" dirty="0"/>
              <a:t>We will be using functions and scripts out of this library increasingly throughout the semester</a:t>
            </a:r>
          </a:p>
        </p:txBody>
      </p:sp>
      <p:pic>
        <p:nvPicPr>
          <p:cNvPr id="5" name="Picture 4">
            <a:extLst>
              <a:ext uri="{FF2B5EF4-FFF2-40B4-BE49-F238E27FC236}">
                <a16:creationId xmlns:a16="http://schemas.microsoft.com/office/drawing/2014/main" id="{F8ED5E74-2B1C-0ED2-0697-57A46991515C}"/>
              </a:ext>
            </a:extLst>
          </p:cNvPr>
          <p:cNvPicPr>
            <a:picLocks noChangeAspect="1"/>
          </p:cNvPicPr>
          <p:nvPr/>
        </p:nvPicPr>
        <p:blipFill>
          <a:blip r:embed="rId2"/>
          <a:stretch>
            <a:fillRect/>
          </a:stretch>
        </p:blipFill>
        <p:spPr>
          <a:xfrm>
            <a:off x="4679696" y="2359558"/>
            <a:ext cx="6903720" cy="3866083"/>
          </a:xfrm>
          <a:prstGeom prst="rect">
            <a:avLst/>
          </a:prstGeom>
        </p:spPr>
      </p:pic>
      <p:sp>
        <p:nvSpPr>
          <p:cNvPr id="7" name="Rectangle 6">
            <a:extLst>
              <a:ext uri="{FF2B5EF4-FFF2-40B4-BE49-F238E27FC236}">
                <a16:creationId xmlns:a16="http://schemas.microsoft.com/office/drawing/2014/main" id="{2E414D56-7D64-F682-EC61-6543DB10FCF5}"/>
              </a:ext>
            </a:extLst>
          </p:cNvPr>
          <p:cNvSpPr/>
          <p:nvPr/>
        </p:nvSpPr>
        <p:spPr>
          <a:xfrm>
            <a:off x="7346950" y="2533650"/>
            <a:ext cx="2260600" cy="311150"/>
          </a:xfrm>
          <a:prstGeom prst="rect">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2138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FB49F-D20D-4411-1822-5AA36D9E2D2A}"/>
              </a:ext>
            </a:extLst>
          </p:cNvPr>
          <p:cNvSpPr>
            <a:spLocks noGrp="1"/>
          </p:cNvSpPr>
          <p:nvPr>
            <p:ph type="title"/>
          </p:nvPr>
        </p:nvSpPr>
        <p:spPr/>
        <p:txBody>
          <a:bodyPr/>
          <a:lstStyle/>
          <a:p>
            <a:r>
              <a:rPr lang="en-US" dirty="0"/>
              <a:t>Finally, you must edit and run the script that does the simulation.</a:t>
            </a:r>
          </a:p>
        </p:txBody>
      </p:sp>
      <p:sp>
        <p:nvSpPr>
          <p:cNvPr id="3" name="Content Placeholder 2">
            <a:extLst>
              <a:ext uri="{FF2B5EF4-FFF2-40B4-BE49-F238E27FC236}">
                <a16:creationId xmlns:a16="http://schemas.microsoft.com/office/drawing/2014/main" id="{86027325-F992-661B-CD07-8AD921E0975B}"/>
              </a:ext>
            </a:extLst>
          </p:cNvPr>
          <p:cNvSpPr>
            <a:spLocks noGrp="1"/>
          </p:cNvSpPr>
          <p:nvPr>
            <p:ph idx="1"/>
          </p:nvPr>
        </p:nvSpPr>
        <p:spPr>
          <a:xfrm>
            <a:off x="838200" y="1825625"/>
            <a:ext cx="5353050" cy="4351338"/>
          </a:xfrm>
        </p:spPr>
        <p:txBody>
          <a:bodyPr>
            <a:normAutofit/>
          </a:bodyPr>
          <a:lstStyle/>
          <a:p>
            <a:pPr marL="0" indent="0">
              <a:buNone/>
            </a:pPr>
            <a:r>
              <a:rPr lang="en-US" sz="2400" dirty="0"/>
              <a:t>Note: the instructions are intentionally going to become less and less clear because we’re assuming that students are getting better and better at running MATLAB scripts. </a:t>
            </a:r>
          </a:p>
          <a:p>
            <a:pPr marL="0" indent="0">
              <a:buNone/>
            </a:pPr>
            <a:r>
              <a:rPr lang="en-US" sz="2400" dirty="0"/>
              <a:t>The locations that need to be edited for this assignment should be very obvious. Give it a try and ask Dr. B questions if you have problems!</a:t>
            </a:r>
          </a:p>
          <a:p>
            <a:pPr marL="0" indent="0">
              <a:buNone/>
            </a:pPr>
            <a:r>
              <a:rPr lang="en-US" sz="2400" dirty="0"/>
              <a:t>The core parts that we need to edit are shown </a:t>
            </a:r>
            <a:r>
              <a:rPr lang="en-US" sz="2400"/>
              <a:t>at right.</a:t>
            </a:r>
            <a:endParaRPr lang="en-US" sz="2400" dirty="0"/>
          </a:p>
        </p:txBody>
      </p:sp>
      <p:sp>
        <p:nvSpPr>
          <p:cNvPr id="4" name="TextBox 3">
            <a:extLst>
              <a:ext uri="{FF2B5EF4-FFF2-40B4-BE49-F238E27FC236}">
                <a16:creationId xmlns:a16="http://schemas.microsoft.com/office/drawing/2014/main" id="{4F8E7B87-576E-1FBC-E6BE-86E3E41FB9F5}"/>
              </a:ext>
            </a:extLst>
          </p:cNvPr>
          <p:cNvSpPr txBox="1"/>
          <p:nvPr/>
        </p:nvSpPr>
        <p:spPr>
          <a:xfrm>
            <a:off x="6832600" y="1231305"/>
            <a:ext cx="4251485" cy="5539978"/>
          </a:xfrm>
          <a:prstGeom prst="rect">
            <a:avLst/>
          </a:prstGeom>
          <a:noFill/>
        </p:spPr>
        <p:txBody>
          <a:bodyPr wrap="none" rtlCol="0">
            <a:spAutoFit/>
          </a:bodyPr>
          <a:lstStyle/>
          <a:p>
            <a:pPr>
              <a:buNone/>
            </a:pPr>
            <a:r>
              <a:rPr lang="en-US" sz="600" b="0" i="0" dirty="0">
                <a:solidFill>
                  <a:srgbClr val="008013"/>
                </a:solidFill>
                <a:effectLst/>
                <a:latin typeface="Menlo"/>
              </a:rPr>
              <a:t>% Set the simulation time/state arguments</a:t>
            </a:r>
            <a:endParaRPr lang="en-US" sz="600" b="0" i="0" dirty="0">
              <a:effectLst/>
              <a:latin typeface="Menlo"/>
            </a:endParaRPr>
          </a:p>
          <a:p>
            <a:pPr>
              <a:buNone/>
            </a:pPr>
            <a:r>
              <a:rPr lang="en-US" sz="600" b="0" i="0" dirty="0" err="1">
                <a:effectLst/>
                <a:latin typeface="Menlo"/>
              </a:rPr>
              <a:t>initialStates</a:t>
            </a:r>
            <a:r>
              <a:rPr lang="en-US" sz="600" b="0" i="0" dirty="0">
                <a:effectLst/>
                <a:latin typeface="Menlo"/>
              </a:rPr>
              <a:t> = 0; </a:t>
            </a:r>
            <a:r>
              <a:rPr lang="en-US" sz="600" b="0" i="0" dirty="0">
                <a:solidFill>
                  <a:srgbClr val="008013"/>
                </a:solidFill>
                <a:effectLst/>
                <a:latin typeface="Menlo"/>
              </a:rPr>
              <a:t>% [Omega] in [rad/sec]</a:t>
            </a:r>
            <a:endParaRPr lang="en-US" sz="600" b="0" i="0" dirty="0">
              <a:effectLst/>
              <a:latin typeface="Menlo"/>
            </a:endParaRPr>
          </a:p>
          <a:p>
            <a:pPr>
              <a:buNone/>
            </a:pPr>
            <a:r>
              <a:rPr lang="en-US" sz="600" b="0" i="0" dirty="0" err="1">
                <a:effectLst/>
                <a:latin typeface="Menlo"/>
              </a:rPr>
              <a:t>deltaT</a:t>
            </a:r>
            <a:r>
              <a:rPr lang="en-US" sz="600" b="0" i="0" dirty="0">
                <a:effectLst/>
                <a:latin typeface="Menlo"/>
              </a:rPr>
              <a:t> = 0.01; </a:t>
            </a:r>
            <a:r>
              <a:rPr lang="en-US" sz="600" b="0" i="0" dirty="0">
                <a:solidFill>
                  <a:srgbClr val="008013"/>
                </a:solidFill>
                <a:effectLst/>
                <a:latin typeface="Menlo"/>
              </a:rPr>
              <a:t>% Units are [sec]</a:t>
            </a:r>
            <a:endParaRPr lang="en-US" sz="600" b="0" i="0" dirty="0">
              <a:effectLst/>
              <a:latin typeface="Menlo"/>
            </a:endParaRPr>
          </a:p>
          <a:p>
            <a:pPr>
              <a:buNone/>
            </a:pPr>
            <a:r>
              <a:rPr lang="en-US" sz="600" b="0" i="0" dirty="0" err="1">
                <a:effectLst/>
                <a:latin typeface="Menlo"/>
              </a:rPr>
              <a:t>startTime</a:t>
            </a:r>
            <a:r>
              <a:rPr lang="en-US" sz="600" b="0" i="0" dirty="0">
                <a:effectLst/>
                <a:latin typeface="Menlo"/>
              </a:rPr>
              <a:t> = 0;</a:t>
            </a:r>
          </a:p>
          <a:p>
            <a:pPr>
              <a:buNone/>
            </a:pPr>
            <a:r>
              <a:rPr lang="en-US" sz="600" b="0" i="0" dirty="0" err="1">
                <a:effectLst/>
                <a:latin typeface="Menlo"/>
              </a:rPr>
              <a:t>endTime</a:t>
            </a:r>
            <a:r>
              <a:rPr lang="en-US" sz="600" b="0" i="0" dirty="0">
                <a:effectLst/>
                <a:latin typeface="Menlo"/>
              </a:rPr>
              <a:t> = 4.5;</a:t>
            </a:r>
          </a:p>
          <a:p>
            <a:pPr>
              <a:buNone/>
            </a:pPr>
            <a:r>
              <a:rPr lang="en-US" sz="600" b="0" i="0" dirty="0" err="1">
                <a:effectLst/>
                <a:latin typeface="Menlo"/>
              </a:rPr>
              <a:t>timeInterval</a:t>
            </a:r>
            <a:r>
              <a:rPr lang="en-US" sz="600" b="0" i="0" dirty="0">
                <a:effectLst/>
                <a:latin typeface="Menlo"/>
              </a:rPr>
              <a:t> = [</a:t>
            </a:r>
            <a:r>
              <a:rPr lang="en-US" sz="600" b="0" i="0" dirty="0" err="1">
                <a:effectLst/>
                <a:latin typeface="Menlo"/>
              </a:rPr>
              <a:t>startTime</a:t>
            </a:r>
            <a:r>
              <a:rPr lang="en-US" sz="600" b="0" i="0" dirty="0">
                <a:effectLst/>
                <a:latin typeface="Menlo"/>
              </a:rPr>
              <a:t> </a:t>
            </a:r>
            <a:r>
              <a:rPr lang="en-US" sz="600" b="0" i="0" dirty="0" err="1">
                <a:effectLst/>
                <a:latin typeface="Menlo"/>
              </a:rPr>
              <a:t>endTime</a:t>
            </a:r>
            <a:r>
              <a:rPr lang="en-US" sz="600" b="0" i="0" dirty="0">
                <a:effectLst/>
                <a:latin typeface="Menlo"/>
              </a:rPr>
              <a:t>]; </a:t>
            </a:r>
            <a:r>
              <a:rPr lang="en-US" sz="600" b="0" i="0" dirty="0">
                <a:solidFill>
                  <a:srgbClr val="008013"/>
                </a:solidFill>
                <a:effectLst/>
                <a:latin typeface="Menlo"/>
              </a:rPr>
              <a:t>% Units are [sec]</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Set up inputs</a:t>
            </a:r>
            <a:endParaRPr lang="en-US" sz="600" b="0" i="0" dirty="0">
              <a:effectLst/>
              <a:latin typeface="Menlo"/>
            </a:endParaRPr>
          </a:p>
          <a:p>
            <a:pPr>
              <a:buNone/>
            </a:pPr>
            <a:r>
              <a:rPr lang="en-US" sz="600" b="0" i="0" dirty="0" err="1">
                <a:effectLst/>
                <a:latin typeface="Menlo"/>
              </a:rPr>
              <a:t>simulationTimes</a:t>
            </a:r>
            <a:r>
              <a:rPr lang="en-US" sz="600" b="0" i="0" dirty="0">
                <a:effectLst/>
                <a:latin typeface="Menlo"/>
              </a:rPr>
              <a:t> = (</a:t>
            </a:r>
            <a:r>
              <a:rPr lang="en-US" sz="600" b="0" i="0" dirty="0" err="1">
                <a:effectLst/>
                <a:latin typeface="Menlo"/>
              </a:rPr>
              <a:t>startTime:deltaT:endTime</a:t>
            </a:r>
            <a:r>
              <a:rPr lang="en-US" sz="600" b="0" i="0" dirty="0">
                <a:effectLst/>
                <a:latin typeface="Menlo"/>
              </a:rPr>
              <a:t>)';</a:t>
            </a:r>
          </a:p>
          <a:p>
            <a:pPr>
              <a:buNone/>
            </a:pPr>
            <a:r>
              <a:rPr lang="en-US" sz="600" b="0" i="0" dirty="0" err="1">
                <a:effectLst/>
                <a:latin typeface="Menlo"/>
              </a:rPr>
              <a:t>torque_amplitude_Nm</a:t>
            </a:r>
            <a:r>
              <a:rPr lang="en-US" sz="600" b="0" i="0" dirty="0">
                <a:effectLst/>
                <a:latin typeface="Menlo"/>
              </a:rPr>
              <a:t> = 142 ; </a:t>
            </a:r>
            <a:r>
              <a:rPr lang="en-US" sz="600" b="0" i="0" dirty="0">
                <a:solidFill>
                  <a:srgbClr val="008013"/>
                </a:solidFill>
                <a:effectLst/>
                <a:latin typeface="Menlo"/>
              </a:rPr>
              <a:t>% Newton-meters, this is for a 2013 Prius</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 Set up a sinewave input</a:t>
            </a:r>
            <a:endParaRPr lang="en-US" sz="600" b="0" i="0" dirty="0">
              <a:effectLst/>
              <a:latin typeface="Menlo"/>
            </a:endParaRPr>
          </a:p>
          <a:p>
            <a:pPr>
              <a:buNone/>
            </a:pPr>
            <a:r>
              <a:rPr lang="en-US" sz="600" b="0" i="0" dirty="0">
                <a:solidFill>
                  <a:srgbClr val="008013"/>
                </a:solidFill>
                <a:effectLst/>
                <a:latin typeface="Menlo"/>
              </a:rPr>
              <a:t>% Period = 3; % Units are seconds. A typical lane change is about 3 to 4 seconds based on experimental highway measurements</a:t>
            </a:r>
            <a:endParaRPr lang="en-US" sz="600" b="0" i="0" dirty="0">
              <a:effectLst/>
              <a:latin typeface="Menlo"/>
            </a:endParaRPr>
          </a:p>
          <a:p>
            <a:pPr>
              <a:buNone/>
            </a:pPr>
            <a:r>
              <a:rPr lang="en-US" sz="600" b="0" i="0" dirty="0">
                <a:solidFill>
                  <a:srgbClr val="008013"/>
                </a:solidFill>
                <a:effectLst/>
                <a:latin typeface="Menlo"/>
              </a:rPr>
              <a:t>% </a:t>
            </a:r>
            <a:r>
              <a:rPr lang="en-US" sz="600" b="0" i="0" dirty="0" err="1">
                <a:solidFill>
                  <a:srgbClr val="008013"/>
                </a:solidFill>
                <a:effectLst/>
                <a:latin typeface="Menlo"/>
              </a:rPr>
              <a:t>inputsVsTime</a:t>
            </a:r>
            <a:r>
              <a:rPr lang="en-US" sz="600" b="0" i="0" dirty="0">
                <a:solidFill>
                  <a:srgbClr val="008013"/>
                </a:solidFill>
                <a:effectLst/>
                <a:latin typeface="Menlo"/>
              </a:rPr>
              <a:t> = [</a:t>
            </a:r>
            <a:r>
              <a:rPr lang="en-US" sz="600" b="0" i="0" dirty="0" err="1">
                <a:solidFill>
                  <a:srgbClr val="008013"/>
                </a:solidFill>
                <a:effectLst/>
                <a:latin typeface="Menlo"/>
              </a:rPr>
              <a:t>simulationTimes</a:t>
            </a:r>
            <a:r>
              <a:rPr lang="en-US" sz="600" b="0" i="0" dirty="0">
                <a:solidFill>
                  <a:srgbClr val="008013"/>
                </a:solidFill>
                <a:effectLst/>
                <a:latin typeface="Menlo"/>
              </a:rPr>
              <a:t> </a:t>
            </a:r>
            <a:r>
              <a:rPr lang="en-US" sz="600" b="0" i="0" dirty="0" err="1">
                <a:solidFill>
                  <a:srgbClr val="008013"/>
                </a:solidFill>
                <a:effectLst/>
                <a:latin typeface="Menlo"/>
              </a:rPr>
              <a:t>torque_amplitude_Nm</a:t>
            </a:r>
            <a:r>
              <a:rPr lang="en-US" sz="600" b="0" i="0" dirty="0">
                <a:solidFill>
                  <a:srgbClr val="008013"/>
                </a:solidFill>
                <a:effectLst/>
                <a:latin typeface="Menlo"/>
              </a:rPr>
              <a:t>*pi/180*sin((2*pi/Period)*</a:t>
            </a:r>
            <a:r>
              <a:rPr lang="en-US" sz="600" b="0" i="0" dirty="0" err="1">
                <a:solidFill>
                  <a:srgbClr val="008013"/>
                </a:solidFill>
                <a:effectLst/>
                <a:latin typeface="Menlo"/>
              </a:rPr>
              <a:t>simulationTimes</a:t>
            </a:r>
            <a:r>
              <a:rPr lang="en-US" sz="600" b="0" i="0" dirty="0">
                <a:solidFill>
                  <a:srgbClr val="008013"/>
                </a:solidFill>
                <a:effectLst/>
                <a:latin typeface="Menlo"/>
              </a:rPr>
              <a:t>)]; % [times steering angles]</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Set up a step input</a:t>
            </a:r>
            <a:endParaRPr lang="en-US" sz="600" b="0" i="0" dirty="0">
              <a:effectLst/>
              <a:latin typeface="Menlo"/>
            </a:endParaRPr>
          </a:p>
          <a:p>
            <a:pPr>
              <a:buNone/>
            </a:pPr>
            <a:r>
              <a:rPr lang="en-US" sz="600" b="0" i="0" dirty="0" err="1">
                <a:effectLst/>
                <a:latin typeface="Menlo"/>
              </a:rPr>
              <a:t>stepTorqueInput</a:t>
            </a:r>
            <a:r>
              <a:rPr lang="en-US" sz="600" b="0" i="0" dirty="0">
                <a:effectLst/>
                <a:latin typeface="Menlo"/>
              </a:rPr>
              <a:t> = ones(length(</a:t>
            </a:r>
            <a:r>
              <a:rPr lang="en-US" sz="600" b="0" i="0" dirty="0" err="1">
                <a:effectLst/>
                <a:latin typeface="Menlo"/>
              </a:rPr>
              <a:t>simulationTimes</a:t>
            </a:r>
            <a:r>
              <a:rPr lang="en-US" sz="600" b="0" i="0" dirty="0">
                <a:effectLst/>
                <a:latin typeface="Menlo"/>
              </a:rPr>
              <a:t>),1);</a:t>
            </a:r>
          </a:p>
          <a:p>
            <a:pPr>
              <a:buNone/>
            </a:pPr>
            <a:r>
              <a:rPr lang="en-US" sz="600" b="0" i="0" dirty="0" err="1">
                <a:effectLst/>
                <a:latin typeface="Menlo"/>
              </a:rPr>
              <a:t>stepTorqueInput</a:t>
            </a:r>
            <a:r>
              <a:rPr lang="en-US" sz="600" b="0" i="0" dirty="0">
                <a:effectLst/>
                <a:latin typeface="Menlo"/>
              </a:rPr>
              <a:t>(1,1) = 0;</a:t>
            </a:r>
          </a:p>
          <a:p>
            <a:pPr>
              <a:buNone/>
            </a:pPr>
            <a:r>
              <a:rPr lang="en-US" sz="600" b="0" i="0" dirty="0" err="1">
                <a:effectLst/>
                <a:latin typeface="Menlo"/>
              </a:rPr>
              <a:t>inputsVsTime</a:t>
            </a:r>
            <a:r>
              <a:rPr lang="en-US" sz="600" b="0" i="0" dirty="0">
                <a:effectLst/>
                <a:latin typeface="Menlo"/>
              </a:rPr>
              <a:t> = [</a:t>
            </a:r>
            <a:r>
              <a:rPr lang="en-US" sz="600" b="0" i="0" dirty="0" err="1">
                <a:effectLst/>
                <a:latin typeface="Menlo"/>
              </a:rPr>
              <a:t>simulationTimes</a:t>
            </a:r>
            <a:r>
              <a:rPr lang="en-US" sz="600" b="0" i="0" dirty="0">
                <a:effectLst/>
                <a:latin typeface="Menlo"/>
              </a:rPr>
              <a:t> </a:t>
            </a:r>
            <a:r>
              <a:rPr lang="en-US" sz="600" b="0" i="0" dirty="0" err="1">
                <a:effectLst/>
                <a:latin typeface="Menlo"/>
              </a:rPr>
              <a:t>torque_amplitude_Nm</a:t>
            </a:r>
            <a:r>
              <a:rPr lang="en-US" sz="600" b="0" i="0" dirty="0">
                <a:effectLst/>
                <a:latin typeface="Menlo"/>
              </a:rPr>
              <a:t>*</a:t>
            </a:r>
            <a:r>
              <a:rPr lang="en-US" sz="600" b="0" i="0" dirty="0" err="1">
                <a:effectLst/>
                <a:latin typeface="Menlo"/>
              </a:rPr>
              <a:t>stepTorqueInput</a:t>
            </a:r>
            <a:r>
              <a:rPr lang="en-US" sz="600" b="0" i="0" dirty="0">
                <a:effectLst/>
                <a:latin typeface="Menlo"/>
              </a:rPr>
              <a:t>]; </a:t>
            </a:r>
            <a:r>
              <a:rPr lang="en-US" sz="600" b="0" i="0" dirty="0">
                <a:solidFill>
                  <a:srgbClr val="008013"/>
                </a:solidFill>
                <a:effectLst/>
                <a:latin typeface="Menlo"/>
              </a:rPr>
              <a:t>% [times torques]</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Set up parameters</a:t>
            </a:r>
            <a:endParaRPr lang="en-US" sz="600" b="0" i="0" dirty="0">
              <a:effectLst/>
              <a:latin typeface="Menlo"/>
            </a:endParaRPr>
          </a:p>
          <a:p>
            <a:pPr>
              <a:buNone/>
            </a:pPr>
            <a:r>
              <a:rPr lang="en-US" sz="600" b="0" i="0" dirty="0">
                <a:effectLst/>
                <a:latin typeface="Menlo"/>
              </a:rPr>
              <a:t>clear </a:t>
            </a:r>
            <a:r>
              <a:rPr lang="en-US" sz="600" b="0" i="0" dirty="0">
                <a:solidFill>
                  <a:srgbClr val="A709F5"/>
                </a:solidFill>
                <a:effectLst/>
                <a:latin typeface="Menlo"/>
              </a:rPr>
              <a:t>parameters</a:t>
            </a:r>
            <a:endParaRPr lang="en-US" sz="600" b="0" i="0" dirty="0">
              <a:effectLst/>
              <a:latin typeface="Menlo"/>
            </a:endParaRPr>
          </a:p>
          <a:p>
            <a:pPr>
              <a:buNone/>
            </a:pPr>
            <a:r>
              <a:rPr lang="en-US" sz="600" b="0" i="0" dirty="0">
                <a:solidFill>
                  <a:srgbClr val="008013"/>
                </a:solidFill>
                <a:effectLst/>
                <a:latin typeface="Menlo"/>
              </a:rPr>
              <a:t>% Use the 2nd and 3rd numbers in your Canvas number to fill in J and B. </a:t>
            </a:r>
            <a:endParaRPr lang="en-US" sz="600" b="0" i="0" dirty="0">
              <a:effectLst/>
              <a:latin typeface="Menlo"/>
            </a:endParaRPr>
          </a:p>
          <a:p>
            <a:pPr>
              <a:buNone/>
            </a:pPr>
            <a:r>
              <a:rPr lang="en-US" sz="600" b="0" i="0" dirty="0">
                <a:solidFill>
                  <a:srgbClr val="008013"/>
                </a:solidFill>
                <a:effectLst/>
                <a:latin typeface="Menlo"/>
              </a:rPr>
              <a:t>% if 2nd number is 1 then J is 1, if 2 then J is 2. If it is 0, use 10</a:t>
            </a:r>
            <a:endParaRPr lang="en-US" sz="600" b="0" i="0" dirty="0">
              <a:effectLst/>
              <a:latin typeface="Menlo"/>
            </a:endParaRPr>
          </a:p>
          <a:p>
            <a:pPr>
              <a:buNone/>
            </a:pPr>
            <a:r>
              <a:rPr lang="en-US" sz="600" b="0" i="0" dirty="0">
                <a:solidFill>
                  <a:srgbClr val="008013"/>
                </a:solidFill>
                <a:effectLst/>
                <a:latin typeface="Menlo"/>
              </a:rPr>
              <a:t>% if 3rd number is 1 then B is 1, if then B is 2. If it is 0, use 10</a:t>
            </a:r>
            <a:endParaRPr lang="en-US" sz="600" b="0" i="0" dirty="0">
              <a:effectLst/>
              <a:latin typeface="Menlo"/>
            </a:endParaRPr>
          </a:p>
          <a:p>
            <a:pPr>
              <a:buNone/>
            </a:pPr>
            <a:r>
              <a:rPr lang="en-US" sz="600" b="0" i="0" dirty="0" err="1">
                <a:effectLst/>
                <a:latin typeface="Menlo"/>
              </a:rPr>
              <a:t>parameters.J</a:t>
            </a:r>
            <a:r>
              <a:rPr lang="en-US" sz="600" b="0" i="0" dirty="0">
                <a:effectLst/>
                <a:latin typeface="Menlo"/>
              </a:rPr>
              <a:t> = 10; </a:t>
            </a:r>
            <a:r>
              <a:rPr lang="en-US" sz="600" b="0" i="0" dirty="0">
                <a:solidFill>
                  <a:srgbClr val="008013"/>
                </a:solidFill>
                <a:effectLst/>
                <a:latin typeface="Menlo"/>
              </a:rPr>
              <a:t>% J is the rotational inertia of the vehicle, in kg-m^2</a:t>
            </a:r>
            <a:endParaRPr lang="en-US" sz="600" b="0" i="0" dirty="0">
              <a:effectLst/>
              <a:latin typeface="Menlo"/>
            </a:endParaRPr>
          </a:p>
          <a:p>
            <a:pPr>
              <a:buNone/>
            </a:pPr>
            <a:r>
              <a:rPr lang="en-US" sz="600" b="0" i="0" dirty="0" err="1">
                <a:effectLst/>
                <a:latin typeface="Menlo"/>
              </a:rPr>
              <a:t>parameters.B</a:t>
            </a:r>
            <a:r>
              <a:rPr lang="en-US" sz="600" b="0" i="0" dirty="0">
                <a:effectLst/>
                <a:latin typeface="Menlo"/>
              </a:rPr>
              <a:t> = 10; </a:t>
            </a:r>
            <a:r>
              <a:rPr lang="en-US" sz="600" b="0" i="0" dirty="0">
                <a:solidFill>
                  <a:srgbClr val="008013"/>
                </a:solidFill>
                <a:effectLst/>
                <a:latin typeface="Menlo"/>
              </a:rPr>
              <a:t>% B is the rotational viscous drag, in (N-m)/(rad/sec)</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Call the function</a:t>
            </a:r>
            <a:endParaRPr lang="en-US" sz="600" b="0" i="0" dirty="0">
              <a:effectLst/>
              <a:latin typeface="Menlo"/>
            </a:endParaRPr>
          </a:p>
          <a:p>
            <a:pPr>
              <a:buNone/>
            </a:pPr>
            <a:r>
              <a:rPr lang="en-US" sz="600" b="0" i="0" dirty="0">
                <a:effectLst/>
                <a:latin typeface="Menlo"/>
              </a:rPr>
              <a:t>[</a:t>
            </a:r>
            <a:r>
              <a:rPr lang="en-US" sz="600" b="0" i="0" dirty="0" err="1">
                <a:effectLst/>
                <a:latin typeface="Menlo"/>
              </a:rPr>
              <a:t>stateTrajectory</a:t>
            </a:r>
            <a:r>
              <a:rPr lang="en-US" sz="600" b="0" i="0" dirty="0">
                <a:effectLst/>
                <a:latin typeface="Menlo"/>
              </a:rPr>
              <a:t>, t, </a:t>
            </a:r>
            <a:r>
              <a:rPr lang="en-US" sz="600" b="0" i="0" dirty="0" err="1">
                <a:effectLst/>
                <a:latin typeface="Menlo"/>
              </a:rPr>
              <a:t>inputHistory</a:t>
            </a:r>
            <a:r>
              <a:rPr lang="en-US" sz="600" b="0" i="0" dirty="0">
                <a:effectLst/>
                <a:latin typeface="Menlo"/>
              </a:rPr>
              <a:t>] = </a:t>
            </a:r>
            <a:r>
              <a:rPr lang="en-US" sz="600" b="0" i="0" dirty="0">
                <a:solidFill>
                  <a:srgbClr val="0E00FF"/>
                </a:solidFill>
                <a:effectLst/>
                <a:latin typeface="Menlo"/>
              </a:rPr>
              <a:t>...</a:t>
            </a:r>
            <a:endParaRPr lang="en-US" sz="600" b="0" i="0" dirty="0">
              <a:effectLst/>
              <a:latin typeface="Menlo"/>
            </a:endParaRPr>
          </a:p>
          <a:p>
            <a:pPr>
              <a:buNone/>
            </a:pPr>
            <a:r>
              <a:rPr lang="en-US" sz="600" b="0" i="0" dirty="0">
                <a:effectLst/>
                <a:latin typeface="Menlo"/>
              </a:rPr>
              <a:t>fcn_VD_FirstOrderEngineModelRK4(</a:t>
            </a:r>
            <a:r>
              <a:rPr lang="en-US" sz="600" b="0" i="0" dirty="0" err="1">
                <a:effectLst/>
                <a:latin typeface="Menlo"/>
              </a:rPr>
              <a:t>initialStates</a:t>
            </a:r>
            <a:r>
              <a:rPr lang="en-US" sz="600" b="0" i="0" dirty="0">
                <a:effectLst/>
                <a:latin typeface="Menlo"/>
              </a:rPr>
              <a:t>, </a:t>
            </a:r>
            <a:r>
              <a:rPr lang="en-US" sz="600" b="0" i="0" dirty="0" err="1">
                <a:effectLst/>
                <a:latin typeface="Menlo"/>
              </a:rPr>
              <a:t>deltaT</a:t>
            </a:r>
            <a:r>
              <a:rPr lang="en-US" sz="600" b="0" i="0" dirty="0">
                <a:effectLst/>
                <a:latin typeface="Menlo"/>
              </a:rPr>
              <a:t>, </a:t>
            </a:r>
            <a:r>
              <a:rPr lang="en-US" sz="600" b="0" i="0" dirty="0">
                <a:solidFill>
                  <a:srgbClr val="0E00FF"/>
                </a:solidFill>
                <a:effectLst/>
                <a:latin typeface="Menlo"/>
              </a:rPr>
              <a:t>...</a:t>
            </a:r>
            <a:endParaRPr lang="en-US" sz="600" b="0" i="0" dirty="0">
              <a:effectLst/>
              <a:latin typeface="Menlo"/>
            </a:endParaRPr>
          </a:p>
          <a:p>
            <a:pPr>
              <a:buNone/>
            </a:pPr>
            <a:r>
              <a:rPr lang="en-US" sz="600" b="0" i="0" dirty="0" err="1">
                <a:effectLst/>
                <a:latin typeface="Menlo"/>
              </a:rPr>
              <a:t>timeInterval</a:t>
            </a:r>
            <a:r>
              <a:rPr lang="en-US" sz="600" b="0" i="0" dirty="0">
                <a:effectLst/>
                <a:latin typeface="Menlo"/>
              </a:rPr>
              <a:t>, </a:t>
            </a:r>
            <a:r>
              <a:rPr lang="en-US" sz="600" b="0" i="0" dirty="0" err="1">
                <a:effectLst/>
                <a:latin typeface="Menlo"/>
              </a:rPr>
              <a:t>inputsVsTime</a:t>
            </a:r>
            <a:r>
              <a:rPr lang="en-US" sz="600" b="0" i="0" dirty="0">
                <a:effectLst/>
                <a:latin typeface="Menlo"/>
              </a:rPr>
              <a:t>, parameters, (</a:t>
            </a:r>
            <a:r>
              <a:rPr lang="en-US" sz="600" b="0" i="0" dirty="0" err="1">
                <a:effectLst/>
                <a:latin typeface="Menlo"/>
              </a:rPr>
              <a:t>figNum</a:t>
            </a:r>
            <a:r>
              <a:rPr lang="en-US" sz="600" b="0" i="0" dirty="0">
                <a:effectLst/>
                <a:latin typeface="Menlo"/>
              </a:rPr>
              <a:t>));</a:t>
            </a: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Get the torque at the first instant at or after 1 second</a:t>
            </a:r>
            <a:endParaRPr lang="en-US" sz="600" b="0" i="0" dirty="0">
              <a:effectLst/>
              <a:latin typeface="Menlo"/>
            </a:endParaRPr>
          </a:p>
          <a:p>
            <a:pPr>
              <a:buNone/>
            </a:pPr>
            <a:r>
              <a:rPr lang="en-US" sz="600" b="0" i="0" dirty="0" err="1">
                <a:effectLst/>
                <a:latin typeface="Menlo"/>
              </a:rPr>
              <a:t>timeToFind</a:t>
            </a:r>
            <a:r>
              <a:rPr lang="en-US" sz="600" b="0" i="0" dirty="0">
                <a:effectLst/>
                <a:latin typeface="Menlo"/>
              </a:rPr>
              <a:t> = 1.00; </a:t>
            </a:r>
            <a:r>
              <a:rPr lang="en-US" sz="600" b="0" i="0" dirty="0">
                <a:solidFill>
                  <a:srgbClr val="008013"/>
                </a:solidFill>
                <a:effectLst/>
                <a:latin typeface="Menlo"/>
              </a:rPr>
              <a:t>% Seconds</a:t>
            </a:r>
            <a:endParaRPr lang="en-US" sz="600" b="0" i="0" dirty="0">
              <a:effectLst/>
              <a:latin typeface="Menlo"/>
            </a:endParaRPr>
          </a:p>
          <a:p>
            <a:pPr>
              <a:buNone/>
            </a:pPr>
            <a:r>
              <a:rPr lang="en-US" sz="600" b="0" i="0" dirty="0" err="1">
                <a:effectLst/>
                <a:latin typeface="Menlo"/>
              </a:rPr>
              <a:t>indexToUse</a:t>
            </a:r>
            <a:r>
              <a:rPr lang="en-US" sz="600" b="0" i="0" dirty="0">
                <a:effectLst/>
                <a:latin typeface="Menlo"/>
              </a:rPr>
              <a:t> = find(t&gt;=timeToFind,1);</a:t>
            </a:r>
          </a:p>
          <a:p>
            <a:pPr>
              <a:buNone/>
            </a:pPr>
            <a:r>
              <a:rPr lang="en-US" sz="600" b="0" i="0" dirty="0" err="1">
                <a:effectLst/>
                <a:latin typeface="Menlo"/>
              </a:rPr>
              <a:t>statesAtTimeToFind</a:t>
            </a:r>
            <a:r>
              <a:rPr lang="en-US" sz="600" b="0" i="0" dirty="0">
                <a:effectLst/>
                <a:latin typeface="Menlo"/>
              </a:rPr>
              <a:t> = </a:t>
            </a:r>
            <a:r>
              <a:rPr lang="en-US" sz="600" b="0" i="0" dirty="0" err="1">
                <a:effectLst/>
                <a:latin typeface="Menlo"/>
              </a:rPr>
              <a:t>stateTrajectory</a:t>
            </a:r>
            <a:r>
              <a:rPr lang="en-US" sz="600" b="0" i="0" dirty="0">
                <a:effectLst/>
                <a:latin typeface="Menlo"/>
              </a:rPr>
              <a:t>(</a:t>
            </a:r>
            <a:r>
              <a:rPr lang="en-US" sz="600" b="0" i="0" dirty="0" err="1">
                <a:effectLst/>
                <a:latin typeface="Menlo"/>
              </a:rPr>
              <a:t>indexToUse</a:t>
            </a:r>
            <a:r>
              <a:rPr lang="en-US" sz="600" b="0" i="0" dirty="0">
                <a:effectLst/>
                <a:latin typeface="Menlo"/>
              </a:rPr>
              <a:t>,:);</a:t>
            </a:r>
          </a:p>
          <a:p>
            <a:pPr>
              <a:buNone/>
            </a:pPr>
            <a:r>
              <a:rPr lang="en-US" sz="600" b="0" i="0" dirty="0" err="1">
                <a:effectLst/>
                <a:latin typeface="Menlo"/>
              </a:rPr>
              <a:t>fprintf</a:t>
            </a:r>
            <a:r>
              <a:rPr lang="en-US" sz="600" b="0" i="0" dirty="0">
                <a:effectLst/>
                <a:latin typeface="Menlo"/>
              </a:rPr>
              <a:t>(1,</a:t>
            </a:r>
            <a:r>
              <a:rPr lang="en-US" sz="600" b="0" i="0" dirty="0">
                <a:solidFill>
                  <a:srgbClr val="A709F5"/>
                </a:solidFill>
                <a:effectLst/>
                <a:latin typeface="Menlo"/>
              </a:rPr>
              <a:t>'\</a:t>
            </a:r>
            <a:r>
              <a:rPr lang="en-US" sz="600" b="0" i="0" dirty="0" err="1">
                <a:solidFill>
                  <a:srgbClr val="A709F5"/>
                </a:solidFill>
                <a:effectLst/>
                <a:latin typeface="Menlo"/>
              </a:rPr>
              <a:t>nAt</a:t>
            </a:r>
            <a:r>
              <a:rPr lang="en-US" sz="600" b="0" i="0" dirty="0">
                <a:solidFill>
                  <a:srgbClr val="A709F5"/>
                </a:solidFill>
                <a:effectLst/>
                <a:latin typeface="Menlo"/>
              </a:rPr>
              <a:t> time: %.2f, the speed was: %.2f\n'</a:t>
            </a:r>
            <a:r>
              <a:rPr lang="en-US" sz="600" b="0" i="0" dirty="0">
                <a:effectLst/>
                <a:latin typeface="Menlo"/>
              </a:rPr>
              <a:t>,</a:t>
            </a:r>
            <a:r>
              <a:rPr lang="en-US" sz="600" b="0" i="0" dirty="0" err="1">
                <a:effectLst/>
                <a:latin typeface="Menlo"/>
              </a:rPr>
              <a:t>timeToFind,statesAtTimeToFind</a:t>
            </a:r>
            <a:r>
              <a:rPr lang="en-US" sz="600" b="0" i="0" dirty="0">
                <a:effectLst/>
                <a:latin typeface="Menlo"/>
              </a:rPr>
              <a:t>(1,1));</a:t>
            </a:r>
          </a:p>
          <a:p>
            <a:pPr>
              <a:buNone/>
            </a:pPr>
            <a:r>
              <a:rPr lang="en-US" sz="600" b="0" i="0" dirty="0">
                <a:solidFill>
                  <a:srgbClr val="008013"/>
                </a:solidFill>
                <a:effectLst/>
                <a:latin typeface="Menlo"/>
              </a:rPr>
              <a:t>% Dr B's result: 8.92 rad/sec. This is ~90 RPM so the engine isn't really</a:t>
            </a:r>
            <a:endParaRPr lang="en-US" sz="600" b="0" i="0" dirty="0">
              <a:effectLst/>
              <a:latin typeface="Menlo"/>
            </a:endParaRPr>
          </a:p>
          <a:p>
            <a:pPr>
              <a:buNone/>
            </a:pPr>
            <a:r>
              <a:rPr lang="en-US" sz="600" b="0" i="0" dirty="0">
                <a:solidFill>
                  <a:srgbClr val="008013"/>
                </a:solidFill>
                <a:effectLst/>
                <a:latin typeface="Menlo"/>
              </a:rPr>
              <a:t>% running. Why is this so wrong? the viscous </a:t>
            </a:r>
            <a:r>
              <a:rPr lang="en-US" sz="600" b="0" i="0" dirty="0" err="1">
                <a:solidFill>
                  <a:srgbClr val="008013"/>
                </a:solidFill>
                <a:effectLst/>
                <a:latin typeface="Menlo"/>
              </a:rPr>
              <a:t>friciton</a:t>
            </a:r>
            <a:r>
              <a:rPr lang="en-US" sz="600" b="0" i="0" dirty="0">
                <a:solidFill>
                  <a:srgbClr val="008013"/>
                </a:solidFill>
                <a:effectLst/>
                <a:latin typeface="Menlo"/>
              </a:rPr>
              <a:t> is WAY too high</a:t>
            </a:r>
            <a:endParaRPr lang="en-US" sz="600" b="0" i="0" dirty="0">
              <a:effectLst/>
              <a:latin typeface="Menlo"/>
            </a:endParaRPr>
          </a:p>
          <a:p>
            <a:pPr>
              <a:buNone/>
            </a:pPr>
            <a:r>
              <a:rPr lang="en-US" sz="600" b="0" i="0" dirty="0">
                <a:solidFill>
                  <a:srgbClr val="008013"/>
                </a:solidFill>
                <a:effectLst/>
                <a:latin typeface="Menlo"/>
              </a:rPr>
              <a:t>% compared to the real engine. For reference, an engine at 1000 RPM is</a:t>
            </a:r>
            <a:endParaRPr lang="en-US" sz="600" b="0" i="0" dirty="0">
              <a:effectLst/>
              <a:latin typeface="Menlo"/>
            </a:endParaRPr>
          </a:p>
          <a:p>
            <a:pPr>
              <a:buNone/>
            </a:pPr>
            <a:r>
              <a:rPr lang="en-US" sz="600" b="0" i="0" dirty="0">
                <a:solidFill>
                  <a:srgbClr val="008013"/>
                </a:solidFill>
                <a:effectLst/>
                <a:latin typeface="Menlo"/>
              </a:rPr>
              <a:t>% about 100 rad/sec, and this value, times friction, is the steady-state</a:t>
            </a:r>
            <a:endParaRPr lang="en-US" sz="600" b="0" i="0" dirty="0">
              <a:effectLst/>
              <a:latin typeface="Menlo"/>
            </a:endParaRPr>
          </a:p>
          <a:p>
            <a:pPr>
              <a:buNone/>
            </a:pPr>
            <a:r>
              <a:rPr lang="en-US" sz="600" b="0" i="0" dirty="0">
                <a:solidFill>
                  <a:srgbClr val="008013"/>
                </a:solidFill>
                <a:effectLst/>
                <a:latin typeface="Menlo"/>
              </a:rPr>
              <a:t>% engine loss. This should be about 10% or less of the peak torque. So we</a:t>
            </a:r>
            <a:endParaRPr lang="en-US" sz="600" b="0" i="0" dirty="0">
              <a:effectLst/>
              <a:latin typeface="Menlo"/>
            </a:endParaRPr>
          </a:p>
          <a:p>
            <a:pPr>
              <a:buNone/>
            </a:pPr>
            <a:r>
              <a:rPr lang="en-US" sz="600" b="0" i="0" dirty="0">
                <a:solidFill>
                  <a:srgbClr val="008013"/>
                </a:solidFill>
                <a:effectLst/>
                <a:latin typeface="Menlo"/>
              </a:rPr>
              <a:t>% can see that the actual B value for the Prius is roughly 14.2 N-m / 100</a:t>
            </a:r>
            <a:endParaRPr lang="en-US" sz="600" b="0" i="0" dirty="0">
              <a:effectLst/>
              <a:latin typeface="Menlo"/>
            </a:endParaRPr>
          </a:p>
          <a:p>
            <a:pPr>
              <a:buNone/>
            </a:pPr>
            <a:r>
              <a:rPr lang="en-US" sz="600" b="0" i="0" dirty="0">
                <a:solidFill>
                  <a:srgbClr val="008013"/>
                </a:solidFill>
                <a:effectLst/>
                <a:latin typeface="Menlo"/>
              </a:rPr>
              <a:t>% rad/sec, or about 0.14. The </a:t>
            </a:r>
            <a:r>
              <a:rPr lang="en-US" sz="600" b="0" i="0" dirty="0" err="1">
                <a:solidFill>
                  <a:srgbClr val="008013"/>
                </a:solidFill>
                <a:effectLst/>
                <a:latin typeface="Menlo"/>
              </a:rPr>
              <a:t>the</a:t>
            </a:r>
            <a:r>
              <a:rPr lang="en-US" sz="600" b="0" i="0" dirty="0">
                <a:solidFill>
                  <a:srgbClr val="008013"/>
                </a:solidFill>
                <a:effectLst/>
                <a:latin typeface="Menlo"/>
              </a:rPr>
              <a:t> number used here is 100 times too large.</a:t>
            </a:r>
            <a:endParaRPr lang="en-US" sz="600" b="0" i="0" dirty="0">
              <a:effectLst/>
              <a:latin typeface="Menlo"/>
            </a:endParaRPr>
          </a:p>
          <a:p>
            <a:pPr>
              <a:buNone/>
            </a:pPr>
            <a:r>
              <a:rPr lang="en-US" sz="600" b="0" i="0" dirty="0">
                <a:solidFill>
                  <a:srgbClr val="008013"/>
                </a:solidFill>
                <a:effectLst/>
                <a:latin typeface="Menlo"/>
              </a:rPr>
              <a:t>% We just doing simulations, so that's OK. But we can see that it's easy to</a:t>
            </a:r>
            <a:endParaRPr lang="en-US" sz="600" b="0" i="0" dirty="0">
              <a:effectLst/>
              <a:latin typeface="Menlo"/>
            </a:endParaRPr>
          </a:p>
          <a:p>
            <a:pPr>
              <a:buNone/>
            </a:pPr>
            <a:r>
              <a:rPr lang="en-US" sz="600" b="0" i="0" dirty="0">
                <a:solidFill>
                  <a:srgbClr val="008013"/>
                </a:solidFill>
                <a:effectLst/>
                <a:latin typeface="Menlo"/>
              </a:rPr>
              <a:t>% back-calculate core parameters in engine models even with limited</a:t>
            </a:r>
            <a:endParaRPr lang="en-US" sz="600" b="0" i="0" dirty="0">
              <a:effectLst/>
              <a:latin typeface="Menlo"/>
            </a:endParaRPr>
          </a:p>
          <a:p>
            <a:pPr>
              <a:buNone/>
            </a:pPr>
            <a:r>
              <a:rPr lang="en-US" sz="600" b="0" i="0" dirty="0">
                <a:solidFill>
                  <a:srgbClr val="008013"/>
                </a:solidFill>
                <a:effectLst/>
                <a:latin typeface="Menlo"/>
              </a:rPr>
              <a:t>% manufacturer data.</a:t>
            </a:r>
            <a:endParaRPr lang="en-US" sz="600" b="0" i="0" dirty="0">
              <a:effectLst/>
              <a:latin typeface="Menlo"/>
            </a:endParaRPr>
          </a:p>
          <a:p>
            <a:pPr>
              <a:buNone/>
            </a:pPr>
            <a:br>
              <a:rPr lang="en-US" sz="600" b="0" i="0" dirty="0">
                <a:effectLst/>
                <a:latin typeface="Menlo"/>
              </a:rPr>
            </a:br>
            <a:endParaRPr lang="en-US" sz="600" b="0" i="0" dirty="0">
              <a:effectLst/>
              <a:latin typeface="Menlo"/>
            </a:endParaRPr>
          </a:p>
          <a:p>
            <a:pPr>
              <a:buNone/>
            </a:pPr>
            <a:r>
              <a:rPr lang="en-US" sz="600" b="0" i="0" dirty="0">
                <a:solidFill>
                  <a:srgbClr val="008013"/>
                </a:solidFill>
                <a:effectLst/>
                <a:latin typeface="Menlo"/>
              </a:rPr>
              <a:t>% </a:t>
            </a:r>
            <a:r>
              <a:rPr lang="en-US" sz="600" b="0" i="0" dirty="0" err="1">
                <a:solidFill>
                  <a:srgbClr val="008013"/>
                </a:solidFill>
                <a:effectLst/>
                <a:latin typeface="Menlo"/>
              </a:rPr>
              <a:t>sgtitle</a:t>
            </a:r>
            <a:r>
              <a:rPr lang="en-US" sz="600" b="0" i="0" dirty="0">
                <a:solidFill>
                  <a:srgbClr val="008013"/>
                </a:solidFill>
                <a:effectLst/>
                <a:latin typeface="Menlo"/>
              </a:rPr>
              <a:t>(</a:t>
            </a:r>
            <a:r>
              <a:rPr lang="en-US" sz="600" b="0" i="0" dirty="0" err="1">
                <a:solidFill>
                  <a:srgbClr val="008013"/>
                </a:solidFill>
                <a:effectLst/>
                <a:latin typeface="Menlo"/>
              </a:rPr>
              <a:t>titleString</a:t>
            </a:r>
            <a:r>
              <a:rPr lang="en-US" sz="600" b="0" i="0" dirty="0">
                <a:solidFill>
                  <a:srgbClr val="008013"/>
                </a:solidFill>
                <a:effectLst/>
                <a:latin typeface="Menlo"/>
              </a:rPr>
              <a:t>, '</a:t>
            </a:r>
            <a:r>
              <a:rPr lang="en-US" sz="600" b="0" i="0" dirty="0" err="1">
                <a:solidFill>
                  <a:srgbClr val="008013"/>
                </a:solidFill>
                <a:effectLst/>
                <a:latin typeface="Menlo"/>
              </a:rPr>
              <a:t>Interpreter','none</a:t>
            </a:r>
            <a:r>
              <a:rPr lang="en-US" sz="600" b="0" i="0" dirty="0">
                <a:solidFill>
                  <a:srgbClr val="008013"/>
                </a:solidFill>
                <a:effectLst/>
                <a:latin typeface="Menlo"/>
              </a:rPr>
              <a:t>');</a:t>
            </a:r>
            <a:endParaRPr lang="en-US" sz="600" b="0" i="0" dirty="0">
              <a:effectLst/>
              <a:latin typeface="Menlo"/>
            </a:endParaRPr>
          </a:p>
          <a:p>
            <a:pPr>
              <a:buNone/>
            </a:pPr>
            <a:r>
              <a:rPr lang="en-US" sz="600" b="0" i="0" dirty="0" err="1">
                <a:effectLst/>
                <a:latin typeface="Menlo"/>
              </a:rPr>
              <a:t>sgtitle</a:t>
            </a:r>
            <a:r>
              <a:rPr lang="en-US" sz="600" b="0" i="0" dirty="0">
                <a:effectLst/>
                <a:latin typeface="Menlo"/>
              </a:rPr>
              <a:t>(</a:t>
            </a:r>
            <a:r>
              <a:rPr lang="en-US" sz="600" b="0" i="0" dirty="0">
                <a:solidFill>
                  <a:srgbClr val="A709F5"/>
                </a:solidFill>
                <a:effectLst/>
                <a:latin typeface="Menlo"/>
              </a:rPr>
              <a:t>'</a:t>
            </a:r>
            <a:r>
              <a:rPr lang="en-US" sz="600" b="0" i="0" dirty="0" err="1">
                <a:solidFill>
                  <a:srgbClr val="A709F5"/>
                </a:solidFill>
                <a:effectLst/>
                <a:latin typeface="Menlo"/>
              </a:rPr>
              <a:t>SB'</a:t>
            </a:r>
            <a:r>
              <a:rPr lang="en-US" sz="600" b="0" i="0" dirty="0" err="1">
                <a:effectLst/>
                <a:latin typeface="Menlo"/>
              </a:rPr>
              <a:t>,</a:t>
            </a:r>
            <a:r>
              <a:rPr lang="en-US" sz="600" b="0" i="0" dirty="0" err="1">
                <a:solidFill>
                  <a:srgbClr val="A709F5"/>
                </a:solidFill>
                <a:effectLst/>
                <a:latin typeface="Menlo"/>
              </a:rPr>
              <a:t>'Interpreter'</a:t>
            </a:r>
            <a:r>
              <a:rPr lang="en-US" sz="600" b="0" i="0" dirty="0" err="1">
                <a:effectLst/>
                <a:latin typeface="Menlo"/>
              </a:rPr>
              <a:t>,</a:t>
            </a:r>
            <a:r>
              <a:rPr lang="en-US" sz="600" b="0" i="0" dirty="0" err="1">
                <a:solidFill>
                  <a:srgbClr val="A709F5"/>
                </a:solidFill>
                <a:effectLst/>
                <a:latin typeface="Menlo"/>
              </a:rPr>
              <a:t>'none</a:t>
            </a:r>
            <a:r>
              <a:rPr lang="en-US" sz="600" b="0" i="0" dirty="0">
                <a:solidFill>
                  <a:srgbClr val="A709F5"/>
                </a:solidFill>
                <a:effectLst/>
                <a:latin typeface="Menlo"/>
              </a:rPr>
              <a:t>'</a:t>
            </a:r>
            <a:r>
              <a:rPr lang="en-US" sz="600" b="0" i="0" dirty="0">
                <a:effectLst/>
                <a:latin typeface="Menlo"/>
              </a:rPr>
              <a:t>);</a:t>
            </a:r>
          </a:p>
          <a:p>
            <a:endParaRPr lang="en-US" sz="600" dirty="0"/>
          </a:p>
        </p:txBody>
      </p:sp>
    </p:spTree>
    <p:extLst>
      <p:ext uri="{BB962C8B-B14F-4D97-AF65-F5344CB8AC3E}">
        <p14:creationId xmlns:p14="http://schemas.microsoft.com/office/powerpoint/2010/main" val="2765041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1391</TotalTime>
  <Words>885</Words>
  <Application>Microsoft Office PowerPoint</Application>
  <PresentationFormat>Widescreen</PresentationFormat>
  <Paragraphs>63</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Menlo</vt:lpstr>
      <vt:lpstr>Office Theme</vt:lpstr>
      <vt:lpstr>How to Do HW 2: Simulations  Using Runge-Kutta Methods  of the  1st order Engine Model</vt:lpstr>
      <vt:lpstr>First step: create a folder to work from</vt:lpstr>
      <vt:lpstr>Next, open up the existing simulation from deep within Dr B’s subfolder</vt:lpstr>
      <vt:lpstr>Note: this script was taken from an example from the vehicle library, which you have a copy within your Utilities subfolder</vt:lpstr>
      <vt:lpstr>Finally, you must edit and run the script that does the 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Brennan, Sean N</dc:creator>
  <cp:lastModifiedBy>Brennan, Sean N</cp:lastModifiedBy>
  <cp:revision>6</cp:revision>
  <dcterms:created xsi:type="dcterms:W3CDTF">2026-09-18T15:12:38Z</dcterms:created>
  <dcterms:modified xsi:type="dcterms:W3CDTF">2026-09-25T14:50:37Z</dcterms:modified>
</cp:coreProperties>
</file>